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73" r:id="rId4"/>
    <p:sldId id="274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51560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rPr dirty="0"/>
              <a:t>JAVA 25: </a:t>
            </a:r>
            <a:r>
              <a:rPr lang="en-US" dirty="0"/>
              <a:t>Variables &amp; Data </a:t>
            </a:r>
            <a:r>
              <a:rPr lang="en-US"/>
              <a:t>Types</a:t>
            </a:r>
            <a:r>
              <a:t> C</a:t>
            </a:r>
            <a:r>
              <a:rPr lang="en-US"/>
              <a:t>oncept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10149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D5C1EB"/>
                </a:solidFill>
                <a:latin typeface="Aptos"/>
              </a:defRPr>
            </a:pPr>
            <a:r>
              <a:rPr dirty="0"/>
              <a:t>A one-hour beginner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A friendly, hands-on introduction. No prior Java knowledge is required.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2B65AA"/>
          </a:solidFill>
          <a:ln>
            <a:solidFill>
              <a:srgbClr val="2B6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29768"/>
            <a:ext cx="10972800" cy="39319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92D50"/>
                </a:solidFill>
                <a:latin typeface="Aptos"/>
              </a:defRPr>
            </a:pPr>
            <a:r>
              <a:t>What is Java?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1088136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A687A"/>
                </a:solidFill>
                <a:latin typeface="Aptos"/>
              </a:defRPr>
            </a:pPr>
            <a:r>
              <a:t>A beginner-friendly definition: Java is a programming language and a platform for running programs.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53312"/>
            <a:ext cx="5394960" cy="1133856"/>
          </a:xfrm>
          <a:prstGeom prst="roundRect">
            <a:avLst/>
          </a:prstGeom>
          <a:solidFill>
            <a:srgbClr val="F1F6FC"/>
          </a:solidFill>
          <a:ln>
            <a:solidFill>
              <a:srgbClr val="F1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444752"/>
            <a:ext cx="5102352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B65AA"/>
                </a:solidFill>
                <a:latin typeface="Aptos"/>
              </a:defRPr>
            </a:pPr>
            <a:r>
              <a:t>In plain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737360"/>
            <a:ext cx="5102352" cy="694944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26303E"/>
                </a:solidFill>
                <a:latin typeface="Aptos"/>
              </a:defRPr>
            </a:pPr>
            <a:r>
              <a:t>Java lets people write instructions that a computer can follow to solve a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53312"/>
            <a:ext cx="5440680" cy="1133856"/>
          </a:xfrm>
          <a:prstGeom prst="roundRect">
            <a:avLst/>
          </a:prstGeom>
          <a:solidFill>
            <a:srgbClr val="F1F6FC"/>
          </a:solidFill>
          <a:ln>
            <a:solidFill>
              <a:srgbClr val="F1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18504" y="1444752"/>
            <a:ext cx="5148072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B65AA"/>
                </a:solidFill>
                <a:latin typeface="Aptos"/>
              </a:defRPr>
            </a:pPr>
            <a:r>
              <a:t>Everyday analogy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1737360"/>
            <a:ext cx="5148072" cy="694944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26303E"/>
                </a:solidFill>
                <a:latin typeface="Aptos"/>
              </a:defRPr>
            </a:pPr>
            <a:r>
              <a:t>Think of a recipe: the programmer writes the steps, and the computer follows them in 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60904"/>
            <a:ext cx="5394960" cy="1133856"/>
          </a:xfrm>
          <a:prstGeom prst="roundRect">
            <a:avLst/>
          </a:prstGeom>
          <a:solidFill>
            <a:srgbClr val="F1F6FC"/>
          </a:solidFill>
          <a:ln>
            <a:solidFill>
              <a:srgbClr val="F1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2752344"/>
            <a:ext cx="5102352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B65AA"/>
                </a:solidFill>
                <a:latin typeface="Aptos"/>
              </a:defRPr>
            </a:pPr>
            <a:r>
              <a:t>Where it is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3044952"/>
            <a:ext cx="5102352" cy="694944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26303E"/>
                </a:solidFill>
                <a:latin typeface="Aptos"/>
              </a:defRPr>
            </a:pPr>
            <a:r>
              <a:t>Backend services, banking systems, business applications, Android-related tools, and cloud services.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660904"/>
            <a:ext cx="5440680" cy="1133856"/>
          </a:xfrm>
          <a:prstGeom prst="roundRect">
            <a:avLst/>
          </a:prstGeom>
          <a:solidFill>
            <a:srgbClr val="F1F6FC"/>
          </a:solidFill>
          <a:ln>
            <a:solidFill>
              <a:srgbClr val="F1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18504" y="2752344"/>
            <a:ext cx="5148072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B65AA"/>
                </a:solidFill>
                <a:latin typeface="Aptos"/>
              </a:defRPr>
            </a:pPr>
            <a:r>
              <a:t>Why developers use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3044952"/>
            <a:ext cx="5148072" cy="694944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26303E"/>
                </a:solidFill>
                <a:latin typeface="Aptos"/>
              </a:defRPr>
            </a:pPr>
            <a:r>
              <a:t>Readable object-oriented code, a large ecosystem, strong tooling, and portability across supported platforms.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05072"/>
            <a:ext cx="11109960" cy="1417320"/>
          </a:xfrm>
          <a:prstGeom prst="roundRect">
            <a:avLst/>
          </a:prstGeom>
          <a:solidFill>
            <a:srgbClr val="182030"/>
          </a:solidFill>
          <a:ln>
            <a:solidFill>
              <a:srgbClr val="18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4096512"/>
            <a:ext cx="10652760" cy="22860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82BEFF"/>
                </a:solidFill>
                <a:latin typeface="Aptos"/>
              </a:defRPr>
            </a:pPr>
            <a:r>
              <a:t>SEE IT IN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70832"/>
            <a:ext cx="10607040" cy="86868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class HelloJava {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public static void main(String[] args) {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    System.out.println("Hello, Java!");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042416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A687A"/>
                </a:solidFill>
                <a:latin typeface="Aptos"/>
              </a:defRPr>
            </a:pPr>
            <a:r>
              <a:t>The program prints: Hello, Java!  •  A class groups code; main is where this simple program starts.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772" y="6199632"/>
            <a:ext cx="1325880" cy="4899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2B65AA"/>
          </a:solidFill>
          <a:ln>
            <a:solidFill>
              <a:srgbClr val="2B6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29768"/>
            <a:ext cx="10972800" cy="39319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92D50"/>
                </a:solidFill>
                <a:latin typeface="Aptos"/>
              </a:defRPr>
            </a:pPr>
            <a:r>
              <a:t>What is the JVM?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1088136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A687A"/>
                </a:solidFill>
                <a:latin typeface="Aptos"/>
              </a:defRPr>
            </a:pPr>
            <a:r>
              <a:t>JVM means Java Virtual Machine. It runs Java bytecode and helps the same compiled program work on different supported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53312"/>
            <a:ext cx="5394960" cy="1133856"/>
          </a:xfrm>
          <a:prstGeom prst="roundRect">
            <a:avLst/>
          </a:prstGeom>
          <a:solidFill>
            <a:srgbClr val="F1F6FC"/>
          </a:solidFill>
          <a:ln>
            <a:solidFill>
              <a:srgbClr val="F1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444752"/>
            <a:ext cx="5102352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B65AA"/>
                </a:solidFill>
                <a:latin typeface="Aptos"/>
              </a:defRPr>
            </a:pPr>
            <a:r>
              <a:t>In plain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737360"/>
            <a:ext cx="5102352" cy="694944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26303E"/>
                </a:solidFill>
                <a:latin typeface="Aptos"/>
              </a:defRPr>
            </a:pPr>
            <a:r>
              <a:t>The JVM is software that loads and runs compiled Java instructions on your computer or server.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53312"/>
            <a:ext cx="5440680" cy="1133856"/>
          </a:xfrm>
          <a:prstGeom prst="roundRect">
            <a:avLst/>
          </a:prstGeom>
          <a:solidFill>
            <a:srgbClr val="F1F6FC"/>
          </a:solidFill>
          <a:ln>
            <a:solidFill>
              <a:srgbClr val="F1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18504" y="1444752"/>
            <a:ext cx="5148072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B65AA"/>
                </a:solidFill>
                <a:latin typeface="Aptos"/>
              </a:defRPr>
            </a:pPr>
            <a:r>
              <a:t>Everyday analogy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1737360"/>
            <a:ext cx="5148072" cy="694944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26303E"/>
                </a:solidFill>
                <a:latin typeface="Aptos"/>
              </a:defRPr>
            </a:pPr>
            <a:r>
              <a:t>Java bytecode is like a common instruction sheet; each operating system has a JVM that knows how to carry it 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60904"/>
            <a:ext cx="5394960" cy="1133856"/>
          </a:xfrm>
          <a:prstGeom prst="roundRect">
            <a:avLst/>
          </a:prstGeom>
          <a:solidFill>
            <a:srgbClr val="F1F6FC"/>
          </a:solidFill>
          <a:ln>
            <a:solidFill>
              <a:srgbClr val="F1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2752344"/>
            <a:ext cx="5102352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B65AA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3044952"/>
            <a:ext cx="5102352" cy="694944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26303E"/>
                </a:solidFill>
                <a:latin typeface="Aptos"/>
              </a:defRPr>
            </a:pPr>
            <a:r>
              <a:t>Loads classes, checks bytecode, manages memory, and executes code (often using a Just-In-Time compiler).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660904"/>
            <a:ext cx="5440680" cy="1133856"/>
          </a:xfrm>
          <a:prstGeom prst="roundRect">
            <a:avLst/>
          </a:prstGeom>
          <a:solidFill>
            <a:srgbClr val="F1F6FC"/>
          </a:solidFill>
          <a:ln>
            <a:solidFill>
              <a:srgbClr val="F1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18504" y="2752344"/>
            <a:ext cx="5148072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B65AA"/>
                </a:solidFill>
                <a:latin typeface="Aptos"/>
              </a:defRPr>
            </a:pPr>
            <a:r>
              <a:t>Important distinction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3044952"/>
            <a:ext cx="5148072" cy="694944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26303E"/>
                </a:solidFill>
                <a:latin typeface="Aptos"/>
              </a:defRPr>
            </a:pPr>
            <a:r>
              <a:t>The JVM is not the Java language itself. It is the runtime engine that executes Java bytecode.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05072"/>
            <a:ext cx="11109960" cy="1417320"/>
          </a:xfrm>
          <a:prstGeom prst="roundRect">
            <a:avLst/>
          </a:prstGeom>
          <a:solidFill>
            <a:srgbClr val="182030"/>
          </a:solidFill>
          <a:ln>
            <a:solidFill>
              <a:srgbClr val="18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4096512"/>
            <a:ext cx="10652760" cy="22860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82BEFF"/>
                </a:solidFill>
                <a:latin typeface="Aptos"/>
              </a:defRPr>
            </a:pPr>
            <a:r>
              <a:t>SEE IT IN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70832"/>
            <a:ext cx="10607040" cy="86868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Java source (.java)  →  javac compiler  →  bytecode (.class)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                                  ↓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                          JVM loads and runs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042416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A687A"/>
                </a:solidFill>
                <a:latin typeface="Aptos"/>
              </a:defRPr>
            </a:pPr>
            <a:r>
              <a:t>The JVM also provides automatic memory management, including garbage collection.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1778" y="6199632"/>
            <a:ext cx="1325880" cy="4899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2B65AA"/>
          </a:solidFill>
          <a:ln>
            <a:solidFill>
              <a:srgbClr val="2B6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29768"/>
            <a:ext cx="10972800" cy="39319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92D50"/>
                </a:solidFill>
                <a:latin typeface="Aptos"/>
              </a:defRPr>
            </a:pPr>
            <a:r>
              <a:t>How Java code runs: 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1088136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A687A"/>
                </a:solidFill>
                <a:latin typeface="Aptos"/>
              </a:defRPr>
            </a:pPr>
            <a:r>
              <a:t>Follow the journey from the code you write to the instructions the computer executes.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53312"/>
            <a:ext cx="5394960" cy="1133856"/>
          </a:xfrm>
          <a:prstGeom prst="roundRect">
            <a:avLst/>
          </a:prstGeom>
          <a:solidFill>
            <a:srgbClr val="F1F6FC"/>
          </a:solidFill>
          <a:ln>
            <a:solidFill>
              <a:srgbClr val="F1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444752"/>
            <a:ext cx="5102352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B65AA"/>
                </a:solidFill>
                <a:latin typeface="Aptos"/>
              </a:defRPr>
            </a:pPr>
            <a:r>
              <a:t>1. Write source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737360"/>
            <a:ext cx="5102352" cy="694944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26303E"/>
                </a:solidFill>
                <a:latin typeface="Aptos"/>
              </a:defRPr>
            </a:pPr>
            <a:r>
              <a:t>You create a readable .java file, for example HelloJava.java.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53312"/>
            <a:ext cx="5440680" cy="1133856"/>
          </a:xfrm>
          <a:prstGeom prst="roundRect">
            <a:avLst/>
          </a:prstGeom>
          <a:solidFill>
            <a:srgbClr val="F1F6FC"/>
          </a:solidFill>
          <a:ln>
            <a:solidFill>
              <a:srgbClr val="F1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18504" y="1444752"/>
            <a:ext cx="5148072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B65AA"/>
                </a:solidFill>
                <a:latin typeface="Aptos"/>
              </a:defRPr>
            </a:pPr>
            <a:r>
              <a:t>2. Compile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1737360"/>
            <a:ext cx="5148072" cy="694944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26303E"/>
                </a:solidFill>
                <a:latin typeface="Aptos"/>
              </a:defRPr>
            </a:pPr>
            <a:r>
              <a:t>The Java compiler (javac) checks the code and produces bytecode in a .class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60904"/>
            <a:ext cx="5394960" cy="1133856"/>
          </a:xfrm>
          <a:prstGeom prst="roundRect">
            <a:avLst/>
          </a:prstGeom>
          <a:solidFill>
            <a:srgbClr val="F1F6FC"/>
          </a:solidFill>
          <a:ln>
            <a:solidFill>
              <a:srgbClr val="F1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2752344"/>
            <a:ext cx="5102352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B65AA"/>
                </a:solidFill>
                <a:latin typeface="Aptos"/>
              </a:defRPr>
            </a:pPr>
            <a:r>
              <a:t>3. Run on the JVM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3044952"/>
            <a:ext cx="5102352" cy="694944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26303E"/>
                </a:solidFill>
                <a:latin typeface="Aptos"/>
              </a:defRPr>
            </a:pPr>
            <a:r>
              <a:t>The java launcher starts the JVM, which loads classes and executes the bytecode.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660904"/>
            <a:ext cx="5440680" cy="1133856"/>
          </a:xfrm>
          <a:prstGeom prst="roundRect">
            <a:avLst/>
          </a:prstGeom>
          <a:solidFill>
            <a:srgbClr val="F1F6FC"/>
          </a:solidFill>
          <a:ln>
            <a:solidFill>
              <a:srgbClr val="F1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18504" y="2752344"/>
            <a:ext cx="5148072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B65AA"/>
                </a:solidFill>
                <a:latin typeface="Aptos"/>
              </a:defRPr>
            </a:pPr>
            <a:r>
              <a:t>4. Portability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3044952"/>
            <a:ext cx="5148072" cy="694944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26303E"/>
                </a:solidFill>
                <a:latin typeface="Aptos"/>
              </a:defRPr>
            </a:pPr>
            <a:r>
              <a:t>Compile once, then run the bytecode on systems with a compatible JVM—subject to platform and version requirements.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05072"/>
            <a:ext cx="11109960" cy="1417320"/>
          </a:xfrm>
          <a:prstGeom prst="roundRect">
            <a:avLst/>
          </a:prstGeom>
          <a:solidFill>
            <a:srgbClr val="182030"/>
          </a:solidFill>
          <a:ln>
            <a:solidFill>
              <a:srgbClr val="18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4096512"/>
            <a:ext cx="10652760" cy="22860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82BEFF"/>
                </a:solidFill>
                <a:latin typeface="Aptos"/>
              </a:defRPr>
            </a:pPr>
            <a:r>
              <a:t>SEE IT IN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70832"/>
            <a:ext cx="10607040" cy="86868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HelloJava.java  ── javac ──&gt;  HelloJava.class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                                 │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                                 ▼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                          JVM on Windows / Linux / macOS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042416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A687A"/>
                </a:solidFill>
                <a:latin typeface="Aptos"/>
              </a:defRPr>
            </a:pPr>
            <a:r>
              <a:t>Remember: javac compiles source code; the JVM runs the resulting bytecode.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1944" y="6199632"/>
            <a:ext cx="1325880" cy="4899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D2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What is a variable?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087"/>
                </a:solidFill>
                <a:latin typeface="Aptos"/>
              </a:defRPr>
            </a:pPr>
            <a:r>
              <a:t>Start with the idea before the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Plain-English 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A variable is a named place in a program where a value can be stored or referred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Everyday analogy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Imagine labeled jars in a kitchen: one says SUGAR and another says RICE. The label helps you know what belongs inside.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Why we need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981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Programs need to remember information while they work, such as a person's name, an item price, or the number of products.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59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Important detail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7705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In Java, every variable has a type that determines what kind of value it can hold.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34840"/>
            <a:ext cx="10789920" cy="822960"/>
          </a:xfrm>
          <a:prstGeom prst="roundRect">
            <a:avLst/>
          </a:prstGeom>
          <a:solidFill>
            <a:srgbClr val="ECE4F6"/>
          </a:solidFill>
          <a:ln>
            <a:solidFill>
              <a:srgbClr val="CC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lang="en-US" dirty="0"/>
              <a:t>String </a:t>
            </a:r>
            <a:r>
              <a:rPr lang="en-US" dirty="0" err="1"/>
              <a:t>customerName</a:t>
            </a:r>
            <a:r>
              <a:rPr lang="en-US" dirty="0"/>
              <a:t> = "Asha";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endParaRPr lang="en-US" dirty="0"/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/>
              <a:t>int </a:t>
            </a:r>
            <a:r>
              <a:rPr dirty="0" err="1"/>
              <a:t>customerAge</a:t>
            </a:r>
            <a:r>
              <a:rPr dirty="0"/>
              <a:t> = 30;</a:t>
            </a:r>
          </a:p>
        </p:txBody>
      </p:sp>
      <p:pic>
        <p:nvPicPr>
          <p:cNvPr id="15" name="Picture 14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223" y="6276628"/>
            <a:ext cx="1325880" cy="4899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D2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What is a data type?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087"/>
                </a:solidFill>
                <a:latin typeface="Aptos"/>
              </a:defRPr>
            </a:pPr>
            <a:r>
              <a:t>A rule for the kind of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Plain-English 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A data type tells Java what kind of value a variable represents and which operations make sense for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Everyday analogy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A water bottle is designed for liquid; a file folder is designed for documents. The container's purpose matters.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Why Java checks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981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Types help catch mistakes early—for example, using a person's name as if it were a whole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59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Beginner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7705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Choose the type based on the meaning of the information, not just because a value happens to 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34840"/>
            <a:ext cx="10789920" cy="822960"/>
          </a:xfrm>
          <a:prstGeom prst="roundRect">
            <a:avLst/>
          </a:prstGeom>
          <a:solidFill>
            <a:srgbClr val="ECE4F6"/>
          </a:solidFill>
          <a:ln>
            <a:solidFill>
              <a:srgbClr val="CC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lang="en-US" dirty="0"/>
              <a:t>int quantity = 3;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/>
              <a:t>double price = 99.50;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 err="1"/>
              <a:t>boolean</a:t>
            </a:r>
            <a:r>
              <a:rPr dirty="0"/>
              <a:t> </a:t>
            </a:r>
            <a:r>
              <a:rPr dirty="0" err="1"/>
              <a:t>inStock</a:t>
            </a:r>
            <a:r>
              <a:rPr dirty="0"/>
              <a:t> = true;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/>
              <a:t>String </a:t>
            </a:r>
            <a:r>
              <a:rPr dirty="0" err="1"/>
              <a:t>productName</a:t>
            </a:r>
            <a:r>
              <a:rPr dirty="0"/>
              <a:t> = "Notebook";</a:t>
            </a:r>
          </a:p>
        </p:txBody>
      </p:sp>
      <p:pic>
        <p:nvPicPr>
          <p:cNvPr id="15" name="Picture 14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223" y="6276628"/>
            <a:ext cx="1325880" cy="4899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D2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Four useful types for beginners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087"/>
                </a:solidFill>
                <a:latin typeface="Aptos"/>
              </a:defRPr>
            </a:pPr>
            <a:r>
              <a:t>The four examples used in this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int — whole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Use it for counts such as 3 books or 25 students. It does not store decimal fractions.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double — decimal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Use it for general decimal calculations such as temperature or distance. For financial amounts, BigDecimal is often safer.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boolean — true or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981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Use it for yes/no states such as whether an item is 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59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String —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7705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Use it for names, messages, city names, and other text. String starts with a capital 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34840"/>
            <a:ext cx="10789920" cy="822960"/>
          </a:xfrm>
          <a:prstGeom prst="roundRect">
            <a:avLst/>
          </a:prstGeom>
          <a:solidFill>
            <a:srgbClr val="ECE4F6"/>
          </a:solidFill>
          <a:ln>
            <a:solidFill>
              <a:srgbClr val="CC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lang="en-US" dirty="0"/>
              <a:t>int quantity = 3;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/>
              <a:t>double temperature = 28.5;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 err="1"/>
              <a:t>boolean</a:t>
            </a:r>
            <a:r>
              <a:rPr dirty="0"/>
              <a:t> available = true;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/>
              <a:t>String city = "Pune";</a:t>
            </a:r>
          </a:p>
        </p:txBody>
      </p:sp>
      <p:pic>
        <p:nvPicPr>
          <p:cNvPr id="15" name="Picture 14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223" y="6276628"/>
            <a:ext cx="1325880" cy="4899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D2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Read this code one line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087"/>
                </a:solidFill>
                <a:latin typeface="Aptos"/>
              </a:defRPr>
            </a:pPr>
            <a:r>
              <a:t>Understand the name, type, and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Line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int quantity = 3; — quantity is a variable for a whole number,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Line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String product = "Notebook"; — product is a text variable; text is written inside double quotes.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Line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981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double price = 49.99; — price stores a decimal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59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Line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7705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boolean available = true; — records whether the product is available. true and false are not quoted.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34840"/>
            <a:ext cx="10789920" cy="822960"/>
          </a:xfrm>
          <a:prstGeom prst="roundRect">
            <a:avLst/>
          </a:prstGeom>
          <a:solidFill>
            <a:srgbClr val="ECE4F6"/>
          </a:solidFill>
          <a:ln>
            <a:solidFill>
              <a:srgbClr val="CC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lang="en-US" dirty="0"/>
              <a:t>int quantity = 3;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/>
              <a:t>String product = "Notebook";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/>
              <a:t>double price = 49.99;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 err="1"/>
              <a:t>boolean</a:t>
            </a:r>
            <a:r>
              <a:rPr dirty="0"/>
              <a:t> available = true;</a:t>
            </a:r>
          </a:p>
        </p:txBody>
      </p:sp>
      <p:pic>
        <p:nvPicPr>
          <p:cNvPr id="15" name="Picture 14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223" y="6276628"/>
            <a:ext cx="1325880" cy="4899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D2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Why do we write a type first?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087"/>
                </a:solidFill>
                <a:latin typeface="Aptos"/>
              </a:defRPr>
            </a:pPr>
            <a:r>
              <a:t>Java checks the kind of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Correct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int age = 30; — age is a whole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A type mismatch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int age = "thirty"; — this fails because "thirty" is text, not an 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How to fix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981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Use int age = 30; for calculations, or String age = "thirty"; if you need the word.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59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Big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7705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The compiler checks many type mistakes before the program runs.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34840"/>
            <a:ext cx="10789920" cy="822960"/>
          </a:xfrm>
          <a:prstGeom prst="roundRect">
            <a:avLst/>
          </a:prstGeom>
          <a:solidFill>
            <a:srgbClr val="ECE4F6"/>
          </a:solidFill>
          <a:ln>
            <a:solidFill>
              <a:srgbClr val="CC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lang="en-US" dirty="0"/>
              <a:t>int age = 30;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/>
              <a:t>// int age = "30"; // invalid: text is not an int</a:t>
            </a:r>
          </a:p>
        </p:txBody>
      </p:sp>
      <p:pic>
        <p:nvPicPr>
          <p:cNvPr id="15" name="Picture 14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223" y="6276628"/>
            <a:ext cx="1325880" cy="4899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D2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Naming variables clearly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087"/>
                </a:solidFill>
                <a:latin typeface="Aptos"/>
              </a:defRPr>
            </a:pPr>
            <a:r>
              <a:t>Good names make code easier to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Choose meaningful names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totalPrice tells us more than x. customerEmail tells us more than 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Java naming 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Variable names commonly use lower camel case: first word lowercase, later words start with capitals.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Rules to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981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Names cannot contain spaces or start with a digit. Java keywords such as class cannot be variable names.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59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Good habit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7705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Prefer clear names over short names unless the meaning is obvious.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34840"/>
            <a:ext cx="10789920" cy="822960"/>
          </a:xfrm>
          <a:prstGeom prst="roundRect">
            <a:avLst/>
          </a:prstGeom>
          <a:solidFill>
            <a:srgbClr val="ECE4F6"/>
          </a:solidFill>
          <a:ln>
            <a:solidFill>
              <a:srgbClr val="CC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lang="en-US" dirty="0"/>
              <a:t>String </a:t>
            </a:r>
            <a:r>
              <a:rPr lang="en-US" dirty="0" err="1"/>
              <a:t>customerName</a:t>
            </a:r>
            <a:r>
              <a:rPr lang="en-US" dirty="0"/>
              <a:t> = "Asha";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/>
              <a:t>double </a:t>
            </a:r>
            <a:r>
              <a:rPr dirty="0" err="1"/>
              <a:t>totalPrice</a:t>
            </a:r>
            <a:r>
              <a:rPr dirty="0"/>
              <a:t> = 149.50;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 err="1"/>
              <a:t>boolean</a:t>
            </a:r>
            <a:r>
              <a:rPr dirty="0"/>
              <a:t> </a:t>
            </a:r>
            <a:r>
              <a:rPr dirty="0" err="1"/>
              <a:t>paymentComplete</a:t>
            </a:r>
            <a:r>
              <a:rPr dirty="0"/>
              <a:t> = false;</a:t>
            </a:r>
          </a:p>
        </p:txBody>
      </p:sp>
      <p:pic>
        <p:nvPicPr>
          <p:cNvPr id="15" name="Picture 14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223" y="6276628"/>
            <a:ext cx="1325880" cy="4899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D2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Changing a variable's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087"/>
                </a:solidFill>
                <a:latin typeface="Aptos"/>
              </a:defRPr>
            </a:pPr>
            <a:r>
              <a:t>A variable can hold a new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After a variable is declared, you can assign a new compatible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Think of a scoreboard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The score can change from 10 to 12, but it is still the same score 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Declaration vs 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981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Declaration introduces the variable. Assignment updates its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59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Read the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7705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When the program prints the variable after reassignment, it prints the latest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34840"/>
            <a:ext cx="10789920" cy="822960"/>
          </a:xfrm>
          <a:prstGeom prst="roundRect">
            <a:avLst/>
          </a:prstGeom>
          <a:solidFill>
            <a:srgbClr val="ECE4F6"/>
          </a:solidFill>
          <a:ln>
            <a:solidFill>
              <a:srgbClr val="CC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lang="en-US" dirty="0"/>
              <a:t>int score = 10;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/>
              <a:t>score = 12;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 err="1"/>
              <a:t>System.out.println</a:t>
            </a:r>
            <a:r>
              <a:rPr dirty="0"/>
              <a:t>(score); // prints 12</a:t>
            </a:r>
          </a:p>
        </p:txBody>
      </p:sp>
      <p:pic>
        <p:nvPicPr>
          <p:cNvPr id="15" name="Picture 14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223" y="6276628"/>
            <a:ext cx="1325880" cy="4899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D2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A tiny program using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087"/>
                </a:solidFill>
                <a:latin typeface="Aptos"/>
              </a:defRPr>
            </a:pPr>
            <a:r>
              <a:t>A complete beginner-friendly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It stores a product name, quantity, and unit price, then calculates a simple total.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Important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The * operator multiplies quantity by price. Java evaluates the expression and stores the result in total.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Real-world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981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This is a learning example using double. Real payment systems should use BigDecimal or integer minor units such as paise.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434839"/>
            <a:ext cx="10789920" cy="1225297"/>
          </a:xfrm>
          <a:prstGeom prst="roundRect">
            <a:avLst/>
          </a:prstGeom>
          <a:solidFill>
            <a:srgbClr val="ECE4F6"/>
          </a:solidFill>
          <a:ln>
            <a:solidFill>
              <a:srgbClr val="CC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lang="en-US" dirty="0"/>
              <a:t>String product = "Notebook";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/>
              <a:t>int quantity = 3;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/>
              <a:t>double </a:t>
            </a:r>
            <a:r>
              <a:rPr dirty="0" err="1"/>
              <a:t>unitPrice</a:t>
            </a:r>
            <a:r>
              <a:rPr dirty="0"/>
              <a:t> = 49.99;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/>
              <a:t>double total = quantity * </a:t>
            </a:r>
            <a:r>
              <a:rPr dirty="0" err="1"/>
              <a:t>unitPrice</a:t>
            </a:r>
            <a:r>
              <a:rPr dirty="0"/>
              <a:t>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 err="1"/>
              <a:t>System.out.println</a:t>
            </a:r>
            <a:r>
              <a:rPr dirty="0"/>
              <a:t>(product);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 err="1"/>
              <a:t>System.out.println</a:t>
            </a:r>
            <a:r>
              <a:rPr dirty="0"/>
              <a:t>(total);</a:t>
            </a:r>
          </a:p>
        </p:txBody>
      </p:sp>
      <p:pic>
        <p:nvPicPr>
          <p:cNvPr id="13" name="Picture 12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223" y="6276628"/>
            <a:ext cx="1325880" cy="4899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D2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Live demo: predict the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087"/>
                </a:solidFill>
                <a:latin typeface="Aptos"/>
              </a:defRPr>
            </a:pPr>
            <a:r>
              <a:t>Pause before showing 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Question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What prints after int x = 5; x = 8; System.out.println(x);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Question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Which line is valid: double rating = 4.5; or int rating = 4.5;?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Question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981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What is the difference between "true" and true?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59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Teaching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7705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Let students explain their reasoning. A wrong prediction is a useful chance to learn.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34840"/>
            <a:ext cx="10789920" cy="822960"/>
          </a:xfrm>
          <a:prstGeom prst="roundRect">
            <a:avLst/>
          </a:prstGeom>
          <a:solidFill>
            <a:srgbClr val="ECE4F6"/>
          </a:solidFill>
          <a:ln>
            <a:solidFill>
              <a:srgbClr val="CC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lang="en-US" dirty="0"/>
              <a:t>int x = 5;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/>
              <a:t>x = 8;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 err="1"/>
              <a:t>System.out.println</a:t>
            </a:r>
            <a:r>
              <a:rPr dirty="0"/>
              <a:t>(x); // What prints?</a:t>
            </a:r>
          </a:p>
        </p:txBody>
      </p:sp>
      <p:pic>
        <p:nvPicPr>
          <p:cNvPr id="15" name="Picture 14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223" y="6276628"/>
            <a:ext cx="1325880" cy="4899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D2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Answers: 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087"/>
                </a:solidFill>
                <a:latin typeface="Aptos"/>
              </a:defRPr>
            </a:pPr>
            <a:r>
              <a:t>Explain the reason, not only 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Answer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8 — the second assignment replaces the earlier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Answer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double rating = 4.5; — a decimal value fits double. An int cannot hold 4.5.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Answer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981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true is a boolean value; "true" is a String containing four text characters.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59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Lesson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7705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Types and quotation marks matter because they change how Java interprets a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34840"/>
            <a:ext cx="10789920" cy="822960"/>
          </a:xfrm>
          <a:prstGeom prst="roundRect">
            <a:avLst/>
          </a:prstGeom>
          <a:solidFill>
            <a:srgbClr val="ECE4F6"/>
          </a:solidFill>
          <a:ln>
            <a:solidFill>
              <a:srgbClr val="CC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lang="en-US" dirty="0" err="1"/>
              <a:t>System.out.println</a:t>
            </a:r>
            <a:r>
              <a:rPr lang="en-US" dirty="0"/>
              <a:t>("true"); // text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 err="1"/>
              <a:t>System.out.println</a:t>
            </a:r>
            <a:r>
              <a:rPr dirty="0"/>
              <a:t>(true);   // </a:t>
            </a:r>
            <a:r>
              <a:rPr dirty="0" err="1"/>
              <a:t>boolean</a:t>
            </a:r>
            <a:endParaRPr dirty="0"/>
          </a:p>
        </p:txBody>
      </p:sp>
      <p:pic>
        <p:nvPicPr>
          <p:cNvPr id="15" name="Picture 14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223" y="6276628"/>
            <a:ext cx="1325880" cy="4899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D2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Student challenge: shopping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087"/>
                </a:solidFill>
                <a:latin typeface="Aptos"/>
              </a:defRPr>
            </a:pPr>
            <a:r>
              <a:t>5–10 minute guided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Create variables for a product name, quantity, and unit price. Calculate the total and print a receipt.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Use String for the name, int for quantity, and double for the practice price.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Stretch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981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Add a boolean variable named discountApplied and print whether a discount applies.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59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7705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The code compiles, output is understandable, and each variable uses a suitable type.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61103"/>
            <a:ext cx="10789920" cy="1192565"/>
          </a:xfrm>
          <a:prstGeom prst="roundRect">
            <a:avLst/>
          </a:prstGeom>
          <a:solidFill>
            <a:srgbClr val="ECE4F6"/>
          </a:solidFill>
          <a:ln>
            <a:solidFill>
              <a:srgbClr val="CC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lang="en-US" dirty="0"/>
              <a:t>String </a:t>
            </a:r>
            <a:r>
              <a:rPr lang="en-US" dirty="0" err="1"/>
              <a:t>productName</a:t>
            </a:r>
            <a:r>
              <a:rPr lang="en-US" dirty="0"/>
              <a:t> = "Pen";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/>
              <a:t>int quantity = 4;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/>
              <a:t>double </a:t>
            </a:r>
            <a:r>
              <a:rPr dirty="0" err="1"/>
              <a:t>unitPrice</a:t>
            </a:r>
            <a:r>
              <a:rPr dirty="0"/>
              <a:t> = 10.0;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/>
              <a:t>double total = quantity * </a:t>
            </a:r>
            <a:r>
              <a:rPr dirty="0" err="1"/>
              <a:t>unitPrice</a:t>
            </a:r>
            <a:r>
              <a:rPr dirty="0"/>
              <a:t>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 err="1"/>
              <a:t>System.out.println</a:t>
            </a:r>
            <a:r>
              <a:rPr dirty="0"/>
              <a:t>("Product: " + </a:t>
            </a:r>
            <a:r>
              <a:rPr dirty="0" err="1"/>
              <a:t>productName</a:t>
            </a:r>
            <a:r>
              <a:rPr dirty="0"/>
              <a:t>);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rPr dirty="0" err="1"/>
              <a:t>System.out.println</a:t>
            </a:r>
            <a:r>
              <a:rPr dirty="0"/>
              <a:t>("Total: " + total);</a:t>
            </a:r>
          </a:p>
        </p:txBody>
      </p:sp>
      <p:pic>
        <p:nvPicPr>
          <p:cNvPr id="15" name="Picture 14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223" y="6276628"/>
            <a:ext cx="1325880" cy="4899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D2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Common beginner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087"/>
                </a:solidFill>
                <a:latin typeface="Aptos"/>
              </a:defRPr>
            </a:pPr>
            <a:r>
              <a:t>Mistakes are part of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Missing semicolon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Most simple Java statements end with a semicolon.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Wrong quotes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Text uses double quotes: "Pune". A boolean uses no quotes: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Type mismatch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981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Do not put a text value into an int variable.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59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Confusing = and ==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7705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= assigns a value. == compares values; comparisons are a later topic.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34840"/>
            <a:ext cx="10789920" cy="822960"/>
          </a:xfrm>
          <a:prstGeom prst="roundRect">
            <a:avLst/>
          </a:prstGeom>
          <a:solidFill>
            <a:srgbClr val="ECE4F6"/>
          </a:solidFill>
          <a:ln>
            <a:solidFill>
              <a:srgbClr val="CC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 algn="ctr"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t>String city = "Pune";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t>boolean active = true;</a:t>
            </a:r>
          </a:p>
          <a:p>
            <a:pPr>
              <a:spcAft>
                <a:spcPts val="100"/>
              </a:spcAft>
              <a:defRPr sz="1200">
                <a:solidFill>
                  <a:srgbClr val="1D163E"/>
                </a:solidFill>
                <a:latin typeface="Consolas"/>
              </a:defRPr>
            </a:pPr>
            <a:r>
              <a:t>int count = 5;</a:t>
            </a:r>
          </a:p>
        </p:txBody>
      </p:sp>
      <p:pic>
        <p:nvPicPr>
          <p:cNvPr id="15" name="Picture 14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223" y="6276628"/>
            <a:ext cx="1325880" cy="4899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D2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Recap: explain it back to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087"/>
                </a:solidFill>
                <a:latin typeface="Aptos"/>
              </a:defRPr>
            </a:pPr>
            <a:r>
              <a:t>Finish with the learner teaching the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Question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What is a variable, in your own words?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Question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When would you use int, double, boolean, and String?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Question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981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Why does String use a capital S and quotes around text values?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59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Question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7705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What happens when you assign a new value to a variable?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223" y="6276628"/>
            <a:ext cx="1325880" cy="4899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D2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Where this concept appears in real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087"/>
                </a:solidFill>
                <a:latin typeface="Aptos"/>
              </a:defRPr>
            </a:pPr>
            <a:r>
              <a:t>Connect the basics to real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E-commerce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productName, quantity, unitPrice, and inStock.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Banking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customerName and transactionCount; money needs a precise representation.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Healthcare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981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patient identifier and appointment status, with privacy and security controls.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59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5B9C"/>
                </a:solidFill>
                <a:latin typeface="Aptos"/>
              </a:defRPr>
            </a:pPr>
            <a:r>
              <a:t>Cloud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77055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82D37"/>
                </a:solidFill>
                <a:latin typeface="Aptos"/>
              </a:defRPr>
            </a:pPr>
            <a:r>
              <a:t>configuration values such as retryCount and serviceEnabled.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223" y="6276628"/>
            <a:ext cx="1325880" cy="4899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1931</Words>
  <Application>Microsoft Office PowerPoint</Application>
  <PresentationFormat>Widescreen</PresentationFormat>
  <Paragraphs>232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Akhilesh Shende</cp:lastModifiedBy>
  <cp:revision>29</cp:revision>
  <dcterms:created xsi:type="dcterms:W3CDTF">2013-01-27T09:14:16Z</dcterms:created>
  <dcterms:modified xsi:type="dcterms:W3CDTF">2026-10-23T04:52:29Z</dcterms:modified>
  <cp:category/>
</cp:coreProperties>
</file>
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3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8686800" y="822960"/>
            <a:ext cx="2560320" cy="137160"/>
          </a:xfrm>
          <a:prstGeom prst="roundRect">
            <a:avLst/>
          </a:prstGeom>
          <a:solidFill>
            <a:srgbClr val="EF8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235440" y="1170432"/>
            <a:ext cx="2011680" cy="137160"/>
          </a:xfrm>
          <a:prstGeom prst="roundRect">
            <a:avLst/>
          </a:prstGeom>
          <a:solidFill>
            <a:srgbClr val="139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229600" y="1517904"/>
            <a:ext cx="3017520" cy="137160"/>
          </a:xfrm>
          <a:prstGeom prst="roundRect">
            <a:avLst/>
          </a:prstGeom>
          <a:solidFill>
            <a:srgbClr val="29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CADCF4"/>
                </a:solidFill>
                <a:latin typeface="Aptos"/>
              </a:defRPr>
            </a:pPr>
            <a:r>
              <a:t>COURSE-ALIGNED STUDY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10789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FFFFFF"/>
                </a:solidFill>
                <a:latin typeface="Aptos"/>
              </a:defRPr>
            </a:pPr>
            <a:r>
              <a:t>Complete Data Science,</a:t>
            </a:r>
          </a:p>
          <a:p>
            <a:pPr>
              <a:spcAft>
                <a:spcPts val="700"/>
              </a:spcAft>
              <a:defRPr sz="3200" b="1">
                <a:solidFill>
                  <a:srgbClr val="FFFFFF"/>
                </a:solidFill>
                <a:latin typeface="Aptos"/>
              </a:defRPr>
            </a:pPr>
            <a:r>
              <a:t>Machine Learning, Deep Learning &amp; NLP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6177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AAC8EB"/>
                </a:solidFill>
                <a:latin typeface="Aptos"/>
              </a:defRPr>
            </a:pPr>
            <a:r>
              <a:t>Python • Mathematics • ML • Deep Learning • NLP • Projects • MLOps &amp; Deployment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852160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AFBED7"/>
                </a:solidFill>
                <a:latin typeface="Aptos"/>
              </a:defRPr>
            </a:pPr>
            <a:r>
              <a:t>Prepared from the publicly visible Udemy course outline and description.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647080"/>
                </a:solidFill>
                <a:latin typeface="Aptos"/>
              </a:defRPr>
            </a:pPr>
            <a:r>
              <a:t>COMPLETE ML • NLP • DEEP LEARNING • MLOPS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92240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647080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10234C"/>
                </a:solidFill>
                <a:latin typeface="Aptos"/>
              </a:defRPr>
            </a:pPr>
            <a:r>
              <a:t>How to use this deck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1051560" cy="64008"/>
          </a:xfrm>
          <a:prstGeom prst="rect">
            <a:avLst/>
          </a:prstGeom>
          <a:solidFill>
            <a:srgbClr val="EF8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647080"/>
                </a:solidFill>
                <a:latin typeface="Aptos"/>
              </a:defRPr>
            </a:pPr>
            <a:r>
              <a:t>Course outline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647080"/>
                </a:solidFill>
                <a:latin typeface="Aptos"/>
              </a:defRPr>
            </a:pPr>
            <a:r>
              <a:t>COMPLETE ML • NLP • DEEP LEARNING • MLOPS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92240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647080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719072"/>
            <a:ext cx="10698480" cy="14568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rPr dirty="0"/>
              <a:t>•  Implement concepts in notebooks; keep code, data notes and results in a version-controlled repository.</a:t>
            </a:r>
          </a:p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rPr dirty="0"/>
              <a:t>•  For each model, record the problem, baseline, data split, metrics, error analysis and next experiment.</a:t>
            </a:r>
          </a:p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rPr dirty="0"/>
              <a:t>•  The public course page shows 64 sections and 436 lectures; some detailed section titles require course access.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10234C"/>
                </a:solidFill>
                <a:latin typeface="Aptos"/>
              </a:defRPr>
            </a:pPr>
            <a:r>
              <a:t>Course learning outcomes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1051560" cy="64008"/>
          </a:xfrm>
          <a:prstGeom prst="rect">
            <a:avLst/>
          </a:prstGeom>
          <a:solidFill>
            <a:srgbClr val="EF8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647080"/>
                </a:solidFill>
                <a:latin typeface="Aptos"/>
              </a:defRPr>
            </a:pPr>
            <a:r>
              <a:t>These outcomes summarize the public course description.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647080"/>
                </a:solidFill>
                <a:latin typeface="Aptos"/>
              </a:defRPr>
            </a:pPr>
            <a:r>
              <a:t>COMPLETE ML • NLP • DEEP LEARNING • MLOPS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92240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647080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719072"/>
            <a:ext cx="1069848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Build foundational Python skills for data science and ML workflows.</a:t>
            </a:r>
          </a:p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Understand the mathematics and intuition behind common ML algorithms.</a:t>
            </a:r>
          </a:p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Train, evaluate and optimize models using standard ML libraries.</a:t>
            </a:r>
          </a:p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Understand deep-learning foundations, CNNs, NLP and transformer-based approaches.</a:t>
            </a:r>
          </a:p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Apply concepts through projects and understand model deployment and MLOps practices.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10234C"/>
                </a:solidFill>
                <a:latin typeface="Aptos"/>
              </a:defRPr>
            </a:pPr>
            <a:r>
              <a:t>Course 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1051560" cy="64008"/>
          </a:xfrm>
          <a:prstGeom prst="rect">
            <a:avLst/>
          </a:prstGeom>
          <a:solidFill>
            <a:srgbClr val="EF8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647080"/>
                </a:solidFill>
                <a:latin typeface="Aptos"/>
              </a:defRPr>
            </a:pPr>
            <a:r>
              <a:t>The exact sequence of later private sections may differ.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647080"/>
                </a:solidFill>
                <a:latin typeface="Aptos"/>
              </a:defRPr>
            </a:pPr>
            <a:r>
              <a:t>COMPLETE ML • NLP • DEEP LEARNING • MLOPS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92240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647080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719072"/>
            <a:ext cx="1069848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73142"/>
                </a:solidFill>
                <a:latin typeface="Aptos"/>
              </a:defRPr>
            </a:pPr>
            <a:r>
              <a:t>•  Environment setup and Python programming fundamentals.</a:t>
            </a:r>
          </a:p>
          <a:p>
            <a:pPr>
              <a:spcAft>
                <a:spcPts val="1000"/>
              </a:spcAft>
              <a:defRPr sz="1600">
                <a:solidFill>
                  <a:srgbClr val="273142"/>
                </a:solidFill>
                <a:latin typeface="Aptos"/>
              </a:defRPr>
            </a:pPr>
            <a:r>
              <a:t>•  Data handling, exploratory analysis and mathematical foundations.</a:t>
            </a:r>
          </a:p>
          <a:p>
            <a:pPr>
              <a:spcAft>
                <a:spcPts val="1000"/>
              </a:spcAft>
              <a:defRPr sz="1600">
                <a:solidFill>
                  <a:srgbClr val="273142"/>
                </a:solidFill>
                <a:latin typeface="Aptos"/>
              </a:defRPr>
            </a:pPr>
            <a:r>
              <a:t>•  Classical ML: regression, classification, clustering and model evaluation.</a:t>
            </a:r>
          </a:p>
          <a:p>
            <a:pPr>
              <a:spcAft>
                <a:spcPts val="1000"/>
              </a:spcAft>
              <a:defRPr sz="1600">
                <a:solidFill>
                  <a:srgbClr val="273142"/>
                </a:solidFill>
                <a:latin typeface="Aptos"/>
              </a:defRPr>
            </a:pPr>
            <a:r>
              <a:t>•  Deep learning: neural networks, loss functions, optimizers and CNNs.</a:t>
            </a:r>
          </a:p>
          <a:p>
            <a:pPr>
              <a:spcAft>
                <a:spcPts val="1000"/>
              </a:spcAft>
              <a:defRPr sz="1600">
                <a:solidFill>
                  <a:srgbClr val="273142"/>
                </a:solidFill>
                <a:latin typeface="Aptos"/>
              </a:defRPr>
            </a:pPr>
            <a:r>
              <a:t>•  NLP: text processing, representations, language models and transformers.</a:t>
            </a:r>
          </a:p>
          <a:p>
            <a:pPr>
              <a:spcAft>
                <a:spcPts val="1000"/>
              </a:spcAft>
              <a:defRPr sz="1600">
                <a:solidFill>
                  <a:srgbClr val="273142"/>
                </a:solidFill>
                <a:latin typeface="Aptos"/>
              </a:defRPr>
            </a:pPr>
            <a:r>
              <a:t>•  Projects, deployment and MLOps concepts including MLflow, DVC and BentoML.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10234C"/>
                </a:solidFill>
                <a:latin typeface="Aptos"/>
              </a:defRPr>
            </a:pPr>
            <a:r>
              <a:t>Set up the data-science workspace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1051560" cy="64008"/>
          </a:xfrm>
          <a:prstGeom prst="rect">
            <a:avLst/>
          </a:prstGeom>
          <a:solidFill>
            <a:srgbClr val="EF8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647080"/>
                </a:solidFill>
                <a:latin typeface="Aptos"/>
              </a:defRPr>
            </a:pPr>
            <a:r>
              <a:t>COMPLETE ML • NLP • DEEP LEARNING • MLOPS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92240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647080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89888"/>
            <a:ext cx="1069848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Install Python and an environment manager such as Conda or venv.</a:t>
            </a:r>
          </a:p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Use VS Code and Jupyter notebooks for scripts, experiments and exploration.</a:t>
            </a:r>
          </a:p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Create isolated environments to avoid dependency conflicts.</a:t>
            </a:r>
          </a:p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Record dependencies in requirements.txt or an environment file.</a:t>
            </a:r>
          </a:p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Organize code, data, notebooks, models and documentation in a clear project structure.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10234C"/>
                </a:solidFill>
                <a:latin typeface="Aptos"/>
              </a:defRPr>
            </a:pPr>
            <a:r>
              <a:t>Python fundamentals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1051560" cy="64008"/>
          </a:xfrm>
          <a:prstGeom prst="rect">
            <a:avLst/>
          </a:prstGeom>
          <a:solidFill>
            <a:srgbClr val="EF8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647080"/>
                </a:solidFill>
                <a:latin typeface="Aptos"/>
              </a:defRPr>
            </a:pPr>
            <a:r>
              <a:t>COMPLETE ML • NLP • DEEP LEARNING • MLOPS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92240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647080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89888"/>
            <a:ext cx="1069848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Understand syntax, indentation, comments, variables and type conversion.</a:t>
            </a:r>
          </a:p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Work with numeric values, strings and booleans; use arithmetic and logical operators.</a:t>
            </a:r>
          </a:p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Use if/elif/else and for/while loops to express control flow.</a:t>
            </a:r>
          </a:p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Write readable, small functions with parameters, return values and docstrings.</a:t>
            </a:r>
          </a:p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Practice debugging syntax errors and validating assumptions with simple examples.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10234C"/>
                </a:solidFill>
                <a:latin typeface="Aptos"/>
              </a:defRPr>
            </a:pPr>
            <a:r>
              <a:t>Python data structures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1051560" cy="64008"/>
          </a:xfrm>
          <a:prstGeom prst="rect">
            <a:avLst/>
          </a:prstGeom>
          <a:solidFill>
            <a:srgbClr val="EF8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647080"/>
                </a:solidFill>
                <a:latin typeface="Aptos"/>
              </a:defRPr>
            </a:pPr>
            <a:r>
              <a:t>COMPLETE ML • NLP • DEEP LEARNING • MLOPS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92240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647080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89888"/>
            <a:ext cx="1069848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Lists: ordered mutable collections, indexing, slicing and comprehensions.</a:t>
            </a:r>
          </a:p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Tuples: ordered immutable collections, packing and unpacking.</a:t>
            </a:r>
          </a:p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Sets: unique values and union/intersection/difference operations.</a:t>
            </a:r>
          </a:p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Dictionaries: key-value mapping, nested structures and dictionary comprehensions.</a:t>
            </a:r>
          </a:p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Select structures based on access patterns, uniqueness and mutation requirements.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10234C"/>
                </a:solidFill>
                <a:latin typeface="Aptos"/>
              </a:defRPr>
            </a:pPr>
            <a:r>
              <a:t>Functions, modules and reusable code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1051560" cy="64008"/>
          </a:xfrm>
          <a:prstGeom prst="rect">
            <a:avLst/>
          </a:prstGeom>
          <a:solidFill>
            <a:srgbClr val="EF8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647080"/>
                </a:solidFill>
                <a:latin typeface="Aptos"/>
              </a:defRPr>
            </a:pPr>
            <a:r>
              <a:t>COMPLETE ML • NLP • DEEP LEARNING • MLOPS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92240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647080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89888"/>
            <a:ext cx="1069848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Create functions with positional, keyword, default and variable-length arguments.</a:t>
            </a:r>
          </a:p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Use lambda expressions and map/filter where they improve clarity.</a:t>
            </a:r>
          </a:p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Split reusable logic into modules and packages.</a:t>
            </a:r>
          </a:p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Use imports and the standard library for paths, JSON, CSV, regular expressions and utilities.</a:t>
            </a:r>
          </a:p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Write small practice functions: frequency counting, validation, conversion and aggregation.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10234C"/>
                </a:solidFill>
                <a:latin typeface="Aptos"/>
              </a:defRPr>
            </a:pPr>
            <a:r>
              <a:t>Files, errors and environments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1051560" cy="64008"/>
          </a:xfrm>
          <a:prstGeom prst="rect">
            <a:avLst/>
          </a:prstGeom>
          <a:solidFill>
            <a:srgbClr val="EF8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647080"/>
                </a:solidFill>
                <a:latin typeface="Aptos"/>
              </a:defRPr>
            </a:pPr>
            <a:r>
              <a:t>COMPLETE ML • NLP • DEEP LEARNING • MLOPS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92240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647080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89888"/>
            <a:ext cx="1069848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Read and write text, CSV, JSON and binary files safely.</a:t>
            </a:r>
          </a:p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Use pathlib or os.path for portable path handling.</a:t>
            </a:r>
          </a:p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Handle expected errors with try/except; use finally for cleanup when needed.</a:t>
            </a:r>
          </a:p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Keep environment-specific configuration separate from source code.</a:t>
            </a:r>
          </a:p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Recreate environments reliably and avoid committing large data or secrets.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10234C"/>
                </a:solidFill>
                <a:latin typeface="Aptos"/>
              </a:defRPr>
            </a:pPr>
            <a:r>
              <a:t>NumPy for numerical computing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1051560" cy="64008"/>
          </a:xfrm>
          <a:prstGeom prst="rect">
            <a:avLst/>
          </a:prstGeom>
          <a:solidFill>
            <a:srgbClr val="EF8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647080"/>
                </a:solidFill>
                <a:latin typeface="Aptos"/>
              </a:defRPr>
            </a:pPr>
            <a:r>
              <a:t>COMPLETE ML • NLP • DEEP LEARNING • MLOPS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92240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647080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89888"/>
            <a:ext cx="1069848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Represent data as multidimensional arrays with shape and dtype.</a:t>
            </a:r>
          </a:p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Use vectorized operations instead of unnecessary Python loops.</a:t>
            </a:r>
          </a:p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Understand indexing, slicing, broadcasting and aggregation.</a:t>
            </a:r>
          </a:p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Generate random values reproducibly with a seed for experiments.</a:t>
            </a:r>
          </a:p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Check shapes and missing/invalid values before numerical operations.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10234C"/>
                </a:solidFill>
                <a:latin typeface="Aptos"/>
              </a:defRPr>
            </a:pPr>
            <a:r>
              <a:t>Pandas for data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1051560" cy="64008"/>
          </a:xfrm>
          <a:prstGeom prst="rect">
            <a:avLst/>
          </a:prstGeom>
          <a:solidFill>
            <a:srgbClr val="EF8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647080"/>
                </a:solidFill>
                <a:latin typeface="Aptos"/>
              </a:defRPr>
            </a:pPr>
            <a:r>
              <a:t>COMPLETE ML • NLP • DEEP LEARNING • MLOPS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92240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647080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89888"/>
            <a:ext cx="1069848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Load tabular data into DataFrames and inspect columns, types and summary statistics.</a:t>
            </a:r>
          </a:p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Filter rows, select columns, sort records and handle indexes.</a:t>
            </a:r>
          </a:p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Join datasets, group records and aggregate business measures.</a:t>
            </a:r>
          </a:p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Treat missing values, duplicates, inconsistent types and invalid categories deliberately.</a:t>
            </a:r>
          </a:p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Use pipelines or reusable functions so cleaning steps can be repeated.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10234C"/>
                </a:solidFill>
                <a:latin typeface="Aptos"/>
              </a:defRPr>
            </a:pPr>
            <a:r>
              <a:t>Exploratory data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1051560" cy="64008"/>
          </a:xfrm>
          <a:prstGeom prst="rect">
            <a:avLst/>
          </a:prstGeom>
          <a:solidFill>
            <a:srgbClr val="EF8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647080"/>
                </a:solidFill>
                <a:latin typeface="Aptos"/>
              </a:defRPr>
            </a:pPr>
            <a:r>
              <a:t>COMPLETE ML • NLP • DEEP LEARNING • MLOPS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92240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647080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89888"/>
            <a:ext cx="1069848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Start with a question: what outcome are you trying to understand or predict?</a:t>
            </a:r>
          </a:p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Inspect distributions, ranges, missingness, duplicates and class balance.</a:t>
            </a:r>
          </a:p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Use plots and grouped summaries to uncover trends and unusual records.</a:t>
            </a:r>
          </a:p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Investigate relationships between candidate features and the target.</a:t>
            </a:r>
          </a:p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Document data-quality issues and hypotheses before training models.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10234C"/>
                </a:solidFill>
                <a:latin typeface="Aptos"/>
              </a:defRPr>
            </a:pPr>
            <a:r>
              <a:t>Visualization and communication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1051560" cy="64008"/>
          </a:xfrm>
          <a:prstGeom prst="rect">
            <a:avLst/>
          </a:prstGeom>
          <a:solidFill>
            <a:srgbClr val="EF8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647080"/>
                </a:solidFill>
                <a:latin typeface="Aptos"/>
              </a:defRPr>
            </a:pPr>
            <a:r>
              <a:t>COMPLETE ML • NLP • DEEP LEARNING • MLOPS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92240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647080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89888"/>
            <a:ext cx="1069848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Use Matplotlib and Seaborn for distributions, comparisons and relationships.</a:t>
            </a:r>
          </a:p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Histograms and box plots reveal spread, skew and potential outliers.</a:t>
            </a:r>
          </a:p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Scatter plots and correlation heatmaps help explore numeric relationships.</a:t>
            </a:r>
          </a:p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Choose chart types based on the question; label axes and units clearly.</a:t>
            </a:r>
          </a:p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Explain the finding, its limitations and the decision it could support.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10234C"/>
                </a:solidFill>
                <a:latin typeface="Aptos"/>
              </a:defRPr>
            </a:pPr>
            <a:r>
              <a:t>Mathematics for ML: linear algebra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1051560" cy="64008"/>
          </a:xfrm>
          <a:prstGeom prst="rect">
            <a:avLst/>
          </a:prstGeom>
          <a:solidFill>
            <a:srgbClr val="EF8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647080"/>
                </a:solidFill>
                <a:latin typeface="Aptos"/>
              </a:defRPr>
            </a:pPr>
            <a:r>
              <a:t>COMPLETE ML • NLP • DEEP LEARNING • MLOPS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92240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647080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89888"/>
            <a:ext cx="1069848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Scalars, vectors and matrices represent values, observations and transformations.</a:t>
            </a:r>
          </a:p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Dot products combine aligned values and are central to linear models and neural networks.</a:t>
            </a:r>
          </a:p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Matrix multiplication expresses batches of model calculations efficiently.</a:t>
            </a:r>
          </a:p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Vector norms describe magnitude and appear in distance and regularization methods.</a:t>
            </a:r>
          </a:p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Build intuition with small numeric examples before relying on library abstractions.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10234C"/>
                </a:solidFill>
                <a:latin typeface="Aptos"/>
              </a:defRPr>
            </a:pPr>
            <a:r>
              <a:t>Probability and statistics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1051560" cy="64008"/>
          </a:xfrm>
          <a:prstGeom prst="rect">
            <a:avLst/>
          </a:prstGeom>
          <a:solidFill>
            <a:srgbClr val="EF8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647080"/>
                </a:solidFill>
                <a:latin typeface="Aptos"/>
              </a:defRPr>
            </a:pPr>
            <a:r>
              <a:t>COMPLETE ML • NLP • DEEP LEARNING • MLOPS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92240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647080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89888"/>
            <a:ext cx="1069848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Mean, median, variance, standard deviation, quantiles and distributions summarize data.</a:t>
            </a:r>
          </a:p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Conditional probability and Bayes' rule describe updating beliefs from evidence.</a:t>
            </a:r>
          </a:p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Sampling variability explains why model metrics vary across datasets.</a:t>
            </a:r>
          </a:p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Correlation measures association but does not establish causality.</a:t>
            </a:r>
          </a:p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Use confidence intervals and hypothesis tests carefully, considering assumptions and sample size.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10234C"/>
                </a:solidFill>
                <a:latin typeface="Aptos"/>
              </a:defRPr>
            </a:pPr>
            <a:r>
              <a:t>Calculus and optimization intuition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1051560" cy="64008"/>
          </a:xfrm>
          <a:prstGeom prst="rect">
            <a:avLst/>
          </a:prstGeom>
          <a:solidFill>
            <a:srgbClr val="EF8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647080"/>
                </a:solidFill>
                <a:latin typeface="Aptos"/>
              </a:defRPr>
            </a:pPr>
            <a:r>
              <a:t>COMPLETE ML • NLP • DEEP LEARNING • MLOPS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92240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647080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89888"/>
            <a:ext cx="1069848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A derivative describes how a function changes with its input.</a:t>
            </a:r>
          </a:p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A gradient gives the direction of steepest local increase for a multivariable function.</a:t>
            </a:r>
          </a:p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Training often minimizes a loss function by updating parameters against the gradient.</a:t>
            </a:r>
          </a:p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Learning rate controls update size and can cause slow learning or unstable training.</a:t>
            </a:r>
          </a:p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Optimization methods and loss functions should match the task and model.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10234C"/>
                </a:solidFill>
                <a:latin typeface="Aptos"/>
              </a:defRPr>
            </a:pPr>
            <a:r>
              <a:t>Machine learning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1051560" cy="64008"/>
          </a:xfrm>
          <a:prstGeom prst="rect">
            <a:avLst/>
          </a:prstGeom>
          <a:solidFill>
            <a:srgbClr val="EF8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647080"/>
                </a:solidFill>
                <a:latin typeface="Aptos"/>
              </a:defRPr>
            </a:pPr>
            <a:r>
              <a:t>COMPLETE ML • NLP • DEEP LEARNING • MLOPS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92240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647080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89888"/>
            <a:ext cx="1069848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Define the target, intended use, constraints and success metric.</a:t>
            </a:r>
          </a:p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Create a simple baseline before trying more complex algorithms.</a:t>
            </a:r>
          </a:p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Split data into training, validation and test sets without leakage.</a:t>
            </a:r>
          </a:p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Fit preprocessing only on training data, then apply the learned transformations elsewhere.</a:t>
            </a:r>
          </a:p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Compare models, analyze errors and document when the model should not be used.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10234C"/>
                </a:solidFill>
                <a:latin typeface="Aptos"/>
              </a:defRPr>
            </a:pPr>
            <a:r>
              <a:t>Supervised learning: regression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1051560" cy="64008"/>
          </a:xfrm>
          <a:prstGeom prst="rect">
            <a:avLst/>
          </a:prstGeom>
          <a:solidFill>
            <a:srgbClr val="EF8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647080"/>
                </a:solidFill>
                <a:latin typeface="Aptos"/>
              </a:defRPr>
            </a:pPr>
            <a:r>
              <a:t>COMPLETE ML • NLP • DEEP LEARNING • MLOPS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92240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647080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89888"/>
            <a:ext cx="1069848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Regression predicts a continuous value such as price, demand or duration.</a:t>
            </a:r>
          </a:p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Linear regression models a relationship between features and a numeric target.</a:t>
            </a:r>
          </a:p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Evaluate using MAE, RMSE and R², selected for the business cost of errors.</a:t>
            </a:r>
          </a:p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Inspect residuals and performance across important segments.</a:t>
            </a:r>
          </a:p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Avoid leakage and test whether assumptions or extrapolation limits matter for the use case.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10234C"/>
                </a:solidFill>
                <a:latin typeface="Aptos"/>
              </a:defRPr>
            </a:pPr>
            <a:r>
              <a:t>Supervised learning: classification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1051560" cy="64008"/>
          </a:xfrm>
          <a:prstGeom prst="rect">
            <a:avLst/>
          </a:prstGeom>
          <a:solidFill>
            <a:srgbClr val="EF8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647080"/>
                </a:solidFill>
                <a:latin typeface="Aptos"/>
              </a:defRPr>
            </a:pPr>
            <a:r>
              <a:t>COMPLETE ML • NLP • DEEP LEARNING • MLOPS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92240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647080"/>
                </a:solidFill>
                <a:latin typeface="Aptos"/>
              </a:defRPr>
            </a:pPr>
            <a: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89888"/>
            <a:ext cx="1069848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Classification predicts a class or class probability.</a:t>
            </a:r>
          </a:p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Logistic regression, K-nearest neighbors, decision trees and random forests are common methods.</a:t>
            </a:r>
          </a:p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Use a confusion matrix to distinguish false positives and false negatives.</a:t>
            </a:r>
          </a:p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Precision, recall, F1 and ROC-AUC answer different evaluation questions.</a:t>
            </a:r>
          </a:p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Set decision thresholds based on the consequences of errors, not accuracy alone.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10234C"/>
                </a:solidFill>
                <a:latin typeface="Aptos"/>
              </a:defRPr>
            </a:pPr>
            <a:r>
              <a:t>Trees, ensembles and boosting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1051560" cy="64008"/>
          </a:xfrm>
          <a:prstGeom prst="rect">
            <a:avLst/>
          </a:prstGeom>
          <a:solidFill>
            <a:srgbClr val="EF8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647080"/>
                </a:solidFill>
                <a:latin typeface="Aptos"/>
              </a:defRPr>
            </a:pPr>
            <a:r>
              <a:t>COMPLETE ML • NLP • DEEP LEARNING • MLOPS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92240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647080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89888"/>
            <a:ext cx="1069848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Decision trees split feature space into interpretable decision rules.</a:t>
            </a:r>
          </a:p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Random forests combine many trees to reduce variance and improve robustness.</a:t>
            </a:r>
          </a:p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Boosting builds learners sequentially to correct errors from earlier learners.</a:t>
            </a:r>
          </a:p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XGBoost and LightGBM are popular gradient-boosting implementations.</a:t>
            </a:r>
          </a:p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Tune depth, learning rate, number of estimators and regularization using validation data.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10234C"/>
                </a:solidFill>
                <a:latin typeface="Aptos"/>
              </a:defRPr>
            </a:pPr>
            <a:r>
              <a:t>Unsupervised learning and clustering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1051560" cy="64008"/>
          </a:xfrm>
          <a:prstGeom prst="rect">
            <a:avLst/>
          </a:prstGeom>
          <a:solidFill>
            <a:srgbClr val="EF8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647080"/>
                </a:solidFill>
                <a:latin typeface="Aptos"/>
              </a:defRPr>
            </a:pPr>
            <a:r>
              <a:t>COMPLETE ML • NLP • DEEP LEARNING • MLOPS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92240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647080"/>
                </a:solidFill>
                <a:latin typeface="Aptos"/>
              </a:defRPr>
            </a:pPr>
            <a: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89888"/>
            <a:ext cx="1069848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Unsupervised learning finds structure without a labeled target.</a:t>
            </a:r>
          </a:p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K-Means groups observations around cluster centroids and is sensitive to scaling and initialization.</a:t>
            </a:r>
          </a:p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Choose cluster count using diagnostics plus domain usefulness, not a single score alone.</a:t>
            </a:r>
          </a:p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PCA reduces dimensionality by projecting onto directions of high variance.</a:t>
            </a:r>
          </a:p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Validate stability and interpretability before treating clusters as meaningful segments.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10234C"/>
                </a:solidFill>
                <a:latin typeface="Aptos"/>
              </a:defRPr>
            </a:pPr>
            <a:r>
              <a:t>Feature engineering and preprocessing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1051560" cy="64008"/>
          </a:xfrm>
          <a:prstGeom prst="rect">
            <a:avLst/>
          </a:prstGeom>
          <a:solidFill>
            <a:srgbClr val="EF8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647080"/>
                </a:solidFill>
                <a:latin typeface="Aptos"/>
              </a:defRPr>
            </a:pPr>
            <a:r>
              <a:t>COMPLETE ML • NLP • DEEP LEARNING • MLOPS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92240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647080"/>
                </a:solidFill>
                <a:latin typeface="Aptos"/>
              </a:defRPr>
            </a:pPr>
            <a: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89888"/>
            <a:ext cx="1069848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Encode categorical variables and scale numeric features when the algorithm requires it.</a:t>
            </a:r>
          </a:p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Handle missing values with explicit, train-fitted strategies.</a:t>
            </a:r>
          </a:p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Create features using domain knowledge while avoiding target leakage.</a:t>
            </a:r>
          </a:p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Use pipelines to keep preprocessing consistent during training and inference.</a:t>
            </a:r>
          </a:p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Check feature importance and segment-level behavior without assuming importance implies causality.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10234C"/>
                </a:solidFill>
                <a:latin typeface="Aptos"/>
              </a:defRPr>
            </a:pPr>
            <a:r>
              <a:t>Model selection and evaluation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1051560" cy="64008"/>
          </a:xfrm>
          <a:prstGeom prst="rect">
            <a:avLst/>
          </a:prstGeom>
          <a:solidFill>
            <a:srgbClr val="EF8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647080"/>
                </a:solidFill>
                <a:latin typeface="Aptos"/>
              </a:defRPr>
            </a:pPr>
            <a:r>
              <a:t>COMPLETE ML • NLP • DEEP LEARNING • MLOPS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92240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647080"/>
                </a:solidFill>
                <a:latin typeface="Aptos"/>
              </a:defRPr>
            </a:pPr>
            <a: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89888"/>
            <a:ext cx="1069848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Use cross-validation to estimate generalization more robustly.</a:t>
            </a:r>
          </a:p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Grid search tests specified parameter combinations; randomized search samples the search space.</a:t>
            </a:r>
          </a:p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Keep the final test set untouched until model choices are complete.</a:t>
            </a:r>
          </a:p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Compare models using the metric tied to the task's real costs and constraints.</a:t>
            </a:r>
          </a:p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Record parameters, data version, metrics and artifacts so experiments can be reproduced.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10234C"/>
                </a:solidFill>
                <a:latin typeface="Aptos"/>
              </a:defRPr>
            </a:pPr>
            <a:r>
              <a:t>Advanced evaluation and imbalance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1051560" cy="64008"/>
          </a:xfrm>
          <a:prstGeom prst="rect">
            <a:avLst/>
          </a:prstGeom>
          <a:solidFill>
            <a:srgbClr val="EF8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647080"/>
                </a:solidFill>
                <a:latin typeface="Aptos"/>
              </a:defRPr>
            </a:pPr>
            <a:r>
              <a:t>COMPLETE ML • NLP • DEEP LEARNING • MLOPS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92240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647080"/>
                </a:solidFill>
                <a:latin typeface="Aptos"/>
              </a:defRPr>
            </a:pPr>
            <a: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89888"/>
            <a:ext cx="1069848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Imbalanced classes can make accuracy misleading.</a:t>
            </a:r>
          </a:p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Consider class weights, resampling and threshold adjustment where appropriate.</a:t>
            </a:r>
          </a:p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Use stratified splitting when class proportions need to be preserved.</a:t>
            </a:r>
          </a:p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Evaluate precision-recall behavior and important subgroups.</a:t>
            </a:r>
          </a:p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For A/B tests, define hypotheses, outcomes and analysis plans before reading results.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10234C"/>
                </a:solidFill>
                <a:latin typeface="Aptos"/>
              </a:defRPr>
            </a:pPr>
            <a:r>
              <a:t>Deep learning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1051560" cy="64008"/>
          </a:xfrm>
          <a:prstGeom prst="rect">
            <a:avLst/>
          </a:prstGeom>
          <a:solidFill>
            <a:srgbClr val="EF8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647080"/>
                </a:solidFill>
                <a:latin typeface="Aptos"/>
              </a:defRPr>
            </a:pPr>
            <a:r>
              <a:t>COMPLETE ML • NLP • DEEP LEARNING • MLOPS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92240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647080"/>
                </a:solidFill>
                <a:latin typeface="Aptos"/>
              </a:defRPr>
            </a:pPr>
            <a: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89888"/>
            <a:ext cx="1069848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Neural networks learn layered representations from data.</a:t>
            </a:r>
          </a:p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A neuron combines weighted inputs, a bias and an activation function.</a:t>
            </a:r>
          </a:p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The loss function measures how far predictions are from target values.</a:t>
            </a:r>
          </a:p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Backpropagation calculates gradients through network layers.</a:t>
            </a:r>
          </a:p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Deep learning is powerful but needs careful data, compute, regularization and evaluation.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10234C"/>
                </a:solidFill>
                <a:latin typeface="Aptos"/>
              </a:defRPr>
            </a:pPr>
            <a:r>
              <a:t>Loss functions and optimizers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1051560" cy="64008"/>
          </a:xfrm>
          <a:prstGeom prst="rect">
            <a:avLst/>
          </a:prstGeom>
          <a:solidFill>
            <a:srgbClr val="EF8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647080"/>
                </a:solidFill>
                <a:latin typeface="Aptos"/>
              </a:defRPr>
            </a:pPr>
            <a:r>
              <a:t>COMPLETE ML • NLP • DEEP LEARNING • MLOPS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92240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647080"/>
                </a:solidFill>
                <a:latin typeface="Aptos"/>
              </a:defRPr>
            </a:pPr>
            <a: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89888"/>
            <a:ext cx="1069848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Choose a loss appropriate to the task, such as cross-entropy for classification or a regression loss.</a:t>
            </a:r>
          </a:p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Gradient descent updates parameters in the direction that reduces the loss.</a:t>
            </a:r>
          </a:p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SGD and adaptive optimizers such as Adam use different update strategies.</a:t>
            </a:r>
          </a:p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Learning rate schedules can improve convergence.</a:t>
            </a:r>
          </a:p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Track training and validation curves to detect overfitting, underfitting and unstable optimization.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10234C"/>
                </a:solidFill>
                <a:latin typeface="Aptos"/>
              </a:defRPr>
            </a:pPr>
            <a:r>
              <a:t>Training neural networks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1051560" cy="64008"/>
          </a:xfrm>
          <a:prstGeom prst="rect">
            <a:avLst/>
          </a:prstGeom>
          <a:solidFill>
            <a:srgbClr val="EF8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647080"/>
                </a:solidFill>
                <a:latin typeface="Aptos"/>
              </a:defRPr>
            </a:pPr>
            <a:r>
              <a:t>COMPLETE ML • NLP • DEEP LEARNING • MLOPS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92240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647080"/>
                </a:solidFill>
                <a:latin typeface="Aptos"/>
              </a:defRPr>
            </a:pPr>
            <a: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89888"/>
            <a:ext cx="1069848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Prepare batches and define model, loss, optimizer and training loop.</a:t>
            </a:r>
          </a:p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Separate training and validation to monitor generalization.</a:t>
            </a:r>
          </a:p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Use regularization, dropout, early stopping or augmentation when justified.</a:t>
            </a:r>
          </a:p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Use a GPU when workload and framework support make it beneficial.</a:t>
            </a:r>
          </a:p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Set seeds where practical and record software, hardware and training configuration.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10234C"/>
                </a:solidFill>
                <a:latin typeface="Aptos"/>
              </a:defRPr>
            </a:pPr>
            <a:r>
              <a:t>Convolutional neural networks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1051560" cy="64008"/>
          </a:xfrm>
          <a:prstGeom prst="rect">
            <a:avLst/>
          </a:prstGeom>
          <a:solidFill>
            <a:srgbClr val="EF8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647080"/>
                </a:solidFill>
                <a:latin typeface="Aptos"/>
              </a:defRPr>
            </a:pPr>
            <a:r>
              <a:t>COMPLETE ML • NLP • DEEP LEARNING • MLOPS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92240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647080"/>
                </a:solidFill>
                <a:latin typeface="Aptos"/>
              </a:defRPr>
            </a:pPr>
            <a: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89888"/>
            <a:ext cx="1069848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CNNs learn local spatial patterns using convolutional filters.</a:t>
            </a:r>
          </a:p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Common building blocks include convolution, activation, pooling and dense layers.</a:t>
            </a:r>
          </a:p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CNNs are used for image classification and other vision tasks.</a:t>
            </a:r>
          </a:p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Transfer learning adapts pretrained representations to a target dataset.</a:t>
            </a:r>
          </a:p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Inspect errors and use augmentation only when transformed examples preserve the label.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10234C"/>
                </a:solidFill>
                <a:latin typeface="Aptos"/>
              </a:defRPr>
            </a:pPr>
            <a:r>
              <a:t>Sequence models and NLP foundations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1051560" cy="64008"/>
          </a:xfrm>
          <a:prstGeom prst="rect">
            <a:avLst/>
          </a:prstGeom>
          <a:solidFill>
            <a:srgbClr val="EF8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647080"/>
                </a:solidFill>
                <a:latin typeface="Aptos"/>
              </a:defRPr>
            </a:pPr>
            <a:r>
              <a:t>COMPLETE ML • NLP • DEEP LEARNING • MLOPS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92240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647080"/>
                </a:solidFill>
                <a:latin typeface="Aptos"/>
              </a:defRPr>
            </a:pPr>
            <a:r>
              <a:t>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89888"/>
            <a:ext cx="1069848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Natural language processing converts text into representations that models can use.</a:t>
            </a:r>
          </a:p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Text cleaning and tokenization choices affect downstream behavior.</a:t>
            </a:r>
          </a:p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Sequence tasks include classification, tagging, generation and sentiment analysis.</a:t>
            </a:r>
          </a:p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Representations can use counts, TF-IDF or learned embeddings.</a:t>
            </a:r>
          </a:p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Build a simple baseline and compare it with more complex models.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10234C"/>
                </a:solidFill>
                <a:latin typeface="Aptos"/>
              </a:defRPr>
            </a:pPr>
            <a:r>
              <a:t>Text preprocessing and vectorization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1051560" cy="64008"/>
          </a:xfrm>
          <a:prstGeom prst="rect">
            <a:avLst/>
          </a:prstGeom>
          <a:solidFill>
            <a:srgbClr val="EF8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647080"/>
                </a:solidFill>
                <a:latin typeface="Aptos"/>
              </a:defRPr>
            </a:pPr>
            <a:r>
              <a:t>COMPLETE ML • NLP • DEEP LEARNING • MLOPS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92240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647080"/>
                </a:solidFill>
                <a:latin typeface="Aptos"/>
              </a:defRPr>
            </a:pPr>
            <a:r>
              <a:t>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89888"/>
            <a:ext cx="1069848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Normalize text only when the task benefits; avoid discarding useful signals.</a:t>
            </a:r>
          </a:p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Tokenization splits text into units used by a model.</a:t>
            </a:r>
          </a:p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Bag-of-words and TF-IDF create sparse features from token counts and weights.</a:t>
            </a:r>
          </a:p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Word or sentence embeddings represent semantic relationships in vector space.</a:t>
            </a:r>
          </a:p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Keep preprocessing identical between training and inference and test unusual inputs.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10234C"/>
                </a:solidFill>
                <a:latin typeface="Aptos"/>
              </a:defRPr>
            </a:pPr>
            <a:r>
              <a:t>Language models and transformers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1051560" cy="64008"/>
          </a:xfrm>
          <a:prstGeom prst="rect">
            <a:avLst/>
          </a:prstGeom>
          <a:solidFill>
            <a:srgbClr val="EF8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647080"/>
                </a:solidFill>
                <a:latin typeface="Aptos"/>
              </a:defRPr>
            </a:pPr>
            <a:r>
              <a:t>COMPLETE ML • NLP • DEEP LEARNING • MLOPS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92240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647080"/>
                </a:solidFill>
                <a:latin typeface="Aptos"/>
              </a:defRPr>
            </a:pPr>
            <a:r>
              <a:t>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89888"/>
            <a:ext cx="1069848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Language models learn patterns in token sequences and can generate or score text.</a:t>
            </a:r>
          </a:p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Attention helps a model represent relationships between tokens in context.</a:t>
            </a:r>
          </a:p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Transformers underpin many modern NLP architectures.</a:t>
            </a:r>
          </a:p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BERT-style models are commonly used for contextual representations; GPT-style models for generation.</a:t>
            </a:r>
          </a:p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Evaluate on representative examples and monitor hallucinations, bias and domain limitations.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10234C"/>
                </a:solidFill>
                <a:latin typeface="Aptos"/>
              </a:defRPr>
            </a:pPr>
            <a:r>
              <a:t>NLP applications and evaluation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1051560" cy="64008"/>
          </a:xfrm>
          <a:prstGeom prst="rect">
            <a:avLst/>
          </a:prstGeom>
          <a:solidFill>
            <a:srgbClr val="EF8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647080"/>
                </a:solidFill>
                <a:latin typeface="Aptos"/>
              </a:defRPr>
            </a:pPr>
            <a:r>
              <a:t>COMPLETE ML • NLP • DEEP LEARNING • MLOPS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92240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647080"/>
                </a:solidFill>
                <a:latin typeface="Aptos"/>
              </a:defRPr>
            </a:pPr>
            <a:r>
              <a:t>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89888"/>
            <a:ext cx="1069848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Common tasks include sentiment analysis, text classification, named-entity recognition and summarization.</a:t>
            </a:r>
          </a:p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Define task-specific metrics and create a labeled evaluation set.</a:t>
            </a:r>
          </a:p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Inspect false positives, false negatives and errors across different text groups.</a:t>
            </a:r>
          </a:p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Use privacy-aware handling for sensitive text data.</a:t>
            </a:r>
          </a:p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Compare a simple baseline to pretrained models before adding complexity.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10234C"/>
                </a:solidFill>
                <a:latin typeface="Aptos"/>
              </a:defRPr>
            </a:pPr>
            <a:r>
              <a:t>Reinforcement learning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1051560" cy="64008"/>
          </a:xfrm>
          <a:prstGeom prst="rect">
            <a:avLst/>
          </a:prstGeom>
          <a:solidFill>
            <a:srgbClr val="EF8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647080"/>
                </a:solidFill>
                <a:latin typeface="Aptos"/>
              </a:defRPr>
            </a:pPr>
            <a:r>
              <a:t>COMPLETE ML • NLP • DEEP LEARNING • MLOPS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92240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647080"/>
                </a:solidFill>
                <a:latin typeface="Aptos"/>
              </a:defRPr>
            </a:pPr>
            <a:r>
              <a:t>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89888"/>
            <a:ext cx="1069848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An agent observes a state, chooses an action and receives a reward.</a:t>
            </a:r>
          </a:p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The goal is to learn a policy that maximizes expected cumulative reward.</a:t>
            </a:r>
          </a:p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Exploration gathers information; exploitation uses what has been learned.</a:t>
            </a:r>
          </a:p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Rewards and environments shape the behavior that is optimized.</a:t>
            </a:r>
          </a:p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This is a conceptual overview; confirm the exact reinforcement-learning lessons in the course player.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10234C"/>
                </a:solidFill>
                <a:latin typeface="Aptos"/>
              </a:defRPr>
            </a:pPr>
            <a:r>
              <a:t>End-to-end project method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1051560" cy="64008"/>
          </a:xfrm>
          <a:prstGeom prst="rect">
            <a:avLst/>
          </a:prstGeom>
          <a:solidFill>
            <a:srgbClr val="EF8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647080"/>
                </a:solidFill>
                <a:latin typeface="Aptos"/>
              </a:defRPr>
            </a:pPr>
            <a:r>
              <a:t>COMPLETE ML • NLP • DEEP LEARNING • MLOPS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92240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647080"/>
                </a:solidFill>
                <a:latin typeface="Aptos"/>
              </a:defRPr>
            </a:pPr>
            <a:r>
              <a:t>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89888"/>
            <a:ext cx="1069848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Translate a real-world problem into a measurable ML task.</a:t>
            </a:r>
          </a:p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Collect and inspect data; document provenance, quality and target definition.</a:t>
            </a:r>
          </a:p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Create a baseline and establish a reproducible train/validation/test process.</a:t>
            </a:r>
          </a:p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Track experiments, compare errors and explain model choice.</a:t>
            </a:r>
          </a:p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Deliver code, documentation, evaluation results and clear limitations.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10234C"/>
                </a:solidFill>
                <a:latin typeface="Aptos"/>
              </a:defRPr>
            </a:pPr>
            <a:r>
              <a:t>Project idea: tabular prediction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1051560" cy="64008"/>
          </a:xfrm>
          <a:prstGeom prst="rect">
            <a:avLst/>
          </a:prstGeom>
          <a:solidFill>
            <a:srgbClr val="EF8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647080"/>
                </a:solidFill>
                <a:latin typeface="Aptos"/>
              </a:defRPr>
            </a:pPr>
            <a:r>
              <a:t>COMPLETE ML • NLP • DEEP LEARNING • MLOPS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92240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647080"/>
                </a:solidFill>
                <a:latin typeface="Aptos"/>
              </a:defRPr>
            </a:pPr>
            <a:r>
              <a:t>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89888"/>
            <a:ext cx="1069848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Example: predict a numeric business outcome or classify customer events.</a:t>
            </a:r>
          </a:p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Build a data-quality report and exploratory notebook.</a:t>
            </a:r>
          </a:p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Compare a baseline with several models using consistent splits and metrics.</a:t>
            </a:r>
          </a:p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Package preprocessing and inference into a reusable pipeline.</a:t>
            </a:r>
          </a:p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Document performance, limitations, and how a user should interpret the prediction.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10234C"/>
                </a:solidFill>
                <a:latin typeface="Aptos"/>
              </a:defRPr>
            </a:pPr>
            <a:r>
              <a:t>Project idea: NLP application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1051560" cy="64008"/>
          </a:xfrm>
          <a:prstGeom prst="rect">
            <a:avLst/>
          </a:prstGeom>
          <a:solidFill>
            <a:srgbClr val="EF8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647080"/>
                </a:solidFill>
                <a:latin typeface="Aptos"/>
              </a:defRPr>
            </a:pPr>
            <a:r>
              <a:t>COMPLETE ML • NLP • DEEP LEARNING • MLOPS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92240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647080"/>
                </a:solidFill>
                <a:latin typeface="Aptos"/>
              </a:defRPr>
            </a:pPr>
            <a:r>
              <a:t>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89888"/>
            <a:ext cx="1069848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Choose a text task such as sentiment analysis or document classification.</a:t>
            </a:r>
          </a:p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Create or select a suitable labeled dataset and define a baseline.</a:t>
            </a:r>
          </a:p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Compare sparse features with a pretrained or neural approach where appropriate.</a:t>
            </a:r>
          </a:p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Evaluate with task-specific metrics and qualitative error analysis.</a:t>
            </a:r>
          </a:p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Package inference behind a clear interface and document model constraints.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10234C"/>
                </a:solidFill>
                <a:latin typeface="Aptos"/>
              </a:defRPr>
            </a:pPr>
            <a:r>
              <a:t>From notebook to service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1051560" cy="64008"/>
          </a:xfrm>
          <a:prstGeom prst="rect">
            <a:avLst/>
          </a:prstGeom>
          <a:solidFill>
            <a:srgbClr val="EF8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647080"/>
                </a:solidFill>
                <a:latin typeface="Aptos"/>
              </a:defRPr>
            </a:pPr>
            <a:r>
              <a:t>COMPLETE ML • NLP • DEEP LEARNING • MLOPS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92240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647080"/>
                </a:solidFill>
                <a:latin typeface="Aptos"/>
              </a:defRPr>
            </a:pPr>
            <a:r>
              <a:t>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89888"/>
            <a:ext cx="1069848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Separate data preparation, training, evaluation and inference code.</a:t>
            </a:r>
          </a:p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Expose a model through a small API or batch job depending on usage needs.</a:t>
            </a:r>
          </a:p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Validate inputs and return predictable errors.</a:t>
            </a:r>
          </a:p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Pin dependencies and package the application in a reproducible environment.</a:t>
            </a:r>
          </a:p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Add tests, logs, health checks and instructions for local execution.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10234C"/>
                </a:solidFill>
                <a:latin typeface="Aptos"/>
              </a:defRPr>
            </a:pPr>
            <a:r>
              <a:t>MLOps foundations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1051560" cy="64008"/>
          </a:xfrm>
          <a:prstGeom prst="rect">
            <a:avLst/>
          </a:prstGeom>
          <a:solidFill>
            <a:srgbClr val="EF8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647080"/>
                </a:solidFill>
                <a:latin typeface="Aptos"/>
              </a:defRPr>
            </a:pPr>
            <a:r>
              <a:t>COMPLETE ML • NLP • DEEP LEARNING • MLOPS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92240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647080"/>
                </a:solidFill>
                <a:latin typeface="Aptos"/>
              </a:defRPr>
            </a:pPr>
            <a:r>
              <a:t>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89888"/>
            <a:ext cx="1069848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MLOps applies engineering practices to data, models and their lifecycle.</a:t>
            </a:r>
          </a:p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Version code, datasets, configuration and model artifacts where feasible.</a:t>
            </a:r>
          </a:p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Track experiments and metrics to compare model iterations.</a:t>
            </a:r>
          </a:p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Automate tests and deployment steps to reduce manual errors.</a:t>
            </a:r>
          </a:p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Plan monitoring, rollback and retraining decisions as part of the design.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10234C"/>
                </a:solidFill>
                <a:latin typeface="Aptos"/>
              </a:defRPr>
            </a:pPr>
            <a:r>
              <a:t>MLflow, DVC and model artifacts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1051560" cy="64008"/>
          </a:xfrm>
          <a:prstGeom prst="rect">
            <a:avLst/>
          </a:prstGeom>
          <a:solidFill>
            <a:srgbClr val="EF8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647080"/>
                </a:solidFill>
                <a:latin typeface="Aptos"/>
              </a:defRPr>
            </a:pPr>
            <a:r>
              <a:t>COMPLETE ML • NLP • DEEP LEARNING • MLOPS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92240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647080"/>
                </a:solidFill>
                <a:latin typeface="Aptos"/>
              </a:defRPr>
            </a:pPr>
            <a:r>
              <a:t>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89888"/>
            <a:ext cx="1069848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MLflow can record parameters, metrics and artifacts for experiment tracking.</a:t>
            </a:r>
          </a:p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DVC supports versioning workflows for data and model artifacts alongside Git.</a:t>
            </a:r>
          </a:p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BentoML is one tool used to package and serve ML models.</a:t>
            </a:r>
          </a:p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Choose tools based on project needs; avoid adopting tooling without a clear workflow benefit.</a:t>
            </a:r>
          </a:p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The course overview names these tools; consult its lessons for implementation details.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10234C"/>
                </a:solidFill>
                <a:latin typeface="Aptos"/>
              </a:defRPr>
            </a:pPr>
            <a:r>
              <a:t>Deployment and operational readiness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1051560" cy="64008"/>
          </a:xfrm>
          <a:prstGeom prst="rect">
            <a:avLst/>
          </a:prstGeom>
          <a:solidFill>
            <a:srgbClr val="EF8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647080"/>
                </a:solidFill>
                <a:latin typeface="Aptos"/>
              </a:defRPr>
            </a:pPr>
            <a:r>
              <a:t>COMPLETE ML • NLP • DEEP LEARNING • MLOPS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92240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647080"/>
                </a:solidFill>
                <a:latin typeface="Aptos"/>
              </a:defRPr>
            </a:pPr>
            <a:r>
              <a:t>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89888"/>
            <a:ext cx="1069848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Define whether predictions are batch, online or scheduled.</a:t>
            </a:r>
          </a:p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Measure latency, throughput, memory, reliability and operating cost.</a:t>
            </a:r>
          </a:p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Keep credentials and sensitive configuration out of source control and container images.</a:t>
            </a:r>
          </a:p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Add model and API tests plus a documented rollback path.</a:t>
            </a:r>
          </a:p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Monitor production inputs and outcomes where available; drift should trigger investigation, not automatic blind retraining.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10234C"/>
                </a:solidFill>
                <a:latin typeface="Aptos"/>
              </a:defRPr>
            </a:pPr>
            <a:r>
              <a:t>Model optimization and responsible use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1051560" cy="64008"/>
          </a:xfrm>
          <a:prstGeom prst="rect">
            <a:avLst/>
          </a:prstGeom>
          <a:solidFill>
            <a:srgbClr val="EF8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647080"/>
                </a:solidFill>
                <a:latin typeface="Aptos"/>
              </a:defRPr>
            </a:pPr>
            <a:r>
              <a:t>COMPLETE ML • NLP • DEEP LEARNING • MLOPS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92240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647080"/>
                </a:solidFill>
                <a:latin typeface="Aptos"/>
              </a:defRPr>
            </a:pPr>
            <a:r>
              <a:t>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89888"/>
            <a:ext cx="1069848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Tune hyperparameters and choose model complexity based on measured benefit.</a:t>
            </a:r>
          </a:p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Consider inference time, memory, cost and maintainability alongside accuracy.</a:t>
            </a:r>
          </a:p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Inspect subgroup performance and data representativeness.</a:t>
            </a:r>
          </a:p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Document intended use, limitations and failure modes.</a:t>
            </a:r>
          </a:p>
          <a:p>
            <a:pPr>
              <a:spcAft>
                <a:spcPts val="1000"/>
              </a:spcAft>
              <a:defRPr sz="1800">
                <a:solidFill>
                  <a:srgbClr val="273142"/>
                </a:solidFill>
                <a:latin typeface="Aptos"/>
              </a:defRPr>
            </a:pPr>
            <a:r>
              <a:t>•  Protect sensitive data and ensure the model is not used outside its validated context.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3188</Words>
  <Application>Microsoft Office PowerPoint</Application>
  <PresentationFormat>Widescreen</PresentationFormat>
  <Paragraphs>329</Paragraphs>
  <Slides>41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Akhilesh Shende</cp:lastModifiedBy>
  <cp:revision>4</cp:revision>
  <dcterms:created xsi:type="dcterms:W3CDTF">2013-01-27T09:14:16Z</dcterms:created>
  <dcterms:modified xsi:type="dcterms:W3CDTF">2026-10-18T07:48:51Z</dcterms:modified>
  <cp:category/>
</cp:coreProperties>
</file>
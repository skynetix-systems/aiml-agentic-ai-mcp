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00.xml" ContentType="application/vnd.openxmlformats-officedocument.presentationml.slide+xml"/>
  <Override PartName="/ppt/slides/slide501.xml" ContentType="application/vnd.openxmlformats-officedocument.presentationml.slide+xml"/>
  <Override PartName="/ppt/slides/slide502.xml" ContentType="application/vnd.openxmlformats-officedocument.presentationml.slide+xml"/>
  <Override PartName="/ppt/slides/slide503.xml" ContentType="application/vnd.openxmlformats-officedocument.presentationml.slide+xml"/>
  <Override PartName="/ppt/slides/slide504.xml" ContentType="application/vnd.openxmlformats-officedocument.presentationml.slide+xml"/>
  <Override PartName="/ppt/slides/slide505.xml" ContentType="application/vnd.openxmlformats-officedocument.presentationml.slide+xml"/>
  <Override PartName="/ppt/slides/slide506.xml" ContentType="application/vnd.openxmlformats-officedocument.presentationml.slide+xml"/>
  <Override PartName="/ppt/slides/slide507.xml" ContentType="application/vnd.openxmlformats-officedocument.presentationml.slide+xml"/>
  <Override PartName="/ppt/slides/slide508.xml" ContentType="application/vnd.openxmlformats-officedocument.presentationml.slide+xml"/>
  <Override PartName="/ppt/slides/slide509.xml" ContentType="application/vnd.openxmlformats-officedocument.presentationml.slide+xml"/>
  <Override PartName="/ppt/slides/slide51.xml" ContentType="application/vnd.openxmlformats-officedocument.presentationml.slide+xml"/>
  <Override PartName="/ppt/slides/slide510.xml" ContentType="application/vnd.openxmlformats-officedocument.presentationml.slide+xml"/>
  <Override PartName="/ppt/slides/slide511.xml" ContentType="application/vnd.openxmlformats-officedocument.presentationml.slide+xml"/>
  <Override PartName="/ppt/slides/slide512.xml" ContentType="application/vnd.openxmlformats-officedocument.presentationml.slide+xml"/>
  <Override PartName="/ppt/slides/slide513.xml" ContentType="application/vnd.openxmlformats-officedocument.presentationml.slide+xml"/>
  <Override PartName="/ppt/slides/slide514.xml" ContentType="application/vnd.openxmlformats-officedocument.presentationml.slide+xml"/>
  <Override PartName="/ppt/slides/slide515.xml" ContentType="application/vnd.openxmlformats-officedocument.presentationml.slide+xml"/>
  <Override PartName="/ppt/slides/slide516.xml" ContentType="application/vnd.openxmlformats-officedocument.presentationml.slide+xml"/>
  <Override PartName="/ppt/slides/slide517.xml" ContentType="application/vnd.openxmlformats-officedocument.presentationml.slide+xml"/>
  <Override PartName="/ppt/slides/slide518.xml" ContentType="application/vnd.openxmlformats-officedocument.presentationml.slide+xml"/>
  <Override PartName="/ppt/slides/slide519.xml" ContentType="application/vnd.openxmlformats-officedocument.presentationml.slide+xml"/>
  <Override PartName="/ppt/slides/slide52.xml" ContentType="application/vnd.openxmlformats-officedocument.presentationml.slide+xml"/>
  <Override PartName="/ppt/slides/slide520.xml" ContentType="application/vnd.openxmlformats-officedocument.presentationml.slide+xml"/>
  <Override PartName="/ppt/slides/slide521.xml" ContentType="application/vnd.openxmlformats-officedocument.presentationml.slide+xml"/>
  <Override PartName="/ppt/slides/slide522.xml" ContentType="application/vnd.openxmlformats-officedocument.presentationml.slide+xml"/>
  <Override PartName="/ppt/slides/slide523.xml" ContentType="application/vnd.openxmlformats-officedocument.presentationml.slide+xml"/>
  <Override PartName="/ppt/slides/slide524.xml" ContentType="application/vnd.openxmlformats-officedocument.presentationml.slide+xml"/>
  <Override PartName="/ppt/slides/slide525.xml" ContentType="application/vnd.openxmlformats-officedocument.presentationml.slide+xml"/>
  <Override PartName="/ppt/slides/slide526.xml" ContentType="application/vnd.openxmlformats-officedocument.presentationml.slide+xml"/>
  <Override PartName="/ppt/slides/slide527.xml" ContentType="application/vnd.openxmlformats-officedocument.presentationml.slide+xml"/>
  <Override PartName="/ppt/slides/slide528.xml" ContentType="application/vnd.openxmlformats-officedocument.presentationml.slide+xml"/>
  <Override PartName="/ppt/slides/slide529.xml" ContentType="application/vnd.openxmlformats-officedocument.presentationml.slide+xml"/>
  <Override PartName="/ppt/slides/slide53.xml" ContentType="application/vnd.openxmlformats-officedocument.presentationml.slide+xml"/>
  <Override PartName="/ppt/slides/slide530.xml" ContentType="application/vnd.openxmlformats-officedocument.presentationml.slide+xml"/>
  <Override PartName="/ppt/slides/slide531.xml" ContentType="application/vnd.openxmlformats-officedocument.presentationml.slide+xml"/>
  <Override PartName="/ppt/slides/slide532.xml" ContentType="application/vnd.openxmlformats-officedocument.presentationml.slide+xml"/>
  <Override PartName="/ppt/slides/slide533.xml" ContentType="application/vnd.openxmlformats-officedocument.presentationml.slide+xml"/>
  <Override PartName="/ppt/slides/slide534.xml" ContentType="application/vnd.openxmlformats-officedocument.presentationml.slide+xml"/>
  <Override PartName="/ppt/slides/slide535.xml" ContentType="application/vnd.openxmlformats-officedocument.presentationml.slide+xml"/>
  <Override PartName="/ppt/slides/slide536.xml" ContentType="application/vnd.openxmlformats-officedocument.presentationml.slide+xml"/>
  <Override PartName="/ppt/slides/slide537.xml" ContentType="application/vnd.openxmlformats-officedocument.presentationml.slide+xml"/>
  <Override PartName="/ppt/slides/slide538.xml" ContentType="application/vnd.openxmlformats-officedocument.presentationml.slide+xml"/>
  <Override PartName="/ppt/slides/slide539.xml" ContentType="application/vnd.openxmlformats-officedocument.presentationml.slide+xml"/>
  <Override PartName="/ppt/slides/slide54.xml" ContentType="application/vnd.openxmlformats-officedocument.presentationml.slide+xml"/>
  <Override PartName="/ppt/slides/slide540.xml" ContentType="application/vnd.openxmlformats-officedocument.presentationml.slide+xml"/>
  <Override PartName="/ppt/slides/slide541.xml" ContentType="application/vnd.openxmlformats-officedocument.presentationml.slide+xml"/>
  <Override PartName="/ppt/slides/slide542.xml" ContentType="application/vnd.openxmlformats-officedocument.presentationml.slide+xml"/>
  <Override PartName="/ppt/slides/slide543.xml" ContentType="application/vnd.openxmlformats-officedocument.presentationml.slide+xml"/>
  <Override PartName="/ppt/slides/slide544.xml" ContentType="application/vnd.openxmlformats-officedocument.presentationml.slide+xml"/>
  <Override PartName="/ppt/slides/slide545.xml" ContentType="application/vnd.openxmlformats-officedocument.presentationml.slide+xml"/>
  <Override PartName="/ppt/slides/slide546.xml" ContentType="application/vnd.openxmlformats-officedocument.presentationml.slide+xml"/>
  <Override PartName="/ppt/slides/slide547.xml" ContentType="application/vnd.openxmlformats-officedocument.presentationml.slide+xml"/>
  <Override PartName="/ppt/slides/slide548.xml" ContentType="application/vnd.openxmlformats-officedocument.presentationml.slide+xml"/>
  <Override PartName="/ppt/slides/slide549.xml" ContentType="application/vnd.openxmlformats-officedocument.presentationml.slide+xml"/>
  <Override PartName="/ppt/slides/slide55.xml" ContentType="application/vnd.openxmlformats-officedocument.presentationml.slide+xml"/>
  <Override PartName="/ppt/slides/slide550.xml" ContentType="application/vnd.openxmlformats-officedocument.presentationml.slide+xml"/>
  <Override PartName="/ppt/slides/slide551.xml" ContentType="application/vnd.openxmlformats-officedocument.presentationml.slide+xml"/>
  <Override PartName="/ppt/slides/slide552.xml" ContentType="application/vnd.openxmlformats-officedocument.presentationml.slide+xml"/>
  <Override PartName="/ppt/slides/slide553.xml" ContentType="application/vnd.openxmlformats-officedocument.presentationml.slide+xml"/>
  <Override PartName="/ppt/slides/slide554.xml" ContentType="application/vnd.openxmlformats-officedocument.presentationml.slide+xml"/>
  <Override PartName="/ppt/slides/slide555.xml" ContentType="application/vnd.openxmlformats-officedocument.presentationml.slide+xml"/>
  <Override PartName="/ppt/slides/slide556.xml" ContentType="application/vnd.openxmlformats-officedocument.presentationml.slide+xml"/>
  <Override PartName="/ppt/slides/slide557.xml" ContentType="application/vnd.openxmlformats-officedocument.presentationml.slide+xml"/>
  <Override PartName="/ppt/slides/slide558.xml" ContentType="application/vnd.openxmlformats-officedocument.presentationml.slide+xml"/>
  <Override PartName="/ppt/slides/slide559.xml" ContentType="application/vnd.openxmlformats-officedocument.presentationml.slide+xml"/>
  <Override PartName="/ppt/slides/slide56.xml" ContentType="application/vnd.openxmlformats-officedocument.presentationml.slide+xml"/>
  <Override PartName="/ppt/slides/slide560.xml" ContentType="application/vnd.openxmlformats-officedocument.presentationml.slide+xml"/>
  <Override PartName="/ppt/slides/slide561.xml" ContentType="application/vnd.openxmlformats-officedocument.presentationml.slide+xml"/>
  <Override PartName="/ppt/slides/slide562.xml" ContentType="application/vnd.openxmlformats-officedocument.presentationml.slide+xml"/>
  <Override PartName="/ppt/slides/slide563.xml" ContentType="application/vnd.openxmlformats-officedocument.presentationml.slide+xml"/>
  <Override PartName="/ppt/slides/slide564.xml" ContentType="application/vnd.openxmlformats-officedocument.presentationml.slide+xml"/>
  <Override PartName="/ppt/slides/slide565.xml" ContentType="application/vnd.openxmlformats-officedocument.presentationml.slide+xml"/>
  <Override PartName="/ppt/slides/slide566.xml" ContentType="application/vnd.openxmlformats-officedocument.presentationml.slide+xml"/>
  <Override PartName="/ppt/slides/slide567.xml" ContentType="application/vnd.openxmlformats-officedocument.presentationml.slide+xml"/>
  <Override PartName="/ppt/slides/slide568.xml" ContentType="application/vnd.openxmlformats-officedocument.presentationml.slide+xml"/>
  <Override PartName="/ppt/slides/slide569.xml" ContentType="application/vnd.openxmlformats-officedocument.presentationml.slide+xml"/>
  <Override PartName="/ppt/slides/slide57.xml" ContentType="application/vnd.openxmlformats-officedocument.presentationml.slide+xml"/>
  <Override PartName="/ppt/slides/slide570.xml" ContentType="application/vnd.openxmlformats-officedocument.presentationml.slide+xml"/>
  <Override PartName="/ppt/slides/slide571.xml" ContentType="application/vnd.openxmlformats-officedocument.presentationml.slide+xml"/>
  <Override PartName="/ppt/slides/slide572.xml" ContentType="application/vnd.openxmlformats-officedocument.presentationml.slide+xml"/>
  <Override PartName="/ppt/slides/slide573.xml" ContentType="application/vnd.openxmlformats-officedocument.presentationml.slide+xml"/>
  <Override PartName="/ppt/slides/slide574.xml" ContentType="application/vnd.openxmlformats-officedocument.presentationml.slide+xml"/>
  <Override PartName="/ppt/slides/slide575.xml" ContentType="application/vnd.openxmlformats-officedocument.presentationml.slide+xml"/>
  <Override PartName="/ppt/slides/slide576.xml" ContentType="application/vnd.openxmlformats-officedocument.presentationml.slide+xml"/>
  <Override PartName="/ppt/slides/slide577.xml" ContentType="application/vnd.openxmlformats-officedocument.presentationml.slide+xml"/>
  <Override PartName="/ppt/slides/slide578.xml" ContentType="application/vnd.openxmlformats-officedocument.presentationml.slide+xml"/>
  <Override PartName="/ppt/slides/slide579.xml" ContentType="application/vnd.openxmlformats-officedocument.presentationml.slide+xml"/>
  <Override PartName="/ppt/slides/slide58.xml" ContentType="application/vnd.openxmlformats-officedocument.presentationml.slide+xml"/>
  <Override PartName="/ppt/slides/slide580.xml" ContentType="application/vnd.openxmlformats-officedocument.presentationml.slide+xml"/>
  <Override PartName="/ppt/slides/slide581.xml" ContentType="application/vnd.openxmlformats-officedocument.presentationml.slide+xml"/>
  <Override PartName="/ppt/slides/slide582.xml" ContentType="application/vnd.openxmlformats-officedocument.presentationml.slide+xml"/>
  <Override PartName="/ppt/slides/slide583.xml" ContentType="application/vnd.openxmlformats-officedocument.presentationml.slide+xml"/>
  <Override PartName="/ppt/slides/slide584.xml" ContentType="application/vnd.openxmlformats-officedocument.presentationml.slide+xml"/>
  <Override PartName="/ppt/slides/slide585.xml" ContentType="application/vnd.openxmlformats-officedocument.presentationml.slide+xml"/>
  <Override PartName="/ppt/slides/slide586.xml" ContentType="application/vnd.openxmlformats-officedocument.presentationml.slide+xml"/>
  <Override PartName="/ppt/slides/slide587.xml" ContentType="application/vnd.openxmlformats-officedocument.presentationml.slide+xml"/>
  <Override PartName="/ppt/slides/slide588.xml" ContentType="application/vnd.openxmlformats-officedocument.presentationml.slide+xml"/>
  <Override PartName="/ppt/slides/slide589.xml" ContentType="application/vnd.openxmlformats-officedocument.presentationml.slide+xml"/>
  <Override PartName="/ppt/slides/slide59.xml" ContentType="application/vnd.openxmlformats-officedocument.presentationml.slide+xml"/>
  <Override PartName="/ppt/slides/slide590.xml" ContentType="application/vnd.openxmlformats-officedocument.presentationml.slide+xml"/>
  <Override PartName="/ppt/slides/slide591.xml" ContentType="application/vnd.openxmlformats-officedocument.presentationml.slide+xml"/>
  <Override PartName="/ppt/slides/slide592.xml" ContentType="application/vnd.openxmlformats-officedocument.presentationml.slide+xml"/>
  <Override PartName="/ppt/slides/slide593.xml" ContentType="application/vnd.openxmlformats-officedocument.presentationml.slide+xml"/>
  <Override PartName="/ppt/slides/slide594.xml" ContentType="application/vnd.openxmlformats-officedocument.presentationml.slide+xml"/>
  <Override PartName="/ppt/slides/slide595.xml" ContentType="application/vnd.openxmlformats-officedocument.presentationml.slide+xml"/>
  <Override PartName="/ppt/slides/slide596.xml" ContentType="application/vnd.openxmlformats-officedocument.presentationml.slide+xml"/>
  <Override PartName="/ppt/slides/slide597.xml" ContentType="application/vnd.openxmlformats-officedocument.presentationml.slide+xml"/>
  <Override PartName="/ppt/slides/slide598.xml" ContentType="application/vnd.openxmlformats-officedocument.presentationml.slide+xml"/>
  <Override PartName="/ppt/slides/slide59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00.xml" ContentType="application/vnd.openxmlformats-officedocument.presentationml.slide+xml"/>
  <Override PartName="/ppt/slides/slide601.xml" ContentType="application/vnd.openxmlformats-officedocument.presentationml.slide+xml"/>
  <Override PartName="/ppt/slides/slide602.xml" ContentType="application/vnd.openxmlformats-officedocument.presentationml.slide+xml"/>
  <Override PartName="/ppt/slides/slide603.xml" ContentType="application/vnd.openxmlformats-officedocument.presentationml.slide+xml"/>
  <Override PartName="/ppt/slides/slide604.xml" ContentType="application/vnd.openxmlformats-officedocument.presentationml.slide+xml"/>
  <Override PartName="/ppt/slides/slide605.xml" ContentType="application/vnd.openxmlformats-officedocument.presentationml.slide+xml"/>
  <Override PartName="/ppt/slides/slide606.xml" ContentType="application/vnd.openxmlformats-officedocument.presentationml.slide+xml"/>
  <Override PartName="/ppt/slides/slide607.xml" ContentType="application/vnd.openxmlformats-officedocument.presentationml.slide+xml"/>
  <Override PartName="/ppt/slides/slide608.xml" ContentType="application/vnd.openxmlformats-officedocument.presentationml.slide+xml"/>
  <Override PartName="/ppt/slides/slide609.xml" ContentType="application/vnd.openxmlformats-officedocument.presentationml.slide+xml"/>
  <Override PartName="/ppt/slides/slide61.xml" ContentType="application/vnd.openxmlformats-officedocument.presentationml.slide+xml"/>
  <Override PartName="/ppt/slides/slide610.xml" ContentType="application/vnd.openxmlformats-officedocument.presentationml.slide+xml"/>
  <Override PartName="/ppt/slides/slide611.xml" ContentType="application/vnd.openxmlformats-officedocument.presentationml.slide+xml"/>
  <Override PartName="/ppt/slides/slide612.xml" ContentType="application/vnd.openxmlformats-officedocument.presentationml.slide+xml"/>
  <Override PartName="/ppt/slides/slide613.xml" ContentType="application/vnd.openxmlformats-officedocument.presentationml.slide+xml"/>
  <Override PartName="/ppt/slides/slide614.xml" ContentType="application/vnd.openxmlformats-officedocument.presentationml.slide+xml"/>
  <Override PartName="/ppt/slides/slide615.xml" ContentType="application/vnd.openxmlformats-officedocument.presentationml.slide+xml"/>
  <Override PartName="/ppt/slides/slide616.xml" ContentType="application/vnd.openxmlformats-officedocument.presentationml.slide+xml"/>
  <Override PartName="/ppt/slides/slide617.xml" ContentType="application/vnd.openxmlformats-officedocument.presentationml.slide+xml"/>
  <Override PartName="/ppt/slides/slide618.xml" ContentType="application/vnd.openxmlformats-officedocument.presentationml.slide+xml"/>
  <Override PartName="/ppt/slides/slide619.xml" ContentType="application/vnd.openxmlformats-officedocument.presentationml.slide+xml"/>
  <Override PartName="/ppt/slides/slide62.xml" ContentType="application/vnd.openxmlformats-officedocument.presentationml.slide+xml"/>
  <Override PartName="/ppt/slides/slide620.xml" ContentType="application/vnd.openxmlformats-officedocument.presentationml.slide+xml"/>
  <Override PartName="/ppt/slides/slide621.xml" ContentType="application/vnd.openxmlformats-officedocument.presentationml.slide+xml"/>
  <Override PartName="/ppt/slides/slide622.xml" ContentType="application/vnd.openxmlformats-officedocument.presentationml.slide+xml"/>
  <Override PartName="/ppt/slides/slide623.xml" ContentType="application/vnd.openxmlformats-officedocument.presentationml.slide+xml"/>
  <Override PartName="/ppt/slides/slide624.xml" ContentType="application/vnd.openxmlformats-officedocument.presentationml.slide+xml"/>
  <Override PartName="/ppt/slides/slide625.xml" ContentType="application/vnd.openxmlformats-officedocument.presentationml.slide+xml"/>
  <Override PartName="/ppt/slides/slide626.xml" ContentType="application/vnd.openxmlformats-officedocument.presentationml.slide+xml"/>
  <Override PartName="/ppt/slides/slide627.xml" ContentType="application/vnd.openxmlformats-officedocument.presentationml.slide+xml"/>
  <Override PartName="/ppt/slides/slide628.xml" ContentType="application/vnd.openxmlformats-officedocument.presentationml.slide+xml"/>
  <Override PartName="/ppt/slides/slide629.xml" ContentType="application/vnd.openxmlformats-officedocument.presentationml.slide+xml"/>
  <Override PartName="/ppt/slides/slide63.xml" ContentType="application/vnd.openxmlformats-officedocument.presentationml.slide+xml"/>
  <Override PartName="/ppt/slides/slide630.xml" ContentType="application/vnd.openxmlformats-officedocument.presentationml.slide+xml"/>
  <Override PartName="/ppt/slides/slide631.xml" ContentType="application/vnd.openxmlformats-officedocument.presentationml.slide+xml"/>
  <Override PartName="/ppt/slides/slide632.xml" ContentType="application/vnd.openxmlformats-officedocument.presentationml.slide+xml"/>
  <Override PartName="/ppt/slides/slide633.xml" ContentType="application/vnd.openxmlformats-officedocument.presentationml.slide+xml"/>
  <Override PartName="/ppt/slides/slide634.xml" ContentType="application/vnd.openxmlformats-officedocument.presentationml.slide+xml"/>
  <Override PartName="/ppt/slides/slide635.xml" ContentType="application/vnd.openxmlformats-officedocument.presentationml.slide+xml"/>
  <Override PartName="/ppt/slides/slide636.xml" ContentType="application/vnd.openxmlformats-officedocument.presentationml.slide+xml"/>
  <Override PartName="/ppt/slides/slide637.xml" ContentType="application/vnd.openxmlformats-officedocument.presentationml.slide+xml"/>
  <Override PartName="/ppt/slides/slide638.xml" ContentType="application/vnd.openxmlformats-officedocument.presentationml.slide+xml"/>
  <Override PartName="/ppt/slides/slide639.xml" ContentType="application/vnd.openxmlformats-officedocument.presentationml.slide+xml"/>
  <Override PartName="/ppt/slides/slide64.xml" ContentType="application/vnd.openxmlformats-officedocument.presentationml.slide+xml"/>
  <Override PartName="/ppt/slides/slide640.xml" ContentType="application/vnd.openxmlformats-officedocument.presentationml.slide+xml"/>
  <Override PartName="/ppt/slides/slide641.xml" ContentType="application/vnd.openxmlformats-officedocument.presentationml.slide+xml"/>
  <Override PartName="/ppt/slides/slide642.xml" ContentType="application/vnd.openxmlformats-officedocument.presentationml.slide+xml"/>
  <Override PartName="/ppt/slides/slide643.xml" ContentType="application/vnd.openxmlformats-officedocument.presentationml.slide+xml"/>
  <Override PartName="/ppt/slides/slide644.xml" ContentType="application/vnd.openxmlformats-officedocument.presentationml.slide+xml"/>
  <Override PartName="/ppt/slides/slide645.xml" ContentType="application/vnd.openxmlformats-officedocument.presentationml.slide+xml"/>
  <Override PartName="/ppt/slides/slide646.xml" ContentType="application/vnd.openxmlformats-officedocument.presentationml.slide+xml"/>
  <Override PartName="/ppt/slides/slide647.xml" ContentType="application/vnd.openxmlformats-officedocument.presentationml.slide+xml"/>
  <Override PartName="/ppt/slides/slide648.xml" ContentType="application/vnd.openxmlformats-officedocument.presentationml.slide+xml"/>
  <Override PartName="/ppt/slides/slide649.xml" ContentType="application/vnd.openxmlformats-officedocument.presentationml.slide+xml"/>
  <Override PartName="/ppt/slides/slide65.xml" ContentType="application/vnd.openxmlformats-officedocument.presentationml.slide+xml"/>
  <Override PartName="/ppt/slides/slide650.xml" ContentType="application/vnd.openxmlformats-officedocument.presentationml.slide+xml"/>
  <Override PartName="/ppt/slides/slide651.xml" ContentType="application/vnd.openxmlformats-officedocument.presentationml.slide+xml"/>
  <Override PartName="/ppt/slides/slide652.xml" ContentType="application/vnd.openxmlformats-officedocument.presentationml.slide+xml"/>
  <Override PartName="/ppt/slides/slide653.xml" ContentType="application/vnd.openxmlformats-officedocument.presentationml.slide+xml"/>
  <Override PartName="/ppt/slides/slide654.xml" ContentType="application/vnd.openxmlformats-officedocument.presentationml.slide+xml"/>
  <Override PartName="/ppt/slides/slide655.xml" ContentType="application/vnd.openxmlformats-officedocument.presentationml.slide+xml"/>
  <Override PartName="/ppt/slides/slide656.xml" ContentType="application/vnd.openxmlformats-officedocument.presentationml.slide+xml"/>
  <Override PartName="/ppt/slides/slide657.xml" ContentType="application/vnd.openxmlformats-officedocument.presentationml.slide+xml"/>
  <Override PartName="/ppt/slides/slide658.xml" ContentType="application/vnd.openxmlformats-officedocument.presentationml.slide+xml"/>
  <Override PartName="/ppt/slides/slide659.xml" ContentType="application/vnd.openxmlformats-officedocument.presentationml.slide+xml"/>
  <Override PartName="/ppt/slides/slide66.xml" ContentType="application/vnd.openxmlformats-officedocument.presentationml.slide+xml"/>
  <Override PartName="/ppt/slides/slide660.xml" ContentType="application/vnd.openxmlformats-officedocument.presentationml.slide+xml"/>
  <Override PartName="/ppt/slides/slide661.xml" ContentType="application/vnd.openxmlformats-officedocument.presentationml.slide+xml"/>
  <Override PartName="/ppt/slides/slide662.xml" ContentType="application/vnd.openxmlformats-officedocument.presentationml.slide+xml"/>
  <Override PartName="/ppt/slides/slide663.xml" ContentType="application/vnd.openxmlformats-officedocument.presentationml.slide+xml"/>
  <Override PartName="/ppt/slides/slide664.xml" ContentType="application/vnd.openxmlformats-officedocument.presentationml.slide+xml"/>
  <Override PartName="/ppt/slides/slide665.xml" ContentType="application/vnd.openxmlformats-officedocument.presentationml.slide+xml"/>
  <Override PartName="/ppt/slides/slide666.xml" ContentType="application/vnd.openxmlformats-officedocument.presentationml.slide+xml"/>
  <Override PartName="/ppt/slides/slide667.xml" ContentType="application/vnd.openxmlformats-officedocument.presentationml.slide+xml"/>
  <Override PartName="/ppt/slides/slide668.xml" ContentType="application/vnd.openxmlformats-officedocument.presentationml.slide+xml"/>
  <Override PartName="/ppt/slides/slide669.xml" ContentType="application/vnd.openxmlformats-officedocument.presentationml.slide+xml"/>
  <Override PartName="/ppt/slides/slide67.xml" ContentType="application/vnd.openxmlformats-officedocument.presentationml.slide+xml"/>
  <Override PartName="/ppt/slides/slide670.xml" ContentType="application/vnd.openxmlformats-officedocument.presentationml.slide+xml"/>
  <Override PartName="/ppt/slides/slide671.xml" ContentType="application/vnd.openxmlformats-officedocument.presentationml.slide+xml"/>
  <Override PartName="/ppt/slides/slide672.xml" ContentType="application/vnd.openxmlformats-officedocument.presentationml.slide+xml"/>
  <Override PartName="/ppt/slides/slide673.xml" ContentType="application/vnd.openxmlformats-officedocument.presentationml.slide+xml"/>
  <Override PartName="/ppt/slides/slide674.xml" ContentType="application/vnd.openxmlformats-officedocument.presentationml.slide+xml"/>
  <Override PartName="/ppt/slides/slide675.xml" ContentType="application/vnd.openxmlformats-officedocument.presentationml.slide+xml"/>
  <Override PartName="/ppt/slides/slide676.xml" ContentType="application/vnd.openxmlformats-officedocument.presentationml.slide+xml"/>
  <Override PartName="/ppt/slides/slide677.xml" ContentType="application/vnd.openxmlformats-officedocument.presentationml.slide+xml"/>
  <Override PartName="/ppt/slides/slide678.xml" ContentType="application/vnd.openxmlformats-officedocument.presentationml.slide+xml"/>
  <Override PartName="/ppt/slides/slide679.xml" ContentType="application/vnd.openxmlformats-officedocument.presentationml.slide+xml"/>
  <Override PartName="/ppt/slides/slide68.xml" ContentType="application/vnd.openxmlformats-officedocument.presentationml.slide+xml"/>
  <Override PartName="/ppt/slides/slide680.xml" ContentType="application/vnd.openxmlformats-officedocument.presentationml.slide+xml"/>
  <Override PartName="/ppt/slides/slide681.xml" ContentType="application/vnd.openxmlformats-officedocument.presentationml.slide+xml"/>
  <Override PartName="/ppt/slides/slide682.xml" ContentType="application/vnd.openxmlformats-officedocument.presentationml.slide+xml"/>
  <Override PartName="/ppt/slides/slide683.xml" ContentType="application/vnd.openxmlformats-officedocument.presentationml.slide+xml"/>
  <Override PartName="/ppt/slides/slide684.xml" ContentType="application/vnd.openxmlformats-officedocument.presentationml.slide+xml"/>
  <Override PartName="/ppt/slides/slide685.xml" ContentType="application/vnd.openxmlformats-officedocument.presentationml.slide+xml"/>
  <Override PartName="/ppt/slides/slide686.xml" ContentType="application/vnd.openxmlformats-officedocument.presentationml.slide+xml"/>
  <Override PartName="/ppt/slides/slide687.xml" ContentType="application/vnd.openxmlformats-officedocument.presentationml.slide+xml"/>
  <Override PartName="/ppt/slides/slide688.xml" ContentType="application/vnd.openxmlformats-officedocument.presentationml.slide+xml"/>
  <Override PartName="/ppt/slides/slide689.xml" ContentType="application/vnd.openxmlformats-officedocument.presentationml.slide+xml"/>
  <Override PartName="/ppt/slides/slide69.xml" ContentType="application/vnd.openxmlformats-officedocument.presentationml.slide+xml"/>
  <Override PartName="/ppt/slides/slide690.xml" ContentType="application/vnd.openxmlformats-officedocument.presentationml.slide+xml"/>
  <Override PartName="/ppt/slides/slide691.xml" ContentType="application/vnd.openxmlformats-officedocument.presentationml.slide+xml"/>
  <Override PartName="/ppt/slides/slide692.xml" ContentType="application/vnd.openxmlformats-officedocument.presentationml.slide+xml"/>
  <Override PartName="/ppt/slides/slide693.xml" ContentType="application/vnd.openxmlformats-officedocument.presentationml.slide+xml"/>
  <Override PartName="/ppt/slides/slide694.xml" ContentType="application/vnd.openxmlformats-officedocument.presentationml.slide+xml"/>
  <Override PartName="/ppt/slides/slide695.xml" ContentType="application/vnd.openxmlformats-officedocument.presentationml.slide+xml"/>
  <Override PartName="/ppt/slides/slide696.xml" ContentType="application/vnd.openxmlformats-officedocument.presentationml.slide+xml"/>
  <Override PartName="/ppt/slides/slide697.xml" ContentType="application/vnd.openxmlformats-officedocument.presentationml.slide+xml"/>
  <Override PartName="/ppt/slides/slide698.xml" ContentType="application/vnd.openxmlformats-officedocument.presentationml.slide+xml"/>
  <Override PartName="/ppt/slides/slide69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00.xml" ContentType="application/vnd.openxmlformats-officedocument.presentationml.slide+xml"/>
  <Override PartName="/ppt/slides/slide701.xml" ContentType="application/vnd.openxmlformats-officedocument.presentationml.slide+xml"/>
  <Override PartName="/ppt/slides/slide702.xml" ContentType="application/vnd.openxmlformats-officedocument.presentationml.slide+xml"/>
  <Override PartName="/ppt/slides/slide703.xml" ContentType="application/vnd.openxmlformats-officedocument.presentationml.slide+xml"/>
  <Override PartName="/ppt/slides/slide704.xml" ContentType="application/vnd.openxmlformats-officedocument.presentationml.slide+xml"/>
  <Override PartName="/ppt/slides/slide705.xml" ContentType="application/vnd.openxmlformats-officedocument.presentationml.slide+xml"/>
  <Override PartName="/ppt/slides/slide706.xml" ContentType="application/vnd.openxmlformats-officedocument.presentationml.slide+xml"/>
  <Override PartName="/ppt/slides/slide707.xml" ContentType="application/vnd.openxmlformats-officedocument.presentationml.slide+xml"/>
  <Override PartName="/ppt/slides/slide708.xml" ContentType="application/vnd.openxmlformats-officedocument.presentationml.slide+xml"/>
  <Override PartName="/ppt/slides/slide709.xml" ContentType="application/vnd.openxmlformats-officedocument.presentationml.slide+xml"/>
  <Override PartName="/ppt/slides/slide71.xml" ContentType="application/vnd.openxmlformats-officedocument.presentationml.slide+xml"/>
  <Override PartName="/ppt/slides/slide710.xml" ContentType="application/vnd.openxmlformats-officedocument.presentationml.slide+xml"/>
  <Override PartName="/ppt/slides/slide711.xml" ContentType="application/vnd.openxmlformats-officedocument.presentationml.slide+xml"/>
  <Override PartName="/ppt/slides/slide712.xml" ContentType="application/vnd.openxmlformats-officedocument.presentationml.slide+xml"/>
  <Override PartName="/ppt/slides/slide713.xml" ContentType="application/vnd.openxmlformats-officedocument.presentationml.slide+xml"/>
  <Override PartName="/ppt/slides/slide714.xml" ContentType="application/vnd.openxmlformats-officedocument.presentationml.slide+xml"/>
  <Override PartName="/ppt/slides/slide715.xml" ContentType="application/vnd.openxmlformats-officedocument.presentationml.slide+xml"/>
  <Override PartName="/ppt/slides/slide716.xml" ContentType="application/vnd.openxmlformats-officedocument.presentationml.slide+xml"/>
  <Override PartName="/ppt/slides/slide717.xml" ContentType="application/vnd.openxmlformats-officedocument.presentationml.slide+xml"/>
  <Override PartName="/ppt/slides/slide718.xml" ContentType="application/vnd.openxmlformats-officedocument.presentationml.slide+xml"/>
  <Override PartName="/ppt/slides/slide719.xml" ContentType="application/vnd.openxmlformats-officedocument.presentationml.slide+xml"/>
  <Override PartName="/ppt/slides/slide72.xml" ContentType="application/vnd.openxmlformats-officedocument.presentationml.slide+xml"/>
  <Override PartName="/ppt/slides/slide720.xml" ContentType="application/vnd.openxmlformats-officedocument.presentationml.slide+xml"/>
  <Override PartName="/ppt/slides/slide721.xml" ContentType="application/vnd.openxmlformats-officedocument.presentationml.slide+xml"/>
  <Override PartName="/ppt/slides/slide722.xml" ContentType="application/vnd.openxmlformats-officedocument.presentationml.slide+xml"/>
  <Override PartName="/ppt/slides/slide723.xml" ContentType="application/vnd.openxmlformats-officedocument.presentationml.slide+xml"/>
  <Override PartName="/ppt/slides/slide724.xml" ContentType="application/vnd.openxmlformats-officedocument.presentationml.slide+xml"/>
  <Override PartName="/ppt/slides/slide725.xml" ContentType="application/vnd.openxmlformats-officedocument.presentationml.slide+xml"/>
  <Override PartName="/ppt/slides/slide726.xml" ContentType="application/vnd.openxmlformats-officedocument.presentationml.slide+xml"/>
  <Override PartName="/ppt/slides/slide727.xml" ContentType="application/vnd.openxmlformats-officedocument.presentationml.slide+xml"/>
  <Override PartName="/ppt/slides/slide728.xml" ContentType="application/vnd.openxmlformats-officedocument.presentationml.slide+xml"/>
  <Override PartName="/ppt/slides/slide729.xml" ContentType="application/vnd.openxmlformats-officedocument.presentationml.slide+xml"/>
  <Override PartName="/ppt/slides/slide73.xml" ContentType="application/vnd.openxmlformats-officedocument.presentationml.slide+xml"/>
  <Override PartName="/ppt/slides/slide730.xml" ContentType="application/vnd.openxmlformats-officedocument.presentationml.slide+xml"/>
  <Override PartName="/ppt/slides/slide731.xml" ContentType="application/vnd.openxmlformats-officedocument.presentationml.slide+xml"/>
  <Override PartName="/ppt/slides/slide732.xml" ContentType="application/vnd.openxmlformats-officedocument.presentationml.slide+xml"/>
  <Override PartName="/ppt/slides/slide733.xml" ContentType="application/vnd.openxmlformats-officedocument.presentationml.slide+xml"/>
  <Override PartName="/ppt/slides/slide734.xml" ContentType="application/vnd.openxmlformats-officedocument.presentationml.slide+xml"/>
  <Override PartName="/ppt/slides/slide735.xml" ContentType="application/vnd.openxmlformats-officedocument.presentationml.slide+xml"/>
  <Override PartName="/ppt/slides/slide736.xml" ContentType="application/vnd.openxmlformats-officedocument.presentationml.slide+xml"/>
  <Override PartName="/ppt/slides/slide737.xml" ContentType="application/vnd.openxmlformats-officedocument.presentationml.slide+xml"/>
  <Override PartName="/ppt/slides/slide738.xml" ContentType="application/vnd.openxmlformats-officedocument.presentationml.slide+xml"/>
  <Override PartName="/ppt/slides/slide739.xml" ContentType="application/vnd.openxmlformats-officedocument.presentationml.slide+xml"/>
  <Override PartName="/ppt/slides/slide74.xml" ContentType="application/vnd.openxmlformats-officedocument.presentationml.slide+xml"/>
  <Override PartName="/ppt/slides/slide740.xml" ContentType="application/vnd.openxmlformats-officedocument.presentationml.slide+xml"/>
  <Override PartName="/ppt/slides/slide741.xml" ContentType="application/vnd.openxmlformats-officedocument.presentationml.slide+xml"/>
  <Override PartName="/ppt/slides/slide742.xml" ContentType="application/vnd.openxmlformats-officedocument.presentationml.slide+xml"/>
  <Override PartName="/ppt/slides/slide743.xml" ContentType="application/vnd.openxmlformats-officedocument.presentationml.slide+xml"/>
  <Override PartName="/ppt/slides/slide744.xml" ContentType="application/vnd.openxmlformats-officedocument.presentationml.slide+xml"/>
  <Override PartName="/ppt/slides/slide745.xml" ContentType="application/vnd.openxmlformats-officedocument.presentationml.slide+xml"/>
  <Override PartName="/ppt/slides/slide746.xml" ContentType="application/vnd.openxmlformats-officedocument.presentationml.slide+xml"/>
  <Override PartName="/ppt/slides/slide747.xml" ContentType="application/vnd.openxmlformats-officedocument.presentationml.slide+xml"/>
  <Override PartName="/ppt/slides/slide748.xml" ContentType="application/vnd.openxmlformats-officedocument.presentationml.slide+xml"/>
  <Override PartName="/ppt/slides/slide749.xml" ContentType="application/vnd.openxmlformats-officedocument.presentationml.slide+xml"/>
  <Override PartName="/ppt/slides/slide75.xml" ContentType="application/vnd.openxmlformats-officedocument.presentationml.slide+xml"/>
  <Override PartName="/ppt/slides/slide750.xml" ContentType="application/vnd.openxmlformats-officedocument.presentationml.slide+xml"/>
  <Override PartName="/ppt/slides/slide751.xml" ContentType="application/vnd.openxmlformats-officedocument.presentationml.slide+xml"/>
  <Override PartName="/ppt/slides/slide752.xml" ContentType="application/vnd.openxmlformats-officedocument.presentationml.slide+xml"/>
  <Override PartName="/ppt/slides/slide753.xml" ContentType="application/vnd.openxmlformats-officedocument.presentationml.slide+xml"/>
  <Override PartName="/ppt/slides/slide754.xml" ContentType="application/vnd.openxmlformats-officedocument.presentationml.slide+xml"/>
  <Override PartName="/ppt/slides/slide755.xml" ContentType="application/vnd.openxmlformats-officedocument.presentationml.slide+xml"/>
  <Override PartName="/ppt/slides/slide756.xml" ContentType="application/vnd.openxmlformats-officedocument.presentationml.slide+xml"/>
  <Override PartName="/ppt/slides/slide757.xml" ContentType="application/vnd.openxmlformats-officedocument.presentationml.slide+xml"/>
  <Override PartName="/ppt/slides/slide758.xml" ContentType="application/vnd.openxmlformats-officedocument.presentationml.slide+xml"/>
  <Override PartName="/ppt/slides/slide759.xml" ContentType="application/vnd.openxmlformats-officedocument.presentationml.slide+xml"/>
  <Override PartName="/ppt/slides/slide76.xml" ContentType="application/vnd.openxmlformats-officedocument.presentationml.slide+xml"/>
  <Override PartName="/ppt/slides/slide760.xml" ContentType="application/vnd.openxmlformats-officedocument.presentationml.slide+xml"/>
  <Override PartName="/ppt/slides/slide761.xml" ContentType="application/vnd.openxmlformats-officedocument.presentationml.slide+xml"/>
  <Override PartName="/ppt/slides/slide762.xml" ContentType="application/vnd.openxmlformats-officedocument.presentationml.slide+xml"/>
  <Override PartName="/ppt/slides/slide763.xml" ContentType="application/vnd.openxmlformats-officedocument.presentationml.slide+xml"/>
  <Override PartName="/ppt/slides/slide764.xml" ContentType="application/vnd.openxmlformats-officedocument.presentationml.slide+xml"/>
  <Override PartName="/ppt/slides/slide765.xml" ContentType="application/vnd.openxmlformats-officedocument.presentationml.slide+xml"/>
  <Override PartName="/ppt/slides/slide766.xml" ContentType="application/vnd.openxmlformats-officedocument.presentationml.slide+xml"/>
  <Override PartName="/ppt/slides/slide767.xml" ContentType="application/vnd.openxmlformats-officedocument.presentationml.slide+xml"/>
  <Override PartName="/ppt/slides/slide768.xml" ContentType="application/vnd.openxmlformats-officedocument.presentationml.slide+xml"/>
  <Override PartName="/ppt/slides/slide769.xml" ContentType="application/vnd.openxmlformats-officedocument.presentationml.slide+xml"/>
  <Override PartName="/ppt/slides/slide77.xml" ContentType="application/vnd.openxmlformats-officedocument.presentationml.slide+xml"/>
  <Override PartName="/ppt/slides/slide770.xml" ContentType="application/vnd.openxmlformats-officedocument.presentationml.slide+xml"/>
  <Override PartName="/ppt/slides/slide771.xml" ContentType="application/vnd.openxmlformats-officedocument.presentationml.slide+xml"/>
  <Override PartName="/ppt/slides/slide772.xml" ContentType="application/vnd.openxmlformats-officedocument.presentationml.slide+xml"/>
  <Override PartName="/ppt/slides/slide773.xml" ContentType="application/vnd.openxmlformats-officedocument.presentationml.slide+xml"/>
  <Override PartName="/ppt/slides/slide774.xml" ContentType="application/vnd.openxmlformats-officedocument.presentationml.slide+xml"/>
  <Override PartName="/ppt/slides/slide775.xml" ContentType="application/vnd.openxmlformats-officedocument.presentationml.slide+xml"/>
  <Override PartName="/ppt/slides/slide776.xml" ContentType="application/vnd.openxmlformats-officedocument.presentationml.slide+xml"/>
  <Override PartName="/ppt/slides/slide777.xml" ContentType="application/vnd.openxmlformats-officedocument.presentationml.slide+xml"/>
  <Override PartName="/ppt/slides/slide778.xml" ContentType="application/vnd.openxmlformats-officedocument.presentationml.slide+xml"/>
  <Override PartName="/ppt/slides/slide779.xml" ContentType="application/vnd.openxmlformats-officedocument.presentationml.slide+xml"/>
  <Override PartName="/ppt/slides/slide78.xml" ContentType="application/vnd.openxmlformats-officedocument.presentationml.slide+xml"/>
  <Override PartName="/ppt/slides/slide780.xml" ContentType="application/vnd.openxmlformats-officedocument.presentationml.slide+xml"/>
  <Override PartName="/ppt/slides/slide781.xml" ContentType="application/vnd.openxmlformats-officedocument.presentationml.slide+xml"/>
  <Override PartName="/ppt/slides/slide782.xml" ContentType="application/vnd.openxmlformats-officedocument.presentationml.slide+xml"/>
  <Override PartName="/ppt/slides/slide783.xml" ContentType="application/vnd.openxmlformats-officedocument.presentationml.slide+xml"/>
  <Override PartName="/ppt/slides/slide784.xml" ContentType="application/vnd.openxmlformats-officedocument.presentationml.slide+xml"/>
  <Override PartName="/ppt/slides/slide785.xml" ContentType="application/vnd.openxmlformats-officedocument.presentationml.slide+xml"/>
  <Override PartName="/ppt/slides/slide786.xml" ContentType="application/vnd.openxmlformats-officedocument.presentationml.slide+xml"/>
  <Override PartName="/ppt/slides/slide787.xml" ContentType="application/vnd.openxmlformats-officedocument.presentationml.slide+xml"/>
  <Override PartName="/ppt/slides/slide788.xml" ContentType="application/vnd.openxmlformats-officedocument.presentationml.slide+xml"/>
  <Override PartName="/ppt/slides/slide789.xml" ContentType="application/vnd.openxmlformats-officedocument.presentationml.slide+xml"/>
  <Override PartName="/ppt/slides/slide79.xml" ContentType="application/vnd.openxmlformats-officedocument.presentationml.slide+xml"/>
  <Override PartName="/ppt/slides/slide790.xml" ContentType="application/vnd.openxmlformats-officedocument.presentationml.slide+xml"/>
  <Override PartName="/ppt/slides/slide791.xml" ContentType="application/vnd.openxmlformats-officedocument.presentationml.slide+xml"/>
  <Override PartName="/ppt/slides/slide792.xml" ContentType="application/vnd.openxmlformats-officedocument.presentationml.slide+xml"/>
  <Override PartName="/ppt/slides/slide793.xml" ContentType="application/vnd.openxmlformats-officedocument.presentationml.slide+xml"/>
  <Override PartName="/ppt/slides/slide794.xml" ContentType="application/vnd.openxmlformats-officedocument.presentationml.slide+xml"/>
  <Override PartName="/ppt/slides/slide795.xml" ContentType="application/vnd.openxmlformats-officedocument.presentationml.slide+xml"/>
  <Override PartName="/ppt/slides/slide796.xml" ContentType="application/vnd.openxmlformats-officedocument.presentationml.slide+xml"/>
  <Override PartName="/ppt/slides/slide797.xml" ContentType="application/vnd.openxmlformats-officedocument.presentationml.slide+xml"/>
  <Override PartName="/ppt/slides/slide798.xml" ContentType="application/vnd.openxmlformats-officedocument.presentationml.slide+xml"/>
  <Override PartName="/ppt/slides/slide79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00.xml" ContentType="application/vnd.openxmlformats-officedocument.presentationml.slide+xml"/>
  <Override PartName="/ppt/slides/slide801.xml" ContentType="application/vnd.openxmlformats-officedocument.presentationml.slide+xml"/>
  <Override PartName="/ppt/slides/slide802.xml" ContentType="application/vnd.openxmlformats-officedocument.presentationml.slide+xml"/>
  <Override PartName="/ppt/slides/slide803.xml" ContentType="application/vnd.openxmlformats-officedocument.presentationml.slide+xml"/>
  <Override PartName="/ppt/slides/slide804.xml" ContentType="application/vnd.openxmlformats-officedocument.presentationml.slide+xml"/>
  <Override PartName="/ppt/slides/slide805.xml" ContentType="application/vnd.openxmlformats-officedocument.presentationml.slide+xml"/>
  <Override PartName="/ppt/slides/slide806.xml" ContentType="application/vnd.openxmlformats-officedocument.presentationml.slide+xml"/>
  <Override PartName="/ppt/slides/slide807.xml" ContentType="application/vnd.openxmlformats-officedocument.presentationml.slide+xml"/>
  <Override PartName="/ppt/slides/slide808.xml" ContentType="application/vnd.openxmlformats-officedocument.presentationml.slide+xml"/>
  <Override PartName="/ppt/slides/slide809.xml" ContentType="application/vnd.openxmlformats-officedocument.presentationml.slide+xml"/>
  <Override PartName="/ppt/slides/slide81.xml" ContentType="application/vnd.openxmlformats-officedocument.presentationml.slide+xml"/>
  <Override PartName="/ppt/slides/slide810.xml" ContentType="application/vnd.openxmlformats-officedocument.presentationml.slide+xml"/>
  <Override PartName="/ppt/slides/slide811.xml" ContentType="application/vnd.openxmlformats-officedocument.presentationml.slide+xml"/>
  <Override PartName="/ppt/slides/slide812.xml" ContentType="application/vnd.openxmlformats-officedocument.presentationml.slide+xml"/>
  <Override PartName="/ppt/slides/slide813.xml" ContentType="application/vnd.openxmlformats-officedocument.presentationml.slide+xml"/>
  <Override PartName="/ppt/slides/slide814.xml" ContentType="application/vnd.openxmlformats-officedocument.presentationml.slide+xml"/>
  <Override PartName="/ppt/slides/slide815.xml" ContentType="application/vnd.openxmlformats-officedocument.presentationml.slide+xml"/>
  <Override PartName="/ppt/slides/slide816.xml" ContentType="application/vnd.openxmlformats-officedocument.presentationml.slide+xml"/>
  <Override PartName="/ppt/slides/slide817.xml" ContentType="application/vnd.openxmlformats-officedocument.presentationml.slide+xml"/>
  <Override PartName="/ppt/slides/slide818.xml" ContentType="application/vnd.openxmlformats-officedocument.presentationml.slide+xml"/>
  <Override PartName="/ppt/slides/slide819.xml" ContentType="application/vnd.openxmlformats-officedocument.presentationml.slide+xml"/>
  <Override PartName="/ppt/slides/slide82.xml" ContentType="application/vnd.openxmlformats-officedocument.presentationml.slide+xml"/>
  <Override PartName="/ppt/slides/slide820.xml" ContentType="application/vnd.openxmlformats-officedocument.presentationml.slide+xml"/>
  <Override PartName="/ppt/slides/slide821.xml" ContentType="application/vnd.openxmlformats-officedocument.presentationml.slide+xml"/>
  <Override PartName="/ppt/slides/slide822.xml" ContentType="application/vnd.openxmlformats-officedocument.presentationml.slide+xml"/>
  <Override PartName="/ppt/slides/slide823.xml" ContentType="application/vnd.openxmlformats-officedocument.presentationml.slide+xml"/>
  <Override PartName="/ppt/slides/slide824.xml" ContentType="application/vnd.openxmlformats-officedocument.presentationml.slide+xml"/>
  <Override PartName="/ppt/slides/slide825.xml" ContentType="application/vnd.openxmlformats-officedocument.presentationml.slide+xml"/>
  <Override PartName="/ppt/slides/slide826.xml" ContentType="application/vnd.openxmlformats-officedocument.presentationml.slide+xml"/>
  <Override PartName="/ppt/slides/slide827.xml" ContentType="application/vnd.openxmlformats-officedocument.presentationml.slide+xml"/>
  <Override PartName="/ppt/slides/slide828.xml" ContentType="application/vnd.openxmlformats-officedocument.presentationml.slide+xml"/>
  <Override PartName="/ppt/slides/slide829.xml" ContentType="application/vnd.openxmlformats-officedocument.presentationml.slide+xml"/>
  <Override PartName="/ppt/slides/slide83.xml" ContentType="application/vnd.openxmlformats-officedocument.presentationml.slide+xml"/>
  <Override PartName="/ppt/slides/slide830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  <p:sldId id="667" r:id="rId418"/>
    <p:sldId id="668" r:id="rId419"/>
    <p:sldId id="669" r:id="rId420"/>
    <p:sldId id="670" r:id="rId421"/>
    <p:sldId id="671" r:id="rId422"/>
    <p:sldId id="672" r:id="rId423"/>
    <p:sldId id="673" r:id="rId424"/>
    <p:sldId id="674" r:id="rId425"/>
    <p:sldId id="675" r:id="rId426"/>
    <p:sldId id="676" r:id="rId427"/>
    <p:sldId id="677" r:id="rId428"/>
    <p:sldId id="678" r:id="rId429"/>
    <p:sldId id="679" r:id="rId430"/>
    <p:sldId id="680" r:id="rId431"/>
    <p:sldId id="681" r:id="rId432"/>
    <p:sldId id="682" r:id="rId433"/>
    <p:sldId id="683" r:id="rId434"/>
    <p:sldId id="684" r:id="rId435"/>
    <p:sldId id="685" r:id="rId436"/>
    <p:sldId id="686" r:id="rId437"/>
    <p:sldId id="687" r:id="rId438"/>
    <p:sldId id="688" r:id="rId439"/>
    <p:sldId id="689" r:id="rId440"/>
    <p:sldId id="690" r:id="rId441"/>
    <p:sldId id="691" r:id="rId442"/>
    <p:sldId id="692" r:id="rId443"/>
    <p:sldId id="693" r:id="rId444"/>
    <p:sldId id="694" r:id="rId445"/>
    <p:sldId id="695" r:id="rId446"/>
    <p:sldId id="696" r:id="rId447"/>
    <p:sldId id="697" r:id="rId448"/>
    <p:sldId id="698" r:id="rId449"/>
    <p:sldId id="699" r:id="rId450"/>
    <p:sldId id="700" r:id="rId451"/>
    <p:sldId id="701" r:id="rId452"/>
    <p:sldId id="702" r:id="rId453"/>
    <p:sldId id="703" r:id="rId454"/>
    <p:sldId id="704" r:id="rId455"/>
    <p:sldId id="705" r:id="rId456"/>
    <p:sldId id="706" r:id="rId457"/>
    <p:sldId id="707" r:id="rId458"/>
    <p:sldId id="708" r:id="rId459"/>
    <p:sldId id="709" r:id="rId460"/>
    <p:sldId id="710" r:id="rId461"/>
    <p:sldId id="711" r:id="rId462"/>
    <p:sldId id="712" r:id="rId463"/>
    <p:sldId id="713" r:id="rId464"/>
    <p:sldId id="714" r:id="rId465"/>
    <p:sldId id="715" r:id="rId466"/>
    <p:sldId id="716" r:id="rId467"/>
    <p:sldId id="717" r:id="rId468"/>
    <p:sldId id="718" r:id="rId469"/>
    <p:sldId id="719" r:id="rId470"/>
    <p:sldId id="720" r:id="rId471"/>
    <p:sldId id="721" r:id="rId472"/>
    <p:sldId id="722" r:id="rId473"/>
    <p:sldId id="723" r:id="rId474"/>
    <p:sldId id="724" r:id="rId475"/>
    <p:sldId id="725" r:id="rId476"/>
    <p:sldId id="726" r:id="rId477"/>
    <p:sldId id="727" r:id="rId478"/>
    <p:sldId id="728" r:id="rId479"/>
    <p:sldId id="729" r:id="rId480"/>
    <p:sldId id="730" r:id="rId481"/>
    <p:sldId id="731" r:id="rId482"/>
    <p:sldId id="732" r:id="rId483"/>
    <p:sldId id="733" r:id="rId484"/>
    <p:sldId id="734" r:id="rId485"/>
    <p:sldId id="735" r:id="rId486"/>
    <p:sldId id="736" r:id="rId487"/>
    <p:sldId id="737" r:id="rId488"/>
    <p:sldId id="738" r:id="rId489"/>
    <p:sldId id="739" r:id="rId490"/>
    <p:sldId id="740" r:id="rId491"/>
    <p:sldId id="741" r:id="rId492"/>
    <p:sldId id="742" r:id="rId493"/>
    <p:sldId id="743" r:id="rId494"/>
    <p:sldId id="744" r:id="rId495"/>
    <p:sldId id="745" r:id="rId496"/>
    <p:sldId id="746" r:id="rId497"/>
    <p:sldId id="747" r:id="rId498"/>
    <p:sldId id="748" r:id="rId499"/>
    <p:sldId id="749" r:id="rId500"/>
    <p:sldId id="750" r:id="rId501"/>
    <p:sldId id="751" r:id="rId502"/>
    <p:sldId id="752" r:id="rId503"/>
    <p:sldId id="753" r:id="rId504"/>
    <p:sldId id="754" r:id="rId505"/>
    <p:sldId id="755" r:id="rId506"/>
    <p:sldId id="756" r:id="rId507"/>
    <p:sldId id="757" r:id="rId508"/>
    <p:sldId id="758" r:id="rId509"/>
    <p:sldId id="759" r:id="rId510"/>
    <p:sldId id="760" r:id="rId511"/>
    <p:sldId id="761" r:id="rId512"/>
    <p:sldId id="762" r:id="rId513"/>
    <p:sldId id="763" r:id="rId514"/>
    <p:sldId id="764" r:id="rId515"/>
    <p:sldId id="765" r:id="rId516"/>
    <p:sldId id="766" r:id="rId517"/>
    <p:sldId id="767" r:id="rId518"/>
    <p:sldId id="768" r:id="rId519"/>
    <p:sldId id="769" r:id="rId520"/>
    <p:sldId id="770" r:id="rId521"/>
    <p:sldId id="771" r:id="rId522"/>
    <p:sldId id="772" r:id="rId523"/>
    <p:sldId id="773" r:id="rId524"/>
    <p:sldId id="774" r:id="rId525"/>
    <p:sldId id="775" r:id="rId526"/>
    <p:sldId id="776" r:id="rId527"/>
    <p:sldId id="777" r:id="rId528"/>
    <p:sldId id="778" r:id="rId529"/>
    <p:sldId id="779" r:id="rId530"/>
    <p:sldId id="780" r:id="rId531"/>
    <p:sldId id="781" r:id="rId532"/>
    <p:sldId id="782" r:id="rId533"/>
    <p:sldId id="783" r:id="rId534"/>
    <p:sldId id="784" r:id="rId535"/>
    <p:sldId id="785" r:id="rId536"/>
    <p:sldId id="786" r:id="rId537"/>
    <p:sldId id="787" r:id="rId538"/>
    <p:sldId id="788" r:id="rId539"/>
    <p:sldId id="789" r:id="rId540"/>
    <p:sldId id="790" r:id="rId541"/>
    <p:sldId id="791" r:id="rId542"/>
    <p:sldId id="792" r:id="rId543"/>
    <p:sldId id="793" r:id="rId544"/>
    <p:sldId id="794" r:id="rId545"/>
    <p:sldId id="795" r:id="rId546"/>
    <p:sldId id="796" r:id="rId547"/>
    <p:sldId id="797" r:id="rId548"/>
    <p:sldId id="798" r:id="rId549"/>
    <p:sldId id="799" r:id="rId550"/>
    <p:sldId id="800" r:id="rId551"/>
    <p:sldId id="801" r:id="rId552"/>
    <p:sldId id="802" r:id="rId553"/>
    <p:sldId id="803" r:id="rId554"/>
    <p:sldId id="804" r:id="rId555"/>
    <p:sldId id="805" r:id="rId556"/>
    <p:sldId id="806" r:id="rId557"/>
    <p:sldId id="807" r:id="rId558"/>
    <p:sldId id="808" r:id="rId559"/>
    <p:sldId id="809" r:id="rId560"/>
    <p:sldId id="810" r:id="rId561"/>
    <p:sldId id="811" r:id="rId562"/>
    <p:sldId id="812" r:id="rId563"/>
    <p:sldId id="813" r:id="rId564"/>
    <p:sldId id="814" r:id="rId565"/>
    <p:sldId id="815" r:id="rId566"/>
    <p:sldId id="816" r:id="rId567"/>
    <p:sldId id="817" r:id="rId568"/>
    <p:sldId id="818" r:id="rId569"/>
    <p:sldId id="819" r:id="rId570"/>
    <p:sldId id="820" r:id="rId571"/>
    <p:sldId id="821" r:id="rId572"/>
    <p:sldId id="822" r:id="rId573"/>
    <p:sldId id="823" r:id="rId574"/>
    <p:sldId id="824" r:id="rId575"/>
    <p:sldId id="825" r:id="rId576"/>
    <p:sldId id="826" r:id="rId577"/>
    <p:sldId id="827" r:id="rId578"/>
    <p:sldId id="828" r:id="rId579"/>
    <p:sldId id="829" r:id="rId580"/>
    <p:sldId id="830" r:id="rId581"/>
    <p:sldId id="831" r:id="rId582"/>
    <p:sldId id="832" r:id="rId583"/>
    <p:sldId id="833" r:id="rId584"/>
    <p:sldId id="834" r:id="rId585"/>
    <p:sldId id="835" r:id="rId586"/>
    <p:sldId id="836" r:id="rId587"/>
    <p:sldId id="837" r:id="rId588"/>
    <p:sldId id="838" r:id="rId589"/>
    <p:sldId id="839" r:id="rId590"/>
    <p:sldId id="840" r:id="rId591"/>
    <p:sldId id="841" r:id="rId592"/>
    <p:sldId id="842" r:id="rId593"/>
    <p:sldId id="843" r:id="rId594"/>
    <p:sldId id="844" r:id="rId595"/>
    <p:sldId id="845" r:id="rId596"/>
    <p:sldId id="846" r:id="rId597"/>
    <p:sldId id="847" r:id="rId598"/>
    <p:sldId id="848" r:id="rId599"/>
    <p:sldId id="849" r:id="rId600"/>
    <p:sldId id="850" r:id="rId601"/>
    <p:sldId id="851" r:id="rId602"/>
    <p:sldId id="852" r:id="rId603"/>
    <p:sldId id="853" r:id="rId604"/>
    <p:sldId id="854" r:id="rId605"/>
    <p:sldId id="855" r:id="rId606"/>
    <p:sldId id="856" r:id="rId607"/>
    <p:sldId id="857" r:id="rId608"/>
    <p:sldId id="858" r:id="rId609"/>
    <p:sldId id="859" r:id="rId610"/>
    <p:sldId id="860" r:id="rId611"/>
    <p:sldId id="861" r:id="rId612"/>
    <p:sldId id="862" r:id="rId613"/>
    <p:sldId id="863" r:id="rId614"/>
    <p:sldId id="864" r:id="rId615"/>
    <p:sldId id="865" r:id="rId616"/>
    <p:sldId id="866" r:id="rId617"/>
    <p:sldId id="867" r:id="rId618"/>
    <p:sldId id="868" r:id="rId619"/>
    <p:sldId id="869" r:id="rId620"/>
    <p:sldId id="870" r:id="rId621"/>
    <p:sldId id="871" r:id="rId622"/>
    <p:sldId id="872" r:id="rId623"/>
    <p:sldId id="873" r:id="rId624"/>
    <p:sldId id="874" r:id="rId625"/>
    <p:sldId id="875" r:id="rId626"/>
    <p:sldId id="876" r:id="rId627"/>
    <p:sldId id="877" r:id="rId628"/>
    <p:sldId id="878" r:id="rId629"/>
    <p:sldId id="879" r:id="rId630"/>
    <p:sldId id="880" r:id="rId631"/>
    <p:sldId id="881" r:id="rId632"/>
    <p:sldId id="882" r:id="rId633"/>
    <p:sldId id="883" r:id="rId634"/>
    <p:sldId id="884" r:id="rId635"/>
    <p:sldId id="885" r:id="rId636"/>
    <p:sldId id="886" r:id="rId637"/>
    <p:sldId id="887" r:id="rId638"/>
    <p:sldId id="888" r:id="rId639"/>
    <p:sldId id="889" r:id="rId640"/>
    <p:sldId id="890" r:id="rId641"/>
    <p:sldId id="891" r:id="rId642"/>
    <p:sldId id="892" r:id="rId643"/>
    <p:sldId id="893" r:id="rId644"/>
    <p:sldId id="894" r:id="rId645"/>
    <p:sldId id="895" r:id="rId646"/>
    <p:sldId id="896" r:id="rId647"/>
    <p:sldId id="897" r:id="rId648"/>
    <p:sldId id="898" r:id="rId649"/>
    <p:sldId id="899" r:id="rId650"/>
    <p:sldId id="900" r:id="rId651"/>
    <p:sldId id="901" r:id="rId652"/>
    <p:sldId id="902" r:id="rId653"/>
    <p:sldId id="903" r:id="rId654"/>
    <p:sldId id="904" r:id="rId655"/>
    <p:sldId id="905" r:id="rId656"/>
    <p:sldId id="906" r:id="rId657"/>
    <p:sldId id="907" r:id="rId658"/>
    <p:sldId id="908" r:id="rId659"/>
    <p:sldId id="909" r:id="rId660"/>
    <p:sldId id="910" r:id="rId661"/>
    <p:sldId id="911" r:id="rId662"/>
    <p:sldId id="912" r:id="rId663"/>
    <p:sldId id="913" r:id="rId664"/>
    <p:sldId id="914" r:id="rId665"/>
    <p:sldId id="915" r:id="rId666"/>
    <p:sldId id="916" r:id="rId667"/>
    <p:sldId id="917" r:id="rId668"/>
    <p:sldId id="918" r:id="rId669"/>
    <p:sldId id="919" r:id="rId670"/>
    <p:sldId id="920" r:id="rId671"/>
    <p:sldId id="921" r:id="rId672"/>
    <p:sldId id="922" r:id="rId673"/>
    <p:sldId id="923" r:id="rId674"/>
    <p:sldId id="924" r:id="rId675"/>
    <p:sldId id="925" r:id="rId676"/>
    <p:sldId id="926" r:id="rId677"/>
    <p:sldId id="927" r:id="rId678"/>
    <p:sldId id="928" r:id="rId679"/>
    <p:sldId id="929" r:id="rId680"/>
    <p:sldId id="930" r:id="rId681"/>
    <p:sldId id="931" r:id="rId682"/>
    <p:sldId id="932" r:id="rId683"/>
    <p:sldId id="933" r:id="rId684"/>
    <p:sldId id="934" r:id="rId685"/>
    <p:sldId id="935" r:id="rId686"/>
    <p:sldId id="936" r:id="rId687"/>
    <p:sldId id="937" r:id="rId688"/>
    <p:sldId id="938" r:id="rId689"/>
    <p:sldId id="939" r:id="rId690"/>
    <p:sldId id="940" r:id="rId691"/>
    <p:sldId id="941" r:id="rId692"/>
    <p:sldId id="942" r:id="rId693"/>
    <p:sldId id="943" r:id="rId694"/>
    <p:sldId id="944" r:id="rId695"/>
    <p:sldId id="945" r:id="rId696"/>
    <p:sldId id="946" r:id="rId697"/>
    <p:sldId id="947" r:id="rId698"/>
    <p:sldId id="948" r:id="rId699"/>
    <p:sldId id="949" r:id="rId700"/>
    <p:sldId id="950" r:id="rId701"/>
    <p:sldId id="951" r:id="rId702"/>
    <p:sldId id="952" r:id="rId703"/>
    <p:sldId id="953" r:id="rId704"/>
    <p:sldId id="954" r:id="rId705"/>
    <p:sldId id="955" r:id="rId706"/>
    <p:sldId id="956" r:id="rId707"/>
    <p:sldId id="957" r:id="rId708"/>
    <p:sldId id="958" r:id="rId709"/>
    <p:sldId id="959" r:id="rId710"/>
    <p:sldId id="960" r:id="rId711"/>
    <p:sldId id="961" r:id="rId712"/>
    <p:sldId id="962" r:id="rId713"/>
    <p:sldId id="963" r:id="rId714"/>
    <p:sldId id="964" r:id="rId715"/>
    <p:sldId id="965" r:id="rId716"/>
    <p:sldId id="966" r:id="rId717"/>
    <p:sldId id="967" r:id="rId718"/>
    <p:sldId id="968" r:id="rId719"/>
    <p:sldId id="969" r:id="rId720"/>
    <p:sldId id="970" r:id="rId721"/>
    <p:sldId id="971" r:id="rId722"/>
    <p:sldId id="972" r:id="rId723"/>
    <p:sldId id="973" r:id="rId724"/>
    <p:sldId id="974" r:id="rId725"/>
    <p:sldId id="975" r:id="rId726"/>
    <p:sldId id="976" r:id="rId727"/>
    <p:sldId id="977" r:id="rId728"/>
    <p:sldId id="978" r:id="rId729"/>
    <p:sldId id="979" r:id="rId730"/>
    <p:sldId id="980" r:id="rId731"/>
    <p:sldId id="981" r:id="rId732"/>
    <p:sldId id="982" r:id="rId733"/>
    <p:sldId id="983" r:id="rId734"/>
    <p:sldId id="984" r:id="rId735"/>
    <p:sldId id="985" r:id="rId736"/>
    <p:sldId id="986" r:id="rId737"/>
    <p:sldId id="987" r:id="rId738"/>
    <p:sldId id="988" r:id="rId739"/>
    <p:sldId id="989" r:id="rId740"/>
    <p:sldId id="990" r:id="rId741"/>
    <p:sldId id="991" r:id="rId742"/>
    <p:sldId id="992" r:id="rId743"/>
    <p:sldId id="993" r:id="rId744"/>
    <p:sldId id="994" r:id="rId745"/>
    <p:sldId id="995" r:id="rId746"/>
    <p:sldId id="996" r:id="rId747"/>
    <p:sldId id="997" r:id="rId748"/>
    <p:sldId id="998" r:id="rId749"/>
    <p:sldId id="999" r:id="rId750"/>
    <p:sldId id="1000" r:id="rId751"/>
    <p:sldId id="1001" r:id="rId752"/>
    <p:sldId id="1002" r:id="rId753"/>
    <p:sldId id="1003" r:id="rId754"/>
    <p:sldId id="1004" r:id="rId755"/>
    <p:sldId id="1005" r:id="rId756"/>
    <p:sldId id="1006" r:id="rId757"/>
    <p:sldId id="1007" r:id="rId758"/>
    <p:sldId id="1008" r:id="rId759"/>
    <p:sldId id="1009" r:id="rId760"/>
    <p:sldId id="1010" r:id="rId761"/>
    <p:sldId id="1011" r:id="rId762"/>
    <p:sldId id="1012" r:id="rId763"/>
    <p:sldId id="1013" r:id="rId764"/>
    <p:sldId id="1014" r:id="rId765"/>
    <p:sldId id="1015" r:id="rId766"/>
    <p:sldId id="1016" r:id="rId767"/>
    <p:sldId id="1017" r:id="rId768"/>
    <p:sldId id="1018" r:id="rId769"/>
    <p:sldId id="1019" r:id="rId770"/>
    <p:sldId id="1020" r:id="rId771"/>
    <p:sldId id="1021" r:id="rId772"/>
    <p:sldId id="1022" r:id="rId773"/>
    <p:sldId id="1023" r:id="rId774"/>
    <p:sldId id="1024" r:id="rId775"/>
    <p:sldId id="1025" r:id="rId776"/>
    <p:sldId id="1026" r:id="rId777"/>
    <p:sldId id="1027" r:id="rId778"/>
    <p:sldId id="1028" r:id="rId779"/>
    <p:sldId id="1029" r:id="rId780"/>
    <p:sldId id="1030" r:id="rId781"/>
    <p:sldId id="1031" r:id="rId782"/>
    <p:sldId id="1032" r:id="rId783"/>
    <p:sldId id="1033" r:id="rId784"/>
    <p:sldId id="1034" r:id="rId785"/>
    <p:sldId id="1035" r:id="rId786"/>
    <p:sldId id="1036" r:id="rId787"/>
    <p:sldId id="1037" r:id="rId788"/>
    <p:sldId id="1038" r:id="rId789"/>
    <p:sldId id="1039" r:id="rId790"/>
    <p:sldId id="1040" r:id="rId791"/>
    <p:sldId id="1041" r:id="rId792"/>
    <p:sldId id="1042" r:id="rId793"/>
    <p:sldId id="1043" r:id="rId794"/>
    <p:sldId id="1044" r:id="rId795"/>
    <p:sldId id="1045" r:id="rId796"/>
    <p:sldId id="1046" r:id="rId797"/>
    <p:sldId id="1047" r:id="rId798"/>
    <p:sldId id="1048" r:id="rId799"/>
    <p:sldId id="1049" r:id="rId800"/>
    <p:sldId id="1050" r:id="rId801"/>
    <p:sldId id="1051" r:id="rId802"/>
    <p:sldId id="1052" r:id="rId803"/>
    <p:sldId id="1053" r:id="rId804"/>
    <p:sldId id="1054" r:id="rId805"/>
    <p:sldId id="1055" r:id="rId806"/>
    <p:sldId id="1056" r:id="rId807"/>
    <p:sldId id="1057" r:id="rId808"/>
    <p:sldId id="1058" r:id="rId809"/>
    <p:sldId id="1059" r:id="rId810"/>
    <p:sldId id="1060" r:id="rId811"/>
    <p:sldId id="1061" r:id="rId812"/>
    <p:sldId id="1062" r:id="rId813"/>
    <p:sldId id="1063" r:id="rId814"/>
    <p:sldId id="1064" r:id="rId815"/>
    <p:sldId id="1065" r:id="rId816"/>
    <p:sldId id="1066" r:id="rId817"/>
    <p:sldId id="1067" r:id="rId818"/>
    <p:sldId id="1068" r:id="rId819"/>
    <p:sldId id="1069" r:id="rId820"/>
    <p:sldId id="1070" r:id="rId821"/>
    <p:sldId id="1071" r:id="rId822"/>
    <p:sldId id="1072" r:id="rId823"/>
    <p:sldId id="1073" r:id="rId824"/>
    <p:sldId id="1074" r:id="rId825"/>
    <p:sldId id="1075" r:id="rId826"/>
    <p:sldId id="1076" r:id="rId827"/>
    <p:sldId id="1077" r:id="rId828"/>
    <p:sldId id="1078" r:id="rId829"/>
    <p:sldId id="1079" r:id="rId830"/>
    <p:sldId id="1080" r:id="rId831"/>
    <p:sldId id="1081" r:id="rId832"/>
    <p:sldId id="1082" r:id="rId833"/>
    <p:sldId id="1083" r:id="rId834"/>
    <p:sldId id="1084" r:id="rId835"/>
    <p:sldId id="1085" r:id="rId8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Relationship Id="rId418" Type="http://schemas.openxmlformats.org/officeDocument/2006/relationships/slide" Target="slides/slide412.xml"/><Relationship Id="rId419" Type="http://schemas.openxmlformats.org/officeDocument/2006/relationships/slide" Target="slides/slide413.xml"/><Relationship Id="rId420" Type="http://schemas.openxmlformats.org/officeDocument/2006/relationships/slide" Target="slides/slide414.xml"/><Relationship Id="rId421" Type="http://schemas.openxmlformats.org/officeDocument/2006/relationships/slide" Target="slides/slide415.xml"/><Relationship Id="rId422" Type="http://schemas.openxmlformats.org/officeDocument/2006/relationships/slide" Target="slides/slide416.xml"/><Relationship Id="rId423" Type="http://schemas.openxmlformats.org/officeDocument/2006/relationships/slide" Target="slides/slide417.xml"/><Relationship Id="rId424" Type="http://schemas.openxmlformats.org/officeDocument/2006/relationships/slide" Target="slides/slide418.xml"/><Relationship Id="rId425" Type="http://schemas.openxmlformats.org/officeDocument/2006/relationships/slide" Target="slides/slide419.xml"/><Relationship Id="rId426" Type="http://schemas.openxmlformats.org/officeDocument/2006/relationships/slide" Target="slides/slide420.xml"/><Relationship Id="rId427" Type="http://schemas.openxmlformats.org/officeDocument/2006/relationships/slide" Target="slides/slide421.xml"/><Relationship Id="rId428" Type="http://schemas.openxmlformats.org/officeDocument/2006/relationships/slide" Target="slides/slide422.xml"/><Relationship Id="rId429" Type="http://schemas.openxmlformats.org/officeDocument/2006/relationships/slide" Target="slides/slide423.xml"/><Relationship Id="rId430" Type="http://schemas.openxmlformats.org/officeDocument/2006/relationships/slide" Target="slides/slide424.xml"/><Relationship Id="rId431" Type="http://schemas.openxmlformats.org/officeDocument/2006/relationships/slide" Target="slides/slide425.xml"/><Relationship Id="rId432" Type="http://schemas.openxmlformats.org/officeDocument/2006/relationships/slide" Target="slides/slide426.xml"/><Relationship Id="rId433" Type="http://schemas.openxmlformats.org/officeDocument/2006/relationships/slide" Target="slides/slide427.xml"/><Relationship Id="rId434" Type="http://schemas.openxmlformats.org/officeDocument/2006/relationships/slide" Target="slides/slide428.xml"/><Relationship Id="rId435" Type="http://schemas.openxmlformats.org/officeDocument/2006/relationships/slide" Target="slides/slide429.xml"/><Relationship Id="rId436" Type="http://schemas.openxmlformats.org/officeDocument/2006/relationships/slide" Target="slides/slide430.xml"/><Relationship Id="rId437" Type="http://schemas.openxmlformats.org/officeDocument/2006/relationships/slide" Target="slides/slide431.xml"/><Relationship Id="rId438" Type="http://schemas.openxmlformats.org/officeDocument/2006/relationships/slide" Target="slides/slide432.xml"/><Relationship Id="rId439" Type="http://schemas.openxmlformats.org/officeDocument/2006/relationships/slide" Target="slides/slide433.xml"/><Relationship Id="rId440" Type="http://schemas.openxmlformats.org/officeDocument/2006/relationships/slide" Target="slides/slide434.xml"/><Relationship Id="rId441" Type="http://schemas.openxmlformats.org/officeDocument/2006/relationships/slide" Target="slides/slide435.xml"/><Relationship Id="rId442" Type="http://schemas.openxmlformats.org/officeDocument/2006/relationships/slide" Target="slides/slide436.xml"/><Relationship Id="rId443" Type="http://schemas.openxmlformats.org/officeDocument/2006/relationships/slide" Target="slides/slide437.xml"/><Relationship Id="rId444" Type="http://schemas.openxmlformats.org/officeDocument/2006/relationships/slide" Target="slides/slide438.xml"/><Relationship Id="rId445" Type="http://schemas.openxmlformats.org/officeDocument/2006/relationships/slide" Target="slides/slide439.xml"/><Relationship Id="rId446" Type="http://schemas.openxmlformats.org/officeDocument/2006/relationships/slide" Target="slides/slide440.xml"/><Relationship Id="rId447" Type="http://schemas.openxmlformats.org/officeDocument/2006/relationships/slide" Target="slides/slide441.xml"/><Relationship Id="rId448" Type="http://schemas.openxmlformats.org/officeDocument/2006/relationships/slide" Target="slides/slide442.xml"/><Relationship Id="rId449" Type="http://schemas.openxmlformats.org/officeDocument/2006/relationships/slide" Target="slides/slide443.xml"/><Relationship Id="rId450" Type="http://schemas.openxmlformats.org/officeDocument/2006/relationships/slide" Target="slides/slide444.xml"/><Relationship Id="rId451" Type="http://schemas.openxmlformats.org/officeDocument/2006/relationships/slide" Target="slides/slide445.xml"/><Relationship Id="rId452" Type="http://schemas.openxmlformats.org/officeDocument/2006/relationships/slide" Target="slides/slide446.xml"/><Relationship Id="rId453" Type="http://schemas.openxmlformats.org/officeDocument/2006/relationships/slide" Target="slides/slide447.xml"/><Relationship Id="rId454" Type="http://schemas.openxmlformats.org/officeDocument/2006/relationships/slide" Target="slides/slide448.xml"/><Relationship Id="rId455" Type="http://schemas.openxmlformats.org/officeDocument/2006/relationships/slide" Target="slides/slide449.xml"/><Relationship Id="rId456" Type="http://schemas.openxmlformats.org/officeDocument/2006/relationships/slide" Target="slides/slide450.xml"/><Relationship Id="rId457" Type="http://schemas.openxmlformats.org/officeDocument/2006/relationships/slide" Target="slides/slide451.xml"/><Relationship Id="rId458" Type="http://schemas.openxmlformats.org/officeDocument/2006/relationships/slide" Target="slides/slide452.xml"/><Relationship Id="rId459" Type="http://schemas.openxmlformats.org/officeDocument/2006/relationships/slide" Target="slides/slide453.xml"/><Relationship Id="rId460" Type="http://schemas.openxmlformats.org/officeDocument/2006/relationships/slide" Target="slides/slide454.xml"/><Relationship Id="rId461" Type="http://schemas.openxmlformats.org/officeDocument/2006/relationships/slide" Target="slides/slide455.xml"/><Relationship Id="rId462" Type="http://schemas.openxmlformats.org/officeDocument/2006/relationships/slide" Target="slides/slide456.xml"/><Relationship Id="rId463" Type="http://schemas.openxmlformats.org/officeDocument/2006/relationships/slide" Target="slides/slide457.xml"/><Relationship Id="rId464" Type="http://schemas.openxmlformats.org/officeDocument/2006/relationships/slide" Target="slides/slide458.xml"/><Relationship Id="rId465" Type="http://schemas.openxmlformats.org/officeDocument/2006/relationships/slide" Target="slides/slide459.xml"/><Relationship Id="rId466" Type="http://schemas.openxmlformats.org/officeDocument/2006/relationships/slide" Target="slides/slide460.xml"/><Relationship Id="rId467" Type="http://schemas.openxmlformats.org/officeDocument/2006/relationships/slide" Target="slides/slide461.xml"/><Relationship Id="rId468" Type="http://schemas.openxmlformats.org/officeDocument/2006/relationships/slide" Target="slides/slide462.xml"/><Relationship Id="rId469" Type="http://schemas.openxmlformats.org/officeDocument/2006/relationships/slide" Target="slides/slide463.xml"/><Relationship Id="rId470" Type="http://schemas.openxmlformats.org/officeDocument/2006/relationships/slide" Target="slides/slide464.xml"/><Relationship Id="rId471" Type="http://schemas.openxmlformats.org/officeDocument/2006/relationships/slide" Target="slides/slide465.xml"/><Relationship Id="rId472" Type="http://schemas.openxmlformats.org/officeDocument/2006/relationships/slide" Target="slides/slide466.xml"/><Relationship Id="rId473" Type="http://schemas.openxmlformats.org/officeDocument/2006/relationships/slide" Target="slides/slide467.xml"/><Relationship Id="rId474" Type="http://schemas.openxmlformats.org/officeDocument/2006/relationships/slide" Target="slides/slide468.xml"/><Relationship Id="rId475" Type="http://schemas.openxmlformats.org/officeDocument/2006/relationships/slide" Target="slides/slide469.xml"/><Relationship Id="rId476" Type="http://schemas.openxmlformats.org/officeDocument/2006/relationships/slide" Target="slides/slide470.xml"/><Relationship Id="rId477" Type="http://schemas.openxmlformats.org/officeDocument/2006/relationships/slide" Target="slides/slide471.xml"/><Relationship Id="rId478" Type="http://schemas.openxmlformats.org/officeDocument/2006/relationships/slide" Target="slides/slide472.xml"/><Relationship Id="rId479" Type="http://schemas.openxmlformats.org/officeDocument/2006/relationships/slide" Target="slides/slide473.xml"/><Relationship Id="rId480" Type="http://schemas.openxmlformats.org/officeDocument/2006/relationships/slide" Target="slides/slide474.xml"/><Relationship Id="rId481" Type="http://schemas.openxmlformats.org/officeDocument/2006/relationships/slide" Target="slides/slide475.xml"/><Relationship Id="rId482" Type="http://schemas.openxmlformats.org/officeDocument/2006/relationships/slide" Target="slides/slide476.xml"/><Relationship Id="rId483" Type="http://schemas.openxmlformats.org/officeDocument/2006/relationships/slide" Target="slides/slide477.xml"/><Relationship Id="rId484" Type="http://schemas.openxmlformats.org/officeDocument/2006/relationships/slide" Target="slides/slide478.xml"/><Relationship Id="rId485" Type="http://schemas.openxmlformats.org/officeDocument/2006/relationships/slide" Target="slides/slide479.xml"/><Relationship Id="rId486" Type="http://schemas.openxmlformats.org/officeDocument/2006/relationships/slide" Target="slides/slide480.xml"/><Relationship Id="rId487" Type="http://schemas.openxmlformats.org/officeDocument/2006/relationships/slide" Target="slides/slide481.xml"/><Relationship Id="rId488" Type="http://schemas.openxmlformats.org/officeDocument/2006/relationships/slide" Target="slides/slide482.xml"/><Relationship Id="rId489" Type="http://schemas.openxmlformats.org/officeDocument/2006/relationships/slide" Target="slides/slide483.xml"/><Relationship Id="rId490" Type="http://schemas.openxmlformats.org/officeDocument/2006/relationships/slide" Target="slides/slide484.xml"/><Relationship Id="rId491" Type="http://schemas.openxmlformats.org/officeDocument/2006/relationships/slide" Target="slides/slide485.xml"/><Relationship Id="rId492" Type="http://schemas.openxmlformats.org/officeDocument/2006/relationships/slide" Target="slides/slide486.xml"/><Relationship Id="rId493" Type="http://schemas.openxmlformats.org/officeDocument/2006/relationships/slide" Target="slides/slide487.xml"/><Relationship Id="rId494" Type="http://schemas.openxmlformats.org/officeDocument/2006/relationships/slide" Target="slides/slide488.xml"/><Relationship Id="rId495" Type="http://schemas.openxmlformats.org/officeDocument/2006/relationships/slide" Target="slides/slide489.xml"/><Relationship Id="rId496" Type="http://schemas.openxmlformats.org/officeDocument/2006/relationships/slide" Target="slides/slide490.xml"/><Relationship Id="rId497" Type="http://schemas.openxmlformats.org/officeDocument/2006/relationships/slide" Target="slides/slide491.xml"/><Relationship Id="rId498" Type="http://schemas.openxmlformats.org/officeDocument/2006/relationships/slide" Target="slides/slide492.xml"/><Relationship Id="rId499" Type="http://schemas.openxmlformats.org/officeDocument/2006/relationships/slide" Target="slides/slide493.xml"/><Relationship Id="rId500" Type="http://schemas.openxmlformats.org/officeDocument/2006/relationships/slide" Target="slides/slide494.xml"/><Relationship Id="rId501" Type="http://schemas.openxmlformats.org/officeDocument/2006/relationships/slide" Target="slides/slide495.xml"/><Relationship Id="rId502" Type="http://schemas.openxmlformats.org/officeDocument/2006/relationships/slide" Target="slides/slide496.xml"/><Relationship Id="rId503" Type="http://schemas.openxmlformats.org/officeDocument/2006/relationships/slide" Target="slides/slide497.xml"/><Relationship Id="rId504" Type="http://schemas.openxmlformats.org/officeDocument/2006/relationships/slide" Target="slides/slide498.xml"/><Relationship Id="rId505" Type="http://schemas.openxmlformats.org/officeDocument/2006/relationships/slide" Target="slides/slide499.xml"/><Relationship Id="rId506" Type="http://schemas.openxmlformats.org/officeDocument/2006/relationships/slide" Target="slides/slide500.xml"/><Relationship Id="rId507" Type="http://schemas.openxmlformats.org/officeDocument/2006/relationships/slide" Target="slides/slide501.xml"/><Relationship Id="rId508" Type="http://schemas.openxmlformats.org/officeDocument/2006/relationships/slide" Target="slides/slide502.xml"/><Relationship Id="rId509" Type="http://schemas.openxmlformats.org/officeDocument/2006/relationships/slide" Target="slides/slide503.xml"/><Relationship Id="rId510" Type="http://schemas.openxmlformats.org/officeDocument/2006/relationships/slide" Target="slides/slide504.xml"/><Relationship Id="rId511" Type="http://schemas.openxmlformats.org/officeDocument/2006/relationships/slide" Target="slides/slide505.xml"/><Relationship Id="rId512" Type="http://schemas.openxmlformats.org/officeDocument/2006/relationships/slide" Target="slides/slide506.xml"/><Relationship Id="rId513" Type="http://schemas.openxmlformats.org/officeDocument/2006/relationships/slide" Target="slides/slide507.xml"/><Relationship Id="rId514" Type="http://schemas.openxmlformats.org/officeDocument/2006/relationships/slide" Target="slides/slide508.xml"/><Relationship Id="rId515" Type="http://schemas.openxmlformats.org/officeDocument/2006/relationships/slide" Target="slides/slide509.xml"/><Relationship Id="rId516" Type="http://schemas.openxmlformats.org/officeDocument/2006/relationships/slide" Target="slides/slide510.xml"/><Relationship Id="rId517" Type="http://schemas.openxmlformats.org/officeDocument/2006/relationships/slide" Target="slides/slide511.xml"/><Relationship Id="rId518" Type="http://schemas.openxmlformats.org/officeDocument/2006/relationships/slide" Target="slides/slide512.xml"/><Relationship Id="rId519" Type="http://schemas.openxmlformats.org/officeDocument/2006/relationships/slide" Target="slides/slide513.xml"/><Relationship Id="rId520" Type="http://schemas.openxmlformats.org/officeDocument/2006/relationships/slide" Target="slides/slide514.xml"/><Relationship Id="rId521" Type="http://schemas.openxmlformats.org/officeDocument/2006/relationships/slide" Target="slides/slide515.xml"/><Relationship Id="rId522" Type="http://schemas.openxmlformats.org/officeDocument/2006/relationships/slide" Target="slides/slide516.xml"/><Relationship Id="rId523" Type="http://schemas.openxmlformats.org/officeDocument/2006/relationships/slide" Target="slides/slide517.xml"/><Relationship Id="rId524" Type="http://schemas.openxmlformats.org/officeDocument/2006/relationships/slide" Target="slides/slide518.xml"/><Relationship Id="rId525" Type="http://schemas.openxmlformats.org/officeDocument/2006/relationships/slide" Target="slides/slide519.xml"/><Relationship Id="rId526" Type="http://schemas.openxmlformats.org/officeDocument/2006/relationships/slide" Target="slides/slide520.xml"/><Relationship Id="rId527" Type="http://schemas.openxmlformats.org/officeDocument/2006/relationships/slide" Target="slides/slide521.xml"/><Relationship Id="rId528" Type="http://schemas.openxmlformats.org/officeDocument/2006/relationships/slide" Target="slides/slide522.xml"/><Relationship Id="rId529" Type="http://schemas.openxmlformats.org/officeDocument/2006/relationships/slide" Target="slides/slide523.xml"/><Relationship Id="rId530" Type="http://schemas.openxmlformats.org/officeDocument/2006/relationships/slide" Target="slides/slide524.xml"/><Relationship Id="rId531" Type="http://schemas.openxmlformats.org/officeDocument/2006/relationships/slide" Target="slides/slide525.xml"/><Relationship Id="rId532" Type="http://schemas.openxmlformats.org/officeDocument/2006/relationships/slide" Target="slides/slide526.xml"/><Relationship Id="rId533" Type="http://schemas.openxmlformats.org/officeDocument/2006/relationships/slide" Target="slides/slide527.xml"/><Relationship Id="rId534" Type="http://schemas.openxmlformats.org/officeDocument/2006/relationships/slide" Target="slides/slide528.xml"/><Relationship Id="rId535" Type="http://schemas.openxmlformats.org/officeDocument/2006/relationships/slide" Target="slides/slide529.xml"/><Relationship Id="rId536" Type="http://schemas.openxmlformats.org/officeDocument/2006/relationships/slide" Target="slides/slide530.xml"/><Relationship Id="rId537" Type="http://schemas.openxmlformats.org/officeDocument/2006/relationships/slide" Target="slides/slide531.xml"/><Relationship Id="rId538" Type="http://schemas.openxmlformats.org/officeDocument/2006/relationships/slide" Target="slides/slide532.xml"/><Relationship Id="rId539" Type="http://schemas.openxmlformats.org/officeDocument/2006/relationships/slide" Target="slides/slide533.xml"/><Relationship Id="rId540" Type="http://schemas.openxmlformats.org/officeDocument/2006/relationships/slide" Target="slides/slide534.xml"/><Relationship Id="rId541" Type="http://schemas.openxmlformats.org/officeDocument/2006/relationships/slide" Target="slides/slide535.xml"/><Relationship Id="rId542" Type="http://schemas.openxmlformats.org/officeDocument/2006/relationships/slide" Target="slides/slide536.xml"/><Relationship Id="rId543" Type="http://schemas.openxmlformats.org/officeDocument/2006/relationships/slide" Target="slides/slide537.xml"/><Relationship Id="rId544" Type="http://schemas.openxmlformats.org/officeDocument/2006/relationships/slide" Target="slides/slide538.xml"/><Relationship Id="rId545" Type="http://schemas.openxmlformats.org/officeDocument/2006/relationships/slide" Target="slides/slide539.xml"/><Relationship Id="rId546" Type="http://schemas.openxmlformats.org/officeDocument/2006/relationships/slide" Target="slides/slide540.xml"/><Relationship Id="rId547" Type="http://schemas.openxmlformats.org/officeDocument/2006/relationships/slide" Target="slides/slide541.xml"/><Relationship Id="rId548" Type="http://schemas.openxmlformats.org/officeDocument/2006/relationships/slide" Target="slides/slide542.xml"/><Relationship Id="rId549" Type="http://schemas.openxmlformats.org/officeDocument/2006/relationships/slide" Target="slides/slide543.xml"/><Relationship Id="rId550" Type="http://schemas.openxmlformats.org/officeDocument/2006/relationships/slide" Target="slides/slide544.xml"/><Relationship Id="rId551" Type="http://schemas.openxmlformats.org/officeDocument/2006/relationships/slide" Target="slides/slide545.xml"/><Relationship Id="rId552" Type="http://schemas.openxmlformats.org/officeDocument/2006/relationships/slide" Target="slides/slide546.xml"/><Relationship Id="rId553" Type="http://schemas.openxmlformats.org/officeDocument/2006/relationships/slide" Target="slides/slide547.xml"/><Relationship Id="rId554" Type="http://schemas.openxmlformats.org/officeDocument/2006/relationships/slide" Target="slides/slide548.xml"/><Relationship Id="rId555" Type="http://schemas.openxmlformats.org/officeDocument/2006/relationships/slide" Target="slides/slide549.xml"/><Relationship Id="rId556" Type="http://schemas.openxmlformats.org/officeDocument/2006/relationships/slide" Target="slides/slide550.xml"/><Relationship Id="rId557" Type="http://schemas.openxmlformats.org/officeDocument/2006/relationships/slide" Target="slides/slide551.xml"/><Relationship Id="rId558" Type="http://schemas.openxmlformats.org/officeDocument/2006/relationships/slide" Target="slides/slide552.xml"/><Relationship Id="rId559" Type="http://schemas.openxmlformats.org/officeDocument/2006/relationships/slide" Target="slides/slide553.xml"/><Relationship Id="rId560" Type="http://schemas.openxmlformats.org/officeDocument/2006/relationships/slide" Target="slides/slide554.xml"/><Relationship Id="rId561" Type="http://schemas.openxmlformats.org/officeDocument/2006/relationships/slide" Target="slides/slide555.xml"/><Relationship Id="rId562" Type="http://schemas.openxmlformats.org/officeDocument/2006/relationships/slide" Target="slides/slide556.xml"/><Relationship Id="rId563" Type="http://schemas.openxmlformats.org/officeDocument/2006/relationships/slide" Target="slides/slide557.xml"/><Relationship Id="rId564" Type="http://schemas.openxmlformats.org/officeDocument/2006/relationships/slide" Target="slides/slide558.xml"/><Relationship Id="rId565" Type="http://schemas.openxmlformats.org/officeDocument/2006/relationships/slide" Target="slides/slide559.xml"/><Relationship Id="rId566" Type="http://schemas.openxmlformats.org/officeDocument/2006/relationships/slide" Target="slides/slide560.xml"/><Relationship Id="rId567" Type="http://schemas.openxmlformats.org/officeDocument/2006/relationships/slide" Target="slides/slide561.xml"/><Relationship Id="rId568" Type="http://schemas.openxmlformats.org/officeDocument/2006/relationships/slide" Target="slides/slide562.xml"/><Relationship Id="rId569" Type="http://schemas.openxmlformats.org/officeDocument/2006/relationships/slide" Target="slides/slide563.xml"/><Relationship Id="rId570" Type="http://schemas.openxmlformats.org/officeDocument/2006/relationships/slide" Target="slides/slide564.xml"/><Relationship Id="rId571" Type="http://schemas.openxmlformats.org/officeDocument/2006/relationships/slide" Target="slides/slide565.xml"/><Relationship Id="rId572" Type="http://schemas.openxmlformats.org/officeDocument/2006/relationships/slide" Target="slides/slide566.xml"/><Relationship Id="rId573" Type="http://schemas.openxmlformats.org/officeDocument/2006/relationships/slide" Target="slides/slide567.xml"/><Relationship Id="rId574" Type="http://schemas.openxmlformats.org/officeDocument/2006/relationships/slide" Target="slides/slide568.xml"/><Relationship Id="rId575" Type="http://schemas.openxmlformats.org/officeDocument/2006/relationships/slide" Target="slides/slide569.xml"/><Relationship Id="rId576" Type="http://schemas.openxmlformats.org/officeDocument/2006/relationships/slide" Target="slides/slide570.xml"/><Relationship Id="rId577" Type="http://schemas.openxmlformats.org/officeDocument/2006/relationships/slide" Target="slides/slide571.xml"/><Relationship Id="rId578" Type="http://schemas.openxmlformats.org/officeDocument/2006/relationships/slide" Target="slides/slide572.xml"/><Relationship Id="rId579" Type="http://schemas.openxmlformats.org/officeDocument/2006/relationships/slide" Target="slides/slide573.xml"/><Relationship Id="rId580" Type="http://schemas.openxmlformats.org/officeDocument/2006/relationships/slide" Target="slides/slide574.xml"/><Relationship Id="rId581" Type="http://schemas.openxmlformats.org/officeDocument/2006/relationships/slide" Target="slides/slide575.xml"/><Relationship Id="rId582" Type="http://schemas.openxmlformats.org/officeDocument/2006/relationships/slide" Target="slides/slide576.xml"/><Relationship Id="rId583" Type="http://schemas.openxmlformats.org/officeDocument/2006/relationships/slide" Target="slides/slide577.xml"/><Relationship Id="rId584" Type="http://schemas.openxmlformats.org/officeDocument/2006/relationships/slide" Target="slides/slide578.xml"/><Relationship Id="rId585" Type="http://schemas.openxmlformats.org/officeDocument/2006/relationships/slide" Target="slides/slide579.xml"/><Relationship Id="rId586" Type="http://schemas.openxmlformats.org/officeDocument/2006/relationships/slide" Target="slides/slide580.xml"/><Relationship Id="rId587" Type="http://schemas.openxmlformats.org/officeDocument/2006/relationships/slide" Target="slides/slide581.xml"/><Relationship Id="rId588" Type="http://schemas.openxmlformats.org/officeDocument/2006/relationships/slide" Target="slides/slide582.xml"/><Relationship Id="rId589" Type="http://schemas.openxmlformats.org/officeDocument/2006/relationships/slide" Target="slides/slide583.xml"/><Relationship Id="rId590" Type="http://schemas.openxmlformats.org/officeDocument/2006/relationships/slide" Target="slides/slide584.xml"/><Relationship Id="rId591" Type="http://schemas.openxmlformats.org/officeDocument/2006/relationships/slide" Target="slides/slide585.xml"/><Relationship Id="rId592" Type="http://schemas.openxmlformats.org/officeDocument/2006/relationships/slide" Target="slides/slide586.xml"/><Relationship Id="rId593" Type="http://schemas.openxmlformats.org/officeDocument/2006/relationships/slide" Target="slides/slide587.xml"/><Relationship Id="rId594" Type="http://schemas.openxmlformats.org/officeDocument/2006/relationships/slide" Target="slides/slide588.xml"/><Relationship Id="rId595" Type="http://schemas.openxmlformats.org/officeDocument/2006/relationships/slide" Target="slides/slide589.xml"/><Relationship Id="rId596" Type="http://schemas.openxmlformats.org/officeDocument/2006/relationships/slide" Target="slides/slide590.xml"/><Relationship Id="rId597" Type="http://schemas.openxmlformats.org/officeDocument/2006/relationships/slide" Target="slides/slide591.xml"/><Relationship Id="rId598" Type="http://schemas.openxmlformats.org/officeDocument/2006/relationships/slide" Target="slides/slide592.xml"/><Relationship Id="rId599" Type="http://schemas.openxmlformats.org/officeDocument/2006/relationships/slide" Target="slides/slide593.xml"/><Relationship Id="rId600" Type="http://schemas.openxmlformats.org/officeDocument/2006/relationships/slide" Target="slides/slide594.xml"/><Relationship Id="rId601" Type="http://schemas.openxmlformats.org/officeDocument/2006/relationships/slide" Target="slides/slide595.xml"/><Relationship Id="rId602" Type="http://schemas.openxmlformats.org/officeDocument/2006/relationships/slide" Target="slides/slide596.xml"/><Relationship Id="rId603" Type="http://schemas.openxmlformats.org/officeDocument/2006/relationships/slide" Target="slides/slide597.xml"/><Relationship Id="rId604" Type="http://schemas.openxmlformats.org/officeDocument/2006/relationships/slide" Target="slides/slide598.xml"/><Relationship Id="rId605" Type="http://schemas.openxmlformats.org/officeDocument/2006/relationships/slide" Target="slides/slide599.xml"/><Relationship Id="rId606" Type="http://schemas.openxmlformats.org/officeDocument/2006/relationships/slide" Target="slides/slide600.xml"/><Relationship Id="rId607" Type="http://schemas.openxmlformats.org/officeDocument/2006/relationships/slide" Target="slides/slide601.xml"/><Relationship Id="rId608" Type="http://schemas.openxmlformats.org/officeDocument/2006/relationships/slide" Target="slides/slide602.xml"/><Relationship Id="rId609" Type="http://schemas.openxmlformats.org/officeDocument/2006/relationships/slide" Target="slides/slide603.xml"/><Relationship Id="rId610" Type="http://schemas.openxmlformats.org/officeDocument/2006/relationships/slide" Target="slides/slide604.xml"/><Relationship Id="rId611" Type="http://schemas.openxmlformats.org/officeDocument/2006/relationships/slide" Target="slides/slide605.xml"/><Relationship Id="rId612" Type="http://schemas.openxmlformats.org/officeDocument/2006/relationships/slide" Target="slides/slide606.xml"/><Relationship Id="rId613" Type="http://schemas.openxmlformats.org/officeDocument/2006/relationships/slide" Target="slides/slide607.xml"/><Relationship Id="rId614" Type="http://schemas.openxmlformats.org/officeDocument/2006/relationships/slide" Target="slides/slide608.xml"/><Relationship Id="rId615" Type="http://schemas.openxmlformats.org/officeDocument/2006/relationships/slide" Target="slides/slide609.xml"/><Relationship Id="rId616" Type="http://schemas.openxmlformats.org/officeDocument/2006/relationships/slide" Target="slides/slide610.xml"/><Relationship Id="rId617" Type="http://schemas.openxmlformats.org/officeDocument/2006/relationships/slide" Target="slides/slide611.xml"/><Relationship Id="rId618" Type="http://schemas.openxmlformats.org/officeDocument/2006/relationships/slide" Target="slides/slide612.xml"/><Relationship Id="rId619" Type="http://schemas.openxmlformats.org/officeDocument/2006/relationships/slide" Target="slides/slide613.xml"/><Relationship Id="rId620" Type="http://schemas.openxmlformats.org/officeDocument/2006/relationships/slide" Target="slides/slide614.xml"/><Relationship Id="rId621" Type="http://schemas.openxmlformats.org/officeDocument/2006/relationships/slide" Target="slides/slide615.xml"/><Relationship Id="rId622" Type="http://schemas.openxmlformats.org/officeDocument/2006/relationships/slide" Target="slides/slide616.xml"/><Relationship Id="rId623" Type="http://schemas.openxmlformats.org/officeDocument/2006/relationships/slide" Target="slides/slide617.xml"/><Relationship Id="rId624" Type="http://schemas.openxmlformats.org/officeDocument/2006/relationships/slide" Target="slides/slide618.xml"/><Relationship Id="rId625" Type="http://schemas.openxmlformats.org/officeDocument/2006/relationships/slide" Target="slides/slide619.xml"/><Relationship Id="rId626" Type="http://schemas.openxmlformats.org/officeDocument/2006/relationships/slide" Target="slides/slide620.xml"/><Relationship Id="rId627" Type="http://schemas.openxmlformats.org/officeDocument/2006/relationships/slide" Target="slides/slide621.xml"/><Relationship Id="rId628" Type="http://schemas.openxmlformats.org/officeDocument/2006/relationships/slide" Target="slides/slide622.xml"/><Relationship Id="rId629" Type="http://schemas.openxmlformats.org/officeDocument/2006/relationships/slide" Target="slides/slide623.xml"/><Relationship Id="rId630" Type="http://schemas.openxmlformats.org/officeDocument/2006/relationships/slide" Target="slides/slide624.xml"/><Relationship Id="rId631" Type="http://schemas.openxmlformats.org/officeDocument/2006/relationships/slide" Target="slides/slide625.xml"/><Relationship Id="rId632" Type="http://schemas.openxmlformats.org/officeDocument/2006/relationships/slide" Target="slides/slide626.xml"/><Relationship Id="rId633" Type="http://schemas.openxmlformats.org/officeDocument/2006/relationships/slide" Target="slides/slide627.xml"/><Relationship Id="rId634" Type="http://schemas.openxmlformats.org/officeDocument/2006/relationships/slide" Target="slides/slide628.xml"/><Relationship Id="rId635" Type="http://schemas.openxmlformats.org/officeDocument/2006/relationships/slide" Target="slides/slide629.xml"/><Relationship Id="rId636" Type="http://schemas.openxmlformats.org/officeDocument/2006/relationships/slide" Target="slides/slide630.xml"/><Relationship Id="rId637" Type="http://schemas.openxmlformats.org/officeDocument/2006/relationships/slide" Target="slides/slide631.xml"/><Relationship Id="rId638" Type="http://schemas.openxmlformats.org/officeDocument/2006/relationships/slide" Target="slides/slide632.xml"/><Relationship Id="rId639" Type="http://schemas.openxmlformats.org/officeDocument/2006/relationships/slide" Target="slides/slide633.xml"/><Relationship Id="rId640" Type="http://schemas.openxmlformats.org/officeDocument/2006/relationships/slide" Target="slides/slide634.xml"/><Relationship Id="rId641" Type="http://schemas.openxmlformats.org/officeDocument/2006/relationships/slide" Target="slides/slide635.xml"/><Relationship Id="rId642" Type="http://schemas.openxmlformats.org/officeDocument/2006/relationships/slide" Target="slides/slide636.xml"/><Relationship Id="rId643" Type="http://schemas.openxmlformats.org/officeDocument/2006/relationships/slide" Target="slides/slide637.xml"/><Relationship Id="rId644" Type="http://schemas.openxmlformats.org/officeDocument/2006/relationships/slide" Target="slides/slide638.xml"/><Relationship Id="rId645" Type="http://schemas.openxmlformats.org/officeDocument/2006/relationships/slide" Target="slides/slide639.xml"/><Relationship Id="rId646" Type="http://schemas.openxmlformats.org/officeDocument/2006/relationships/slide" Target="slides/slide640.xml"/><Relationship Id="rId647" Type="http://schemas.openxmlformats.org/officeDocument/2006/relationships/slide" Target="slides/slide641.xml"/><Relationship Id="rId648" Type="http://schemas.openxmlformats.org/officeDocument/2006/relationships/slide" Target="slides/slide642.xml"/><Relationship Id="rId649" Type="http://schemas.openxmlformats.org/officeDocument/2006/relationships/slide" Target="slides/slide643.xml"/><Relationship Id="rId650" Type="http://schemas.openxmlformats.org/officeDocument/2006/relationships/slide" Target="slides/slide644.xml"/><Relationship Id="rId651" Type="http://schemas.openxmlformats.org/officeDocument/2006/relationships/slide" Target="slides/slide645.xml"/><Relationship Id="rId652" Type="http://schemas.openxmlformats.org/officeDocument/2006/relationships/slide" Target="slides/slide646.xml"/><Relationship Id="rId653" Type="http://schemas.openxmlformats.org/officeDocument/2006/relationships/slide" Target="slides/slide647.xml"/><Relationship Id="rId654" Type="http://schemas.openxmlformats.org/officeDocument/2006/relationships/slide" Target="slides/slide648.xml"/><Relationship Id="rId655" Type="http://schemas.openxmlformats.org/officeDocument/2006/relationships/slide" Target="slides/slide649.xml"/><Relationship Id="rId656" Type="http://schemas.openxmlformats.org/officeDocument/2006/relationships/slide" Target="slides/slide650.xml"/><Relationship Id="rId657" Type="http://schemas.openxmlformats.org/officeDocument/2006/relationships/slide" Target="slides/slide651.xml"/><Relationship Id="rId658" Type="http://schemas.openxmlformats.org/officeDocument/2006/relationships/slide" Target="slides/slide652.xml"/><Relationship Id="rId659" Type="http://schemas.openxmlformats.org/officeDocument/2006/relationships/slide" Target="slides/slide653.xml"/><Relationship Id="rId660" Type="http://schemas.openxmlformats.org/officeDocument/2006/relationships/slide" Target="slides/slide654.xml"/><Relationship Id="rId661" Type="http://schemas.openxmlformats.org/officeDocument/2006/relationships/slide" Target="slides/slide655.xml"/><Relationship Id="rId662" Type="http://schemas.openxmlformats.org/officeDocument/2006/relationships/slide" Target="slides/slide656.xml"/><Relationship Id="rId663" Type="http://schemas.openxmlformats.org/officeDocument/2006/relationships/slide" Target="slides/slide657.xml"/><Relationship Id="rId664" Type="http://schemas.openxmlformats.org/officeDocument/2006/relationships/slide" Target="slides/slide658.xml"/><Relationship Id="rId665" Type="http://schemas.openxmlformats.org/officeDocument/2006/relationships/slide" Target="slides/slide659.xml"/><Relationship Id="rId666" Type="http://schemas.openxmlformats.org/officeDocument/2006/relationships/slide" Target="slides/slide660.xml"/><Relationship Id="rId667" Type="http://schemas.openxmlformats.org/officeDocument/2006/relationships/slide" Target="slides/slide661.xml"/><Relationship Id="rId668" Type="http://schemas.openxmlformats.org/officeDocument/2006/relationships/slide" Target="slides/slide662.xml"/><Relationship Id="rId669" Type="http://schemas.openxmlformats.org/officeDocument/2006/relationships/slide" Target="slides/slide663.xml"/><Relationship Id="rId670" Type="http://schemas.openxmlformats.org/officeDocument/2006/relationships/slide" Target="slides/slide664.xml"/><Relationship Id="rId671" Type="http://schemas.openxmlformats.org/officeDocument/2006/relationships/slide" Target="slides/slide665.xml"/><Relationship Id="rId672" Type="http://schemas.openxmlformats.org/officeDocument/2006/relationships/slide" Target="slides/slide666.xml"/><Relationship Id="rId673" Type="http://schemas.openxmlformats.org/officeDocument/2006/relationships/slide" Target="slides/slide667.xml"/><Relationship Id="rId674" Type="http://schemas.openxmlformats.org/officeDocument/2006/relationships/slide" Target="slides/slide668.xml"/><Relationship Id="rId675" Type="http://schemas.openxmlformats.org/officeDocument/2006/relationships/slide" Target="slides/slide669.xml"/><Relationship Id="rId676" Type="http://schemas.openxmlformats.org/officeDocument/2006/relationships/slide" Target="slides/slide670.xml"/><Relationship Id="rId677" Type="http://schemas.openxmlformats.org/officeDocument/2006/relationships/slide" Target="slides/slide671.xml"/><Relationship Id="rId678" Type="http://schemas.openxmlformats.org/officeDocument/2006/relationships/slide" Target="slides/slide672.xml"/><Relationship Id="rId679" Type="http://schemas.openxmlformats.org/officeDocument/2006/relationships/slide" Target="slides/slide673.xml"/><Relationship Id="rId680" Type="http://schemas.openxmlformats.org/officeDocument/2006/relationships/slide" Target="slides/slide674.xml"/><Relationship Id="rId681" Type="http://schemas.openxmlformats.org/officeDocument/2006/relationships/slide" Target="slides/slide675.xml"/><Relationship Id="rId682" Type="http://schemas.openxmlformats.org/officeDocument/2006/relationships/slide" Target="slides/slide676.xml"/><Relationship Id="rId683" Type="http://schemas.openxmlformats.org/officeDocument/2006/relationships/slide" Target="slides/slide677.xml"/><Relationship Id="rId684" Type="http://schemas.openxmlformats.org/officeDocument/2006/relationships/slide" Target="slides/slide678.xml"/><Relationship Id="rId685" Type="http://schemas.openxmlformats.org/officeDocument/2006/relationships/slide" Target="slides/slide679.xml"/><Relationship Id="rId686" Type="http://schemas.openxmlformats.org/officeDocument/2006/relationships/slide" Target="slides/slide680.xml"/><Relationship Id="rId687" Type="http://schemas.openxmlformats.org/officeDocument/2006/relationships/slide" Target="slides/slide681.xml"/><Relationship Id="rId688" Type="http://schemas.openxmlformats.org/officeDocument/2006/relationships/slide" Target="slides/slide682.xml"/><Relationship Id="rId689" Type="http://schemas.openxmlformats.org/officeDocument/2006/relationships/slide" Target="slides/slide683.xml"/><Relationship Id="rId690" Type="http://schemas.openxmlformats.org/officeDocument/2006/relationships/slide" Target="slides/slide684.xml"/><Relationship Id="rId691" Type="http://schemas.openxmlformats.org/officeDocument/2006/relationships/slide" Target="slides/slide685.xml"/><Relationship Id="rId692" Type="http://schemas.openxmlformats.org/officeDocument/2006/relationships/slide" Target="slides/slide686.xml"/><Relationship Id="rId693" Type="http://schemas.openxmlformats.org/officeDocument/2006/relationships/slide" Target="slides/slide687.xml"/><Relationship Id="rId694" Type="http://schemas.openxmlformats.org/officeDocument/2006/relationships/slide" Target="slides/slide688.xml"/><Relationship Id="rId695" Type="http://schemas.openxmlformats.org/officeDocument/2006/relationships/slide" Target="slides/slide689.xml"/><Relationship Id="rId696" Type="http://schemas.openxmlformats.org/officeDocument/2006/relationships/slide" Target="slides/slide690.xml"/><Relationship Id="rId697" Type="http://schemas.openxmlformats.org/officeDocument/2006/relationships/slide" Target="slides/slide691.xml"/><Relationship Id="rId698" Type="http://schemas.openxmlformats.org/officeDocument/2006/relationships/slide" Target="slides/slide692.xml"/><Relationship Id="rId699" Type="http://schemas.openxmlformats.org/officeDocument/2006/relationships/slide" Target="slides/slide693.xml"/><Relationship Id="rId700" Type="http://schemas.openxmlformats.org/officeDocument/2006/relationships/slide" Target="slides/slide694.xml"/><Relationship Id="rId701" Type="http://schemas.openxmlformats.org/officeDocument/2006/relationships/slide" Target="slides/slide695.xml"/><Relationship Id="rId702" Type="http://schemas.openxmlformats.org/officeDocument/2006/relationships/slide" Target="slides/slide696.xml"/><Relationship Id="rId703" Type="http://schemas.openxmlformats.org/officeDocument/2006/relationships/slide" Target="slides/slide697.xml"/><Relationship Id="rId704" Type="http://schemas.openxmlformats.org/officeDocument/2006/relationships/slide" Target="slides/slide698.xml"/><Relationship Id="rId705" Type="http://schemas.openxmlformats.org/officeDocument/2006/relationships/slide" Target="slides/slide699.xml"/><Relationship Id="rId706" Type="http://schemas.openxmlformats.org/officeDocument/2006/relationships/slide" Target="slides/slide700.xml"/><Relationship Id="rId707" Type="http://schemas.openxmlformats.org/officeDocument/2006/relationships/slide" Target="slides/slide701.xml"/><Relationship Id="rId708" Type="http://schemas.openxmlformats.org/officeDocument/2006/relationships/slide" Target="slides/slide702.xml"/><Relationship Id="rId709" Type="http://schemas.openxmlformats.org/officeDocument/2006/relationships/slide" Target="slides/slide703.xml"/><Relationship Id="rId710" Type="http://schemas.openxmlformats.org/officeDocument/2006/relationships/slide" Target="slides/slide704.xml"/><Relationship Id="rId711" Type="http://schemas.openxmlformats.org/officeDocument/2006/relationships/slide" Target="slides/slide705.xml"/><Relationship Id="rId712" Type="http://schemas.openxmlformats.org/officeDocument/2006/relationships/slide" Target="slides/slide706.xml"/><Relationship Id="rId713" Type="http://schemas.openxmlformats.org/officeDocument/2006/relationships/slide" Target="slides/slide707.xml"/><Relationship Id="rId714" Type="http://schemas.openxmlformats.org/officeDocument/2006/relationships/slide" Target="slides/slide708.xml"/><Relationship Id="rId715" Type="http://schemas.openxmlformats.org/officeDocument/2006/relationships/slide" Target="slides/slide709.xml"/><Relationship Id="rId716" Type="http://schemas.openxmlformats.org/officeDocument/2006/relationships/slide" Target="slides/slide710.xml"/><Relationship Id="rId717" Type="http://schemas.openxmlformats.org/officeDocument/2006/relationships/slide" Target="slides/slide711.xml"/><Relationship Id="rId718" Type="http://schemas.openxmlformats.org/officeDocument/2006/relationships/slide" Target="slides/slide712.xml"/><Relationship Id="rId719" Type="http://schemas.openxmlformats.org/officeDocument/2006/relationships/slide" Target="slides/slide713.xml"/><Relationship Id="rId720" Type="http://schemas.openxmlformats.org/officeDocument/2006/relationships/slide" Target="slides/slide714.xml"/><Relationship Id="rId721" Type="http://schemas.openxmlformats.org/officeDocument/2006/relationships/slide" Target="slides/slide715.xml"/><Relationship Id="rId722" Type="http://schemas.openxmlformats.org/officeDocument/2006/relationships/slide" Target="slides/slide716.xml"/><Relationship Id="rId723" Type="http://schemas.openxmlformats.org/officeDocument/2006/relationships/slide" Target="slides/slide717.xml"/><Relationship Id="rId724" Type="http://schemas.openxmlformats.org/officeDocument/2006/relationships/slide" Target="slides/slide718.xml"/><Relationship Id="rId725" Type="http://schemas.openxmlformats.org/officeDocument/2006/relationships/slide" Target="slides/slide719.xml"/><Relationship Id="rId726" Type="http://schemas.openxmlformats.org/officeDocument/2006/relationships/slide" Target="slides/slide720.xml"/><Relationship Id="rId727" Type="http://schemas.openxmlformats.org/officeDocument/2006/relationships/slide" Target="slides/slide721.xml"/><Relationship Id="rId728" Type="http://schemas.openxmlformats.org/officeDocument/2006/relationships/slide" Target="slides/slide722.xml"/><Relationship Id="rId729" Type="http://schemas.openxmlformats.org/officeDocument/2006/relationships/slide" Target="slides/slide723.xml"/><Relationship Id="rId730" Type="http://schemas.openxmlformats.org/officeDocument/2006/relationships/slide" Target="slides/slide724.xml"/><Relationship Id="rId731" Type="http://schemas.openxmlformats.org/officeDocument/2006/relationships/slide" Target="slides/slide725.xml"/><Relationship Id="rId732" Type="http://schemas.openxmlformats.org/officeDocument/2006/relationships/slide" Target="slides/slide726.xml"/><Relationship Id="rId733" Type="http://schemas.openxmlformats.org/officeDocument/2006/relationships/slide" Target="slides/slide727.xml"/><Relationship Id="rId734" Type="http://schemas.openxmlformats.org/officeDocument/2006/relationships/slide" Target="slides/slide728.xml"/><Relationship Id="rId735" Type="http://schemas.openxmlformats.org/officeDocument/2006/relationships/slide" Target="slides/slide729.xml"/><Relationship Id="rId736" Type="http://schemas.openxmlformats.org/officeDocument/2006/relationships/slide" Target="slides/slide730.xml"/><Relationship Id="rId737" Type="http://schemas.openxmlformats.org/officeDocument/2006/relationships/slide" Target="slides/slide731.xml"/><Relationship Id="rId738" Type="http://schemas.openxmlformats.org/officeDocument/2006/relationships/slide" Target="slides/slide732.xml"/><Relationship Id="rId739" Type="http://schemas.openxmlformats.org/officeDocument/2006/relationships/slide" Target="slides/slide733.xml"/><Relationship Id="rId740" Type="http://schemas.openxmlformats.org/officeDocument/2006/relationships/slide" Target="slides/slide734.xml"/><Relationship Id="rId741" Type="http://schemas.openxmlformats.org/officeDocument/2006/relationships/slide" Target="slides/slide735.xml"/><Relationship Id="rId742" Type="http://schemas.openxmlformats.org/officeDocument/2006/relationships/slide" Target="slides/slide736.xml"/><Relationship Id="rId743" Type="http://schemas.openxmlformats.org/officeDocument/2006/relationships/slide" Target="slides/slide737.xml"/><Relationship Id="rId744" Type="http://schemas.openxmlformats.org/officeDocument/2006/relationships/slide" Target="slides/slide738.xml"/><Relationship Id="rId745" Type="http://schemas.openxmlformats.org/officeDocument/2006/relationships/slide" Target="slides/slide739.xml"/><Relationship Id="rId746" Type="http://schemas.openxmlformats.org/officeDocument/2006/relationships/slide" Target="slides/slide740.xml"/><Relationship Id="rId747" Type="http://schemas.openxmlformats.org/officeDocument/2006/relationships/slide" Target="slides/slide741.xml"/><Relationship Id="rId748" Type="http://schemas.openxmlformats.org/officeDocument/2006/relationships/slide" Target="slides/slide742.xml"/><Relationship Id="rId749" Type="http://schemas.openxmlformats.org/officeDocument/2006/relationships/slide" Target="slides/slide743.xml"/><Relationship Id="rId750" Type="http://schemas.openxmlformats.org/officeDocument/2006/relationships/slide" Target="slides/slide744.xml"/><Relationship Id="rId751" Type="http://schemas.openxmlformats.org/officeDocument/2006/relationships/slide" Target="slides/slide745.xml"/><Relationship Id="rId752" Type="http://schemas.openxmlformats.org/officeDocument/2006/relationships/slide" Target="slides/slide746.xml"/><Relationship Id="rId753" Type="http://schemas.openxmlformats.org/officeDocument/2006/relationships/slide" Target="slides/slide747.xml"/><Relationship Id="rId754" Type="http://schemas.openxmlformats.org/officeDocument/2006/relationships/slide" Target="slides/slide748.xml"/><Relationship Id="rId755" Type="http://schemas.openxmlformats.org/officeDocument/2006/relationships/slide" Target="slides/slide749.xml"/><Relationship Id="rId756" Type="http://schemas.openxmlformats.org/officeDocument/2006/relationships/slide" Target="slides/slide750.xml"/><Relationship Id="rId757" Type="http://schemas.openxmlformats.org/officeDocument/2006/relationships/slide" Target="slides/slide751.xml"/><Relationship Id="rId758" Type="http://schemas.openxmlformats.org/officeDocument/2006/relationships/slide" Target="slides/slide752.xml"/><Relationship Id="rId759" Type="http://schemas.openxmlformats.org/officeDocument/2006/relationships/slide" Target="slides/slide753.xml"/><Relationship Id="rId760" Type="http://schemas.openxmlformats.org/officeDocument/2006/relationships/slide" Target="slides/slide754.xml"/><Relationship Id="rId761" Type="http://schemas.openxmlformats.org/officeDocument/2006/relationships/slide" Target="slides/slide755.xml"/><Relationship Id="rId762" Type="http://schemas.openxmlformats.org/officeDocument/2006/relationships/slide" Target="slides/slide756.xml"/><Relationship Id="rId763" Type="http://schemas.openxmlformats.org/officeDocument/2006/relationships/slide" Target="slides/slide757.xml"/><Relationship Id="rId764" Type="http://schemas.openxmlformats.org/officeDocument/2006/relationships/slide" Target="slides/slide758.xml"/><Relationship Id="rId765" Type="http://schemas.openxmlformats.org/officeDocument/2006/relationships/slide" Target="slides/slide759.xml"/><Relationship Id="rId766" Type="http://schemas.openxmlformats.org/officeDocument/2006/relationships/slide" Target="slides/slide760.xml"/><Relationship Id="rId767" Type="http://schemas.openxmlformats.org/officeDocument/2006/relationships/slide" Target="slides/slide761.xml"/><Relationship Id="rId768" Type="http://schemas.openxmlformats.org/officeDocument/2006/relationships/slide" Target="slides/slide762.xml"/><Relationship Id="rId769" Type="http://schemas.openxmlformats.org/officeDocument/2006/relationships/slide" Target="slides/slide763.xml"/><Relationship Id="rId770" Type="http://schemas.openxmlformats.org/officeDocument/2006/relationships/slide" Target="slides/slide764.xml"/><Relationship Id="rId771" Type="http://schemas.openxmlformats.org/officeDocument/2006/relationships/slide" Target="slides/slide765.xml"/><Relationship Id="rId772" Type="http://schemas.openxmlformats.org/officeDocument/2006/relationships/slide" Target="slides/slide766.xml"/><Relationship Id="rId773" Type="http://schemas.openxmlformats.org/officeDocument/2006/relationships/slide" Target="slides/slide767.xml"/><Relationship Id="rId774" Type="http://schemas.openxmlformats.org/officeDocument/2006/relationships/slide" Target="slides/slide768.xml"/><Relationship Id="rId775" Type="http://schemas.openxmlformats.org/officeDocument/2006/relationships/slide" Target="slides/slide769.xml"/><Relationship Id="rId776" Type="http://schemas.openxmlformats.org/officeDocument/2006/relationships/slide" Target="slides/slide770.xml"/><Relationship Id="rId777" Type="http://schemas.openxmlformats.org/officeDocument/2006/relationships/slide" Target="slides/slide771.xml"/><Relationship Id="rId778" Type="http://schemas.openxmlformats.org/officeDocument/2006/relationships/slide" Target="slides/slide772.xml"/><Relationship Id="rId779" Type="http://schemas.openxmlformats.org/officeDocument/2006/relationships/slide" Target="slides/slide773.xml"/><Relationship Id="rId780" Type="http://schemas.openxmlformats.org/officeDocument/2006/relationships/slide" Target="slides/slide774.xml"/><Relationship Id="rId781" Type="http://schemas.openxmlformats.org/officeDocument/2006/relationships/slide" Target="slides/slide775.xml"/><Relationship Id="rId782" Type="http://schemas.openxmlformats.org/officeDocument/2006/relationships/slide" Target="slides/slide776.xml"/><Relationship Id="rId783" Type="http://schemas.openxmlformats.org/officeDocument/2006/relationships/slide" Target="slides/slide777.xml"/><Relationship Id="rId784" Type="http://schemas.openxmlformats.org/officeDocument/2006/relationships/slide" Target="slides/slide778.xml"/><Relationship Id="rId785" Type="http://schemas.openxmlformats.org/officeDocument/2006/relationships/slide" Target="slides/slide779.xml"/><Relationship Id="rId786" Type="http://schemas.openxmlformats.org/officeDocument/2006/relationships/slide" Target="slides/slide780.xml"/><Relationship Id="rId787" Type="http://schemas.openxmlformats.org/officeDocument/2006/relationships/slide" Target="slides/slide781.xml"/><Relationship Id="rId788" Type="http://schemas.openxmlformats.org/officeDocument/2006/relationships/slide" Target="slides/slide782.xml"/><Relationship Id="rId789" Type="http://schemas.openxmlformats.org/officeDocument/2006/relationships/slide" Target="slides/slide783.xml"/><Relationship Id="rId790" Type="http://schemas.openxmlformats.org/officeDocument/2006/relationships/slide" Target="slides/slide784.xml"/><Relationship Id="rId791" Type="http://schemas.openxmlformats.org/officeDocument/2006/relationships/slide" Target="slides/slide785.xml"/><Relationship Id="rId792" Type="http://schemas.openxmlformats.org/officeDocument/2006/relationships/slide" Target="slides/slide786.xml"/><Relationship Id="rId793" Type="http://schemas.openxmlformats.org/officeDocument/2006/relationships/slide" Target="slides/slide787.xml"/><Relationship Id="rId794" Type="http://schemas.openxmlformats.org/officeDocument/2006/relationships/slide" Target="slides/slide788.xml"/><Relationship Id="rId795" Type="http://schemas.openxmlformats.org/officeDocument/2006/relationships/slide" Target="slides/slide789.xml"/><Relationship Id="rId796" Type="http://schemas.openxmlformats.org/officeDocument/2006/relationships/slide" Target="slides/slide790.xml"/><Relationship Id="rId797" Type="http://schemas.openxmlformats.org/officeDocument/2006/relationships/slide" Target="slides/slide791.xml"/><Relationship Id="rId798" Type="http://schemas.openxmlformats.org/officeDocument/2006/relationships/slide" Target="slides/slide792.xml"/><Relationship Id="rId799" Type="http://schemas.openxmlformats.org/officeDocument/2006/relationships/slide" Target="slides/slide793.xml"/><Relationship Id="rId800" Type="http://schemas.openxmlformats.org/officeDocument/2006/relationships/slide" Target="slides/slide794.xml"/><Relationship Id="rId801" Type="http://schemas.openxmlformats.org/officeDocument/2006/relationships/slide" Target="slides/slide795.xml"/><Relationship Id="rId802" Type="http://schemas.openxmlformats.org/officeDocument/2006/relationships/slide" Target="slides/slide796.xml"/><Relationship Id="rId803" Type="http://schemas.openxmlformats.org/officeDocument/2006/relationships/slide" Target="slides/slide797.xml"/><Relationship Id="rId804" Type="http://schemas.openxmlformats.org/officeDocument/2006/relationships/slide" Target="slides/slide798.xml"/><Relationship Id="rId805" Type="http://schemas.openxmlformats.org/officeDocument/2006/relationships/slide" Target="slides/slide799.xml"/><Relationship Id="rId806" Type="http://schemas.openxmlformats.org/officeDocument/2006/relationships/slide" Target="slides/slide800.xml"/><Relationship Id="rId807" Type="http://schemas.openxmlformats.org/officeDocument/2006/relationships/slide" Target="slides/slide801.xml"/><Relationship Id="rId808" Type="http://schemas.openxmlformats.org/officeDocument/2006/relationships/slide" Target="slides/slide802.xml"/><Relationship Id="rId809" Type="http://schemas.openxmlformats.org/officeDocument/2006/relationships/slide" Target="slides/slide803.xml"/><Relationship Id="rId810" Type="http://schemas.openxmlformats.org/officeDocument/2006/relationships/slide" Target="slides/slide804.xml"/><Relationship Id="rId811" Type="http://schemas.openxmlformats.org/officeDocument/2006/relationships/slide" Target="slides/slide805.xml"/><Relationship Id="rId812" Type="http://schemas.openxmlformats.org/officeDocument/2006/relationships/slide" Target="slides/slide806.xml"/><Relationship Id="rId813" Type="http://schemas.openxmlformats.org/officeDocument/2006/relationships/slide" Target="slides/slide807.xml"/><Relationship Id="rId814" Type="http://schemas.openxmlformats.org/officeDocument/2006/relationships/slide" Target="slides/slide808.xml"/><Relationship Id="rId815" Type="http://schemas.openxmlformats.org/officeDocument/2006/relationships/slide" Target="slides/slide809.xml"/><Relationship Id="rId816" Type="http://schemas.openxmlformats.org/officeDocument/2006/relationships/slide" Target="slides/slide810.xml"/><Relationship Id="rId817" Type="http://schemas.openxmlformats.org/officeDocument/2006/relationships/slide" Target="slides/slide811.xml"/><Relationship Id="rId818" Type="http://schemas.openxmlformats.org/officeDocument/2006/relationships/slide" Target="slides/slide812.xml"/><Relationship Id="rId819" Type="http://schemas.openxmlformats.org/officeDocument/2006/relationships/slide" Target="slides/slide813.xml"/><Relationship Id="rId820" Type="http://schemas.openxmlformats.org/officeDocument/2006/relationships/slide" Target="slides/slide814.xml"/><Relationship Id="rId821" Type="http://schemas.openxmlformats.org/officeDocument/2006/relationships/slide" Target="slides/slide815.xml"/><Relationship Id="rId822" Type="http://schemas.openxmlformats.org/officeDocument/2006/relationships/slide" Target="slides/slide816.xml"/><Relationship Id="rId823" Type="http://schemas.openxmlformats.org/officeDocument/2006/relationships/slide" Target="slides/slide817.xml"/><Relationship Id="rId824" Type="http://schemas.openxmlformats.org/officeDocument/2006/relationships/slide" Target="slides/slide818.xml"/><Relationship Id="rId825" Type="http://schemas.openxmlformats.org/officeDocument/2006/relationships/slide" Target="slides/slide819.xml"/><Relationship Id="rId826" Type="http://schemas.openxmlformats.org/officeDocument/2006/relationships/slide" Target="slides/slide820.xml"/><Relationship Id="rId827" Type="http://schemas.openxmlformats.org/officeDocument/2006/relationships/slide" Target="slides/slide821.xml"/><Relationship Id="rId828" Type="http://schemas.openxmlformats.org/officeDocument/2006/relationships/slide" Target="slides/slide822.xml"/><Relationship Id="rId829" Type="http://schemas.openxmlformats.org/officeDocument/2006/relationships/slide" Target="slides/slide823.xml"/><Relationship Id="rId830" Type="http://schemas.openxmlformats.org/officeDocument/2006/relationships/slide" Target="slides/slide824.xml"/><Relationship Id="rId831" Type="http://schemas.openxmlformats.org/officeDocument/2006/relationships/slide" Target="slides/slide825.xml"/><Relationship Id="rId832" Type="http://schemas.openxmlformats.org/officeDocument/2006/relationships/slide" Target="slides/slide826.xml"/><Relationship Id="rId833" Type="http://schemas.openxmlformats.org/officeDocument/2006/relationships/slide" Target="slides/slide827.xml"/><Relationship Id="rId834" Type="http://schemas.openxmlformats.org/officeDocument/2006/relationships/slide" Target="slides/slide828.xml"/><Relationship Id="rId835" Type="http://schemas.openxmlformats.org/officeDocument/2006/relationships/slide" Target="slides/slide829.xml"/><Relationship Id="rId836" Type="http://schemas.openxmlformats.org/officeDocument/2006/relationships/slide" Target="slides/slide8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0698480" cy="36576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400" b="1">
                <a:solidFill>
                  <a:srgbClr val="EBAA32"/>
                </a:solidFill>
                <a:latin typeface="Aptos"/>
              </a:defRPr>
            </a:pPr>
            <a:r>
              <a:t>A PRACTICAL, ORIGINAL LEARNING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607040" cy="132588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English Speaking Masterclass</a:t>
            </a:r>
            <a:br/>
            <a:r>
              <a:t>From Beginner to Confident Speaker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9966960" cy="9144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100" b="0">
                <a:solidFill>
                  <a:srgbClr val="DCE7F3"/>
                </a:solidFill>
                <a:latin typeface="Aptos"/>
              </a:defRPr>
            </a:pPr>
            <a:r>
              <a:t>A 520-slide teaching resource with clear explanations, model sentences, guided speaking tasks and revision.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800600"/>
            <a:ext cx="1280160" cy="73152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074920"/>
            <a:ext cx="10424160" cy="4572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Speaking • Listening • Grammar • Vocabulary • Pronunciation • Practice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ENGLISH SPEAKING MASTERCLASS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How to use this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Teach one concept at a time; model it aloud before asking students to practise.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the example sentence as a pattern, not as a sentence to memorise forever.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students time to prepare, speak, receive feedback and try again.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Adapt vocabulary and role-plays to students’ age, goals and local context.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Learn → model → practise → receive feedback → repeat.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students to set one personal speaking goal.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ENGLISH SPEAKING MASTERCLASS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Build everyday conversations and ask useful questions.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core grammar patterns to express time, possibility, opinions and plans.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Improve clarity through pronunciation, stress, rhythm and connected speech.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 more confidently in social, academic and workplace situations.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can explain my idea clearly and ask questions when I do not understand.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Have each learner name one skill they want to improve.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01 • Getting started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Module goal: understand the core idea and use it in a real conversation.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Teacher tip: model the language, check understanding, then let learners practise.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Student habit: say the example aloud and personalise it with true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Small steps, repeated consistently, build lasting speaking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learners what they already know about this topic.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01 • GETTING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Why communication matters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Communication is sharing meaning, not using difficult words.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Clarity, listening and respect matter as much as grammar.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 small, regular practice habit beats occasional cramming.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want to improve my English because it will help me communicate at 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In pairs, name one situation where English would help you.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01 • GETTING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Confidence and mistakes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Mistakes are information: notice them and try again.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Pause briefly instead of filling every silence with ‘um’.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Aim to be understood first; accuracy grows with practice.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Let me try that again in a clearer way.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Say a sentence twice: once quickly, once calmly.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01 • GETTING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A simple speaking routine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a daily topic and speak for one minute.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Record yourself and note one strength and one improvement.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same task after a week to compare progress.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Today I will describe my routine for sixty seconds.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Create a seven-day speaking target.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01 • GETTING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Useful classroom phrases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for clarification when instructions are unclear.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polite phrases to join, pause or end a conversation.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key information to check understanding.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Could you explain that one more time, please?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asking a teacher three clarification questions.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02 • Sounds and pronunciation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Module goal: understand the core idea and use it in a real conversation.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Teacher tip: model the language, check understanding, then let learners practise.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Student habit: say the example aloud and personalise it with true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Small steps, repeated consistently, build lasting speaking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learners what they already know about this topic.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02 • SOUNDS AND PRONUNCIATION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Vowels and clear word sounds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English spelling does not always predict pronunciation.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Listen for the vowel sound, not only the written letter.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 dictionary audio model and repeat in short groups.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ship / sheep; full / fool; bed / bad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minimal pairs with a partner.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02 • SOUNDS AND PRONUNCIATION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Consonant clarity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Notice sounds at the beginning and end of words.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Do not add an extra vowel after every final consonant.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Slow down on words that listeners often misunderstand.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worked, asked, next, world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Read a short sentence and focus on final sounds.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02 • SOUNDS AND PRONUNCIATION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Word stress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Most longer words have one main stressed syllable.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Stress can change how natural a word sounds.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 reliable dictionary to check unfamiliar words.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PHOtograph, phoTOGraphy, photoGRAPHic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Mark the stressed syllable in five new words.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02 • SOUNDS AND PRONUNCIATION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Sentence stress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Stress content words that carry the message.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Reduce less important words naturally, without losing clarity.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Change stress to highlight a contrast.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wanted the BLUE file, not the green 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Say the sentence with three different meanings.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02 • SOUNDS AND PRONUNCIATION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Intonation and tone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Rising intonation often signals a yes/no question or uncertainty.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Falling intonation often signals completion or certainty.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Tone should match the intention: curious, polite, firm or friendly.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Would you like some tea? / Where are you going?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Say one sentence as a question, surprise and reassurance.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02 • SOUNDS AND PRONUNCIATION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Connected speech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Words link together in natural speech.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Some sounds become weaker in unstressed words.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Practise short chunks before longer sentences.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Would you like to → Wouldja like to? (informal listening form)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Listen, repeat and then say the phrase at a natural pace.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03 • Greetings and introductions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Module goal: understand the core idea and use it in a real conversation.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Teacher tip: model the language, check understanding, then let learners practise.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Student habit: say the example aloud and personalise it with true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Small steps, repeated consistently, build lasting speaking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learners what they already know about this topic.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03 • GREETINGS AND INTRODUCTIONS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Formal and informal greetings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greetings based on relationship and setting.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 friendly greeting usually includes eye contact and an appropriate tone.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In professional settings, use a name or title when suitable.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Good morning. It’s nice to meet you.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Role-play meeting a neighbour and a new manager.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03 • GREETINGS AND INTRODUCTIONS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Introducing yourself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your name and one relevant detail.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your role, interest or reason for being there.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question to invite the other person 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Hello, I’m Riya. I work in customer support. What do you do?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Introduce yourself in 20 seconds.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03 • GREETINGS AND INTRODUCTIONS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Introducing other people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both names clearly.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a short connection or context.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Allow the people to continue the conversation.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This is Amit, who works with me on the project.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Introduce two classmates to each other.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03 • GREETINGS AND INTRODUCTIONS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Small talk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safe shared topics such as the event, journey or weather.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open questions and listen to the answer.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overly personal questions when you have just met.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How did you hear about this event?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Continue a small-talk conversation for one minute.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03 • GREETINGS AND INTRODUCTIONS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Ending a conversation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Signal the ending politely.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Mention something positive if genuine.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 clear goodbye or next step.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It was lovely talking with you. I need to get back to work, but see you soon.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End a conversation without abruptly walking away.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04 • Everyday vocabulary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Module goal: understand the core idea and use it in a real conversation.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Teacher tip: model the language, check understanding, then let learners practise.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Student habit: say the example aloud and personalise it with true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Small steps, repeated consistently, build lasting speaking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learners what they already know about this topic.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04 • EVERYDAY VOCABULARY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People and relationships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Learn words in phrases rather than isolated lists.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Notice formal, neutral and affectionate forms.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the relationship word that fits the context.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My cousin lives nearby, and we meet on weekends.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three people in your life without sharing private details.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04 • EVERYDAY VOCABULARY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Home and household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Group vocabulary by rooms, objects and actions.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prepositions to explain where things are.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Practise describing a room from memory.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keys are on the shelf beside the front door.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a room in five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04 • EVERYDAY VOCABULARY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Food and ordering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‘I’d like…’ for a polite order.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about ingredients or options when needed.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order to confirm it is correct.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Could I have a masala dosa and a glass of water, please?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Role-play a customer and a server.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04 • EVERYDAY VOCABULARY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Shopping and prices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the price and compare options politely.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numbers and currency clearly.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receipts and product details separate from spoken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How much is this? Is there a smaller size?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Role-play buying an item within a budget.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04 • EVERYDAY VOCABULARY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Travel and transport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Learn phrases for tickets, platforms and directions.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times, destinations and changes.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someone to repeat a number if it is unclear.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Does this train stop at Shivajinagar?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asking for travel information.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04 • EVERYDAY VOCABULARY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Health and appointments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Describe symptoms in simple, specific language.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when something started and how it feels.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the professional to clarify instructions you do not understand.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have had a sore throat since yesterday.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booking an appointment; do not diagnose a partner.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05 • Sentence building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Module goal: understand the core idea and use it in a real conversation.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Teacher tip: model the language, check understanding, then let learners practise.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Student habit: say the example aloud and personalise it with true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Small steps, repeated consistently, build lasting speaking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learners what they already know about this topic.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05 • SENTENCE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Subject + verb + object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 basic English sentence often follows subject–verb–object order.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The subject tells who or what performs the action.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details only after the core message is clear.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team reviewed the report.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Build five sentences using different subjects.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05 • SENTENCE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Be verbs: am, is, 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‘am’ with I, ‘is’ with he/she/it and singular nouns.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‘are’ with you, we, they and plural nouns.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be + adjective or noun to describe identity and state.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am ready. They are colleagues.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yourself and two objects.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05 • SENTENCE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Negatives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Put ‘not’ after the appropriate auxiliary or be verb.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do/does/did + not with many ordinary verbs.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double negatives in standard English.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She isn’t available. They don’t live here.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Turn five positive sentences into negatives.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05 • SENTENCE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Yes/no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Move the auxiliary or be verb before the subject.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do/does/did when the main verb needs an auxiliary.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the question mark and question intonation.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Are you free tomorrow? Do you speak Marathi?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a partner six yes/no questions.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05 • SENTENCE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Wh-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Who asks about people; where asks about place.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When asks about time; why asks for a reason.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How asks about method, condition or degree.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What would you like to learn next?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Interview a partner using five different question words.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05 • SENTENCE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There is / there 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‘there is’ for one item and ‘there are’ for plural items.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‘there was/were’ to describe the past.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‘there will be’ for future existence.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There are three chairs in the room.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your classroom or workspace.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06 • Nouns, articles and pronouns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Module goal: understand the core idea and use it in a real conversation.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Teacher tip: model the language, check understanding, then let learners practise.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Student habit: say the example aloud and personalise it with true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Small steps, repeated consistently, build lasting speaking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learners what they already know about this topic.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06 • NOUNS, ARTICLES AND PRONOUNS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Singular and plural nouns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Many nouns add -s or -es.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Some plurals are irregular, such as children and people.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plural forms consistently with numbers greater than 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One child, two children; one box, three boxes.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Sort ten nouns into regular and irregular plurals.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06 • NOUNS, ARTICLES AND PRONOUNS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Countable and uncountable nouns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Countable nouns can take a number: three books.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Uncountable nouns usually use some, much or a unit: some advice, a piece of advice.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adding plural -s to uncountable nouns in their usual meaning.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Could you give me some information?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Correct five common countability mistakes.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06 • NOUNS, ARTICLES AND PRONOUNS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A, an and the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a/an for a non-specific singular countable noun.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‘the’ when the listener can identify the item.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Do not use an article before many plural or uncountable nouns when speaking generally.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saw a dog. The dog was carrying a ball.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each article is used in five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06 • NOUNS, ARTICLES AND PRONOUNS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Personal pronouns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Subject pronouns do the action: I, she, they.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Object pronouns receive the action: me, her, them.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possessive forms to show ownership.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She sent me her notes.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Replace repeated names with suitable pronouns.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06 • NOUNS, ARTICLES AND PRONOUNS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This, that, these, those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this/these for things perceived as near.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that/those for things perceived as farther away.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Match singular and plural forms.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These are my notes; that is your bag.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Point to or imagine objects and describe them.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06 • NOUNS, ARTICLES AND PRONOUNS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Possessives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my, your, his, her, its, our and their before nouns.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’s to show possession with many names and nouns.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Distinguish ‘its’ from ‘it’s’ (it is/it has).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This is Neha’s notebook; its cover is blue.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who owns five objects.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07 • Verbs and tense foundations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Module goal: understand the core idea and use it in a real conversation.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Teacher tip: model the language, check understanding, then let learners practise.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Student habit: say the example aloud and personalise it with true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Small steps, repeated consistently, build lasting speaking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learners what they already know about this topic.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07 • VERBS AND TENSE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Present simple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it for habits, routines and general facts.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-s/-es for he, she and it in affirmative statements.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do/does for questions and negatives.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She starts work at nine every 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your weekly routine.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07 • VERBS AND TENSE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Present continuous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am/is/are + verb-ing for actions happening now or around now.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It can describe temporary situations and arranged changes.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Some state verbs are not usually continuous in common meanings.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I’m preparing for an interview this week.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what people are doing in an imagined scene.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07 • VERBS AND TENSE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Past simple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it for completed past actions.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Regular verbs often end in -ed; irregular verbs need practice.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did + base verb in questions and negatives.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We visited the museum last Sunday.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Tell a short story about yesterday.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07 • VERBS AND TENSE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Past continuous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was/were + verb-ing for an action in progress at a past time.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It often provides background for a shorter past action.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while and when to connect events clearly.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was cooking when the phone rang.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Complete: I was ___ when ___.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07 • VERBS AND TENSE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Future with will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will for predictions, offers and decisions made at the moment.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won’t for a negative future statement.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a time expression when it helps the listener.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I’ll send you the details this afternoon.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Make three predictions and two offers.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07 • VERBS AND TENSE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Going to and plans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be going to for intentions and evidence-based predictions.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present continuous for many fixed arrangements.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the form that best expresses your meaning.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I’m going to practise tonight; I’m meeting my tutor tomorrow.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one intention and one arrangement.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07 • VERBS AND TENSE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Present perfect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have/has + past participle for experience or a past event linked to now.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ever/never for life experience and already/yet for completion.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for/since to describe duration continuing to now.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have worked here for two years.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a partner about experiences, without pressuring personal disclosure.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07 • VERBS AND TENSE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Tense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tense based on time and meaning, not only time words.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tense consistent unless the timeline changes.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the main verb and any auxiliary.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usually walk, but yesterday I took a bus.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Correct a short paragraph with mixed tense errors.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08 • Modals and polite language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Module goal: understand the core idea and use it in a real conversation.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Teacher tip: model the language, check understanding, then let learners practise.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Student habit: say the example aloud and personalise it with true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Small steps, repeated consistently, build lasting speaking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learners what they already know about this topic.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08 • MODALS AND POLITE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Can and could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Can expresses ability or permission in many contexts.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Could can sound more tentative or polite in requests.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the base verb after a modal.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Could you help me with this form?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Turn direct requests into polite requests.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08 • MODALS AND POLITE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May and might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May and might express possibility.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May is also used for formal permission.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treating a possibility as a certainty.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It might rain later, so I’ll carry an umbrella.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three possible explanations for a situation.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08 • MODALS AND POLITE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Should and ought to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should for advice or a recommendation.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shouldn’t for advice against an action.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reason when advice could be misunderstood.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You should save a copy before editing the file.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practical advice about study habits.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08 • MODALS AND POLITE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Must and have to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must/have to for strong obligation or necessity.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mustn’t for prohibition; don’t have to means no obligation.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Context determines how strong the message sounds.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You must wear a helmet; you don’t have to bring lunch.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the difference between mustn’t and don’t have 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08 • MODALS AND POLITE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Would like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would like for polite wants and offers.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Follow would like with a noun or to + base verb.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‘Would you like…?’ to make an offer.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I’d like to book a table for two.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offers and polite responses.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08 • MODALS AND POLITE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Polite disagreement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Acknowledge the other view before giving yours.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phrases such as ‘I see your point, but…’.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Disagree with the idea, not the person.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see your point, but I think we should check the figures first.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Role-play a respectful disagreement.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09 • Adjectives, adverbs and comparison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Module goal: understand the core idea and use it in a real conversation.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Teacher tip: model the language, check understanding, then let learners practise.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Student habit: say the example aloud and personalise it with true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Small steps, repeated consistently, build lasting speaking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learners what they already know about this topic.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09 • ADJECTIVES, ADVERBS AND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Describing people and things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specific adjectives instead of repeating ‘good’ or ‘bad’.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examples to support a description.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making assumptions about people from appearance alone.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instructions are clear, concise and practical.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an object using five precise adjectives.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09 • ADJECTIVES, ADVERBS AND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Adverbs of frequency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Always, usually, often, sometimes, rarely and never show frequency.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They usually come before a main verb but after be.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a frequency that honestly matches the habit.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usually review my notes after class.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three habits.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09 • ADJECTIVES, ADVERBS AND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Comparatives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-er with many short adjectives and more with many longer adjectives.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than to compare two items.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Learn irregular forms such as better and worse.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This route is shorter than the other 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Compare two study methods.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09 • ADJECTIVES, ADVERBS AND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Superlatives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the + -est with many short adjectives and the most with many longer ones.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in/of phrases to identify the group.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irregular forms such as best and worst.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That was the most useful lesson of the week.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Name your most useful learning tool and explain why.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09 • ADJECTIVES, ADVERBS AND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Too, enough, so and such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Too often means more than is desirable.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Enough means sufficient and follows adjectives but precedes many nouns.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So/such add emphasis; choose the pattern that fits the noun phrase.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room is too noisy to record; it isn’t quiet enough.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Complete sentences about a classroom.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10 • Prepositions and connectors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Module goal: understand the core idea and use it in a real conversation.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Teacher tip: model the language, check understanding, then let learners practise.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Student habit: say the example aloud and personalise it with true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Small steps, repeated consistently, build lasting speaking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learners what they already know about this topic.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10 • PREPOSITIONS AND CONNECTORS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Place prepositions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In describes an enclosed area; on often describes a surface.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At can identify a point or specific location.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Learn common phrases as chunks rather than translating word by word.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charger is on the desk beside the laptop.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where five objects are.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10 • PREPOSITIONS AND CONNECTORS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Time prepositions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at for clock times, on for days/dates and in for months/years/parts of the day.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‘at night’ but often ‘in the morning’.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Many expressions are fixed and should be learned together.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meeting is on Monday at 10 a.m.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a weekly schedule.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10 • PREPOSITIONS AND CONNECTORS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Movement and direction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To marks a destination; from marks an origin.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Into and out of describe movement across a boundary.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Across, along, past and through describe different paths.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Walk past the bank and turn left at the signal.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directions from your classroom to the entrance.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10 • PREPOSITIONS AND CONNECTORS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And, but, because, so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And adds information; but shows contrast.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Because introduces a reason; so introduces a result.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joining too many complete ideas in one sentence.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was tired, so I went to bed early.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Join six pairs of short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10 • PREPOSITIONS AND CONNECTORS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Although, however, therefore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Although introduces contrast within a sentence.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However links contrasting ideas between clauses or sentences.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Therefore signals a logical result; use it only when the result follows.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Although it was raining, we continued the walk.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a decision using one connector.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11 • Everyday conversation functions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Module goal: understand the core idea and use it in a real conversation.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Teacher tip: model the language, check understanding, then let learners practise.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Student habit: say the example aloud and personalise it with true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Small steps, repeated consistently, build lasting speaking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learners what they already know about this topic.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11 • EVERYDAY CONVERSATION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Asking for help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the problem briefly.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for a specific action.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Thank the person and confirm the next step.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Could you show me how to print this page?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Role-play asking for help in a library or office.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11 • EVERYDAY CONVERSATION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Making and responding to requests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could/would for polite requests.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Respond clearly: accept, decline or offer an alternative.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Do not promise something you cannot deliver.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can help after lunch; would that work for you?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three requests and three responses.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11 • EVERYDAY CONVERSATION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Invitations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what the activity is and when it will happen.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Accept warmly or decline politely.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Offer another date when you genuinely want to meet.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Would you like to join us for coffee on Saturday?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Invite a partner to three different activities.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11 • EVERYDAY CONVERSATION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Apologies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Acknowledge what happened.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Take responsibility when appropriate.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how you will prevent a repeat, without making excuses.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I’m sorry I sent the wrong file. I’ll send the corrected version now.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Role-play a late arrival and a work mistake.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11 • EVERYDAY CONVERSATION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Thanking and appreciation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Be specific about what you appreciate.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a level of formality that fits the relationship.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Acknowledge help without exaggeration.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Thank you for explaining the process so patiently.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Thank a partner for a specific contribution.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11 • EVERYDAY CONVERSATION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Clarifying and checking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which part needs clarification.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Paraphrase what you heard.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Invite correction before acting on important information.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So the deadline is Thursday, not Tuesday—is that right?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checking a time, name and task.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11 • EVERYDAY CONVERSATION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Giving opinions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Signal your view with ‘I think’ or ‘In my view’.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one reason or example.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Recognise that others may see the issue differently.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In my view, daily practice is more useful than cramming.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Share an opinion and support it with one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12 • Listening and conversation skills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Module goal: understand the core idea and use it in a real conversation.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Teacher tip: model the language, check understanding, then let learners practise.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Student habit: say the example aloud and personalise it with true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Small steps, repeated consistently, build lasting speaking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learners what they already know about this topic.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12 • LISTENING AND CONVERSATION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Active listening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the speaker time to finish.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Show attention with brief verbal responses when appropriate.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Summarise the main point before giving advice.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So you’re saying the main problem is the timing—is that right?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Listen to a partner for one minute, then summarise.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12 • LISTENING AND CONVERSATION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Open and closed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Closed questions often have short answers.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Open questions invite detail and explanation.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 follow-up question based on what you hear.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What was the most interesting part of your day?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Turn five closed questions into open questions.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12 • LISTENING AND CONVERSATION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Follow-up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about an example, reason, feeling or next step.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the question connected to the speaker’s answer.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asking several questions at once.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What happened next?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Keep a conversation going for six turns.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12 • LISTENING AND CONVERSATION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Paraphrasing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Restate the idea using your own words.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the original meaning; do not add unsupported details.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paraphrasing to confirm understanding.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If I understand correctly, you need the draft by Friday.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Paraphrase three short statements.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12 • LISTENING AND CONVERSATION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Handling fast speech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for a slower pace or repetition politely.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Listen for stressed words and key nouns.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names, dates and numbers rather than guessing.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Could you speak a little more slowly, please?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with a partner who varies speaking speed.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13 • Reading aloud and storytelling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Module goal: understand the core idea and use it in a real conversation.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Teacher tip: model the language, check understanding, then let learners practise.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Student habit: say the example aloud and personalise it with true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Small steps, repeated consistently, build lasting speaking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learners what they already know about this topic.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13 • READING ALOUD AND STORYTELLING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Reading aloud naturally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Read for meaning, not one word at a time.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Mark pauses at phrase boundaries.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Emphasise key words while keeping the rest smooth.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After the meeting, / we reviewed the plan / and agreed on the next steps.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Read a short paragraph twice, improving rhythm.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13 • READING ALOUD AND STORYTELLING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Story 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 simple story has a setting, event and outcome.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sequence words to guide the listener.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result, feeling or lesson.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At first I was nervous; then I asked a question, and the discussion became easier.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Tell a story in three parts.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13 • READING ALOUD AND STORYTELLING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Past-tense storytelling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past simple for completed events.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past continuous for background actions.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past perfect only when an earlier past event needs to be clear.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was waiting for the bus when I realised I had left my wallet at home.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Tell a short story using when and while.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13 • READING ALOUD AND STORYTELLING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Describing an experience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enough context for the listener to follow.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Include one or two meaningful details.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what you learned or would do differently.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most useful part was working with people from different teams.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one minute about a learning experience.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13 • READING ALOUD AND STORYTELLING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Summarising a story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Identify the main character or topic.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only the key events and outcome.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retelling every small detail.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story is about a student who practises daily and gradually gains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Summarise a film or story in four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14 • Workplace and business English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Module goal: understand the core idea and use it in a real conversation.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Teacher tip: model the language, check understanding, then let learners practise.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Student habit: say the example aloud and personalise it with true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Small steps, repeated consistently, build lasting speaking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learners what they already know about this topic.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14 • WORKPLACE AND BUSINESS ENGLISH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Professional self-introduction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your name and role or area of expertise.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Mention one relevant strength or responsibility.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Adapt detail to the audience and time available.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I’m a software architect focused on cloud-native systems and microservices.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a 30-second and a 60-second introduction.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14 • WORKPLACE AND BUSINESS ENGLISH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Meetings: joining in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 short phrase to enter the discussion politely.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Connect your point to the topic.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the first contribution concise.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Could I add one point about the delivery timeline?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entering a group discussion.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14 • WORKPLACE AND BUSINESS ENGLISH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Meetings: clarifying actions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the task, owner and deadline.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important decisions in plain language.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who will communicate the outcome.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Just to confirm, I’ll share the draft by Thursday afternoon.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Summarise a mock meeting in three bullets.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14 • WORKPLACE AND BUSINESS ENGLISH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Explaining a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Describe the observed issue before guessing the cause.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impact and what has already been checked.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the help or decision you need.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service is responding slowly; we have checked the logs and need support reviewing database latency.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a 45-second issue update.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14 • WORKPLACE AND BUSINESS ENGLISH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Presenting a recommendation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the recommendation first.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Support it with evidence, benefits and trade-offs.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End with a clear decision or next step.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recommend a small pilot so we can validate performance before wider rollout.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Present a recommendation in one minute.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14 • WORKPLACE AND BUSINESS ENGLISH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Telephone and video calls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Identify yourself and confirm the person you need.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 clearly and repeat critical details.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 backup channel if audio quality prevents understanding.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Hello, this is Arun from the delivery team. Is now a good time to talk?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Role-play a call with a poor connection.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14 • WORKPLACE AND BUSINESS ENGLISH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Professional email language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 clear subject and direct opening.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one main purpose per paragraph.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the requested action and deadline easy to find.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Could you please review the attached draft by Wednesday?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Turn a vague request into a clear spoken request.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14 • WORKPLACE AND BUSINESS ENGLISH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Giving status updates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status: on track, at risk or delayed.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evidence, not vague reassurance.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Name the next action and when you will update people.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task is on track; testing is complete, and I’ll share results tomorrow.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a 30-second status update.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15 • Interviews and career communication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Module goal: understand the core idea and use it in a real conversation.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Teacher tip: model the language, check understanding, then let learners practise.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Student habit: say the example aloud and personalise it with true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Small steps, repeated consistently, build lasting speaking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learners what they already know about this topic.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15 • INTERVIEWS AND CAREER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Tell me about yourself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Present your current professional identity.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two relevant skills or achievements.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Connect your background to the role.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I’m a Java developer with strong experience in Spring Boot and distributed systems.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a 60-second answer.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15 • INTERVIEWS AND CAREER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Explaining achievements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Describe the situation or challenge briefly.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your action and the result.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accurate numbers only when you can support them.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improved the deployment process by automating repeatable checks.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Answer using Situation–Action–Result.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15 • INTERVIEWS AND CAREER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Strengths and development areas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a strength relevant to the role.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Support it with a real example.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Describe a development area and the steps you are taking.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I’m strong at debugging complex issues, and I’m improving how I communicate technical trade-offs.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a balanced answer.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15 • INTERVIEWS AND CAREER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Explaining a career change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the reason in a positive, honest way.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Connect previous experience to the new direction.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what preparation you have done.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I’m moving toward cloud architecture because it builds on my experience designing distributed systems.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a concise career story.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15 • INTERVIEWS AND CAREER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Questions to ask an interviewer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about responsibilities, team practices or success measures.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questions already answered clearly during the interview.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Prepare more questions than you expect to use.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What would success look like in the first six months?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Prepare five questions for a target role.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15 • INTERVIEWS AND CAREER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Handling a difficult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Pause briefly and organise your answer.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Be honest if you do not know something.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how you would find the answer or approach the problem.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haven’t used that tool directly, but I would start by reviewing its documentation and testing a small example.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answering an unfamiliar question calmly.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16 • Public speaking and presentations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Module goal: understand the core idea and use it in a real conversation.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Teacher tip: model the language, check understanding, then let learners practise.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Student habit: say the example aloud and personalise it with true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Small steps, repeated consistently, build lasting speaking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learners what they already know about this topic.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16 • PUBLIC SPEAKING AND PRESENTATIONS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Planning a short talk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one audience and one main message.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Organise the talk into opening, key points and conclusion.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examples that support the main message.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Today I’ll explain three ways to make daily English practice easier.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Outline a two-minute talk.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16 • PUBLIC SPEAKING AND PRESENTATIONS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Opening a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Welcome the audience and introduce the topic.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why the topic matters.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Preview the key points without overloading the opening.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Good morning. Today I’ll share three practical ways to improve team communication.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Deliver a 20-second opening.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16 • PUBLIC SPEAKING AND PRESENTATIONS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Transitions and signposting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Tell listeners when you move to a new point.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phrases such as ‘first’, ‘next’ and ‘to summarise’.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repeating the same transition in every sentence.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Let’s move to the second point: how we can measure progress.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Add transitions to a short talk.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16 • PUBLIC SPEAKING AND PRESENTATIONS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Using slides effectively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slides to support speech, not replace it.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each slide focused on one idea.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Face the audience and explain the visual in your own words.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This chart shows the trend; the key point is that response time fell after the change.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a simple chart without reading every label.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16 • PUBLIC SPEAKING AND PRESENTATIONS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Managing nerves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Breathe slowly and prepare the first sentence.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notes with keywords rather than full paragraphs.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Focus on helping the audience understand one idea at a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I’ll take a breath, look at my notes, and begin with the main point.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Deliver a short talk twice and compare confidence.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16 • PUBLIC SPEAKING AND PRESENTATIONS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Handling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Listen to the full question before responding.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or clarify the question if needed.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Answer directly; say when you need to verify a detail.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That’s a useful question. I’ll confirm the exact figure and follow up after the session.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Answer three audience questions.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17 • Common errors and repair strategies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Module goal: understand the core idea and use it in a real conversation.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Teacher tip: model the language, check understanding, then let learners practise.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Student habit: say the example aloud and personalise it with true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Small steps, repeated consistently, build lasting speaking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learners what they already know about this topic.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17 • COMMON ERRORS AND REPAIR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Subject–verb agreement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Singular third-person subjects take -s/-es in present simple.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Do not let a nearby plural noun distract you from the true subject.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long sentences by locating the main subject and verb.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list of tasks is ready.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Correct five sentences with agreement errors.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17 • COMMON ERRORS AND REPAIR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Word order mistakes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English usually follows subject–verb–object order.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Adverbs and time expressions have common positions.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Questions often require an auxiliary before the subject.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Where do you work? not ‘Where you work?’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Reorder five mixed-up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17 • COMMON ERRORS AND REPAIR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Articles and prepositions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Learn common combinations in context.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Review errors that recur in your own speech.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 dictionary example when unsure about a phrase.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I’m interested in learning English.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Correct five common learner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17 • COMMON ERRORS AND REPAIR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False friends and direct translation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 word in one language may not map neatly to another.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Learn a whole phrase with an example sentence.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When uncertain, explain the idea in simpler English.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discussed the issue with my colleague.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Replace a literal translation with a natural phrase.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17 • COMMON ERRORS AND REPAIR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Repairing a sentence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Notice when a listener looks confused or asks a question.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key idea using simpler words.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Correct yourself briefly and continue without apologising repeatedly.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Let me rephrase that: the meeting has moved to Thursday.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repairing three unclear statements.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18 • Fluency, vocabulary and idiomatic language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Module goal: understand the core idea and use it in a real conversation.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Teacher tip: model the language, check understanding, then let learners practise.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Student habit: say the example aloud and personalise it with true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Small steps, repeated consistently, build lasting speaking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learners what they already know about this topic.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18 • FLUENCY, VOCABULARY AND IDIOMATIC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Building useful vocabulary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Learn words by topic and situation.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Record meaning, collocation and an example sentence.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Review words after one day, one week and one month.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make a decision; reach an agreement; meet a deadline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Build a personal vocabulary page with ten phrases.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18 • FLUENCY, VOCABULARY AND IDIOMATIC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Collocations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Some words naturally occur together.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Learning collocations makes speech sound more natural.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 learner dictionary or trusted corpus examples to check usage.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heavy rain, strong coffee, take a break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Match verbs with common noun partners.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18 • FLUENCY, VOCABULARY AND IDIOMATIC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Phrasal verbs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 phrasal verb combines a verb with a particle.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Some meanings are literal; others are idiomatic.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Learn one meaning at a time and practise it in context.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Please fill in this form before the appointment.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three phrasal verbs in a short dialogue.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18 • FLUENCY, VOCABULARY AND IDIOMATIC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Common idioms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Idioms are informal or figurative and depend on context.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using an idiom if you are unsure of its meaning or tone.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Plain language is often best in formal situations.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Let’s get the ball rolling means let’s begin.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an idiom and give a suitable situation.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18 • FLUENCY, VOCABULARY AND IDIOMATIC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Fillers and pauses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 short pause is often better than many fillers.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phrases such as ‘Let me think’ when you need time.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Plan your next idea while the other person finishes.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That’s an interesting question. Let me think for a moment.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one minute while limiting filler words.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18 • FLUENCY, VOCABULARY AND IDIOMATIC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through chunks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Practise common sentence starters as complete chunks.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Reuse a chunk with different topics and details.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Build speed gradually while keeping pronunciation clear.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One thing I’ve noticed is…; The main reason is…; For example…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three sentence starters in one answer.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19 • Real-life role-plays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Module goal: understand the core idea and use it in a real conversation.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Teacher tip: model the language, check understanding, then let learners practise.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Student habit: say the example aloud and personalise it with true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Small steps, repeated consistently, build lasting speaking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learners what they already know about this topic.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19 • REAL-LIFE ROLE-PLAYS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At a shop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Greet the shop assistant and explain what you need.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about price, size, colour or return conditions.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the item and payment before finishing.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I’m looking for a comfortable pair of walking shoes. Do you have these in size eight?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Perform a customer–assistant dialogue.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19 • REAL-LIFE ROLE-PLAYS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At a restaurant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for a table and read the menu.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politely about ingredients or options.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the order and ask for the bill when ready.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Could we have the menu, please? I’d like the vegetable pulao.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Role-play guest, server and observer.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19 • REAL-LIFE ROLE-PLAYS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At a railway station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about platform, departure and destination.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the train number and time.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staff to repeat information if needed.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Could you confirm the platform for the 6:30 train to Mumbai?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with a timetable invented for the exercise.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19 • REAL-LIFE ROLE-PLAYS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At a hotel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the booking name and reservation details.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about check-in, facilities or a problem.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Describe a problem clearly and request a practical solution.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have a reservation under Rao for two nights.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Role-play check-in and a room issue.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19 • REAL-LIFE ROLE-PLAYS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At a doctor’s office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reason for the appointment.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Describe symptoms and timing accurately.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for instructions to be repeated if unclear.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pain started two days ago and gets worse when I swallow.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a neutral appointment dialogue; avoid medical advice.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19 • REAL-LIFE ROLE-PLAYS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Meeting a new colleague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Introduce yourself and explain your role.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about the colleague’s work and current priorities.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Find a natural shared topic and close politely.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What kind of projects are you working on at the moment?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Role-play a first-day workplace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19 • REAL-LIFE ROLE-PLAYS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Solving a misunderstanding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Describe the mismatch without blaming the other person.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what each person understood.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Agree on the next step and repeat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may have misunderstood the deadline. Can we confirm it together?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Perform the scene twice: first poorly, then constructively.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20 • Review, assessment and personal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Module goal: understand the core idea and use it in a real conversation.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Teacher tip: model the language, check understanding, then let learners practise.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Student habit: say the example aloud and personalise it with true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Small steps, repeated consistently, build lasting speaking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learners what they already know about this topic.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20 • REVIEW, ASSESSMENT AND PERSONAL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Grammar review challenge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Review sentence structure, articles, pronouns and tense choices.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why an answer is correct, not only which answer is correct.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mistakes to choose the next practice topic.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have lived here since 2022.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Correct a short mixed-grammar paragraph.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20 • REVIEW, ASSESSMENT AND PERSONAL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Vocabulary review challenge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a precise word for the intended meaning.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the word in a complete sentence.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whether the word is appropriate for the situation.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appreciate your help with the presentation.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ten target words in a short story.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20 • REVIEW, ASSESSMENT AND PERSONAL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Speaking assessment rubric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Clarity: can listeners understand the message?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Organisation: does the answer have a clear beginning, middle and end?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Language: are grammar and vocabulary suitable for the task?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Delivery: are pace, volume and pauses effective?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My strongest area is ___. My next improvement goal is ___.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peer feedback using one strength and one next step.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20 • REVIEW, ASSESSMENT AND PERSONAL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One-minute speaking test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a familiar topic and prepare three keywords.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 for one minute without reading a paragraph.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Listen to the recording and identify one improvement.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Topic: a skill I want to learn and why.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Record, review and repeat the test.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20 • REVIEW, ASSESSMENT AND PERSONAL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Two-minute speaking test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Open with your main point.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Support it with two details or examples.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Close by summarising what matters most.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Topic: a change that would improve my community.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Deliver a two-minute talk.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20 • REVIEW, ASSESSMENT AND PERSONAL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Personal learning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Set a realistic weekly schedule.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Mix speaking, listening, vocabulary and feedback.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Review progress weekly and adjust the plan.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will practise for 15 minutes each day and record one answer every Friday.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Write a four-week plan.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1: Question formation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Turn statements into yes/no questions.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wh-question for each answer.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auxiliary placement and word order.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She works in Pune. → Does she work in Pune?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Write six questions about a fictional person.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1: Tense contrast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a tense that matches the timeline.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time markers when they help.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whether the action is finished, ongoing or linked to now.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worked there in 2022. I have worked here since 2024.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two tenses differ.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1: Articles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a/an with a non-specific singular countable noun.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the for an identifiable item.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no article for many general plural or uncountable nouns.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bought a book. The book is about travel.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Fill in the missing articles in ten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1: Preposition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Select a preposition based on meaning and common usage.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Memorise frequent phrase combinations.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Read the whole sentence aloud after correction.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meeting starts at noon on Friday.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Complete ten sentences with in/on/at/to/from.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1: Polite requests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could, would or may when appropriate.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the requested action specific.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Respond with a clear yes, no or alternative.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Would you mind sending me the updated file?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Transform five commands into polite requests.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1: Everyday dialogue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Open with a greeting and context.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and answer at least three connected questions.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Close the conversation naturally.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Hello, are you waiting for the bus to the city centre?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Perform a six-turn dialogue.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1: Pronunciation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words with a target sound.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them slowly, then at natural speed.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the words in meaningful sentences.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ship, sheep, sit, seat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Create two sentences using the target words.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1: Word stress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Listen to a model pronunciation.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Mark the strongest syllable.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Practise the word inside a sentence.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important, comfortable, information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five words and record yourself.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1: Listening response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Identify the main point before the details.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for clarification if a detail is unclear.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Summarise the message in your own words.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So the appointment is at 4 p.m. on Tuesday.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Partner A gives instructions; Partner B summarises.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1: Storytelling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 clear setting and event.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one detail that helps the listener imagine the scene.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End with the result or lesson.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Last week, I missed my bus, so I took another route and arrived just in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Tell a story in 45 seconds.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1: Workplace update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progress and any blocker.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impact briefly.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a next step and time for the next update.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Testing is complete; we found one issue and will retest after the fix.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a concise project update.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1: Interview answer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Answer the question directly first.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one specific example.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by linking the example to the role.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work well under pressure because I prioritise tasks and communicate risks early.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Answer three common interview questions.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1: Opinion and evidence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your view clearly.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Support it with a reason and example.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Acknowledge a reasonable alternative.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prefer small practice groups because everyone gets more speaking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a 45-second opinion.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1: Paraphrase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the original meaning.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simpler words or a different sentence structure.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that no important detail has been lost.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meeting has been postponed. → The meeting will happen later than planned.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Paraphrase five short announcements.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1: Error correction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Find the main subject and verb.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tense, agreement, article and preposition.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Read the corrected sentence aloud.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She goes to work by bus.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Correct ten teacher-provided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1: Vocabulary in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Guess meaning from the sentence context.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the meaning before using a new word.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a personal example sentence.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instructions were concise, so the task was easy to understand.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five target words in a mini-story.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1: Conversation repair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the speaker to repeat or rephrase.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what you understood so far.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the corrected meaning.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Sorry, I missed the last part. Could you say it again?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three misunderstandings.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1: Presentation rehearsal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Open with the topic and purpose.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signposting between points.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Close with the main message and next step.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To summarise, the best next step is to test the idea with a small group.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Deliver a one-minute mini-presentation.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1: Telephone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your name and purpose clearly.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names, numbers and dates.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Summarise agreed actions before ending the call.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I’m calling to confirm our appointment for Thursday at 11.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Role-play a scheduling call.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1: Review and reflection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Identify one improvement since the last practice.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one repeated error to work 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Set a specific next practice target.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Next week, I will focus on word stress and clear endings.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Complete a learning reflection.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2: Question formation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Turn statements into yes/no questions.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wh-question for each answer.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auxiliary placement and word order.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She works in Pune. → Does she work in Pune?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Write six questions about a fictional person.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2: Tense contrast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a tense that matches the timeline.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time markers when they help.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whether the action is finished, ongoing or linked to now.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worked there in 2022. I have worked here since 2024.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two tenses differ.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2: Articles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a/an with a non-specific singular countable noun.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the for an identifiable item.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no article for many general plural or uncountable nouns.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bought a book. The book is about travel.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Fill in the missing articles in ten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2: Preposition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Select a preposition based on meaning and common usage.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Memorise frequent phrase combinations.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Read the whole sentence aloud after correction.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meeting starts at noon on Friday.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Complete ten sentences with in/on/at/to/from.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2: Polite requests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could, would or may when appropriate.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the requested action specific.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Respond with a clear yes, no or alternative.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Would you mind sending me the updated file?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Transform five commands into polite requests.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2: Everyday dialogue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Open with a greeting and context.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and answer at least three connected questions.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Close the conversation naturally.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Hello, are you waiting for the bus to the city centre?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Perform a six-turn dialogue.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2: Pronunciation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words with a target sound.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them slowly, then at natural speed.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the words in meaningful sentences.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ship, sheep, sit, seat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Create two sentences using the target words.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2: Word stress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Listen to a model pronunciation.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Mark the strongest syllable.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Practise the word inside a sentence.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important, comfortable, information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five words and record yourself.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2: Listening response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Identify the main point before the details.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for clarification if a detail is unclear.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Summarise the message in your own words.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So the appointment is at 4 p.m. on Tuesday.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Partner A gives instructions; Partner B summarises.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2: Storytelling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 clear setting and event.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one detail that helps the listener imagine the scene.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End with the result or lesson.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Last week, I missed my bus, so I took another route and arrived just in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Tell a story in 45 seconds.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2: Workplace update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progress and any blocker.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impact briefly.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a next step and time for the next update.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Testing is complete; we found one issue and will retest after the fix.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a concise project update.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2: Interview answer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Answer the question directly first.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one specific example.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by linking the example to the role.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work well under pressure because I prioritise tasks and communicate risks early.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Answer three common interview questions.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2: Opinion and evidence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your view clearly.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Support it with a reason and example.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Acknowledge a reasonable alternative.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prefer small practice groups because everyone gets more speaking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a 45-second opinion.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2: Paraphrase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the original meaning.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simpler words or a different sentence structure.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that no important detail has been lost.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meeting has been postponed. → The meeting will happen later than planned.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Paraphrase five short announcements.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2: Error correction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Find the main subject and verb.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tense, agreement, article and preposition.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Read the corrected sentence aloud.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She goes to work by bus.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Correct ten teacher-provided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2: Vocabulary in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Guess meaning from the sentence context.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the meaning before using a new word.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a personal example sentence.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instructions were concise, so the task was easy to understand.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five target words in a mini-story.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2: Conversation repair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the speaker to repeat or rephrase.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what you understood so far.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the corrected meaning.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Sorry, I missed the last part. Could you say it again?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three misunderstandings.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2: Presentation rehearsal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Open with the topic and purpose.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signposting between points.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Close with the main message and next step.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To summarise, the best next step is to test the idea with a small group.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Deliver a one-minute mini-presentation.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2: Telephone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your name and purpose clearly.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names, numbers and dates.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Summarise agreed actions before ending the call.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I’m calling to confirm our appointment for Thursday at 11.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Role-play a scheduling call.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2: Review and reflection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Identify one improvement since the last practice.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one repeated error to work 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Set a specific next practice target.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Next week, I will focus on word stress and clear endings.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Complete a learning reflection.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3: Question formation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Turn statements into yes/no questions.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wh-question for each answer.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auxiliary placement and word order.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She works in Pune. → Does she work in Pune?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Write six questions about a fictional person.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3: Tense contrast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a tense that matches the timeline.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time markers when they help.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whether the action is finished, ongoing or linked to now.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worked there in 2022. I have worked here since 2024.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two tenses differ.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3: Articles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a/an with a non-specific singular countable noun.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the for an identifiable item.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no article for many general plural or uncountable nouns.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bought a book. The book is about travel.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Fill in the missing articles in ten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3: Preposition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Select a preposition based on meaning and common usage.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Memorise frequent phrase combinations.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Read the whole sentence aloud after correction.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meeting starts at noon on Friday.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Complete ten sentences with in/on/at/to/from.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3: Polite requests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could, would or may when appropriate.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the requested action specific.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Respond with a clear yes, no or alternative.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Would you mind sending me the updated file?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Transform five commands into polite requests.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3: Everyday dialogue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Open with a greeting and context.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and answer at least three connected questions.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Close the conversation naturally.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Hello, are you waiting for the bus to the city centre?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Perform a six-turn dialogue.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3: Pronunciation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words with a target sound.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them slowly, then at natural speed.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the words in meaningful sentences.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ship, sheep, sit, seat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Create two sentences using the target words.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3: Word stress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Listen to a model pronunciation.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Mark the strongest syllable.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Practise the word inside a sentence.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important, comfortable, information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five words and record yourself.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3: Listening response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Identify the main point before the details.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for clarification if a detail is unclear.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Summarise the message in your own words.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So the appointment is at 4 p.m. on Tuesday.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Partner A gives instructions; Partner B summarises.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3: Storytelling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 clear setting and event.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one detail that helps the listener imagine the scene.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End with the result or lesson.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Last week, I missed my bus, so I took another route and arrived just in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Tell a story in 45 seconds.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3: Workplace update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progress and any blocker.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impact briefly.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a next step and time for the next update.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Testing is complete; we found one issue and will retest after the fix.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a concise project update.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3: Interview answer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Answer the question directly first.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one specific example.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by linking the example to the role.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work well under pressure because I prioritise tasks and communicate risks early.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Answer three common interview questions.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3: Opinion and evidence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your view clearly.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Support it with a reason and example.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Acknowledge a reasonable alternative.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prefer small practice groups because everyone gets more speaking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a 45-second opinion.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3: Paraphrase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the original meaning.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simpler words or a different sentence structure.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that no important detail has been lost.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meeting has been postponed. → The meeting will happen later than planned.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Paraphrase five short announcements.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3: Error correction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Find the main subject and verb.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tense, agreement, article and preposition.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Read the corrected sentence aloud.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She goes to work by bus.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Correct ten teacher-provided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3: Vocabulary in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Guess meaning from the sentence context.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the meaning before using a new word.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a personal example sentence.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instructions were concise, so the task was easy to understand.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five target words in a mini-story.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3: Conversation repair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the speaker to repeat or rephrase.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what you understood so far.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the corrected meaning.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Sorry, I missed the last part. Could you say it again?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three misunderstandings.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3: Presentation rehearsal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Open with the topic and purpose.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signposting between points.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Close with the main message and next step.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To summarise, the best next step is to test the idea with a small group.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Deliver a one-minute mini-presentation.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3: Telephone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your name and purpose clearly.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names, numbers and dates.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Summarise agreed actions before ending the call.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I’m calling to confirm our appointment for Thursday at 11.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Role-play a scheduling call.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3: Review and reflection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Identify one improvement since the last practice.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one repeated error to work 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Set a specific next practice target.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Next week, I will focus on word stress and clear endings.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Complete a learning reflection.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4: Question formation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Turn statements into yes/no questions.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wh-question for each answer.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auxiliary placement and word order.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She works in Pune. → Does she work in Pune?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Write six questions about a fictional person.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4: Tense contrast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a tense that matches the timeline.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time markers when they help.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whether the action is finished, ongoing or linked to now.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worked there in 2022. I have worked here since 2024.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two tenses differ.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4: Articles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a/an with a non-specific singular countable noun.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the for an identifiable item.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no article for many general plural or uncountable nouns.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bought a book. The book is about travel.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Fill in the missing articles in ten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4: Preposition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Select a preposition based on meaning and common usage.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Memorise frequent phrase combinations.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Read the whole sentence aloud after correction.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meeting starts at noon on Friday.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Complete ten sentences with in/on/at/to/from.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4: Polite requests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could, would or may when appropriate.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the requested action specific.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Respond with a clear yes, no or alternative.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Would you mind sending me the updated file?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Transform five commands into polite requests.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4: Everyday dialogue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Open with a greeting and context.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and answer at least three connected questions.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Close the conversation naturally.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Hello, are you waiting for the bus to the city centre?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Perform a six-turn dialogue.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4: Pronunciation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words with a target sound.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them slowly, then at natural speed.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the words in meaningful sentences.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ship, sheep, sit, seat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Create two sentences using the target words.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4: Word stress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Listen to a model pronunciation.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Mark the strongest syllable.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Practise the word inside a sentence.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important, comfortable, information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five words and record yourself.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4: Listening response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Identify the main point before the details.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for clarification if a detail is unclear.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Summarise the message in your own words.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So the appointment is at 4 p.m. on Tuesday.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Partner A gives instructions; Partner B summarises.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4: Storytelling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 clear setting and event.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one detail that helps the listener imagine the scene.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End with the result or lesson.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Last week, I missed my bus, so I took another route and arrived just in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Tell a story in 45 seconds.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4: Workplace update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progress and any blocker.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impact briefly.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a next step and time for the next update.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Testing is complete; we found one issue and will retest after the fix.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a concise project update.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4: Interview answer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Answer the question directly first.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one specific example.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by linking the example to the role.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work well under pressure because I prioritise tasks and communicate risks early.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Answer three common interview questions.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4: Opinion and evidence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your view clearly.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Support it with a reason and example.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Acknowledge a reasonable alternative.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prefer small practice groups because everyone gets more speaking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a 45-second opinion.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4: Paraphrase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the original meaning.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simpler words or a different sentence structure.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that no important detail has been lost.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meeting has been postponed. → The meeting will happen later than planned.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Paraphrase five short announcements.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4: Error correction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Find the main subject and verb.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tense, agreement, article and preposition.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Read the corrected sentence aloud.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She goes to work by bus.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Correct ten teacher-provided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4: Vocabulary in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Guess meaning from the sentence context.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the meaning before using a new word.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a personal example sentence.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instructions were concise, so the task was easy to understand.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five target words in a mini-story.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4: Conversation repair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the speaker to repeat or rephrase.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what you understood so far.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the corrected meaning.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Sorry, I missed the last part. Could you say it again?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three misunderstandings.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4: Presentation rehearsal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Open with the topic and purpose.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signposting between points.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Close with the main message and next step.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To summarise, the best next step is to test the idea with a small group.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Deliver a one-minute mini-presentation.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4: Telephone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your name and purpose clearly.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names, numbers and dates.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Summarise agreed actions before ending the call.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I’m calling to confirm our appointment for Thursday at 11.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Role-play a scheduling call.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4: Review and reflection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Identify one improvement since the last practice.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one repeated error to work 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Set a specific next practice target.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Next week, I will focus on word stress and clear endings.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Complete a learning reflection.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5: Question formation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Turn statements into yes/no questions.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wh-question for each answer.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auxiliary placement and word order.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She works in Pune. → Does she work in Pune?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Write six questions about a fictional person.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5: Tense contrast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a tense that matches the timeline.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time markers when they help.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whether the action is finished, ongoing or linked to now.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worked there in 2022. I have worked here since 2024.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two tenses differ.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5: Articles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a/an with a non-specific singular countable noun.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the for an identifiable item.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no article for many general plural or uncountable nouns.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bought a book. The book is about travel.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Fill in the missing articles in ten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5: Preposition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Select a preposition based on meaning and common usage.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Memorise frequent phrase combinations.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Read the whole sentence aloud after correction.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meeting starts at noon on Friday.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Complete ten sentences with in/on/at/to/from.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5: Polite requests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could, would or may when appropriate.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the requested action specific.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Respond with a clear yes, no or alternative.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Would you mind sending me the updated file?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Transform five commands into polite requests.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5: Everyday dialogue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Open with a greeting and context.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and answer at least three connected questions.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Close the conversation naturally.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Hello, are you waiting for the bus to the city centre?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Perform a six-turn dialogue.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5: Pronunciation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words with a target sound.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them slowly, then at natural speed.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the words in meaningful sentences.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ship, sheep, sit, seat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Create two sentences using the target words.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5: Word stress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Listen to a model pronunciation.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Mark the strongest syllable.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Practise the word inside a sentence.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important, comfortable, information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five words and record yourself.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5: Listening response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Identify the main point before the details.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for clarification if a detail is unclear.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Summarise the message in your own words.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So the appointment is at 4 p.m. on Tuesday.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Partner A gives instructions; Partner B summarises.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5: Storytelling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 clear setting and event.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one detail that helps the listener imagine the scene.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End with the result or lesson.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Last week, I missed my bus, so I took another route and arrived just in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Tell a story in 45 seconds.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5: Workplace update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progress and any blocker.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impact briefly.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a next step and time for the next update.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Testing is complete; we found one issue and will retest after the fix.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a concise project update.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5: Interview answer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Answer the question directly first.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one specific example.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by linking the example to the role.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work well under pressure because I prioritise tasks and communicate risks early.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Answer three common interview questions.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5: Opinion and evidence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your view clearly.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Support it with a reason and example.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Acknowledge a reasonable alternative.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prefer small practice groups because everyone gets more speaking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a 45-second opinion.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5: Paraphrase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the original meaning.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simpler words or a different sentence structure.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that no important detail has been lost.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meeting has been postponed. → The meeting will happen later than planned.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Paraphrase five short announcements.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5: Error correction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Find the main subject and verb.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tense, agreement, article and preposition.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Read the corrected sentence aloud.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She goes to work by bus.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Correct ten teacher-provided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5: Vocabulary in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Guess meaning from the sentence context.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the meaning before using a new word.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a personal example sentence.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instructions were concise, so the task was easy to understand.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five target words in a mini-story.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5: Conversation repair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the speaker to repeat or rephrase.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what you understood so far.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the corrected meaning.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Sorry, I missed the last part. Could you say it again?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three misunderstandings.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5: Presentation rehearsal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Open with the topic and purpose.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signposting between points.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Close with the main message and next step.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To summarise, the best next step is to test the idea with a small group.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Deliver a one-minute mini-presentation.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5: Telephone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your name and purpose clearly.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names, numbers and dates.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Summarise agreed actions before ending the call.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I’m calling to confirm our appointment for Thursday at 11.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Role-play a scheduling call.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5: Review and reflection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Identify one improvement since the last practice.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one repeated error to work 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Set a specific next practice target.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Next week, I will focus on word stress and clear endings.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Complete a learning reflection.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ROLE-PLAY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Role-play scenario 1: The late delivery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Situation: A package has not arrived when expected.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A: explain your need clearly and politely.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B: ask follow-up questions and suggest a practical next step.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Switch roles and repeat using different wording.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Useful opener: “Could we talk about…?” / “Let me explain the situation.”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the issue, ask for an update and agree on a next step.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ROLE-PLAY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Role-play scenario 2: The missed meeting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Situation: You misunderstood the meeting time.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A: explain your need clearly and politely.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B: ask follow-up questions and suggest a practical next step.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Switch roles and repeat using different wording.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Useful opener: “Could we talk about…?” / “Let me explain the situation.”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Apologise briefly, clarify the key decisions and ask about actions.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ROLE-PLAY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Role-play scenario 3: The new neighbour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Situation: You meet someone who has recently moved in.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A: explain your need clearly and politely.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B: ask follow-up questions and suggest a practical next step.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Switch roles and repeat using different wording.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Useful opener: “Could we talk about…?” / “Let me explain the situation.”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Introduce yourself, offer practical local information and ask a friendly question.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ROLE-PLAY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Role-play scenario 4: The team disagreement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Situation: Two people prefer different solutions.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A: explain your need clearly and politely.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B: ask follow-up questions and suggest a practical next step.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Switch roles and repeat using different wording.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Useful opener: “Could we talk about…?” / “Let me explain the situation.”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Summarise both options fairly and suggest a way to compare them.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ROLE-PLAY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Role-play scenario 5: The unclear instruction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Situation: A task description is confusing.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A: explain your need clearly and politely.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B: ask follow-up questions and suggest a practical next step.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Switch roles and repeat using different wording.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Useful opener: “Could we talk about…?” / “Let me explain the situation.”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focused questions and repeat your understanding.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ROLE-PLAY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Role-play scenario 6: The successful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Situation: Your team has completed a difficult task.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A: explain your need clearly and politely.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B: ask follow-up questions and suggest a practical next step.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Switch roles and repeat using different wording.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Useful opener: “Could we talk about…?” / “Let me explain the situation.”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the challenge, contribution and outcome.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ROLE-PLAY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Role-play scenario 7: The course enquiry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Situation: You want information about a training programme.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A: explain your need clearly and politely.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B: ask follow-up questions and suggest a practical next step.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Switch roles and repeat using different wording.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Useful opener: “Could we talk about…?” / “Let me explain the situation.”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about duration, schedule, topics and assessment.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ROLE-PLAY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Role-play scenario 8: The travel change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Situation: Your train platform or departure time has changed.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A: explain your need clearly and politely.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B: ask follow-up questions and suggest a practical next step.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Switch roles and repeat using different wording.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Useful opener: “Could we talk about…?” / “Let me explain the situation.”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staff to confirm the details and explain them to a companion.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ROLE-PLAY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Role-play scenario 9: The service complaint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Situation: A service did not meet expectations.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A: explain your need clearly and politely.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B: ask follow-up questions and suggest a practical next step.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Switch roles and repeat using different wording.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Useful opener: “Could we talk about…?” / “Let me explain the situation.”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facts calmly, explain the impact and request a reasonable resolution.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ROLE-PLAY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Role-play scenario 10: The helpful colleague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Situation: A colleague has supported you.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A: explain your need clearly and politely.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B: ask follow-up questions and suggest a practical next step.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Switch roles and repeat using different wording.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Useful opener: “Could we talk about…?” / “Let me explain the situation.”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Thank them specifically and explain how their help made a difference.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ROLE-PLAY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Role-play scenario 11: The interview introduction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Situation: You have one minute to introduce yourself.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A: explain your need clearly and politely.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B: ask follow-up questions and suggest a practical next step.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Switch roles and repeat using different wording.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Useful opener: “Could we talk about…?” / “Let me explain the situation.”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your current role, strengths and interest in the opportunity.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ROLE-PLAY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Role-play scenario 12: The project proposal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Situation: You want approval for a small pilot.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A: explain your need clearly and politely.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B: ask follow-up questions and suggest a practical next step.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Switch roles and repeat using different wording.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Useful opener: “Could we talk about…?” / “Let me explain the situation.”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State the problem, proposed action, benefit, risk and requested decision.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ROLE-PLAY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Role-play scenario 13: The community idea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Situation: You want to improve a shared space.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A: explain your need clearly and politely.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B: ask follow-up questions and suggest a practical next step.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Switch roles and repeat using different wording.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Useful opener: “Could we talk about…?” / “Let me explain the situation.”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the need, suggest a practical action and invite feedback.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ROLE-PLAY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Role-play scenario 14: The learning setback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Situation: You have not progressed as quickly as expected.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A: explain your need clearly and politely.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B: ask follow-up questions and suggest a practical next step.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Switch roles and repeat using different wording.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Useful opener: “Could we talk about…?” / “Let me explain the situation.”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what is difficult, what you have tried and what you will change.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ROLE-PLAY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Role-play scenario 15: The schedule conflict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Situation: Two important activities overlap.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A: explain your need clearly and politely.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B: ask follow-up questions and suggest a practical next step.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Switch roles and repeat using different wording.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Useful opener: “Could we talk about…?” / “Let me explain the situation.”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the conflict, offer options and confirm the final arrangement.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1: Choose the correct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Where you live?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Where do you live?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Where does you live?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B) Where do you live?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1: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The auxiliary ‘do’ comes before the subject in this present-simple question.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B) Where do you live?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1: Choose the correct article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I bought an umbrella.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I bought a umbrella.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I bought the umbrella (when no umbrella is known).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A) I bought an umbrella.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1: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‘an’ before a vowel sound in a non-specific singular countable noun.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A) I bought an umbrella.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1: Choose the correct tense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Yesterday I go to work.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Yesterday I went to work.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Yesterday I have go to 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B) Yesterday I went to 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1: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 finished event at a past time normally uses the past simple.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B) Yesterday I went to 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1: Choose the correct modal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Could you help me, please?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Could you helped me, please?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Could you to help me, please?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A) Could you help me, please?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1: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the base verb after a modal.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A) Could you help me, please?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1: Choose the correct preposition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The meeting is at Monday.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The meeting is on Monday.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The meeting is in Monday.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B) The meeting is on Monday.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1: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‘on’ with days.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B) The meeting is on Monday.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1: Choose the natural collocation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make a decision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do a decision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build a decision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A) make a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1: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‘Make a decision’ is the standard collocation.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A) make a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1: Choose the polite request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Send me that now.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Could you send that when you have a moment?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You send that.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B) Could you send that when you have a moment?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1: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The second option is polite and specific.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B) Could you send that when you have a moment?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1: Choose the correct agreement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The list are ready.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The list is ready.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The list be ready.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B) The list is ready.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1: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The main subject ‘list’ is singular.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B) The list is ready.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1: Choose the clear update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It is sort of maybe nearly done.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Testing is complete; I’ll share the results by 3 p.m.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Soon maybe.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B) Testing is complete; I’ll share the results by 3 p.m.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1: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 useful update gives status and a clear next step.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B) Testing is complete; I’ll share the results by 3 p.m.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1: Choose the best clarification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What?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I didn’t get anything.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Could you repeat the last date, please?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C) Could you repeat the last date, please?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1: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 specific, polite clarification helps avoid guessing.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C) Could you repeat the last date, please?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2: Choose the correct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Where you live?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Where do you live?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Where does you live?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B) Where do you live?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2: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The auxiliary ‘do’ comes before the subject in this present-simple question.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B) Where do you live?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2: Choose the correct article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I bought an umbrella.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I bought a umbrella.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I bought the umbrella (when no umbrella is known).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A) I bought an umbrella.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2: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‘an’ before a vowel sound in a non-specific singular countable noun.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A) I bought an umbrella.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2: Choose the correct tense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Yesterday I go to work.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Yesterday I went to work.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Yesterday I have go to 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B) Yesterday I went to 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2: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 finished event at a past time normally uses the past simple.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B) Yesterday I went to 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2: Choose the correct modal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Could you help me, please?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Could you helped me, please?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Could you to help me, please?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A) Could you help me, please?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2: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the base verb after a modal.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A) Could you help me, please?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2: Choose the correct preposition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The meeting is at Monday.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The meeting is on Monday.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The meeting is in Monday.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B) The meeting is on Monday.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2: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‘on’ with days.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B) The meeting is on Monday.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2: Choose the natural collocation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make a decision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do a decision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build a decision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A) make a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2: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‘Make a decision’ is the standard collocation.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A) make a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2: Choose the polite request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Send me that now.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Could you send that when you have a moment?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You send that.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B) Could you send that when you have a moment?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2: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The second option is polite and specific.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B) Could you send that when you have a moment?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2: Choose the correct agreement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The list are ready.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The list is ready.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The list be ready.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B) The list is ready.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2: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The main subject ‘list’ is singular.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B) The list is ready.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2: Choose the clear update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It is sort of maybe nearly done.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Testing is complete; I’ll share the results by 3 p.m.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Soon maybe.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B) Testing is complete; I’ll share the results by 3 p.m.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2: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 useful update gives status and a clear next step.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B) Testing is complete; I’ll share the results by 3 p.m.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2: Choose the best clarification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What?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I didn’t get anything.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Could you repeat the last date, please?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C) Could you repeat the last date, please?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2: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 specific, polite clarification helps avoid guessing.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C) Could you repeat the last date, please?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3: Choose the correct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Where you live?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Where do you live?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Where does you live?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B) Where do you live?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3: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The auxiliary ‘do’ comes before the subject in this present-simple question.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B) Where do you live?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3: Choose the correct article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I bought an umbrella.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I bought a umbrella.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I bought the umbrella (when no umbrella is known).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A) I bought an umbrella.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3: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‘an’ before a vowel sound in a non-specific singular countable noun.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A) I bought an umbrella.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3: Choose the correct tense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Yesterday I go to work.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Yesterday I went to work.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Yesterday I have go to 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B) Yesterday I went to 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3: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 finished event at a past time normally uses the past simple.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B) Yesterday I went to 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3: Choose the correct modal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Could you help me, please?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Could you helped me, please?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Could you to help me, please?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A) Could you help me, please?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3: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the base verb after a modal.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A) Could you help me, please?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3: Choose the correct preposition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The meeting is at Monday.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The meeting is on Monday.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The meeting is in Monday.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B) The meeting is on Monday.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3: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‘on’ with days.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B) The meeting is on Monday.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3: Choose the natural collocation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make a decision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do a decision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build a decision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A) make a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3: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‘Make a decision’ is the standard collocation.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A) make a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3: Choose the polite request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Send me that now.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Could you send that when you have a moment?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You send that.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B) Could you send that when you have a moment?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3: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The second option is polite and specific.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B) Could you send that when you have a moment?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3: Choose the correct agreement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The list are ready.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The list is ready.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The list be ready.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B) The list is ready.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3: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The main subject ‘list’ is singular.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B) The list is ready.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3: Choose the clear update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It is sort of maybe nearly done.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Testing is complete; I’ll share the results by 3 p.m.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Soon maybe.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B) Testing is complete; I’ll share the results by 3 p.m.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3: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 useful update gives status and a clear next step.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B) Testing is complete; I’ll share the results by 3 p.m.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3: Choose the best clarification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What?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I didn’t get anything.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Could you repeat the last date, please?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C) Could you repeat the last date, please?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3: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 specific, polite clarification helps avoid guessing.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C) Could you repeat the last date, please?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1: your morning routine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2: a place you enjoy visiting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3: a skill you want to learn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4: a person who taught you something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5: a useful 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6: a time you solved a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7: your favourite meal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8: a book or film you recommend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9: a change at work or school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10: a good habit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11: a challenge you overcame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12: a memorable journey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13: how to save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14: a local place visitors should see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15: a useful invention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16: a team achievement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17: your ideal learning environment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18: how you prepare for a busy 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19: a decision you made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20: a goal for next month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21: a misunderstanding you cleared up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22: a service you appreciate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23: a tradition in your community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24: a time you helped someone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25: a topic you would like to understand better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26: a job you find interesting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27: a useful lesson from a mistake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28: how technology changes communication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29: a plan for a weekend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30: a way to stay organised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31: a quality of a good leader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32: how to welcome a new colleague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33: a problem in your neighbourhood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34: a skill you use every 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35: a time you changed your mind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36: a useful piece of advice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37: how to make a good first impression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38: what makes a meeting productive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39: how to learn from feedback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40: a future innovation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COURSE COMPLETION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You have completed the core programme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practising aloud; passive reading alone will not build speaking fluency.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Review recordings weekly and focus on one improvement at a time.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English in real conversations whenever possible and ask for feedback.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Continue with authentic listening, reading and speaking materials at your level.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Fluency is built through repeated, meaningful use—not memorising every sentence.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Set your next 30-day speaking goal.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Describe a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Name the people, place and main action.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details about position, colour or mood.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present continuous for actions in progress.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In the foreground, a woman is speaking to a customer.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an imagined picture for 45 seconds.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Talk about weather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common weather expressions naturally.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Connect weather to plans or preferences.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Distinguish ‘It is raining’ from ‘It rains often here’.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It’s quite humid today, so I’ll carry some water.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today’s weather and its effect on your plans.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Talk about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Practise saying times clearly.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past/to for clock times if that is familiar to your learners.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appointments by repeating day and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call is at quarter past three on Wednesday.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and answer five appointment questions.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Numbers and spelling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 phone numbers in clear chunks.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Spell names slowly when requested.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important numbers to confirm accuracy.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Could you spell your surname for me, please?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Role-play giving a booking reference.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Describe a route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at a recognisable landmark.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sequence words and direction verbs.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the listener knows the destination.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Go straight ahead, cross the road, and turn left at the pharmacy.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directions to a nearby public place.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Make a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Suggest an activity and time.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about availability.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the agreed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Shall we meet at the café at 5 p.m. on Saturday?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Make a plan with a partner.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Change an appointment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conflict briefly.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Offer one or two alternatives.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the revised date and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I’m sorry, I can’t make Tuesday. Would Thursday morning work?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Role-play rescheduling an appointment.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Talk about preferences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what you prefer.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a reason or example.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‘would rather’ for a specific preference.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I’d rather travel early because the roads are quieter.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Compare two weekend activities.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Talk about abilities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can/can’t for present ability.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could for past general ability.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‘be able to’ when a different tense is needed.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can read English well, but I’m still improving my speaking.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three skills you have and one you are learning.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Make predictions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will for a prediction or belief.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might for a possibility.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evidence behind your prediction.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think online learning will become more interactive.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Make predictions about education in five years.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Describe a process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Name the purpose of the process.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first, next, then and finally.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Include a warning or quality check.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First, open the form; next, enter the details; finally, review before submitting.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how to complete a familiar task.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Give advice to a learner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what the learner finds difficult.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Offer one practical action at a time.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Encourage consistency rather than perfection.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Try speaking for one minute every day and recording your progress.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a partner two useful learning tips.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Ask for permission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may/can/could depending on formality.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the action you want to take.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Respond respectfully if permission is not granted.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May I leave a little early today?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asking permission in three settings.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Express uncertainty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‘I’m not sure’ when you do not know.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Separate facts from guesses.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how you will verify uncertain information.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I’m not certain about the time; I’ll check the calendar.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an uncertain situation responsibly.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Explain a cause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because to introduce a reason.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due to before a noun phrase in formal contexts.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presenting a guess as a confirmed cause.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event was delayed because the speaker’s flight was late.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reasons for three everyday situations.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Explain a result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so to connect a cause and result.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as a result for a clear consequence.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the relationship logical.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road was closed, so we took another route.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Connect five causes with sensible results.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Compare places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criteria such as cost, distance or atmosphere.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comparative forms correctly.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which place suits which purpose.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library is quieter than the café, but the café stays open later.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Compare two places you know.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Describe a memory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Set the time and place.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past simple for main events.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a feeling or lesson at the end.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remember my first presentation because the audience was very supportive.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one minute about a positive memory.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Describe a future ambition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the goal clearly.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why it matters.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Name a first step and a time frame.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want to become a more confident speaker, so I’ll practise presentations each week.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Share a realistic goal.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Talk about a routine change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Describe the old routine.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what changed and why.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whether the change helped.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used to study late, but now I practise for twenty minutes in the morning.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a habit you changed or might change.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Use used to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used to + base verb for past habits or states.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didn’t use to for the negative.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Do not confuse it with be used to + -ing.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used to be shy about speaking in groups.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Compare your past and present habits.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Use present perfect experience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have/has + past participle for life experience.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ever in many questions about experience.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past simple to add a finished-time detail.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Have you ever given a presentation? I gave my first one last year.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three experience questions.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Use since and for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since with a starting point.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for with a duration.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present perfect for a situation continuing to now.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have studied English for six months; I have studied with this group since July.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Make five duration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Use already, yet and still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Already often means sooner than expected or before now.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Yet commonly appears in questions and negatives.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Still shows that a situation continues.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Have you finished yet? I’m still working on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Create a short dialogue with all three words.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Use first conditional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if + present simple for a possible future condition.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will + base verb for the likely result.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 comma after an opening if-clause when appropriate.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If I practise every day, I will improve my fluency.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Make five realistic if-sentences.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Use second conditional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if + past form for an imagined or unlikely situation.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would + base verb for the result.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The past form here does not necessarily refer to past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If I had more free time, I would join a speaking club.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Discuss three imaginary situations.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Report what someone said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reporting verbs such as said, told and asked.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Adjust pronouns and time references when needed.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the original meaning accurate.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Maya said that she was busy.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Report three simple statements from a fictional dialogue.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Make indirect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 polite opening such as ‘Could you tell me…?’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statement word order after the opening.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adding do/does inside the embedded question.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Could you tell me where the station is?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Turn five direct questions into indirect questions.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Use relative clauses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who for people and which/that for things in many defining clauses.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relative clauses to add identifying information.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making a sentence so long that the listener loses the main idea.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colleague who helped me is joining the call.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Combine five pairs of short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Use passive voice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be + past participle when the action or result matters more than the actor.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the correct tense of be.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active voice when the actor is important and clear.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report was approved yesterday.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how a product or document is prepared.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Use reported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asked + if/whether for yes/no questions.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asked + question word for information questions.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statement word order in reported questions.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He asked whether I was available.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Report three questions from a role-play.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Describe feelings carefully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a precise feeling word.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what caused the feeling if you want to share it.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assuming how another person feels.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felt relieved when the task was finished.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a feeling using one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Set boundaries politely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what you can or cannot do clearly.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the explanation brief and respectful.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Offer an alternative only if you genuinely can.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can’t take another task today, but I can review it tomorrow.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a respectful boundary statement.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Handle interruptions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 calm phrase to regain the floor.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Acknowledge the other person if needed.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your point brief and connected to the discussion.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Let me finish this point, and then I’d like to hear your view.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Role-play a meeting with interruptions.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Ask for feedback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about a specific aspect of your performance.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Listen without immediately defending yourself.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one action based on the feedback.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Could you tell me one thing I could make clearer in my presentation?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a partner for feedback and summarise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Give constructive feedback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Describe an observable behaviour, not a personal trait.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impact briefly.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Suggest one actionable improvement.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Your examples were clear; adding a short summary at the end would make the talk stronger.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feedback using strength + next step.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Explain a technical idea simply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the purpose or problem.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an everyday comparison when helpful.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Define unavoidable technical terms.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An API is like a waiter: it carries a request to a service and brings back a response.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a technical concept to a non-technical listener.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Summarise a meeting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the decision or key outcome.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List action, owner and deadline.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Mention unresolved questions separately.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We agreed to test option B. Ravi owns the test, due Friday; cost is still under review.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a 30-second meeting summary.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Negotiate a deadline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current workload or blocker factually.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Suggest a realistic alternative date.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what can be delivered sooner if useful.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need one more day to test this safely. I can share the draft today and the final version tomorrow.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Role-play a deadline negotiation.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Respond to a complaint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Listen without interrupting.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Acknowledge the impact without making unsupported promises.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next step and expected update.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understand this has caused inconvenience. I’ll check the order status and update you by 2 p.m.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Role-play a customer complaint.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Explain a rule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the rule in plain language.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reason if it helps understanding.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an example of what to 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Please sign in at reception so the team knows who is in the building.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a classroom or workplace rule.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Discuss pros and cons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Name the benefits and drawbacks fairly.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 the one hand/on the other hand if useful.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End with a reasoned recommendation.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Online classes save travel time, although in-person sessions may offer more interaction.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Discuss online versus in-person learning.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Talk about technology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Name the technology and its purpose.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one benefit and one limitation.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broad claims that you cannot support.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Translation apps are useful for quick help, but important messages still need checking.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about a tool you use.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Explain a cultural custom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Describe the custom respectfully.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claiming everyone follows it.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context or variation.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In many families, sharing a meal is an important way to spend time together.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a custom without stereotyping.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Make a suggestion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could, might or ‘Why don’t we…?’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a brief reason for the suggestion.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Invite the other person’s response.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Why don’t we practise in pairs before presenting to the class?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Suggest three ways to improve a group task.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Accept or reject a suggestion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Acknowledge the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whether it works for you and why.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Offer a workable alternative when declining.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That could work, but the timing is difficult. Could we try Friday instead?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Respond to three suggestions.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Discuss a problem in a group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Define the problem before debating solutions.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Invite each person to share evidence or ideas.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Agree on a small next 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Let’s list the options first and compare cost, time and risk.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Lead a two-minute group discussion.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Use transition phrases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‘first’ and ‘next’ to order ideas.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‘for example’ to introduce evidence.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‘in conclusion’ only when you are actually concluding.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First, we’ll review the problem; next, we’ll compare the options.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a one-minute talk with four transitions.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Improve clarity by chunking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Group words into meaningful phrases.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Pause at idea boundaries, not after every word.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phrases short enough to say comfortably.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After the call, / I’ll send the summary / to everyone on the team.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Read three sentences using slash-marked pauses.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Speak with appropriate pace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Slow down for key details and numbers.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rushing the opening sentence.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pauses to separate ideas.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deadline is Friday, 24 October, at 4 p.m.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Deliver a 30-second update at a steady pace.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Use emphasis for contrast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Stress the word that carries the contrast.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the sentence wording the same to hear the change.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emphasis naturally, not by shouting.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asked for the FINAL version, not the draft.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Say one sentence with three different contrast words.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Practise a difficult sound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Identify the sound that is difficult for the learner.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Compare it with a similar sound in familiar words.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Practise in words, phrases and full sentences.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Think / sink; three / tree (depending on the learner’s accent).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Choose a sound and create a short drill.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Review a recording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Listen once for overall meaning.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Listen again for one target feature.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one correction and record again.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My message was clear, but I need to slow down on longer words.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a self-review checklist.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Build a vocabulary notebook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Record the phrase, meaning and a personal example.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Note common word partners or collocations.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Review older phrases before adding many new ones.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follow up on a request; follow up with a person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Create five entries from today’s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Speak without memorising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Prepare keywords rather than full sentences.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same idea in different words.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Allow small pauses while thinking.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Keywords: challenge, action, result.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about a familiar topic using only three keywords.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Prepare a short introduction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who you are and what you do.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Include one relevant interest or strength.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a question to continue the conversation.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I’m Dev, and I work in software development. What kind of work do you do?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three versions for social, classroom and professional settings.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Describe a goal with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the goal and a realistic deadline.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Name the first step and how you will measure it.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Mention one obstacle and how you will handle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I’ll practise four days a week and record one two-minute talk each Sunday.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a personal learning goal.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Talk about a news story responsibly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Separate what is known from opinion.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Summarise the main event without exaggeration.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cautious language when facts are uncertain.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report says the project was delayed; the reason has not yet been confirmed.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Summarise a teacher-provided short article.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Debate a simple topic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your position in one sentence.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Support it with two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Respond to the other side respectfully.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think school clubs are valuable because students practise teamwork and discover interests.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Debate whether homework should be shorter.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Explain a chart verbally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what the chart measures.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Describe the main trend or comparison.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claiming causation from a trend alone.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number rose steadily over three months, then levelled off.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a simple chart supplied by the teacher.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Describe a personal object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Name the object and its use.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Describe one distinctive feature.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why it is useful or meaningful.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This notebook is small enough to carry, and I use it to track ideas.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45 seconds about an object.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Talk about a place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Locate the place and describe its atmosphere.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Mention two features or activities.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Recommend it to a particular kind of visitor.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park is peaceful in the morning and is ideal for a short walk.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a place you would recommend.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Talk about a meal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Name the dish and main ingredients.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Describe taste, texture or smell.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when or with whom people might eat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dish is mildly spicy, with a tangy flavour from the lemon.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a favourite meal.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Explain a hobby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what the hobby involves.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how you started or what you enjoy.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Mention what a beginner needs to try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enjoy gardening because it helps me relax and learn about plants.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Introduce a hobby to a beginner.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Describe a challenge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the challenge clearly.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action you took.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Share the result and lesson.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struggled with a new tool, so I practised with a small example before using it on a project.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Situation–Action–Result.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Give a short instruction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imperative verbs for steps.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Put steps in a sensible order.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whether the listener needs a warning or extra detail.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Save the file, check the name, and then upload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Teach a partner how to do a simple task.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Talk about a plan that changed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original plan.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what changed and why, if known.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Describe the new plan.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We planned to meet outside, but it started raining, so we moved indoors.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Tell the story using past tense.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Describe an achievement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Name the achievement without exaggeration.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effort or teamwork involved.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Share what you learned.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completed the course by studying a little each evening.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a one-minute achievement story.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Respond when you do not know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Be honest about the gap in your knowledge.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Share what you do know, if relevant.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Offer a way to check or follow up.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I’m not sure of the exact answer, but I can verify it and get back to you.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responding to five unfamiliar questions.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Ask a thoughtful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Show you listened to the previous answer.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one focused question at a time.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why/how/what if to explore ideas.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You mentioned that practice helped most. What kind of practice worked best?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Create three follow-up questions from a short answer.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Close a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Restate the main message briefly.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a clear next step or call to action.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Thank the audience and invite questions if appropriate.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key message is to practise consistently. Thank you for listening—what questions do you have?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Deliver a 15-second closing.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Final confidence challenge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a topic you have practised before.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 for two minutes with a clear structure.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Review progress and name one next goal.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can explain my ideas more clearly when I organise them before speaking.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Record a final talk and compare it with an earlier recording.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Describe a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Name the people, place and main action.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details about position, colour or mood.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present continuous for actions in progress.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In the foreground, a woman is speaking to a customer.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Talk about weather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common weather expressions naturally.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Connect weather to plans or preferences.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Distinguish ‘It is raining’ from ‘It rains often here’. 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It’s quite humid today, so I’ll carry some water.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Talk about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Practise saying times clearly.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past/to for clock times if that is familiar to your learners.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appointments by repeating day and time.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call is at quarter past three on Wednesday.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Numbers and spelling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 phone numbers in clear chunks.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Spell names slowly when requested.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important numbers to confirm accuracy.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Could you spell your surname for me, please?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Describe a route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at a recognisable landmark.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sequence words and direction verbs.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the listener knows the destination.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Go straight ahead, cross the road, and turn left at the pharmacy.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Make a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Suggest an activity and time.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about availability.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the agreed details.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Shall we meet at the café at 5 p.m. on Saturday?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Change an appointment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conflict briefly.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Offer one or two alternatives.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the revised date and time.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I’m sorry, I can’t make Tuesday. Would Thursday morning work?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Talk about preferences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what you prefer.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a reason or example.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‘would rather’ for a specific preference.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I’d rather travel early because the roads are quieter.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Talk about abilities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can/can’t for present ability.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could for past general ability.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‘be able to’ when a different tense is needed.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can read English well, but I’m still improving my speaking.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Make predictions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will for a prediction or belief.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might for a possibility.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evidence behind your prediction.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think online learning will become more interactive.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Describe a process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Name the purpose of the process.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first, next, then and finally.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Include a warning or quality check.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First, open the form; next, enter the details; finally, review before submitting.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Give advice to a learner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what the learner finds difficult.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Offer one practical action at a time.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Encourage consistency rather than perfection.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Try speaking for one minute every day and recording your progress.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Ask for permission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may/can/could depending on formality.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the action you want to take.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Respond respectfully if permission is not granted.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May I leave a little early today?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Express uncertainty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‘I’m not sure’ when you do not know.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Separate facts from guesses.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how you will verify uncertain information.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I’m not certain about the time; I’ll check the calendar.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Explain a cause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because to introduce a reason.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due to before a noun phrase in formal contexts.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presenting a guess as a confirmed cause.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event was delayed because the speaker’s flight was late.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Explain a result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so to connect a cause and result.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as a result for a clear consequence.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the relationship logical.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road was closed, so we took another route.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Compare places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criteria such as cost, distance or atmosphere.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comparative forms correctly.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which place suits which purpose.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library is quieter than the café, but the café stays open later.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Describe a memory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Set the time and place.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past simple for main events.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a feeling or lesson at the end.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remember my first presentation because the audience was very supportive.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Describe a future ambition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the goal clearly.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why it matters.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Name a first step and a time frame.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want to become a more confident speaker, so I’ll practise presentations each week.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Talk about a routine change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Describe the old routine.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what changed and why.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whether the change helped.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used to study late, but now I practise for twenty minutes in the morning.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Use used to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used to + base verb for past habits or states.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didn’t use to for the negative.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Do not confuse it with be used to + -ing.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used to be shy about speaking in groups.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Use present perfect experience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have/has + past participle for life experience.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ever in many questions about experience.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past simple to add a finished-time detail.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Have you ever given a presentation? I gave my first one last year.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Use since and for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since with a starting point.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for with a duration.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present perfect for a situation continuing to now.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have studied English for six months; I have studied with this group since July.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Use already, yet and still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Already often means sooner than expected or before now.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Yet commonly appears in questions and negatives.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Still shows that a situation continues.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Have you finished yet? I’m still working on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Use first conditional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if + present simple for a possible future condition.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will + base verb for the likely result.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 comma after an opening if-clause when appropriate.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If I practise every day, I will improve my fluency.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Use second conditional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if + past form for an imagined or unlikely situation.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would + base verb for the result.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The past form here does not necessarily refer to past time.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If I had more free time, I would join a speaking club.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Report what someone said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reporting verbs such as said, told and asked.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Adjust pronouns and time references when needed.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the original meaning accurate.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Maya said that she was busy.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Make indirect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 polite opening such as ‘Could you tell me…?’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statement word order after the opening.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adding do/does inside the embedded question.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Could you tell me where the station is?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Use relative clauses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who for people and which/that for things in many defining clauses.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relative clauses to add identifying information.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making a sentence so long that the listener loses the main idea.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colleague who helped me is joining the call.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Use passive voice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be + past participle when the action or result matters more than the actor.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the correct tense of be.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active voice when the actor is important and clear.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report was approved yesterday.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Use reported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asked + if/whether for yes/no questions.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asked + question word for information questions.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statement word order in reported questions.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He asked whether I was available.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Describe feelings carefully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a precise feeling word.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what caused the feeling if you want to share it.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assuming how another person feels.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felt relieved when the task was finished.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Set boundaries politely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what you can or cannot do clearly.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the explanation brief and respectful.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Offer an alternative only if you genuinely can.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can’t take another task today, but I can review it tomorrow.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Handle interruptions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 calm phrase to regain the floor.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Acknowledge the other person if needed.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your point brief and connected to the discussion.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Let me finish this point, and then I’d like to hear your 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Ask for feedback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about a specific aspect of your performance.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Listen without immediately defending yourself.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one action based on the feedback.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Could you tell me one thing I could make clearer in my presentation?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Give constructive feedback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Describe an observable behaviour, not a personal trait.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impact briefly.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Suggest one actionable improvement.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Your examples were clear; adding a short summary at the end would make the talk stronger.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Explain a technical idea simply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the purpose or problem.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an everyday comparison when helpful.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Define unavoidable technical terms.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An API is like a waiter: it carries a request to a service and brings back a response.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Summarise a meeting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the decision or key outcome.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List action, owner and deadline.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Mention unresolved questions separately.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We agreed to test option B. Ravi owns the test, due Friday; cost is still under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Negotiate a deadline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current workload or blocker factually.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Suggest a realistic alternative date.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what can be delivered sooner if useful.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need one more day to test this safely. I can share the draft today and the final version tomorrow.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Respond to a complaint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Listen without interrupting.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Acknowledge the impact without making unsupported promises.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next step and expected update.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understand this has caused inconvenience. I’ll check the order status and update you by 2 p.m.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Explain a rule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the rule in plain language.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reason if it helps understanding.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an example of what to do.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Please sign in at reception so the team knows who is in the building.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Discuss pros and cons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Name the benefits and drawbacks fairly.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 the one hand/on the other hand if useful.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End with a reasoned recommendation.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Online classes save travel time, although in-person sessions may offer more interaction.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Talk about technology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Name the technology and its purpose.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one benefit and one limitation.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broad claims that you cannot support.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Translation apps are useful for quick help, but important messages still need checking.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Explain a cultural custom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Describe the custom respectfully.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claiming everyone follows it.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context or variation.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In many families, sharing a meal is an important way to spend time together.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Make a suggestion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could, might or ‘Why don’t we…?’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a brief reason for the suggestion.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Invite the other person’s response.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Why don’t we practise in pairs before presenting to the class?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Accept or reject a suggestion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Acknowledge the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whether it works for you and why.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Offer a workable alternative when declining.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That could work, but the timing is difficult. Could we try Friday instead?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Discuss a problem in a group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Define the problem before debating solutions.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Invite each person to share evidence or ideas.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Agree on a small next action.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Let’s list the options first and compare cost, time and risk.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Use transition phrases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‘first’ and ‘next’ to order ideas.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‘for example’ to introduce evidence.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‘in conclusion’ only when you are actually concluding.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First, we’ll review the problem; next, we’ll compare the options.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Improve clarity by chunking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Group words into meaningful phrases.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Pause at idea boundaries, not after every word.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phrases short enough to say comfortably.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After the call, / I’ll send the summary / to everyone on the team.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Speak with appropriate pace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Slow down for key details and numbers.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rushing the opening sentence.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pauses to separate ideas.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deadline is Friday, 24 October, at 4 p.m.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Use emphasis for contrast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Stress the word that carries the contrast.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the sentence wording the same to hear the change.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emphasis naturally, not by shouting.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asked for the FINAL version, not the draft.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Practise a difficult sound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Identify the sound that is difficult for the learner.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Compare it with a similar sound in familiar words.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Practise in words, phrases and full sentences.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Think / sink; three / tree (depending on the learner’s accent).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Review a recording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Listen once for overall meaning.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Listen again for one target feature.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one correction and record again.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My message was clear, but I need to slow down on longer words.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Build a vocabulary notebook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Record the phrase, meaning and a personal example.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Note common word partners or collocations.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Review older phrases before adding many new ones.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follow up on a request; follow up with a person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Speak without memorising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Prepare keywords rather than full sentences.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same idea in different words.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Allow small pauses while thinking.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Keywords: challenge, action, result.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Prepare a short introduction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who you are and what you do.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Include one relevant interest or strength.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a question to continue the conversation.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I’m Dev, and I work in software development. What kind of work do you do?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Describe a goal with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the goal and a realistic deadline.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Name the first step and how you will measure it.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Mention one obstacle and how you will handle it.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I’ll practise four days a week and record one two-minute talk each Sunday.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Talk about a news story responsibly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Separate what is known from opinion.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Summarise the main event without exaggeration.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cautious language when facts are uncertain.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report says the project was delayed; the reason has not yet been confirmed.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Debate a simple topic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your position in one sentence.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Support it with two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Respond to the other side respectfully.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think school clubs are valuable because students practise teamwork and discover interests.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Explain a chart verbally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what the chart measures.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Describe the main trend or comparison.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claiming causation from a trend alone.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number rose steadily over three months, then levelled off.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Describe a personal object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Name the object and its use.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Describe one distinctive feature.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why it is useful or meaningful.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This notebook is small enough to carry, and I use it to track ideas.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Talk about a place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Locate the place and describe its atmosphere.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Mention two features or activities.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Recommend it to a particular kind of visitor.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park is peaceful in the morning and is ideal for a short walk.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Talk about a meal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Name the dish and main ingredients.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Describe taste, texture or smell.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when or with whom people might eat it.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dish is mildly spicy, with a tangy flavour from the lemon.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Explain a hobby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what the hobby involves.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how you started or what you enjoy.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Mention what a beginner needs to try it.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enjoy gardening because it helps me relax and learn about plants.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Describe a challenge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the challenge clearly.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action you took.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Share the result and lesson.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struggled with a new tool, so I practised with a small example before using it on a project.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Give a short instruction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imperative verbs for steps.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Put steps in a sensible order.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whether the listener needs a warning or extra detail.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Save the file, check the name, and then upload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Talk about a plan that changed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original plan.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what changed and why, if known.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Describe the new plan.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We planned to meet outside, but it started raining, so we moved indoors.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Describe an achievement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Name the achievement without exaggeration.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effort or teamwork involved.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Share what you learned.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completed the course by studying a little each evening.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Respond when you do not know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Be honest about the gap in your knowledge.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Share what you do know, if relevant.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Offer a way to check or follow up.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I’m not sure of the exact answer, but I can verify it and get back to you.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Ask a thoughtful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Show you listened to the previous answer.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one focused question at a time.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why/how/what if to explore ideas.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You mentioned that practice helped most. What kind of practice worked best?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500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Close a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Restate the main message briefly.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a clear next step or call to action.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Thank the audience and invite questions if appropriate.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key message is to practise consistently. Thank you for listening—what questions do you have?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501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Final confidence challenge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a topic you have practised before.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 for two minutes with a clear structure.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Review progress and name one next goal.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can explain my ideas more clearly when I organise them before speaking.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25603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GRAMMAR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2179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2800" b="1">
                <a:solidFill>
                  <a:srgbClr val="431F63"/>
                </a:solidFill>
              </a:defRPr>
            </a:pPr>
            <a:r>
              <a:t>Active Voice and Passive 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887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Active voice: the subject performs the action. Passive voice: the subject receives the 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28800"/>
            <a:ext cx="10698480" cy="402336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800" b="0">
                <a:solidFill>
                  <a:srgbClr val="26232B"/>
                </a:solidFill>
              </a:defRPr>
            </a:pPr>
            <a:r>
              <a:t>• Active pattern: Subject + verb + object.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67712"/>
            <a:ext cx="10698480" cy="402336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800" b="0">
                <a:solidFill>
                  <a:srgbClr val="26232B"/>
                </a:solidFill>
              </a:defRPr>
            </a:pPr>
            <a:r>
              <a:t>• Passive pattern: Object + a form of 'be' + past participle (V3) + optional 'by + doer'.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79776"/>
            <a:ext cx="2057400" cy="384048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500" b="1">
                <a:solidFill>
                  <a:srgbClr val="431F63"/>
                </a:solidFill>
              </a:defRPr>
            </a:pPr>
            <a:r>
              <a:t>ACTIVE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766060"/>
            <a:ext cx="8229600" cy="411480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2788920"/>
            <a:ext cx="7909560" cy="34747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I write a book.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282696"/>
            <a:ext cx="2057400" cy="384048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500" b="1">
                <a:solidFill>
                  <a:srgbClr val="431F63"/>
                </a:solidFill>
              </a:defRPr>
            </a:pPr>
            <a:r>
              <a:t>PASSIVE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3268980"/>
            <a:ext cx="8229600" cy="411480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3291840"/>
            <a:ext cx="7909560" cy="34747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A book is written by 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877056"/>
            <a:ext cx="10424160" cy="502920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931920"/>
            <a:ext cx="10058400" cy="36576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TEACHER TIP: The object in the active sentence becomes the subject in the passive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 |  English Speaking Masterclass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25603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GRAMMAR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2179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2800" b="1">
                <a:solidFill>
                  <a:srgbClr val="431F63"/>
                </a:solidFill>
              </a:defRPr>
            </a:pPr>
            <a:r>
              <a:t>Our Example: I Write a 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887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Use this one sentence to understand how voice changes across tenses.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28800"/>
            <a:ext cx="10698480" cy="402336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800" b="0">
                <a:solidFill>
                  <a:srgbClr val="26232B"/>
                </a:solidFill>
              </a:defRPr>
            </a:pPr>
            <a:r>
              <a:t>• Subject = I | Verb = write | Object = a book.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67712"/>
            <a:ext cx="10698480" cy="402336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800" b="0">
                <a:solidFill>
                  <a:srgbClr val="26232B"/>
                </a:solidFill>
              </a:defRPr>
            </a:pPr>
            <a:r>
              <a:t>• For passive voice, use the correct form of 'be' + written (V3).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79776"/>
            <a:ext cx="2057400" cy="384048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500" b="1">
                <a:solidFill>
                  <a:srgbClr val="431F63"/>
                </a:solidFill>
              </a:defRPr>
            </a:pPr>
            <a:r>
              <a:t>Simple Present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766060"/>
            <a:ext cx="8229600" cy="411480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2788920"/>
            <a:ext cx="7909560" cy="34747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I write a book. → A book is written by 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282696"/>
            <a:ext cx="2057400" cy="384048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500" b="1">
                <a:solidFill>
                  <a:srgbClr val="431F63"/>
                </a:solidFill>
              </a:defRPr>
            </a:pPr>
            <a:r>
              <a:t>Present Continuous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3268980"/>
            <a:ext cx="8229600" cy="411480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3291840"/>
            <a:ext cx="7909560" cy="34747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I am writing a book. → A book is being written by 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785616"/>
            <a:ext cx="2057400" cy="384048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500" b="1">
                <a:solidFill>
                  <a:srgbClr val="431F63"/>
                </a:solidFill>
              </a:defRPr>
            </a:pPr>
            <a:r>
              <a:t>Present Perfect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3771900"/>
            <a:ext cx="8229600" cy="411480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60" y="3794760"/>
            <a:ext cx="7909560" cy="34747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I have written a book. → A book has been written by 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288536"/>
            <a:ext cx="2057400" cy="384048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500" b="1">
                <a:solidFill>
                  <a:srgbClr val="431F63"/>
                </a:solidFill>
              </a:defRPr>
            </a:pPr>
            <a:r>
              <a:t>Simple Past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4274820"/>
            <a:ext cx="8229600" cy="411480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60" y="4297680"/>
            <a:ext cx="7909560" cy="34747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I wrote a book. → A book was written by 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791456"/>
            <a:ext cx="2057400" cy="384048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500" b="1">
                <a:solidFill>
                  <a:srgbClr val="431F63"/>
                </a:solidFill>
              </a:defRPr>
            </a:pPr>
            <a:r>
              <a:t>Past Continuous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0" y="4777740"/>
            <a:ext cx="8229600" cy="411480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80360" y="4800600"/>
            <a:ext cx="7909560" cy="34747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I was writing a book. → A book was being written by 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385816"/>
            <a:ext cx="10424160" cy="502920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5440680"/>
            <a:ext cx="10058400" cy="36576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TEACHER TIP: Not every tense is commonly used in passive voice; focus on natural, useful examples.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 |  English Speaking Masterclass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25603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GRAMMAR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2179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2800" b="1">
                <a:solidFill>
                  <a:srgbClr val="431F63"/>
                </a:solidFill>
              </a:defRPr>
            </a:pPr>
            <a:r>
              <a:t>More Voice Changes by Tense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887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Keep the meaning the same while changing the sentence structure.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901952"/>
            <a:ext cx="2057400" cy="384048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500" b="1">
                <a:solidFill>
                  <a:srgbClr val="431F63"/>
                </a:solidFill>
              </a:defRPr>
            </a:pPr>
            <a:r>
              <a:t>Past Perfect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888236"/>
            <a:ext cx="8229600" cy="411480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1911096"/>
            <a:ext cx="7909560" cy="34747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I had written a book. → A book had been written by 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404872"/>
            <a:ext cx="2057400" cy="384048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500" b="1">
                <a:solidFill>
                  <a:srgbClr val="431F63"/>
                </a:solidFill>
              </a:defRPr>
            </a:pPr>
            <a:r>
              <a:t>Simple Future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391156"/>
            <a:ext cx="8229600" cy="411480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2414016"/>
            <a:ext cx="7909560" cy="34747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I will write a book. → A book will be written by 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907792"/>
            <a:ext cx="2057400" cy="384048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500" b="1">
                <a:solidFill>
                  <a:srgbClr val="431F63"/>
                </a:solidFill>
              </a:defRPr>
            </a:pPr>
            <a:r>
              <a:t>Future Perfect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2894076"/>
            <a:ext cx="8229600" cy="411480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2916936"/>
            <a:ext cx="7909560" cy="34747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I will have written a book. → A book will have been written by 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410712"/>
            <a:ext cx="2057400" cy="384048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500" b="1">
                <a:solidFill>
                  <a:srgbClr val="431F63"/>
                </a:solidFill>
              </a:defRPr>
            </a:pPr>
            <a:r>
              <a:t>Modal: can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3396996"/>
            <a:ext cx="8229600" cy="411480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3419856"/>
            <a:ext cx="7909560" cy="34747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I can write a book. → A book can be written by 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913632"/>
            <a:ext cx="2057400" cy="384048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500" b="1">
                <a:solidFill>
                  <a:srgbClr val="431F63"/>
                </a:solidFill>
              </a:defRPr>
            </a:pPr>
            <a:r>
              <a:t>Modal: should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3899916"/>
            <a:ext cx="8229600" cy="411480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3922776"/>
            <a:ext cx="7909560" cy="34747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I should write a book. → A book should be written by 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507992"/>
            <a:ext cx="10424160" cy="502920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562856"/>
            <a:ext cx="10058400" cy="36576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TEACHER TIP: The 'by me' phrase can be omitted when the doer is obvious or unimportant.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 |  English Speaking Masterclass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25603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GRAMMAR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2179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2800" b="1">
                <a:solidFill>
                  <a:srgbClr val="431F63"/>
                </a:solidFill>
              </a:defRPr>
            </a:pPr>
            <a:r>
              <a:t>When Passive Voice Is Useful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887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Passive voice puts focus on the action or the receiver, not the person doing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28800"/>
            <a:ext cx="10698480" cy="402336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800" b="0">
                <a:solidFill>
                  <a:srgbClr val="26232B"/>
                </a:solidFill>
              </a:defRPr>
            </a:pPr>
            <a:r>
              <a:t>• Use it when the doer is unknown: 'My bag was stolen.'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67712"/>
            <a:ext cx="10698480" cy="402336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800" b="0">
                <a:solidFill>
                  <a:srgbClr val="26232B"/>
                </a:solidFill>
              </a:defRPr>
            </a:pPr>
            <a:r>
              <a:t>• Use it in formal or process writing: 'The form is checked twice.'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706624"/>
            <a:ext cx="10698480" cy="402336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800" b="0">
                <a:solidFill>
                  <a:srgbClr val="26232B"/>
                </a:solidFill>
              </a:defRPr>
            </a:pPr>
            <a:r>
              <a:t>• Use it when the result matters most: 'The bridge was completed in 2025.'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218688"/>
            <a:ext cx="2057400" cy="384048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500" b="1">
                <a:solidFill>
                  <a:srgbClr val="431F63"/>
                </a:solidFill>
              </a:defRPr>
            </a:pPr>
            <a:r>
              <a:t>Active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3204972"/>
            <a:ext cx="8229600" cy="411480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3227832"/>
            <a:ext cx="7909560" cy="34747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The team completed the project.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721608"/>
            <a:ext cx="2057400" cy="384048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500" b="1">
                <a:solidFill>
                  <a:srgbClr val="431F63"/>
                </a:solidFill>
              </a:defRPr>
            </a:pPr>
            <a:r>
              <a:t>Passive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3707892"/>
            <a:ext cx="8229600" cy="411480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3730752"/>
            <a:ext cx="7909560" cy="34747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The project was completed by the team.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315968"/>
            <a:ext cx="10424160" cy="502920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370832"/>
            <a:ext cx="10058400" cy="36576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TEACHER TIP: Avoid passive voice when it makes a sentence unnecessarily long or unclear.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 |  English Speaking Masterclass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25603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GRAMMAR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2179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2800" b="1">
                <a:solidFill>
                  <a:srgbClr val="431F63"/>
                </a:solidFill>
              </a:defRPr>
            </a:pPr>
            <a:r>
              <a:t>Practice: Change Active to Passive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887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Try each sentence before showing the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901952"/>
            <a:ext cx="2057400" cy="384048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500" b="1">
                <a:solidFill>
                  <a:srgbClr val="431F63"/>
                </a:solidFill>
              </a:defRPr>
            </a:pPr>
            <a:r>
              <a:t>1. 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888236"/>
            <a:ext cx="8229600" cy="411480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1911096"/>
            <a:ext cx="7909560" cy="34747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The chef cooks dinner. → Dinner is cooked by the chef.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404872"/>
            <a:ext cx="2057400" cy="384048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500" b="1">
                <a:solidFill>
                  <a:srgbClr val="431F63"/>
                </a:solidFill>
              </a:defRPr>
            </a:pPr>
            <a:r>
              <a:t>2. Active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391156"/>
            <a:ext cx="8229600" cy="411480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2414016"/>
            <a:ext cx="7909560" cy="34747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Riya cleaned the room. → The room was cleaned by Riya.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907792"/>
            <a:ext cx="2057400" cy="384048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500" b="1">
                <a:solidFill>
                  <a:srgbClr val="431F63"/>
                </a:solidFill>
              </a:defRPr>
            </a:pPr>
            <a:r>
              <a:t>3. Active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2894076"/>
            <a:ext cx="8229600" cy="411480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2916936"/>
            <a:ext cx="7909560" cy="34747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They will announce the result. → The result will be announced by them.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410712"/>
            <a:ext cx="2057400" cy="384048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500" b="1">
                <a:solidFill>
                  <a:srgbClr val="431F63"/>
                </a:solidFill>
              </a:defRPr>
            </a:pPr>
            <a:r>
              <a:t>4. Active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3396996"/>
            <a:ext cx="8229600" cy="411480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3419856"/>
            <a:ext cx="7909560" cy="34747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The team has finished the work. → The work has been finished by the team.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05072"/>
            <a:ext cx="10424160" cy="502920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10058400" cy="36576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TEACHER TIP: Ask students to identify the subject, verb, and object first.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 |  English Speaking Masterclass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25603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GRAMMAR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2179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2800" b="1">
                <a:solidFill>
                  <a:srgbClr val="431F63"/>
                </a:solidFill>
              </a:defRPr>
            </a:pPr>
            <a:r>
              <a:t>Practice: Change Passive to 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887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Find who performs the action, then rebuild the sentence.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901952"/>
            <a:ext cx="2057400" cy="384048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500" b="1">
                <a:solidFill>
                  <a:srgbClr val="431F63"/>
                </a:solidFill>
              </a:defRPr>
            </a:pPr>
            <a:r>
              <a:t>1. Passive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888236"/>
            <a:ext cx="8229600" cy="411480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1911096"/>
            <a:ext cx="7909560" cy="34747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The letter was written by Sam. → Sam wrote the letter.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404872"/>
            <a:ext cx="2057400" cy="384048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500" b="1">
                <a:solidFill>
                  <a:srgbClr val="431F63"/>
                </a:solidFill>
              </a:defRPr>
            </a:pPr>
            <a:r>
              <a:t>2. Passive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391156"/>
            <a:ext cx="8229600" cy="411480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2414016"/>
            <a:ext cx="7909560" cy="34747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The cake is being baked by Mom. → Mom is baking the cake.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907792"/>
            <a:ext cx="2057400" cy="384048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500" b="1">
                <a:solidFill>
                  <a:srgbClr val="431F63"/>
                </a:solidFill>
              </a:defRPr>
            </a:pPr>
            <a:r>
              <a:t>3. Passive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2894076"/>
            <a:ext cx="8229600" cy="411480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2916936"/>
            <a:ext cx="7909560" cy="34747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The report will be prepared by Neha. → Neha will prepare the report.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410712"/>
            <a:ext cx="2057400" cy="384048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500" b="1">
                <a:solidFill>
                  <a:srgbClr val="431F63"/>
                </a:solidFill>
              </a:defRPr>
            </a:pPr>
            <a:r>
              <a:t>4. Passive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3396996"/>
            <a:ext cx="8229600" cy="411480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3419856"/>
            <a:ext cx="7909560" cy="34747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The rules have been explained by the teacher. → The teacher has explained the rules.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05072"/>
            <a:ext cx="10424160" cy="502920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10058400" cy="36576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TEACHER TIP: If the doer is not mentioned, you may need context to make an active sentence.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 |  English Speaking Masterclass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25603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GRAMMAR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2179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2800" b="1">
                <a:solidFill>
                  <a:srgbClr val="431F63"/>
                </a:solidFill>
              </a:defRPr>
            </a:pPr>
            <a:r>
              <a:t>Common Mistakes in Passive 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887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The past participle (V3) is required in passive constructions.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28800"/>
            <a:ext cx="10698480" cy="402336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800" b="0">
                <a:solidFill>
                  <a:srgbClr val="26232B"/>
                </a:solidFill>
              </a:defRPr>
            </a:pPr>
            <a:r>
              <a:t>• Incorrect: 'A book is write by me.' Correct: 'A book is written by me.'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67712"/>
            <a:ext cx="10698480" cy="402336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800" b="0">
                <a:solidFill>
                  <a:srgbClr val="26232B"/>
                </a:solidFill>
              </a:defRPr>
            </a:pPr>
            <a:r>
              <a:t>• Incorrect: 'The room cleaned by Riya.' Correct: 'The room was cleaned by Riya.'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706624"/>
            <a:ext cx="10698480" cy="402336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800" b="0">
                <a:solidFill>
                  <a:srgbClr val="26232B"/>
                </a:solidFill>
              </a:defRPr>
            </a:pPr>
            <a:r>
              <a:t>• Incorrect: 'The work has finished by us.' Correct: 'The work has been finished by us.'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218688"/>
            <a:ext cx="2057400" cy="384048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500" b="1">
                <a:solidFill>
                  <a:srgbClr val="431F63"/>
                </a:solidFill>
              </a:defRPr>
            </a:pPr>
            <a:r>
              <a:t>Remember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3204972"/>
            <a:ext cx="8229600" cy="411480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3227832"/>
            <a:ext cx="7909560" cy="34747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Passive = correct form of BE + V3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424160" cy="502920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867912"/>
            <a:ext cx="10058400" cy="36576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TEACHER TIP: Some verbs do not take an object and usually cannot form a passive sentence, e.g., 'arrive' or 'sleep'.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 |  English Speaking Masterclass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25603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GRAMMAR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2179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2800" b="1">
                <a:solidFill>
                  <a:srgbClr val="431F63"/>
                </a:solidFill>
              </a:defRPr>
            </a:pPr>
            <a:r>
              <a:t>Active and Passive Voice: Quick 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887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Choose the correct passive form of: 'I write a book.'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28800"/>
            <a:ext cx="10698480" cy="402336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800" b="0">
                <a:solidFill>
                  <a:srgbClr val="26232B"/>
                </a:solidFill>
              </a:defRPr>
            </a:pPr>
            <a:r>
              <a:t>• A) A book wrote by 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67712"/>
            <a:ext cx="10698480" cy="402336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800" b="0">
                <a:solidFill>
                  <a:srgbClr val="26232B"/>
                </a:solidFill>
              </a:defRPr>
            </a:pPr>
            <a:r>
              <a:t>• B) A book is written by 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706624"/>
            <a:ext cx="10698480" cy="402336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800" b="0">
                <a:solidFill>
                  <a:srgbClr val="26232B"/>
                </a:solidFill>
              </a:defRPr>
            </a:pPr>
            <a:r>
              <a:t>• C) A book was written by 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145536"/>
            <a:ext cx="10698480" cy="402336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800" b="0">
                <a:solidFill>
                  <a:srgbClr val="26232B"/>
                </a:solidFill>
              </a:defRPr>
            </a:pPr>
            <a:r>
              <a:t>• D) A book is write by 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657600"/>
            <a:ext cx="2057400" cy="384048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500" b="1">
                <a:solidFill>
                  <a:srgbClr val="431F63"/>
                </a:solidFill>
              </a:defRPr>
            </a:pPr>
            <a:r>
              <a:t>Answer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3643884"/>
            <a:ext cx="8229600" cy="411480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3666744"/>
            <a:ext cx="7909560" cy="34747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B) A book is written by 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251960"/>
            <a:ext cx="10424160" cy="502920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306824"/>
            <a:ext cx="10058400" cy="36576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TEACHER TIP: Explain that 'write' is simple present, so passive uses 'is + written'.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 |  English Speaking Masterclass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25603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COURSE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2179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2800" b="1">
                <a:solidFill>
                  <a:srgbClr val="431F63"/>
                </a:solidFill>
              </a:defRPr>
            </a:pPr>
            <a:r>
              <a:t>Grammar Module Added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887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This module has been appended to the existing SkyNetix-branded presentation.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28800"/>
            <a:ext cx="10698480" cy="402336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800" b="0">
                <a:solidFill>
                  <a:srgbClr val="26232B"/>
                </a:solidFill>
              </a:defRPr>
            </a:pPr>
            <a:r>
              <a:t>• Topics added: active vs. passive voice, tense transformations, usage, common mistakes, and exercises.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67712"/>
            <a:ext cx="10698480" cy="402336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800" b="0">
                <a:solidFill>
                  <a:srgbClr val="26232B"/>
                </a:solidFill>
              </a:defRPr>
            </a:pPr>
            <a:r>
              <a:t>• Worked example: 'I write a book' → 'A book is written by me.'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706624"/>
            <a:ext cx="10698480" cy="402336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800" b="0">
                <a:solidFill>
                  <a:srgbClr val="26232B"/>
                </a:solidFill>
              </a:defRPr>
            </a:pPr>
            <a:r>
              <a:t>• The original 501 slides are preserved; this grammar module adds 9 slides.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218688"/>
            <a:ext cx="2057400" cy="384048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500" b="1">
                <a:solidFill>
                  <a:srgbClr val="431F63"/>
                </a:solidFill>
              </a:defRPr>
            </a:pPr>
            <a:r>
              <a:t>New total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3204972"/>
            <a:ext cx="8229600" cy="411480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3227832"/>
            <a:ext cx="7909560" cy="34747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509 slides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424160" cy="502920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867912"/>
            <a:ext cx="10058400" cy="36576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TEACHER TIP: You can move this module to an earlier position in PowerPoint if you want grammar taught before conversation practice.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 |  English Speaking Masterclass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Simple Present: Meaning and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Habits, routines, facts and repeated actions.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Habits, routines, facts and repeated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Subject + base verb (add -s/-es for he, she, it).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write a book. / She writes a book.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Change 'He plays cricket' into a negative sentence.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Ask learners to say one true sentence about their own life.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Simple Present: Positive, Negative and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Compare the three common sentence forms.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Positive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write a book. / She writes a book.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Negative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do not write a book.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Do you write a book?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Say all three forms aloud using the same subject and verb.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Auxiliary verbs help form negatives and questions in many tenses.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Simple Present: Everyday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Notice the time meaning and the verb 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At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write a book. / She writes a book.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At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use this tense when describing my work and plans.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Conversation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Can you give a similar sentence about your day?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Change 'He plays cricket' into a negative sentence.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Encourage natural examples rather than memorizing only the model sentence.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Simple Present: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Complete the sentence, then explain why this tense fits.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write a book. / She writes a book.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Try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Change 'He plays cricket' into a negative sentence.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Remember the pattern: Subject + base verb (add -s/-es for he, she, it).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Write two original sentences and exchange them with a partner.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Correct the verb form first, then improve pronunciation.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Present Continuous: Meaning and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Actions happening now or around the current period.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Actions happening now or around the current period.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Subject + am/is/are + verb-ing.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am writing a book. / They are learning English.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Make a question: 'She is reading a story.'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Ask learners to say one true sentence about their own life.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Present Continuous: Positive, Negative and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Compare the three common sentence forms.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Positive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am writing a book. / They are learning English.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Negative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am not writing.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Are you writing?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Say all three forms aloud using the same subject and verb.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Auxiliary verbs help form negatives and questions in many tenses.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Present Continuous: Everyday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Notice the time meaning and the verb 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At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am writing a book. / They are learning English.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At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use this tense when describing my work and plans.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Conversation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Can you give a similar sentence about your day?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Make a question: 'She is reading a story.'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Encourage natural examples rather than memorizing only the model sentence.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Present Continuous: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Complete the sentence, then explain why this tense fits.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am writing a book. / They are learning English.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Try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Make a question: 'She is reading a story.'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Remember the pattern: Subject + am/is/are + verb-ing.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Write two original sentences and exchange them with a partner.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Correct the verb form first, then improve pronunciation.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Present Perfect: Meaning and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Past actions connected to the present; experiences and results.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Past actions connected to the present; experiences and results.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Subject + has/have + past participle (V3).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have written a book. / She has finished her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Complete: 'They ___ (complete) the task.'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Ask learners to say one true sentence about their own life.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Present Perfect: Positive, Negative and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Compare the three common sentence forms.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Positive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have written a book. / She has finished her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Negative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have not written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Have you finished?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Say all three forms aloud using the same subject and verb.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Auxiliary verbs help form negatives and questions in many tenses.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Present Perfect: Everyday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Notice the time meaning and the verb 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At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have written a book. / She has finished her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At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use this tense when describing my work and plans.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Conversation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Can you give a similar sentence about your day?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Complete: 'They ___ (complete) the task.'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Encourage natural examples rather than memorizing only the model sentence.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Present Perfect: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Complete the sentence, then explain why this tense fits.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have written a book. / She has finished her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Try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Complete: 'They ___ (complete) the task.'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Remember the pattern: Subject + has/have + past participle (V3).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Write two original sentences and exchange them with a partner.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Correct the verb form first, then improve pronunciation.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Present Perfect Continuous: Meaning and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Actions that began earlier and continue, often emphasizing duration.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Actions that began earlier and continue, often emphasizing duration.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Subject + has/have been + verb-ing.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have been writing for two hours.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Use 'study' with 'for three hours'.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Ask learners to say one true sentence about their own life.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Present Perfect Continuous: Positive, Negative and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Compare the three common sentence forms.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Positive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have been writing for two hours.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Negative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have not been writing long.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Have you been waiting?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Say all three forms aloud using the same subject and verb.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Auxiliary verbs help form negatives and questions in many tenses.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Present Perfect Continuous: Everyday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Notice the time meaning and the verb 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At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have been writing for two hours.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At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use this tense when describing my work and plans.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Conversation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Can you give a similar sentence about your day?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Use 'study' with 'for three hours'.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Encourage natural examples rather than memorizing only the model sentence.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Present Perfect Continuous: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Complete the sentence, then explain why this tense fits.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have been writing for two hours.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Try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Use 'study' with 'for three hours'.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Remember the pattern: Subject + has/have been + verb-ing.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Write two original sentences and exchange them with a partner.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Correct the verb form first, then improve pronunciation.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Simple Past: Meaning and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Completed actions at a finished time in the past.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Completed actions at a finished time in the past.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Subject + past form (V2).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wrote a book yesterday. / We visited Pune.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Make a question: 'Ravi called me.'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Ask learners to say one true sentence about their own life.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Simple Past: Positive, Negative and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Compare the three common sentence forms.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Positive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wrote a book yesterday. / We visited Pune.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Negative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did not write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Did you write it?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Say all three forms aloud using the same subject and verb.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Auxiliary verbs help form negatives and questions in many tenses.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Simple Past: Everyday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Notice the time meaning and the verb 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At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wrote a book yesterday. / We visited Pune.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At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use this tense when describing my work and plans.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Conversation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Can you give a similar sentence about your day?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Make a question: 'Ravi called me.'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Encourage natural examples rather than memorizing only the model sentence.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Simple Past: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Complete the sentence, then explain why this tense fits.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wrote a book yesterday. / We visited Pune.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Try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Make a question: 'Ravi called me.'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Remember the pattern: Subject + past form (V2).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Write two original sentences and exchange them with a partner.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Correct the verb form first, then improve pronunciation.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Past Continuous: Meaning and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An action in progress at a particular past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An action in progress at a particular past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Subject + was/were + verb-ing.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was writing when you called.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Complete: 'They ___ (play) at 6 p.m.'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Ask learners to say one true sentence about their own life.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Past Continuous: Positive, Negative and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Compare the three common sentence forms.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Positive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was writing when you called.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Negative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was not writing.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Were you writing?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Say all three forms aloud using the same subject and verb.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Auxiliary verbs help form negatives and questions in many tenses.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Past Continuous: Everyday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Notice the time meaning and the verb 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At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was writing when you called.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At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use this tense when describing my work and plans.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Conversation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Can you give a similar sentence about your day?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Complete: 'They ___ (play) at 6 p.m.'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Encourage natural examples rather than memorizing only the model sentence.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Past Continuous: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Complete the sentence, then explain why this tense fits.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was writing when you called.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Try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Complete: 'They ___ (play) at 6 p.m.'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Remember the pattern: Subject + was/were + verb-ing.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Write two original sentences and exchange them with a partner.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Correct the verb form first, then improve pronunciation.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Past Perfect: Meaning and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An earlier past action before another past event.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An earlier past action before another past event.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Subject + had + V3.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had written the book before I moved.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Join: 'The train left. We arrived.' using past perfect.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Ask learners to say one true sentence about their own life.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Past Perfect: Positive, Negative and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Compare the three common sentence forms.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Positive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had written the book before I moved.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Negative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had not written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Had you written it?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Say all three forms aloud using the same subject and verb.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Auxiliary verbs help form negatives and questions in many tenses.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Past Perfect: Everyday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Notice the time meaning and the verb 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At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had written the book before I moved.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At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use this tense when describing my work and plans.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Conversation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Can you give a similar sentence about your day?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Join: 'The train left. We arrived.' using past perfect.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Encourage natural examples rather than memorizing only the model sentence.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Past Perfect: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Complete the sentence, then explain why this tense fits.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had written the book before I moved.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Try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Join: 'The train left. We arrived.' using past perfect.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Remember the pattern: Subject + had + V3.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Write two original sentences and exchange them with a partner.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Correct the verb form first, then improve pronunciation.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Past Perfect Continuous: Meaning and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Duration of an activity before a point in the past.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Duration of an activity before a point in the past.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Subject + had been + verb-ing.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had been writing for an hour when she arrived.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Use 'work' with 'for five hours' before lunch.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Ask learners to say one true sentence about their own life.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Past Perfect Continuous: Positive, Negative and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Compare the three common sentence forms.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Positive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had been writing for an hour when she arrived.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Negative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had not been writing long.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Had you been waiting?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Say all three forms aloud using the same subject and verb.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Auxiliary verbs help form negatives and questions in many tenses.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Past Perfect Continuous: Everyday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Notice the time meaning and the verb 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At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had been writing for an hour when she arrived.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At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use this tense when describing my work and plans.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Conversation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Can you give a similar sentence about your day?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Use 'work' with 'for five hours' before lunch.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Encourage natural examples rather than memorizing only the model sentence.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Past Perfect Continuous: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Complete the sentence, then explain why this tense fits.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had been writing for an hour when she arrived.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Try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Use 'work' with 'for five hours' before lunch.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Remember the pattern: Subject + had been + verb-ing.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Write two original sentences and exchange them with a partner.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Correct the verb form first, then improve pronunciation.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Simple Future: Meaning and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Predictions, promises and decisions made at the moment.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Predictions, promises and decisions made at the moment.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Subject + will + base verb.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will write a book. / It will rain.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Turn 'They will join us' into a question.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Ask learners to say one true sentence about their own life.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Simple Future: Positive, Negative and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Compare the three common sentence forms.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Positive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will write a book. / It will rain.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Negative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will not write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Will you write it?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Say all three forms aloud using the same subject and verb.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Auxiliary verbs help form negatives and questions in many tenses.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Simple Future: Everyday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Notice the time meaning and the verb 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At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will write a book. / It will rain.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At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use this tense when describing my work and plans.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Conversation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Can you give a similar sentence about your day?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Turn 'They will join us' into a question.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Encourage natural examples rather than memorizing only the model sentence.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Simple Future: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Complete the sentence, then explain why this tense fits.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will write a book. / It will rain.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Try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Turn 'They will join us' into a question.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Remember the pattern: Subject + will + base verb.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Write two original sentences and exchange them with a partner.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Correct the verb form first, then improve pronunciation.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Future Continuous: Meaning and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An action that will be in progress at a future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An action that will be in progress at a future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Subject + will be + verb-ing.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will be writing at 8 p.m.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Complete: 'At noon tomorrow, I ___ (travel).'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Ask learners to say one true sentence about their own life.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Future Continuous: Positive, Negative and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Compare the three common sentence forms.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Positive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will be writing at 8 p.m.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Negative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will not be writing.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Will you be working?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Say all three forms aloud using the same subject and verb.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Auxiliary verbs help form negatives and questions in many tenses.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Future Continuous: Everyday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Notice the time meaning and the verb 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At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will be writing at 8 p.m.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At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use this tense when describing my work and plans.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Conversation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Can you give a similar sentence about your day?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Complete: 'At noon tomorrow, I ___ (travel).'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Encourage natural examples rather than memorizing only the model sentence.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Future Continuous: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Complete the sentence, then explain why this tense fits.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will be writing at 8 p.m.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Try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Complete: 'At noon tomorrow, I ___ (travel).'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Remember the pattern: Subject + will be + verb-ing.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Write two original sentences and exchange them with a partner.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Correct the verb form first, then improve pronunciation.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Future Perfect: Meaning and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An action completed before a specified future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An action completed before a specified future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Subject + will have + V3.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will have written the book by June.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Use 'complete' with 'by Friday'.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Ask learners to say one true sentence about their own life.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Future Perfect: Positive, Negative and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Compare the three common sentence forms.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Positive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will have written the book by June.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Negative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will not have finished.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Will you have finished?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Say all three forms aloud using the same subject and verb.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Auxiliary verbs help form negatives and questions in many tenses.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Future Perfect: Everyday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Notice the time meaning and the verb 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At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will have written the book by June.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At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use this tense when describing my work and plans.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Conversation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Can you give a similar sentence about your day?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Use 'complete' with 'by Friday'.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Encourage natural examples rather than memorizing only the model sentence.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Future Perfect: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Complete the sentence, then explain why this tense fits.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will have written the book by June.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Try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Use 'complete' with 'by Friday'.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Remember the pattern: Subject + will have + V3.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Write two original sentences and exchange them with a partner.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Correct the verb form first, then improve pronunciation.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Future Perfect Continuous: Meaning and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Duration of an activity up to a future point; less common in everyday speech.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Duration of an activity up to a future point; less common in everyday speech.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Subject + will have been + verb-ing.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By May, I will have been teaching for ten years.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Make an example using 'live' and 'for five years'.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Ask learners to say one true sentence about their own life.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Future Perfect Continuous: Positive, Negative and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Compare the three common sentence forms.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Positive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By May, I will have been teaching for ten years.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Negative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will not have been teaching long.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Will you have been waiting?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Say all three forms aloud using the same subject and verb.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Auxiliary verbs help form negatives and questions in many tenses.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Future Perfect Continuous: Everyday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Notice the time meaning and the verb 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At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By May, I will have been teaching for ten years.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At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use this tense when describing my work and plans.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Conversation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Can you give a similar sentence about your day?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Make an example using 'live' and 'for five years'.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Encourage natural examples rather than memorizing only the model sentence.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TENSES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Future Perfect Continuous: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Complete the sentence, then explain why this tense fits.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By May, I will have been teaching for ten years.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Try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Make an example using 'live' and 'for five years'.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Remember the pattern: Subject + will have been + verb-ing.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Write two original sentences and exchange them with a partner.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Correct the verb form first, then improve pronunciation.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REPORTED SPEECH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Reported Speech: The Basic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Direct speech repeats exact words; reported speech tells what someone said.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Direct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Ravi said, “I am tired.”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Reported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Ravi said that he was tired.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639312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Report: Maya said, “I like tea.”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97096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242816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The tense does not always change when the statement is still true or the reporting context allows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REPORTED SPEECH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Pronoun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Pronouns change to match the speaker and listener in the reported sentence.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Direct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Anu said, “I lost my keys.”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Reported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Anu said that she had lost her keys.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639312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Report: Sam said, “We are ready.”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97096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242816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The tense does not always change when the statement is still true or the reporting context allows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REPORTED SPEECH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Backshift: Present to Past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When the reporting verb is in the past, verb tenses often move one step 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Direct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He said, “I work here.”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Reported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He said that he worked there.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639312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Report: She said, “I know the answer.”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97096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242816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The tense does not always change when the statement is still true or the reporting context allows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REPORTED SPEECH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Backshift: Present Continuous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Present continuous often changes to past continuous.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Direct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He said, “I am studying.”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Reported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He said that he was studying.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639312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Report: Ria said, “I am cooking.”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97096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242816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The tense does not always change when the statement is still true or the reporting context allows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REPORTED SPEECH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Backshift: Present Perfect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Present perfect often changes to past perfect.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Direct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He said, “I have finished.”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Reported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He said that he had finished.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639312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Report: They said, “We have arrived.”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97096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242816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The tense does not always change when the statement is still true or the reporting context allows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REPORTED SPEECH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Reported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Use statement word order; do not keep question word order.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Direct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She asked, “Where do you live?”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Reported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She asked where I lived.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639312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Report: He asked, “Are you ready?”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97096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242816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The tense does not always change when the statement is still true or the reporting context allows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REPORTED SPEECH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Yes/No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Use if or whether when reporting a yes/no question.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Direct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He asked, “Do you need help?”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Reported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He asked if I needed help.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639312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Report: She asked, “Can you swim?”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97096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242816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The tense does not always change when the statement is still true or the reporting context allows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REPORTED SPEECH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Commands and Requests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Use told/asked + object + to-infinitive.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Direct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Mom said, “Close the door.”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Reported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Mom told me to close the door.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639312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Report politely: “Please wait here.”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97096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242816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The tense does not always change when the statement is still true or the reporting context allows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REPORTED SPEECH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Time and Place Words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Words may change depending on when and where the report is made.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Direct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He said, “I will come tomorrow.”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Reported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He said that he would come the next day.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639312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Report: She said, “I live here now.”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97096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242816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The tense does not always change when the statement is still true or the reporting context allows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REPORTED SPEECH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Reported Speech: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Combine reporting verb, pronoun, tense and time-word changes.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Direct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Neha said, “I can help you today.”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Reported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Neha said that she could help me that day.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639312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Report: Amit said, “I will call you tonight.”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97096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242816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The tense does not always change when the statement is still true or the reporting context allows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ARTICLES &amp; DETERMINERS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Articles: A, An, The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Use a/an for one non-specific countable singular noun; use the for something specific.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saw a dog.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She ate an apple.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The dog was friendly.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Choose: ___ umbrella, ___ university, ___ sun.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Ask learners to explain why their choice is correct.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ARTICLES &amp; DETERMINERS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A or 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Choose based on the first sound, not simply the first letter.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a book; a European city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an hour; an orange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639312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Complete: ___ honest person; ___ useful tool.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97096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242816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Ask learners to explain why their choice is correct.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ARTICLES &amp; DETERMINERS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The for Specific Things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Use the when the listener knows which person or thing you mean.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General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Please give me a pen.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Specific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Please give me the pen on the desk.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639312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Create one general and one specific sentence.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97096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242816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Ask learners to explain why their choice is correct.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ARTICLES &amp; DETERMINERS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No Article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Plural or uncountable nouns can be general without an article.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General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Books can be expensive.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General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Water is essential for life.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639312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Choose whether an article is needed: '___ information is useful.'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97096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242816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Ask learners to explain why their choice is correct.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ARTICLES &amp; DETERMINERS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Countable and Uncountable Nouns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Countable nouns have singular/plural forms; uncountable nouns usually do not use a/an.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Countable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one chair; two chairs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Uncountable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some advice; a piece of advice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639312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Correct: 'She gave me an advice.'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97096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242816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Ask learners to explain why their choice is correct.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ARTICLES &amp; DETERMINERS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Some and 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Some is common in positive statements; any is common in negatives and questions.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Some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have some questions.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Any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Do you have any questions?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639312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Complete: 'We don't have ___ milk.'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97096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242816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Ask learners to explain why their choice is correct.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ARTICLES &amp; DETERMINERS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Much, Many, A Lot 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Use many with countable plural nouns and much with uncountable nouns, especially in questions and negatives.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Many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How many books do you have?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Much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How much time do we have?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639312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Choose: ___ people; ___ water.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97096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242816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Ask learners to explain why their choice is correct.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ARTICLES &amp; DETERMINERS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Each, Every, Either, Neither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These words have distinct meanings and often take singular verbs.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Each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Each student has a book.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Every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Every room is clean.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639312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Complete: 'Neither answer ___ correct.'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97096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242816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Ask learners to explain why their choice is correct.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PREPOSITIONS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Prepositions of Time: At, On,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Use at for exact times, on for days/dates, and in for months, years and longer periods.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at 7:30; at noon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on Monday; on 20 October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in October; in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Choose: ___ Friday, ___ night, ___ 2026.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Teach prepositions in full phrases, not as isolated translations.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PREPOSITIONS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Prepositions of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At often marks a point, on a surface, and in an enclosed or larger area.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at the bus stop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on the table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in the room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Describe where your phone 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Teach prepositions in full phrases, not as isolated translations.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PREPOSITIONS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Movement: To, Into, Onto, From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These prepositions describe direction, entry, movement to a surface, and origin.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am going to school.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Into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She walked into the room.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From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He came from Pune.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Make one sentence using 'onto'.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Teach prepositions in full phrases, not as isolated translations.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PREPOSITIONS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Since and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Since names the starting point; for gives a duration.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Since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have lived here since 2020.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have lived here for six years.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639312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Complete: 'I have studied English ___ two months.'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97096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242816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Teach prepositions in full phrases, not as isolated translations.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PREPOSITIONS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By and Until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By means no later than a deadline; until means continuing up to a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Please finish it by Friday.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Until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will wait until 5 p.m.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639312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Choose: 'The shop is open ___ 9 p.m.'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97096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242816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Teach prepositions in full phrases, not as isolated translations.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PREPOSITIONS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Between and Among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Between is common for two entities or distinct choices; among refers to a group.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Between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The shop is between the bank and the school.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Among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She was sitting among friends.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639312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Write a sentence with 'among'.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97096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242816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Teach prepositions in full phrases, not as isolated translations.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PREPOSITIONS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Common Verb + Preposition Pairs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Learn common combinations as phrases.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Depend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depend 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Listen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listen 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Interested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interested 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Complete: 'I am interested ___ learning English.'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Teach prepositions in full phrases, not as isolated translations.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PREPOSITIONS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Preposition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Select prepositions according to meaning and common usage.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Example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She arrived at the station on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Example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We discussed the plan in the meeting.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639312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Correct: 'He is good in mathematics.'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97096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242816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Teach prepositions in full phrases, not as isolated translations.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MODAL VERBS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Can and Could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Can expresses ability or informal permission; could can express past ability or polite requests.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can swim.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Past 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could swim when I was six.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Polite request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Could you help me?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Ask a partner politely to repeat a sentence.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Ask students to notice how a modal changes the speaker's attitude.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MODAL VERBS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May and Might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May expresses possibility or formal permission; might often suggests a weaker possibility.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Permission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May I come in?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Possibility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It may rain today.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Less certain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We might be late.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Make one sentence about tomorrow's weather.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Ask students to notice how a modal changes the speaker's attitude.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MODAL VERBS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Must and Have 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Must often expresses strong obligation; have to expresses necessity, often from rules or circumstances.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Must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You must wear a seat belt.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Have 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have to submit this form today.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639312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Explain one rule at school or 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97096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242816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Ask students to notice how a modal changes the speaker's attitude.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MODAL VERBS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Should and Ought 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Use these for advice, recommendations and expectations.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Advice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You should practise every day.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Expectation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The parcel ought to arrive soon.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639312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Give a friend one piece of advice.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97096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242816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Ask students to notice how a modal changes the speaker's attitude.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MODAL VERBS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Will and Would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Will expresses future or willingness; would is useful for polite requests and imagined situations.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Willingness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will help you.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Polite 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Would you open the window?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639312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Make a polite request using 'would'.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97096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242816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Ask students to notice how a modal changes the speaker's attitude.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MODAL VERBS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Needn't and Mustn't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Needn't means something is not necessary; mustn't means it is prohibited.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Not necessary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You needn't bring food.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Prohibited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You mustn't park here.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639312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Explain the difference in your own words.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97096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242816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Ask students to notice how a modal changes the speaker's attitude.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MODAL VERBS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Modal + Base Verb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A modal is followed by the base form of the main verb, without 'to' in most cases.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Correct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She can speak English.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Incorrect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She can speaks English.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639312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Correct: 'He should to study.'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97096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242816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Ask students to notice how a modal changes the speaker's attitude.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MODAL VERBS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Modals for Deduction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Must, may, might and can't can express conclusions about what is likely or impossible.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Strong 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The lights are on; they must be home.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Impossible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That can't be true.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639312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Make a deduction from a classroom clue.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97096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242816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Ask students to notice how a modal changes the speaker's attitude.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MODAL VERBS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Modal Perfects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Modal + have + V3 can describe past possibility, regret, criticism or deduction.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Possibility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She might have missed the bus.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Regret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should have called earlier.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639312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Complete: 'You ___ have told me earlier.'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97096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242816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Ask students to notice how a modal changes the speaker's attitude.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MODAL VERBS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Modal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Choose the modal that matches meaning and politeness.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Advice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You should take a break.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Permission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May I leave early?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Possibility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It might snow in the hills.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Write one request, one rule and one suggestion.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Ask students to notice how a modal changes the speaker's attitude.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SENTENCE BUILDING &amp; SPEAKING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Sentence Types: Statement, Question, Command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A statement gives information, a question asks, and a command/request tells someone what to 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You are ready.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Are you ready?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Request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Please take a seat.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Turn 'You know the answer' into a question.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Let learners speak first, then give one or two corrections they can remember.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SENTENCE BUILDING &amp; SPEAKING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Negative Sentences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Use the correct auxiliary plus not; avoid double negatives in standard English.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Present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I do not understand.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Past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She did not call.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Be verb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They are not ready.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Correct: 'I don't know nothing.'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Let learners speak first, then give one or two corrections they can remember.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SENTENCE BUILDING &amp; SPEAKING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Yes/No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Put the auxiliary before the subject.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Are you busy?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Do you speak English?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Have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Have you finished?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Form a question: 'He has a car.'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Let learners speak first, then give one or two corrections they can remember.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SENTENCE BUILDING &amp; SPEAKING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Wh-Questions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Use who, what, where, when, why and how to ask for specific information.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Where do you live?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Why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Why are you learning English?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How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How did you solve it?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Ask a partner three Wh-questions.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Let learners speak first, then give one or two corrections they can remember.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SENTENCE BUILDING &amp; SPEAKING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Question Tags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Add a short tag to check information; positive statements usually take negative tags.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Positive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You are ready, aren't you?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Negative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She doesn't drive, does she?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639312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Add a tag: 'They can swim, ___?'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97096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242816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Let learners speak first, then give one or two corrections they can remember.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6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1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2286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000" b="1">
                <a:solidFill>
                  <a:srgbClr val="431F63"/>
                </a:solidFill>
              </a:defRPr>
            </a:pPr>
            <a:r>
              <a:t>SENTENCE BUILDING &amp; SPEAKING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2700" b="1">
                <a:solidFill>
                  <a:srgbClr val="431F63"/>
                </a:solidFill>
              </a:defRPr>
            </a:pPr>
            <a:r>
              <a:t>Subject–Verb Agreement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698480" cy="68580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600" b="0">
                <a:solidFill>
                  <a:srgbClr val="26232B"/>
                </a:solidFill>
              </a:defRPr>
            </a:pPr>
            <a:r>
              <a:t>The verb agrees with the subject, not with a nearby noun.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828800" cy="274320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200" b="1">
                <a:solidFill>
                  <a:srgbClr val="431F63"/>
                </a:solidFill>
              </a:defRPr>
            </a:pPr>
            <a: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Singular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32304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The list of items is here.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80944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Plural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35808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The students are ready.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84448"/>
            <a:ext cx="10652760" cy="512064"/>
          </a:xfrm>
          <a:prstGeom prst="roundRect">
            <a:avLst/>
          </a:prstGeom>
          <a:solidFill>
            <a:srgbClr val="F8F5FC"/>
          </a:solidFill>
          <a:ln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645920" cy="32918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300" b="1">
                <a:solidFill>
                  <a:srgbClr val="431F63"/>
                </a:solidFill>
              </a:defRPr>
            </a:pPr>
            <a:r>
              <a:t>Indefinite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39312"/>
            <a:ext cx="8641080" cy="35661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500" b="0">
                <a:solidFill>
                  <a:srgbClr val="26232B"/>
                </a:solidFill>
              </a:defRPr>
            </a:pPr>
            <a:r>
              <a:t>Everyone has a turn.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515600" cy="512064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400" b="1">
                <a:solidFill>
                  <a:srgbClr val="295691"/>
                </a:solidFill>
              </a:defRPr>
            </a:pPr>
            <a:r>
              <a:t>TRY IT: Correct: 'The team are playing' in standard American English.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00600"/>
            <a:ext cx="10561320" cy="438912"/>
          </a:xfrm>
          <a:prstGeom prst="roundRect">
            <a:avLst/>
          </a:prstGeom>
          <a:solidFill>
            <a:srgbClr val="E2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10241280" cy="310896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1100" b="1">
                <a:solidFill>
                  <a:srgbClr val="431F63"/>
                </a:solidFill>
              </a:defRPr>
            </a:pPr>
            <a:r>
              <a:t>TEACHER TIP: Let learners speak first, then give one or two corrections they can remember.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</p:spPr>
        <p:txBody>
          <a:bodyPr wrap="square" lIns="109728" rIns="109728" tIns="54864" bIns="27432">
            <a:spAutoFit/>
          </a:bodyPr>
          <a:lstStyle/>
          <a:p>
            <a:pPr>
              <a:defRPr sz="800" b="0">
                <a:solidFill>
                  <a:srgbClr val="431F63"/>
                </a:solidFill>
              </a:defRPr>
            </a:pPr>
            <a:r>
              <a:t>SkyNetix Systems LLP | English Speaking Masterclass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6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6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00A6A6"/>
                </a:solidFill>
                <a:latin typeface="Aptos"/>
              </a:defRPr>
            </a:pPr>
            <a:r>
              <a:t>SKYNETIX SYSTEMS LLP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332720" cy="1097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RAPIDEX-ALIGNED CURRICULUM 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80360"/>
            <a:ext cx="987552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900" b="0">
                <a:solidFill>
                  <a:srgbClr val="DCE7F2"/>
                </a:solidFill>
                <a:latin typeface="Aptos"/>
              </a:defRPr>
            </a:pPr>
            <a:r>
              <a:t>Additional original lessons covering foundations, sentence drills, pronunciation, real-life conversations, word power, letters and fluency assessment.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49240"/>
            <a:ext cx="105156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B4C6DA"/>
                </a:solidFill>
                <a:latin typeface="Aptos"/>
              </a:defRPr>
            </a:pPr>
            <a:r>
              <a:t>106 supplementary lessons • Original teaching content • SkyNetix English Speaking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5156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B4C6DA"/>
                </a:solidFill>
                <a:latin typeface="Aptos"/>
              </a:defRPr>
            </a:pPr>
            <a:r>
              <a:t>Inspired by publicly described topic areas; not a reproduction of the Rapidex book.</a:t>
            </a:r>
          </a:p>
        </p:txBody>
      </p:sp>
    </p:spTree>
  </p:cSld>
  <p:clrMapOvr>
    <a:masterClrMapping/>
  </p:clrMapOvr>
</p:sld>
</file>

<file path=ppt/slides/slide6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Greetings and Salutations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Choose a greeting that fits the time, relationship and setting.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Good morning. How are you?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Hello, it is nice to meet you.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Good evening. How have you been?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Greet three people in different settings.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Model natural intonation and friendly eye contact.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001</a:t>
            </a:r>
          </a:p>
        </p:txBody>
      </p:sp>
    </p:spTree>
  </p:cSld>
  <p:clrMapOvr>
    <a:masterClrMapping/>
  </p:clrMapOvr>
</p:sld>
</file>

<file path=ppt/slides/slide6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Introducing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Share your name, background and one useful detail.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My name is Rohan.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 live in Pune.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 work as a software developer.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Give a 30-second self-introduction.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Encourage complete sentences, not isolated words.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002</a:t>
            </a:r>
          </a:p>
        </p:txBody>
      </p:sp>
    </p:spTree>
  </p:cSld>
  <p:clrMapOvr>
    <a:masterClrMapping/>
  </p:clrMapOvr>
</p:sld>
</file>

<file path=ppt/slides/slide6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Introducing Another Person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Introduce two people and give them a topic to begin talking about.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This is my colleague, Meera.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Meera works with our support team.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Have you both met before?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Introduce two classmates to each other.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Practise names clearly and politely.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003</a:t>
            </a:r>
          </a:p>
        </p:txBody>
      </p:sp>
    </p:spTree>
  </p:cSld>
  <p:clrMapOvr>
    <a:masterClrMapping/>
  </p:clrMapOvr>
</p:sld>
</file>

<file path=ppt/slides/slide6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Polite Expressions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Politeness helps conversations feel respectful and cooperative.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Please could you help me?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Thank you for your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You're welcome. / My pleasure.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Make three direct requests more polite.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Compare tone as well as grammar.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004</a:t>
            </a:r>
          </a:p>
        </p:txBody>
      </p:sp>
    </p:spTree>
  </p:cSld>
  <p:clrMapOvr>
    <a:masterClrMapping/>
  </p:clrMapOvr>
</p:sld>
</file>

<file path=ppt/slides/slide6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Apologising and Responding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A good apology names the problem and, when needed, offers a next step.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I'm sorry I'm late.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 apologise for the confusion.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That's all right. Thanks for telling 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Role-play a late arrival and a missed call.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Avoid over-apologising; be clear and sincere.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005</a:t>
            </a:r>
          </a:p>
        </p:txBody>
      </p:sp>
    </p:spTree>
  </p:cSld>
  <p:clrMapOvr>
    <a:masterClrMapping/>
  </p:clrMapOvr>
</p:sld>
</file>

<file path=ppt/slides/slide6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Asking for Repetition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Use a calm phrase when you miss information.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Could you repeat that, please?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Would you mind speaking a little more slowly?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Did you say fifteen or fifty?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Practise clarifying a name, number and 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Clarification is a communication skill, not a failure.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006</a:t>
            </a:r>
          </a:p>
        </p:txBody>
      </p:sp>
    </p:spTree>
  </p:cSld>
  <p:clrMapOvr>
    <a:masterClrMapping/>
  </p:clrMapOvr>
</p:sld>
</file>

<file path=ppt/slides/slide6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Manners and Etiquette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Use respectful language when entering, interrupting or leaving a conversation.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Excuse me, may I come in?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May I add one point?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Thank you for having 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Act out a polite interruption and a polite exit.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Discuss how context changes formality.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007</a:t>
            </a:r>
          </a:p>
        </p:txBody>
      </p:sp>
    </p:spTree>
  </p:cSld>
  <p:clrMapOvr>
    <a:masterClrMapping/>
  </p:clrMapOvr>
</p:sld>
</file>

<file path=ppt/slides/slide6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Exclamations and Reactions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Short reactions show surprise, happiness, concern or understanding.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That's wonderful!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Oh no! Are you okay?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Really? That's surprising!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React appropriately to five everyday situations.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Match expression to meaning; avoid overusing exclamations.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008</a:t>
            </a:r>
          </a:p>
        </p:txBody>
      </p:sp>
    </p:spTree>
  </p:cSld>
  <p:clrMapOvr>
    <a:masterClrMapping/>
  </p:clrMapOvr>
</p:sld>
</file>

<file path=ppt/slides/slide6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Useful Everyday Phrases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Learn phrases as complete chunks that can be reused.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By the way, I have a question.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That sounds like a good idea.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Let me think about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Use each phrase in a short dialogue.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Teach phrases in context rather than as isolated translations.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009</a:t>
            </a:r>
          </a:p>
        </p:txBody>
      </p:sp>
    </p:spTree>
  </p:cSld>
  <p:clrMapOvr>
    <a:masterClrMapping/>
  </p:clrMapOvr>
</p:sld>
</file>

<file path=ppt/slides/slide6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Commands and Instructions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Use the base verb for direct instructions; add please to soften the tone.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Open the window, please.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Please wait here.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Don't touch that button.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Give a partner five classroom or workplace instructions.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Explain when a direct command may sound too strong.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010</a:t>
            </a:r>
          </a:p>
        </p:txBody>
      </p:sp>
    </p:spTree>
  </p:cSld>
  <p:clrMapOvr>
    <a:masterClrMapping/>
  </p:clrMapOvr>
</p:sld>
</file>

<file path=ppt/slides/slide6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Requests and Offers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Requests ask for help; offers volunteer help.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Could you send me the file?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Would you like some tea?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Shall I help you carry that?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Turn five commands into polite requests.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Practise accepting and declining offers politely.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011</a:t>
            </a:r>
          </a:p>
        </p:txBody>
      </p:sp>
    </p:spTree>
  </p:cSld>
  <p:clrMapOvr>
    <a:masterClrMapping/>
  </p:clrMapOvr>
</p:sld>
</file>

<file path=ppt/slides/slide6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Time, Dates and Schedules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State time clearly and confirm dates to avoid misunderstandings.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It's half past nine.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The meeting is on Tuesday, 20 October.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Could we meet at 3 p.m.?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Plan a meeting and repeat the date and time back.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Use clear numbers and confirm ambiguous dates.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012</a:t>
            </a:r>
          </a:p>
        </p:txBody>
      </p:sp>
    </p:spTree>
  </p:cSld>
  <p:clrMapOvr>
    <a:masterClrMapping/>
  </p:clrMapOvr>
</p:sld>
</file>

<file path=ppt/slides/slide6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Numbers and Number Pronunciation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Distinguish commonly confused numbers and read amounts carefully.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thirteen / thirty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fifteen / fifty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The total is 2,450 rupees.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Read phone numbers, prices and quantities aloud.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Stress the correct syllable and pause between number groups.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013</a:t>
            </a:r>
          </a:p>
        </p:txBody>
      </p:sp>
    </p:spTree>
  </p:cSld>
  <p:clrMapOvr>
    <a:masterClrMapping/>
  </p:clrMapOvr>
</p:sld>
</file>

<file path=ppt/slides/slide6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Days, Months and Seasons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Use capital letters for days and months.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 work on Mondays.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My course starts in November.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The weather is pleasant in winter.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Describe your weekly routine and an important date.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Review on + day/date and in + month/season.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014</a:t>
            </a:r>
          </a:p>
        </p:txBody>
      </p:sp>
    </p:spTree>
  </p:cSld>
  <p:clrMapOvr>
    <a:masterClrMapping/>
  </p:clrMapOvr>
</p:sld>
</file>

<file path=ppt/slides/slide6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Punctuation for Clear Meaning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Punctuation guides pauses and meaning in writing.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Where are you going?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Let's eat, Grandma!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 bought pens, paper and a notebook.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Punctuate five short messages.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Read sentences aloud to hear how punctuation shapes meaning.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015</a:t>
            </a:r>
          </a:p>
        </p:txBody>
      </p:sp>
    </p:spTree>
  </p:cSld>
  <p:clrMapOvr>
    <a:masterClrMapping/>
  </p:clrMapOvr>
</p:sld>
</file>

<file path=ppt/slides/slide6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SENTENCE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What Makes a Sentence?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A complete sentence expresses a complete thought.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The bus is late.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My sister works in a bank.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Because I was tired. → incomplete thought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Identify complete and incomplete sentences.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Ask learners to repair fragments.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016</a:t>
            </a:r>
          </a:p>
        </p:txBody>
      </p:sp>
    </p:spTree>
  </p:cSld>
  <p:clrMapOvr>
    <a:masterClrMapping/>
  </p:clrMapOvr>
</p:sld>
</file>

<file path=ppt/slides/slide6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SENTENCE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Subject and Predicate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The subject tells who or what; the predicate says something about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The children / are playing outside.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My manager / approved the request.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The train / arrived early.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Underline the subject and circle the predicate.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Start with short sentences before adding detail.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017</a:t>
            </a:r>
          </a:p>
        </p:txBody>
      </p:sp>
    </p:spTree>
  </p:cSld>
  <p:clrMapOvr>
    <a:masterClrMapping/>
  </p:clrMapOvr>
</p:sld>
</file>

<file path=ppt/slides/slide6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SENTENCE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Statements, Questions and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Sentence form depends on the speaker's purpose.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Statement: She is ready.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Question: Is she ready?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Request: Please wait here.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Convert five statements into questions or requests.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Check word order and punctuation.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018</a:t>
            </a:r>
          </a:p>
        </p:txBody>
      </p:sp>
    </p:spTree>
  </p:cSld>
  <p:clrMapOvr>
    <a:masterClrMapping/>
  </p:clrMapOvr>
</p:sld>
</file>

<file path=ppt/slides/slide6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SENTENCE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Positive and Negative Sentences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Use the correct helping verb with not to make a negative.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 understand. → I don't understand.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She is ready. → She isn't ready.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They arrived. → They didn't arrive.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Make three positive sentences negative.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After did not, use the base verb.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019</a:t>
            </a:r>
          </a:p>
        </p:txBody>
      </p:sp>
    </p:spTree>
  </p:cSld>
  <p:clrMapOvr>
    <a:masterClrMapping/>
  </p:clrMapOvr>
</p:sld>
</file>

<file path=ppt/slides/slide6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SENTENCE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Yes/No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Place the helping verb before the subject.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Are you ready?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Do you speak English?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Have they arrived?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Form questions from six statements.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Use do/does/did when no other auxiliary is present.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020</a:t>
            </a:r>
          </a:p>
        </p:txBody>
      </p:sp>
    </p:spTree>
  </p:cSld>
  <p:clrMapOvr>
    <a:masterClrMapping/>
  </p:clrMapOvr>
</p:sld>
</file>

<file path=ppt/slides/slide6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SENTENCE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Wh-Questions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Who, what, where, when, why and how ask for specific information.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Where do you live?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Why did you call?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How does this machine work?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Ask a partner six different Wh-questions.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Keep the question word at the beginning in most direct questions.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021</a:t>
            </a:r>
          </a:p>
        </p:txBody>
      </p:sp>
    </p:spTree>
  </p:cSld>
  <p:clrMapOvr>
    <a:masterClrMapping/>
  </p:clrMapOvr>
</p:sld>
</file>

<file path=ppt/slides/slide6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SENTENCE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This, That, These and Those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Use this/these for things near you and that/those for things farther away.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This is my notebook.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Those are your keys.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Are these your glasses?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Describe objects near and far from you.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Match singular/plural demonstratives to the noun.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022</a:t>
            </a:r>
          </a:p>
        </p:txBody>
      </p:sp>
    </p:spTree>
  </p:cSld>
  <p:clrMapOvr>
    <a:masterClrMapping/>
  </p:clrMapOvr>
</p:sld>
</file>

<file path=ppt/slides/slide6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SENTENCE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Singular and Plural Nouns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Most nouns add -s or -es, but some plurals are irregular.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one box → two boxes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one child → two children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one city → two cities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Change ten singular nouns into plural forms.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Include common irregular forms in revision.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023</a:t>
            </a:r>
          </a:p>
        </p:txBody>
      </p:sp>
    </p:spTree>
  </p:cSld>
  <p:clrMapOvr>
    <a:masterClrMapping/>
  </p:clrMapOvr>
</p:sld>
</file>

<file path=ppt/slides/slide6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SENTENCE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Pronouns in Everyday Speech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Pronouns avoid repeating names and nouns.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Riya is here. She is waiting.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This bag is mine.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They gave us the details.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Replace repeated nouns with suitable pronouns.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Distinguish subject, object and possessive forms.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024</a:t>
            </a:r>
          </a:p>
        </p:txBody>
      </p:sp>
    </p:spTree>
  </p:cSld>
  <p:clrMapOvr>
    <a:masterClrMapping/>
  </p:clrMapOvr>
</p:sld>
</file>

<file path=ppt/slides/slide6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SENTENCE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Articles: A, An and The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Use a/an for a non-specific singular countable noun and the for something specific.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 saw a dog. The dog was friendly.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She ate an orange.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He is a university student.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Choose the article in ten short sentences.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Choose a/an by sound, not spelling alone.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025</a:t>
            </a:r>
          </a:p>
        </p:txBody>
      </p:sp>
    </p:spTree>
  </p:cSld>
  <p:clrMapOvr>
    <a:masterClrMapping/>
  </p:clrMapOvr>
</p:sld>
</file>

<file path=ppt/slides/slide6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SENTENCE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Countable and Uncountable Nouns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Countable nouns have plural forms; uncountable nouns usually do not use a/an.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three chairs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some information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a piece of advice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Correct: 'She gave me an advice.'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Teach common quantifiers with examples.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026</a:t>
            </a:r>
          </a:p>
        </p:txBody>
      </p:sp>
    </p:spTree>
  </p:cSld>
  <p:clrMapOvr>
    <a:masterClrMapping/>
  </p:clrMapOvr>
</p:sld>
</file>

<file path=ppt/slides/slide6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SENTENCE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Some, Any, Much and Many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Choose quantifiers based on the noun and sentence type.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 have some questions.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Do you have any water?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How many books? / How much time?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Complete ten sentences with a suitable quantifier.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Explain countable versus uncountable nouns.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027</a:t>
            </a:r>
          </a:p>
        </p:txBody>
      </p:sp>
    </p:spTree>
  </p:cSld>
  <p:clrMapOvr>
    <a:masterClrMapping/>
  </p:clrMapOvr>
</p:sld>
</file>

<file path=ppt/slides/slide6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SENTENCE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Adjectives and Comparisons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Adjectives describe nouns; comparative forms compare two things.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This route is shorter.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Today is hotter than yesterday.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It is the most useful option.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Compare two places, products or people respectfully.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Review -er/-est and more/most patterns.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028</a:t>
            </a:r>
          </a:p>
        </p:txBody>
      </p:sp>
    </p:spTree>
  </p:cSld>
  <p:clrMapOvr>
    <a:masterClrMapping/>
  </p:clrMapOvr>
</p:sld>
</file>

<file path=ppt/slides/slide6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SENTENCE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Adverbs and Frequency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Adverbs describe how, when or how often an action happens.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She speaks clearly.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 usually take the bus.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He arrived early.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Describe your routine using always, often, sometimes and never.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Place frequency adverbs before most main verbs, but after be.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029</a:t>
            </a:r>
          </a:p>
        </p:txBody>
      </p:sp>
    </p:spTree>
  </p:cSld>
  <p:clrMapOvr>
    <a:masterClrMapping/>
  </p:clrMapOvr>
</p:sld>
</file>

<file path=ppt/slides/slide6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SENTENCE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Prepositions of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At is used for exact times, on for days/dates, and in for months and years.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at 7:30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on Friday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in October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Describe your weekly timetable.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Teach prepositions as complete phrases.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030</a:t>
            </a:r>
          </a:p>
        </p:txBody>
      </p:sp>
    </p:spTree>
  </p:cSld>
  <p:clrMapOvr>
    <a:masterClrMapping/>
  </p:clrMapOvr>
</p:sld>
</file>

<file path=ppt/slides/slide6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SENTENCE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Prepositions of Place and Movement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Prepositions show location, direction and movement.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The keys are on the 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She walked into the room.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We travelled from Pune to Mumbai.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Describe a route from your home to a familiar place.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Use objects or a simple map for practice.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031</a:t>
            </a:r>
          </a:p>
        </p:txBody>
      </p:sp>
    </p:spTree>
  </p:cSld>
  <p:clrMapOvr>
    <a:masterClrMapping/>
  </p:clrMapOvr>
</p:sld>
</file>

<file path=ppt/slides/slide6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SENTENCE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Conjunctions: And, But, Because, 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Conjunctions connect ideas and show relationships.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 called, but nobody answered.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 stayed home because it rained.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It was late, so we left.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Join six pairs of short sentences.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Check that the joined ideas make logical sense.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032</a:t>
            </a:r>
          </a:p>
        </p:txBody>
      </p:sp>
    </p:spTree>
  </p:cSld>
  <p:clrMapOvr>
    <a:masterClrMapping/>
  </p:clrMapOvr>
</p:sld>
</file>

<file path=ppt/slides/slide6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SENTENCE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Subject–Verb Agreement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The verb agrees with the subject, not a nearby noun.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The list of items is ready.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The students are ready.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Everyone has a turn.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Correct five subject–verb errors.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Find the true subject before choosing the verb.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033</a:t>
            </a:r>
          </a:p>
        </p:txBody>
      </p:sp>
    </p:spTree>
  </p:cSld>
  <p:clrMapOvr>
    <a:masterClrMapping/>
  </p:clrMapOvr>
</p:sld>
</file>

<file path=ppt/slides/slide6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TENSES &amp; VERB DRILLS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Helping Verbs: Be, Do and Have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Helping verbs support questions, negatives and verb tenses.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She is working.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Do you agree?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They have finished.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Build one statement, negative and question with each helper.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Compare helper verbs with main verbs.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034</a:t>
            </a:r>
          </a:p>
        </p:txBody>
      </p:sp>
    </p:spTree>
  </p:cSld>
  <p:clrMapOvr>
    <a:masterClrMapping/>
  </p:clrMapOvr>
</p:sld>
</file>

<file path=ppt/slides/slide6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TENSES &amp; VERB DRILLS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Present Tense Drill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Use the simple present for habits, routines and facts.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 work from home.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She works in Pune.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Do they speak English?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Say five true things about your routine.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Remember -s/-es with he, she and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035</a:t>
            </a:r>
          </a:p>
        </p:txBody>
      </p:sp>
    </p:spTree>
  </p:cSld>
  <p:clrMapOvr>
    <a:masterClrMapping/>
  </p:clrMapOvr>
</p:sld>
</file>

<file path=ppt/slides/slide6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TENSES &amp; VERB DRILLS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Present Continuous Drill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Use am/is/are + verb-ing for actions happening now or around this period.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 am learning English.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She is speaking on the phone.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They are waiting outside.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Describe what three people are doing now.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Check the correct form of be and the -ing ending.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036</a:t>
            </a:r>
          </a:p>
        </p:txBody>
      </p:sp>
    </p:spTree>
  </p:cSld>
  <p:clrMapOvr>
    <a:masterClrMapping/>
  </p:clrMapOvr>
</p:sld>
</file>

<file path=ppt/slides/slide6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TENSES &amp; VERB DRILLS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Past Tense Drill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Use the simple past for completed actions in the past.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 called yesterday.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She went to the market.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Did you finish the task?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Tell a partner what you did yesterday.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After did, use the base form of the verb.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037</a:t>
            </a:r>
          </a:p>
        </p:txBody>
      </p:sp>
    </p:spTree>
  </p:cSld>
  <p:clrMapOvr>
    <a:masterClrMapping/>
  </p:clrMapOvr>
</p:sld>
</file>

<file path=ppt/slides/slide6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TENSES &amp; VERB DRILLS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Past Continuous Drill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Use was/were + verb-ing for an action in progress at a past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 was reading at eight.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They were travelling when it rained.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What were you doing?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Describe what you were doing at a chosen time yesterday.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Pair it with a past event where useful.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038</a:t>
            </a:r>
          </a:p>
        </p:txBody>
      </p:sp>
    </p:spTree>
  </p:cSld>
  <p:clrMapOvr>
    <a:masterClrMapping/>
  </p:clrMapOvr>
</p:sld>
</file>

<file path=ppt/slides/slide6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TENSES &amp; VERB DRILLS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Future Forms: Will and Going 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Use will for decisions or predictions and going to for plans or evidence-based predictions.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I'll call you later.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I'm going to study tonight.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Look at those clouds; it's going to rain.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Share one promise, one plan and one prediction.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Explain that future forms depend on meaning and context.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039</a:t>
            </a:r>
          </a:p>
        </p:txBody>
      </p:sp>
    </p:spTree>
  </p:cSld>
  <p:clrMapOvr>
    <a:masterClrMapping/>
  </p:clrMapOvr>
</p:sld>
</file>

<file path=ppt/slides/slide6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TENSES &amp; VERB DRILLS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Present Perfect Drill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Use has/have + past participle for experiences or past actions connected to now.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 have visited Delhi.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She has finished the report.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Have you ever tried sushi?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Ask a partner five 'Have you ever…?' questions.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Avoid using the simple past with an unfinished time expression.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040</a:t>
            </a:r>
          </a:p>
        </p:txBody>
      </p:sp>
    </p:spTree>
  </p:cSld>
  <p:clrMapOvr>
    <a:masterClrMapping/>
  </p:clrMapOvr>
</p:sld>
</file>

<file path=ppt/slides/slide6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TENSES &amp; VERB DRILLS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Since and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Since gives a starting point; for gives a duration.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since 2020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for six years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 have worked here for two months.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Complete ten sentences with since or for.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Connect this pattern to present perfect.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041</a:t>
            </a:r>
          </a:p>
        </p:txBody>
      </p:sp>
    </p:spTree>
  </p:cSld>
  <p:clrMapOvr>
    <a:masterClrMapping/>
  </p:clrMapOvr>
</p:sld>
</file>

<file path=ppt/slides/slide6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TENSES &amp; VERB DRILLS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Imperatives and Instructions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Use the base verb for instructions; use don't + base verb for negative instructions.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Turn left at the signal.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Press the green button.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Don't open the file yet.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Explain how to make tea or use a simple device.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Give instructions in a logical sequence.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042</a:t>
            </a:r>
          </a:p>
        </p:txBody>
      </p:sp>
    </p:spTree>
  </p:cSld>
  <p:clrMapOvr>
    <a:masterClrMapping/>
  </p:clrMapOvr>
</p:sld>
</file>

<file path=ppt/slides/slide6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TENSES &amp; VERB DRILLS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Modal Verbs for Ability and Permission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Can and could express ability; may is common for formal permission.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 can swim.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Could you help me?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May I come in?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Make a request in casual and formal styles.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Compare politeness and meaning.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043</a:t>
            </a:r>
          </a:p>
        </p:txBody>
      </p:sp>
    </p:spTree>
  </p:cSld>
  <p:clrMapOvr>
    <a:masterClrMapping/>
  </p:clrMapOvr>
</p:sld>
</file>

<file path=ppt/slides/slide6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TENSES &amp; VERB DRILLS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Modal Verbs for Advice and Obligation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Should gives advice; must and have to express stronger necessity.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You should practise daily.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You must wear a helmet.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 have to submit this today.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Give advice for three everyday problems.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Discuss how strong each expression sounds.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044</a:t>
            </a:r>
          </a:p>
        </p:txBody>
      </p:sp>
    </p:spTree>
  </p:cSld>
  <p:clrMapOvr>
    <a:masterClrMapping/>
  </p:clrMapOvr>
</p:sld>
</file>

<file path=ppt/slides/slide6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TENSES &amp; VERB DRILLS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Verb Forms: Base, Past and Past Participle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Learn common verb forms to improve tense accuracy.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go – went – gone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write – wrote – written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speak – spoke – spoken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Use ten verbs in three short sentences each.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Group irregular verbs and revisit them regularly.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045</a:t>
            </a:r>
          </a:p>
        </p:txBody>
      </p:sp>
    </p:spTree>
  </p:cSld>
  <p:clrMapOvr>
    <a:masterClrMapping/>
  </p:clrMapOvr>
</p:sld>
</file>

<file path=ppt/slides/slide6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TENSES &amp; VERB DRILLS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Active and Passive 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Active voice focuses on the doer; passive voice focuses on the action or receiver.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The team completed the 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The work was completed by the team.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The parcel was delivered yesterday.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Change four suitable active sentences into passive voice.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Use passive voice when the doer is unknown or less important.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046</a:t>
            </a:r>
          </a:p>
        </p:txBody>
      </p:sp>
    </p:spTree>
  </p:cSld>
  <p:clrMapOvr>
    <a:masterClrMapping/>
  </p:clrMapOvr>
</p:sld>
</file>

<file path=ppt/slides/slide6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TENSES &amp; VERB DRILLS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Direct and Reported Speech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Reported speech tells what someone said, with changes to pronouns and sometimes tense or time words.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Direct: Ravi said, “I am busy.”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Reported: Ravi said that he was busy.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Direct: She said, “I will call tomorrow.”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Report three statements and two questions.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Changes depend on context; not every tense must shift.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047</a:t>
            </a:r>
          </a:p>
        </p:txBody>
      </p:sp>
    </p:spTree>
  </p:cSld>
  <p:clrMapOvr>
    <a:masterClrMapping/>
  </p:clrMapOvr>
</p:sld>
</file>

<file path=ppt/slides/slide6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TENSES &amp; VERB DRILLS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Question Tags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Question tags check information or invite agreement.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You're ready, aren't you?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She doesn't drive, does she?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They can swim, can't they?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Add a tag to six statements.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Positive statements usually take negative tags and vice versa.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048</a:t>
            </a:r>
          </a:p>
        </p:txBody>
      </p:sp>
    </p:spTree>
  </p:cSld>
  <p:clrMapOvr>
    <a:masterClrMapping/>
  </p:clrMapOvr>
</p:sld>
</file>

<file path=ppt/slides/slide6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PRONUNCIATION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English Alphabet and Letter Names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Practise letter names clearly, especially when spelling names and email addresses.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A, E, I, O, 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B / D / P / 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Please spell your surname.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Spell your name, city and email address aloud.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Distinguish letter names from the sounds letters represent.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049</a:t>
            </a:r>
          </a:p>
        </p:txBody>
      </p:sp>
    </p:spTree>
  </p:cSld>
  <p:clrMapOvr>
    <a:masterClrMapping/>
  </p:clrMapOvr>
</p:sld>
</file>

<file path=ppt/slides/slide6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PRONUNCIATION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Vowels and Consonants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Vowel sounds are made with an open vocal tract; consonants involve some constriction.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ship / sheep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full / fool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cat / cut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Read minimal pairs slowly, then at natural speed.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Focus on being understood, not imitating an accent.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050</a:t>
            </a:r>
          </a:p>
        </p:txBody>
      </p:sp>
    </p:spTree>
  </p:cSld>
  <p:clrMapOvr>
    <a:masterClrMapping/>
  </p:clrMapOvr>
</p:sld>
</file>

<file path=ppt/slides/slide6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PRONUNCIATION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Short and Long Vowel Contrast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Small sound differences can change word meaning.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ship / sheep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live / leave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bit / beat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Listen to a partner and identify which word they say.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Use minimal pairs and repeat in short sentences.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051</a:t>
            </a:r>
          </a:p>
        </p:txBody>
      </p:sp>
    </p:spTree>
  </p:cSld>
  <p:clrMapOvr>
    <a:masterClrMapping/>
  </p:clrMapOvr>
</p:sld>
</file>

<file path=ppt/slides/slide6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PRONUNCIATION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Common Consonant Contrasts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Practise sounds that learners may confuse.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think / sink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very / wary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fan / van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Say each pair and use both words in sentences.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Model tongue and lip position when helpful.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052</a:t>
            </a:r>
          </a:p>
        </p:txBody>
      </p:sp>
    </p:spTree>
  </p:cSld>
  <p:clrMapOvr>
    <a:masterClrMapping/>
  </p:clrMapOvr>
</p:sld>
</file>

<file path=ppt/slides/slide6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PRONUNCIATION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Silent Letters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Some written letters are not pronounced.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know / knee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write / wrong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listen / castle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Read a list of silent-letter words aloud.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Learn common patterns while remembering exceptions.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053</a:t>
            </a:r>
          </a:p>
        </p:txBody>
      </p:sp>
    </p:spTree>
  </p:cSld>
  <p:clrMapOvr>
    <a:masterClrMapping/>
  </p:clrMapOvr>
</p:sld>
</file>

<file path=ppt/slides/slide6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PRONUNCIATION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Word Stress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English words have stressed syllables that stand 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beGIN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imPORtant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Mark the stressed syllable in ten words.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Use a dictionary audio model when unsure.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054</a:t>
            </a:r>
          </a:p>
        </p:txBody>
      </p:sp>
    </p:spTree>
  </p:cSld>
  <p:clrMapOvr>
    <a:masterClrMapping/>
  </p:clrMapOvr>
</p:sld>
</file>

<file path=ppt/slides/slide6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PRONUNCIATION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Sentence Stress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Stress important words to make the main meaning clear.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 wanted the BLUE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 wanted the blue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 WANTED the blue 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Say one sentence three ways and discuss the meaning.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Content words are often stressed more than grammar words.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055</a:t>
            </a:r>
          </a:p>
        </p:txBody>
      </p:sp>
    </p:spTree>
  </p:cSld>
  <p:clrMapOvr>
    <a:masterClrMapping/>
  </p:clrMapOvr>
</p:sld>
</file>

<file path=ppt/slides/slide6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PRONUNCIATION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Intonation in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Rising or falling intonation can signal different question types and attitudes.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Are you ready?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Where do you live?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Really?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Practise yes/no and Wh-questions in pairs.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Avoid making every question sound identical.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056</a:t>
            </a:r>
          </a:p>
        </p:txBody>
      </p:sp>
    </p:spTree>
  </p:cSld>
  <p:clrMapOvr>
    <a:masterClrMapping/>
  </p:clrMapOvr>
</p:sld>
</file>

<file path=ppt/slides/slide6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PRONUNCIATION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Connected Speech and Natural Rhythm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Words link together in fluent speech; natural rhythm is not the same as speaking fast.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Would you like to…?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What do you want to do?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 have to leave now.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Repeat a short dialogue at slow, normal and comfortable speed.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Prioritise clarity and phrasing over speed.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057</a:t>
            </a:r>
          </a:p>
        </p:txBody>
      </p:sp>
    </p:spTree>
  </p:cSld>
  <p:clrMapOvr>
    <a:masterClrMapping/>
  </p:clrMapOvr>
</p:sld>
</file>

<file path=ppt/slides/slide6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PRONUNCIATION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Numbers, Dates and Spelling Aloud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Speak numbers carefully when sharing contact details or appointments.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thirteen / thirty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Monday, the twentieth of October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My email is…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Exchange phone numbers and confirm them back.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Repeat important details to prevent mistakes.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058</a:t>
            </a:r>
          </a:p>
        </p:txBody>
      </p:sp>
    </p:spTree>
  </p:cSld>
  <p:clrMapOvr>
    <a:masterClrMapping/>
  </p:clrMapOvr>
</p:sld>
</file>

<file path=ppt/slides/slide6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Before a Conversation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Start with a greeting, establish the topic and give the other person space to respond.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Hello, do you have a minute?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 wanted to ask about the class.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Is now a good time?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Start a 60-second conversation with a partner.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Practise both opening and closing a conversation.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059</a:t>
            </a:r>
          </a:p>
        </p:txBody>
      </p:sp>
    </p:spTree>
  </p:cSld>
  <p:clrMapOvr>
    <a:masterClrMapping/>
  </p:clrMapOvr>
</p:sld>
</file>

<file path=ppt/slides/slide6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Talking About Family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Describe family members and relationships using simple, respectful language.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 live with my family.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My brother works in Mumbai.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We usually meet on Sundays.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Speak for one minute about your family or chosen family.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Let learners choose how much personal detail to share.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060</a:t>
            </a:r>
          </a:p>
        </p:txBody>
      </p:sp>
    </p:spTree>
  </p:cSld>
  <p:clrMapOvr>
    <a:masterClrMapping/>
  </p:clrMapOvr>
</p:sld>
</file>

<file path=ppt/slides/slide6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Talking About Daily Routine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Use present simple and time expressions for routines.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 wake up at six.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 usually travel by bus.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 study English in the evening.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Describe a weekday from morning to night.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Use sequence words such as first, then and finally.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061</a:t>
            </a:r>
          </a:p>
        </p:txBody>
      </p:sp>
    </p:spTree>
  </p:cSld>
  <p:clrMapOvr>
    <a:masterClrMapping/>
  </p:clrMapOvr>
</p:sld>
</file>

<file path=ppt/slides/slide6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Talking About Hobbies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Ask follow-up questions to keep a conversation going.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What do you enjoy doing?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 like gardening and music.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How did you get interested in it?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Discuss a hobby for two minutes.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Teach follow-up questions, not just prepared answers.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062</a:t>
            </a:r>
          </a:p>
        </p:txBody>
      </p:sp>
    </p:spTree>
  </p:cSld>
  <p:clrMapOvr>
    <a:masterClrMapping/>
  </p:clrMapOvr>
</p:sld>
</file>

<file path=ppt/slides/slide6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Asking for Directions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Ask politely, listen to landmarks and confirm the route.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Excuse me, how do I get to the station?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Go straight and turn left.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So I turn left at the bank, correct?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Role-play asking for and giving directions.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Use a simple map and clarify left/right.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063</a:t>
            </a:r>
          </a:p>
        </p:txBody>
      </p:sp>
    </p:spTree>
  </p:cSld>
  <p:clrMapOvr>
    <a:masterClrMapping/>
  </p:clrMapOvr>
</p:sld>
</file>

<file path=ppt/slides/slide6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On Public Transport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Ask about destinations, tickets, stops and timings.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Does this bus go to the market?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Where should I get off?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What time is the next train?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Role-play a passenger and a ticket clerk.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Practise listening for numbers and place names.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064</a:t>
            </a:r>
          </a:p>
        </p:txBody>
      </p:sp>
    </p:spTree>
  </p:cSld>
  <p:clrMapOvr>
    <a:masterClrMapping/>
  </p:clrMapOvr>
</p:sld>
</file>

<file path=ppt/slides/slide6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At a 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Ask about prices, sizes, availability and payment.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How much does this cost?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Do you have this in a larger size?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Can I pay by card?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Role-play customer and shop assistant.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Practise polite questions and amounts.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065</a:t>
            </a:r>
          </a:p>
        </p:txBody>
      </p:sp>
    </p:spTree>
  </p:cSld>
  <p:clrMapOvr>
    <a:masterClrMapping/>
  </p:clrMapOvr>
</p:sld>
</file>

<file path=ppt/slides/slide6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Buying a Gift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Explain what you need and ask for suggestions.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I'm looking for a gift for my friend.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What would you recommend?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Could you wrap it, please?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Choose a gift within a budget in a role-play.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Encourage explaining reasons and preferences.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066</a:t>
            </a:r>
          </a:p>
        </p:txBody>
      </p:sp>
    </p:spTree>
  </p:cSld>
  <p:clrMapOvr>
    <a:masterClrMapping/>
  </p:clrMapOvr>
</p:sld>
</file>

<file path=ppt/slides/slide6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At a Restaurant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Order food, ask about ingredients and request the bill.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Could I see the menu, please?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Does this dish contain peanuts?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Could we have the bill, please?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Role-play customer and server.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Practise courteous requests and clarification.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067</a:t>
            </a:r>
          </a:p>
        </p:txBody>
      </p:sp>
    </p:spTree>
  </p:cSld>
  <p:clrMapOvr>
    <a:masterClrMapping/>
  </p:clrMapOvr>
</p:sld>
</file>

<file path=ppt/slides/slide6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At a Doctor's Clinic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Describe symptoms clearly and answer basic questions.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I've had a headache since yesterday.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The pain gets worse at night.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Could you explain the instructions?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Role-play a patient checking in and describing a concern.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Use this for language practice, not medical diagnosis.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068</a:t>
            </a:r>
          </a:p>
        </p:txBody>
      </p:sp>
    </p:spTree>
  </p:cSld>
  <p:clrMapOvr>
    <a:masterClrMapping/>
  </p:clrMapOvr>
</p:sld>
</file>

<file path=ppt/slides/slide6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Talking on the Telephone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Identify yourself, explain the purpose and confirm next steps.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Hello, this is Anil speaking.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May I speak to Ms. Rao?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Could you ask her to call me back?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Practise making, receiving and transferring a call.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Speak slowly when sharing names and numbers.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069</a:t>
            </a:r>
          </a:p>
        </p:txBody>
      </p:sp>
    </p:spTree>
  </p:cSld>
  <p:clrMapOvr>
    <a:masterClrMapping/>
  </p:clrMapOvr>
</p:sld>
</file>

<file path=ppt/slides/slide6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Making an Appointment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Suggest a time, negotiate alternatives and confirm the details.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Are you available on Thursday?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Could we move it to 4 p.m.?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Let me confirm: Thursday at four.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Arrange an appointment with one schedule conflict.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Repeat date, time and location before ending.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070</a:t>
            </a:r>
          </a:p>
        </p:txBody>
      </p:sp>
    </p:spTree>
  </p:cSld>
  <p:clrMapOvr>
    <a:masterClrMapping/>
  </p:clrMapOvr>
</p:sld>
</file>

<file path=ppt/slides/slide6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Invitations and Responses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Invite someone and accept or decline politely.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Would you like to join us for lunch?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I'd love to, thank you.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I'm sorry, I can't make it that day.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Invite a partner to three different activities.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Offer a brief reason when declining, if appropriate.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071</a:t>
            </a:r>
          </a:p>
        </p:txBody>
      </p:sp>
    </p:spTree>
  </p:cSld>
  <p:clrMapOvr>
    <a:masterClrMapping/>
  </p:clrMapOvr>
</p:sld>
</file>

<file path=ppt/slides/slide6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Talking About Weather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Use weather vocabulary for small talk and practical plans.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It's quite humid today.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It looks like rain.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Let's carry an umbrella.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Discuss today's weather and a plan it affects.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Use it as a low-pressure conversation starter.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072</a:t>
            </a:r>
          </a:p>
        </p:txBody>
      </p:sp>
    </p:spTree>
  </p:cSld>
  <p:clrMapOvr>
    <a:masterClrMapping/>
  </p:clrMapOvr>
</p:sld>
</file>

<file path=ppt/slides/slide6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At a Hotel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Ask about reservations, facilities, check-in and checkout.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 have a reservation under Sharma.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Is breakfast included?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What time is checkout?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Role-play check-in and a request for help.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Practise spelling names and confirming dates.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073</a:t>
            </a:r>
          </a:p>
        </p:txBody>
      </p:sp>
    </p:spTree>
  </p:cSld>
  <p:clrMapOvr>
    <a:masterClrMapping/>
  </p:clrMapOvr>
</p:sld>
</file>

<file path=ppt/slides/slide6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At the Airport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Ask about check-in, boarding gates and baggage.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Where is the check-in counter?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Has boarding started?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Could you tell me where Gate 12 is?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Role-play asking airport staff for information.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Practise listening to announcements and numbers.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074</a:t>
            </a:r>
          </a:p>
        </p:txBody>
      </p:sp>
    </p:spTree>
  </p:cSld>
  <p:clrMapOvr>
    <a:masterClrMapping/>
  </p:clrMapOvr>
</p:sld>
</file>

<file path=ppt/slides/slide6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Meeting a New Colleague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Build rapport through introductions and open questions.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Which team do you work with?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How long have you been here?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What are you working on this week?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Have a two-minute first-day-at-work conversation.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Keep questions friendly and avoid overly personal topics.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075</a:t>
            </a:r>
          </a:p>
        </p:txBody>
      </p:sp>
    </p:spTree>
  </p:cSld>
  <p:clrMapOvr>
    <a:masterClrMapping/>
  </p:clrMapOvr>
</p:sld>
</file>

<file path=ppt/slides/slide6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Asking for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State the problem, make a specific request and thank the person.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I'm having trouble opening this file.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Could you show me how to do 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Thanks, that solved the problem.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Ask for help with a practical task.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Encourage clear context and a specific request.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076</a:t>
            </a:r>
          </a:p>
        </p:txBody>
      </p:sp>
    </p:spTree>
  </p:cSld>
  <p:clrMapOvr>
    <a:masterClrMapping/>
  </p:clrMapOvr>
</p:sld>
</file>

<file path=ppt/slides/slide6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Giving Opinions and Reasons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State your opinion and support it with a reason or example.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 think online learning is useful because…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In my experience…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For example…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Give a one-minute opinion on a familiar topic.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Respect disagreement and ask for another 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077</a:t>
            </a:r>
          </a:p>
        </p:txBody>
      </p:sp>
    </p:spTree>
  </p:cSld>
  <p:clrMapOvr>
    <a:masterClrMapping/>
  </p:clrMapOvr>
</p:sld>
</file>

<file path=ppt/slides/slide6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Agreeing and Disagreeing Politely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Show agreement or disagreement without attacking the person.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 agree with that point.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 see your point, but…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Could we look at another option?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Discuss two sides of a simple question.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Separate the idea from the person.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078</a:t>
            </a:r>
          </a:p>
        </p:txBody>
      </p:sp>
    </p:spTree>
  </p:cSld>
  <p:clrMapOvr>
    <a:masterClrMapping/>
  </p:clrMapOvr>
</p:sld>
</file>

<file path=ppt/slides/slide6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WORD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Synonyms and Antonyms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Synonyms have similar meanings; antonyms have opposite meanings.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begin / 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happy / cheerful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early / late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Give a synonym and antonym for ten common words.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Check whether the word fits the sentence context.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079</a:t>
            </a:r>
          </a:p>
        </p:txBody>
      </p:sp>
    </p:spTree>
  </p:cSld>
  <p:clrMapOvr>
    <a:masterClrMapping/>
  </p:clrMapOvr>
</p:sld>
</file>

<file path=ppt/slides/slide6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WORD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Word Families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Related words can share a root but play different grammatical roles.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decide / decision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success / successful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beauty / beautiful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Create three sentences from one word family.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Notice changes in spelling and stress.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080</a:t>
            </a:r>
          </a:p>
        </p:txBody>
      </p:sp>
    </p:spTree>
  </p:cSld>
  <p:clrMapOvr>
    <a:masterClrMapping/>
  </p:clrMapOvr>
</p:sld>
</file>

<file path=ppt/slides/slide6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WORD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Prefixes and Suffixes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Prefixes and suffixes change meaning or grammatical function.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un + happy = unhappy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help + ful = helpful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care + less = careless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Build five new words and explain their meanings.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Teach common patterns and exceptions.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081</a:t>
            </a:r>
          </a:p>
        </p:txBody>
      </p:sp>
    </p:spTree>
  </p:cSld>
  <p:clrMapOvr>
    <a:masterClrMapping/>
  </p:clrMapOvr>
</p:sld>
</file>

<file path=ppt/slides/slide6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WORD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Phrasal Verbs: Everyday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Phrasal verbs combine a verb with a particle and often have a special meaning.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wake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look 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find 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Use each phrasal verb in a mini-dialogue.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Learn the whole phrase with a realistic example.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082</a:t>
            </a:r>
          </a:p>
        </p:txBody>
      </p:sp>
    </p:spTree>
  </p:cSld>
  <p:clrMapOvr>
    <a:masterClrMapping/>
  </p:clrMapOvr>
</p:sld>
</file>

<file path=ppt/slides/slide6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WORD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Two-Word and Three-Word Verbs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Some common verb phrases contain two or three words.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look after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get along with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run out of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Explain a daily situation using three verb phrases.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Teach separable and inseparable patterns where useful.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083</a:t>
            </a:r>
          </a:p>
        </p:txBody>
      </p:sp>
    </p:spTree>
  </p:cSld>
  <p:clrMapOvr>
    <a:masterClrMapping/>
  </p:clrMapOvr>
</p:sld>
</file>

<file path=ppt/slides/slide6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WORD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Common Idioms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Idioms have meanings that may differ from the literal words.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break the 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a piece of cake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under the weather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Choose an idiom for a short situation.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Use idioms naturally; avoid forcing them into formal writing.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084</a:t>
            </a:r>
          </a:p>
        </p:txBody>
      </p:sp>
    </p:spTree>
  </p:cSld>
  <p:clrMapOvr>
    <a:masterClrMapping/>
  </p:clrMapOvr>
</p:sld>
</file>

<file path=ppt/slides/slide6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WORD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Proverbs and Their Meaning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Proverbs express common advice or observations.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Practice makes perfect.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Better late than never.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Actions speak louder than words.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Explain one proverb and give a real-life example.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Discuss whether a proverb fits every situation.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085</a:t>
            </a:r>
          </a:p>
        </p:txBody>
      </p:sp>
    </p:spTree>
  </p:cSld>
  <p:clrMapOvr>
    <a:masterClrMapping/>
  </p:clrMapOvr>
</p:sld>
</file>

<file path=ppt/slides/slide6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WORD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Commonly Confused Words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Words that sound alike or look similar can have different meanings.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their / there / they're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your / you're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advice / advise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Choose the correct word in ten sentences.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Ask learners to explain the meaning, not just guess.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086</a:t>
            </a:r>
          </a:p>
        </p:txBody>
      </p:sp>
    </p:spTree>
  </p:cSld>
  <p:clrMapOvr>
    <a:masterClrMapping/>
  </p:clrMapOvr>
</p:sld>
</file>

<file path=ppt/slides/slide6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WORD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Commonly Misspelt Words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Frequent spelling errors become easier to fix when noticed and practised.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necessary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separate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environment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Correct a short paragraph with spelling errors.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Keep a personal list of recurring spelling mistakes.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087</a:t>
            </a:r>
          </a:p>
        </p:txBody>
      </p:sp>
    </p:spTree>
  </p:cSld>
  <p:clrMapOvr>
    <a:masterClrMapping/>
  </p:clrMapOvr>
</p:sld>
</file>

<file path=ppt/slides/slide6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WORD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Classified Vocabulary: People and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Organise vocabulary by topic to make recall easier.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colleague, neighbour, relative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customer, manager, teacher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guest, host, visitor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Describe three people and their roles.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Use respectful and context-appropriate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088</a:t>
            </a:r>
          </a:p>
        </p:txBody>
      </p:sp>
    </p:spTree>
  </p:cSld>
  <p:clrMapOvr>
    <a:masterClrMapping/>
  </p:clrMapOvr>
</p:sld>
</file>

<file path=ppt/slides/slide6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WORD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Classified Vocabulary: Home and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Name common rooms, furniture and household items.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kitchen, balcony, hallway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cupboard, shelf, cushion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switch, socket, appliance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Describe a room without showing a picture.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Practise singular/plural and location prepositions.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089</a:t>
            </a:r>
          </a:p>
        </p:txBody>
      </p:sp>
    </p:spTree>
  </p:cSld>
  <p:clrMapOvr>
    <a:masterClrMapping/>
  </p:clrMapOvr>
</p:sld>
</file>

<file path=ppt/slides/slide6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WORD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Classified Vocabulary: Food and Shopping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Use food, quantity, packaging and price vocabulary.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a loaf of bread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a bottle of water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a kilo of rice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Create a shopping list and explain quantities.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Distinguish countable units from uncountable food nouns.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090</a:t>
            </a:r>
          </a:p>
        </p:txBody>
      </p:sp>
    </p:spTree>
  </p:cSld>
  <p:clrMapOvr>
    <a:masterClrMapping/>
  </p:clrMapOvr>
</p:sld>
</file>

<file path=ppt/slides/slide6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WORD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Classified Vocabulary: Travel and Places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Learn place names and useful travel terms together.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platform, station, 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ticket, reservation, luggage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intersection, landmark, destination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Plan a short trip and ask three travel questions.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Rehearse place names and numbers clearly.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091</a:t>
            </a:r>
          </a:p>
        </p:txBody>
      </p:sp>
    </p:spTree>
  </p:cSld>
  <p:clrMapOvr>
    <a:masterClrMapping/>
  </p:clrMapOvr>
</p:sld>
</file>

<file path=ppt/slides/slide6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WORD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Classified Vocabulary: Work and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Use common words for tasks, deadlines and learning.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assignment, deadline, 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colleague, supervisor,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review, revise, submit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Describe a task from start to finish.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Practise precise verbs instead of vague words like 'do'.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092</a:t>
            </a:r>
          </a:p>
        </p:txBody>
      </p:sp>
    </p:spTree>
  </p:cSld>
  <p:clrMapOvr>
    <a:masterClrMapping/>
  </p:clrMapOvr>
</p:sld>
</file>

<file path=ppt/slides/slide6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WORD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Dictionary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Use pronunciation guides, parts of speech and example sentences to learn a word.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Check the word's meaning.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Listen to its pronunciation.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Read an example and make your own sentence.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Look up three words and teach them to a partner.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Prefer a learner dictionary with audio examples.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093</a:t>
            </a:r>
          </a:p>
        </p:txBody>
      </p:sp>
    </p:spTree>
  </p:cSld>
  <p:clrMapOvr>
    <a:masterClrMapping/>
  </p:clrMapOvr>
</p:sld>
</file>

<file path=ppt/slides/slide6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Writing a Friendly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A friendly message usually includes a greeting, purpose and closing.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Hi Neha, are we still meeting at six?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Please let me know.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See you soon!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Write a short message changing a plan.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Keep informal messages concise and clear.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094</a:t>
            </a:r>
          </a:p>
        </p:txBody>
      </p:sp>
    </p:spTree>
  </p:cSld>
  <p:clrMapOvr>
    <a:masterClrMapping/>
  </p:clrMapOvr>
</p:sld>
</file>

<file path=ppt/slides/slide6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Writing a Formal Email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Use a meaningful subject, polite opening, clear request and professional closing.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Subject: Request for Course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Dear Sir/Madam,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Kind regards, [Your Name]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Write an email asking about a course schedule.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Use paragraphs and check names, dates and attachments.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095</a:t>
            </a:r>
          </a:p>
        </p:txBody>
      </p:sp>
    </p:spTree>
  </p:cSld>
  <p:clrMapOvr>
    <a:masterClrMapping/>
  </p:clrMapOvr>
</p:sld>
</file>

<file path=ppt/slides/slide6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Letter of Invitation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State the event, date, time, place and response request.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 would like to invite you to…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The event will take place on…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Please let me know if you can attend.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Write an invitation to a community event.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Make the essential details easy to find.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096</a:t>
            </a:r>
          </a:p>
        </p:txBody>
      </p:sp>
    </p:spTree>
  </p:cSld>
  <p:clrMapOvr>
    <a:masterClrMapping/>
  </p:clrMapOvr>
</p:sld>
</file>

<file path=ppt/slides/slide6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Letter of Congratulations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Congratulate someone, mention the achievement and offer good wishes.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Congratulations on your new role!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Your hard work has paid off.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Wishing you continued success.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Write a short congratulatory note.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Keep the tone warm and sincere.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097</a:t>
            </a:r>
          </a:p>
        </p:txBody>
      </p:sp>
    </p:spTree>
  </p:cSld>
  <p:clrMapOvr>
    <a:masterClrMapping/>
  </p:clrMapOvr>
</p:sld>
</file>

<file path=ppt/slides/slide6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Thank-You Letter or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Say what you are thankful for and why it mattered.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Thank you for your help with…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 really appreciate your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It made a big difference.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Write a thank-you message after an interview or favour.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Be specific rather than using only a generic thank you.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098</a:t>
            </a:r>
          </a:p>
        </p:txBody>
      </p:sp>
    </p:spTree>
  </p:cSld>
  <p:clrMapOvr>
    <a:masterClrMapping/>
  </p:clrMapOvr>
</p:sld>
</file>

<file path=ppt/slides/slide7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Apology and Regret Letter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Acknowledge the issue, apologise and explain the corrective step.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 apologise for the delay.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 understand this caused inconvenience.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 will send the corrected version by Friday.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Draft an apology for a missed deadline.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Avoid blaming others or making promises you cannot keep.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099</a:t>
            </a:r>
          </a:p>
        </p:txBody>
      </p:sp>
    </p:spTree>
  </p:cSld>
  <p:clrMapOvr>
    <a:masterClrMapping/>
  </p:clrMapOvr>
</p:sld>
</file>

<file path=ppt/slides/slide7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Leave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State the dates, reason at an appropriate level of detail and handover plan.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 request leave from… to…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 will complete the urgent tasks beforehand.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Thank you for your consideration.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Write a short leave application for work or study.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Follow the organisation's required format.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100</a:t>
            </a:r>
          </a:p>
        </p:txBody>
      </p:sp>
    </p:spTree>
  </p:cSld>
  <p:clrMapOvr>
    <a:masterClrMapping/>
  </p:clrMapOvr>
</p:sld>
</file>

<file path=ppt/slides/slide7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Complaint and Request Letter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Explain the issue factually, include relevant details and state the action requested.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 am writing regarding order number…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The item arrived damaged.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Please advise how this can be resolved.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Write a complaint about a delayed delivery.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Keep the tone firm, specific and respectful.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101</a:t>
            </a:r>
          </a:p>
        </p:txBody>
      </p:sp>
    </p:spTree>
  </p:cSld>
  <p:clrMapOvr>
    <a:masterClrMapping/>
  </p:clrMapOvr>
</p:sld>
</file>

<file path=ppt/slides/slide7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FLUENCY &amp;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Story Retelling: Beginning, Middle and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Organise a story into a clear sequence.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Beginning: One day, a student found a wallet.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Middle: She looked for the owner.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End: She returned it and received thanks.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Retell a short story in 60–90 seconds.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Use first, next, after that and finally.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102</a:t>
            </a:r>
          </a:p>
        </p:txBody>
      </p:sp>
    </p:spTree>
  </p:cSld>
  <p:clrMapOvr>
    <a:masterClrMapping/>
  </p:clrMapOvr>
</p:sld>
</file>

<file path=ppt/slides/slide7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FLUENCY &amp;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Picture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Describe what you see, what people are doing and what may happen next.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In the foreground…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A person is carrying…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It looks as though…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Describe a picture for one minute without naming every object.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Move from general impression to useful details.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103</a:t>
            </a:r>
          </a:p>
        </p:txBody>
      </p:sp>
    </p:spTree>
  </p:cSld>
  <p:clrMapOvr>
    <a:masterClrMapping/>
  </p:clrMapOvr>
</p:sld>
</file>

<file path=ppt/slides/slide7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FLUENCY &amp;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Daily Speaking Drill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A short daily routine builds confidence through repetition.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Speak for one minute about your 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Use five new words.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Record and review one improvement.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Create a seven-day speaking practice plan.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Measure consistency and clarity, not accent perfection.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104</a:t>
            </a:r>
          </a:p>
        </p:txBody>
      </p:sp>
    </p:spTree>
  </p:cSld>
  <p:clrMapOvr>
    <a:masterClrMapping/>
  </p:clrMapOvr>
</p:sld>
</file>

<file path=ppt/slides/slide7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FLUENCY &amp;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Role-Play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Use the target language to complete a realistic task with a partner.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Ask for information.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Clarify one detail.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Close the conversation politely.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Complete a three-minute role-play without reading a script.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Assess communication, listening, grammar and politeness.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105</a:t>
            </a:r>
          </a:p>
        </p:txBody>
      </p:sp>
    </p:spTree>
  </p:cSld>
  <p:clrMapOvr>
    <a:masterClrMapping/>
  </p:clrMapOvr>
</p:sld>
</file>

<file path=ppt/slides/slide7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FLUENCY &amp;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0F1E38"/>
                </a:solidFill>
                <a:latin typeface="Aptos"/>
              </a:defRPr>
            </a:pPr>
            <a:r>
              <a:t>Course Review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Review progress and choose the next skill to practise.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24028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035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One thing I can do better now is…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 still want to improve…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58184"/>
            <a:ext cx="5989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My next practice goal is…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40280"/>
            <a:ext cx="4297680" cy="2286000"/>
          </a:xfrm>
          <a:prstGeom prst="roundRect">
            <a:avLst/>
          </a:prstGeom>
          <a:solidFill>
            <a:srgbClr val="E5F5F5"/>
          </a:solidFill>
          <a:ln>
            <a:solidFill>
              <a:srgbClr val="B9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423160"/>
            <a:ext cx="3794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852928"/>
            <a:ext cx="3749039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22F3E"/>
                </a:solidFill>
                <a:latin typeface="Aptos"/>
              </a:defRPr>
            </a:pPr>
            <a:r>
              <a:t>Give a two-minute course reflection.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28032"/>
            <a:ext cx="1143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E7700"/>
                </a:solidFill>
                <a:latin typeface="Aptos"/>
              </a:defRPr>
            </a:pPr>
            <a:r>
              <a:t>TEACHER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t>Celebrate progress and set a specific next goal.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623560"/>
            <a:ext cx="11109960" cy="13716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7772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5B6C80"/>
                </a:solidFill>
                <a:latin typeface="Aptos"/>
              </a:defRPr>
            </a:pPr>
            <a:r>
              <a:t>SkyNetix Systems LLP | English Speaking Masterclass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742432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00A6A6"/>
                </a:solidFill>
                <a:latin typeface="Aptos"/>
              </a:defRPr>
            </a:pPr>
            <a:r>
              <a:t>SUPP. 106</a:t>
            </a:r>
          </a:p>
        </p:txBody>
      </p:sp>
    </p:spTree>
  </p:cSld>
  <p:clrMapOvr>
    <a:masterClrMapping/>
  </p:clrMapOvr>
</p:sld>
</file>

<file path=ppt/slides/slide7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B9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0704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SKYNETIX SYSTEMS LLP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07040" cy="1234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ADVANCED RAPIDEX-ALIGNED
ENGLISH SPEAKING CURRICULUM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996696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800" b="0">
                <a:solidFill>
                  <a:srgbClr val="D3E3EB"/>
                </a:solidFill>
                <a:latin typeface="Aptos"/>
              </a:rPr>
              <a:t>122 additional original lessons covering advanced grammar, word power, real-world conversations and practical writing.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389120"/>
            <a:ext cx="1828800" cy="73152"/>
          </a:xfrm>
          <a:prstGeom prst="rect">
            <a:avLst/>
          </a:prstGeom>
          <a:solidFill>
            <a:srgbClr val="F0B24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100584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Aptos"/>
              </a:rPr>
              <a:t>Mapped to the advanced topic areas and appendices listed in the uploaded 2004 course contents.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97880"/>
            <a:ext cx="100584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000" b="0">
                <a:solidFill>
                  <a:srgbClr val="BECCDA"/>
                </a:solidFill>
                <a:latin typeface="Aptos"/>
              </a:rPr>
              <a:t>Original teaching examples and exercises • SkyNetix Systems LLP</a:t>
            </a:r>
          </a:p>
        </p:txBody>
      </p:sp>
    </p:spTree>
  </p:cSld>
  <p:clrMapOvr>
    <a:masterClrMapping/>
  </p:clrMapOvr>
</p:sld>
</file>

<file path=ppt/slides/slide7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GRAMMAR DEEPENING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Prepositions: Place and Movement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Use a preposition that describes the exact relationship between objects or movement.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The file is under the desk.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Walk across the road at the crossing.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She went into the room and came out of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Describe your route from the door to your seat using five different prepositions.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Sketch a simple room or route and point to each relationship as you speak.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001</a:t>
            </a:r>
          </a:p>
        </p:txBody>
      </p:sp>
    </p:spTree>
  </p:cSld>
  <p:clrMapOvr>
    <a:masterClrMapping/>
  </p:clrMapOvr>
</p:sld>
</file>

<file path=ppt/slides/slide7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GRAMMAR DEEPENING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Preposition Choice: In, On, 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Learn common patterns as phrases, then practise them in context.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in a room / in Pune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on the table / on Monday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at the gate / at 9:30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Complete aloud: ___ the morning; ___ Friday; ___ the bus stop; ___ the wall.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Teach collocations as chunks; explain that context can create exceptions.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002</a:t>
            </a:r>
          </a:p>
        </p:txBody>
      </p:sp>
    </p:spTree>
  </p:cSld>
  <p:clrMapOvr>
    <a:masterClrMapping/>
  </p:clrMapOvr>
</p:sld>
</file>

<file path=ppt/slides/slide7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GRAMMAR DEEPENING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Prepositions After Verbs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Some verbs are commonly followed by a particular preposition.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depend on the result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listen to the announcement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apologise for the delay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Make a sentence with: belong to, wait for, agree with, apply for.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Keep a personal list of verb + preposition combinations.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003</a:t>
            </a:r>
          </a:p>
        </p:txBody>
      </p:sp>
    </p:spTree>
  </p:cSld>
  <p:clrMapOvr>
    <a:masterClrMapping/>
  </p:clrMapOvr>
</p:sld>
</file>

<file path=ppt/slides/slide7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GRAMMAR DEEPENING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Preposition Phrases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Multi-word prepositions express relationships more precisely.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because of the rain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in front of the office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in spite of the delay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Describe your neighbourhood using: next to, in front of, because of, instead of.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Ask learners to replace vague wording with a precise phrase.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004</a:t>
            </a:r>
          </a:p>
        </p:txBody>
      </p:sp>
    </p:spTree>
  </p:cSld>
  <p:clrMapOvr>
    <a:masterClrMapping/>
  </p:clrMapOvr>
</p:sld>
</file>

<file path=ppt/slides/slide7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GRAMMAR DEEPENING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Time Expressions: Since, For, Until, By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Choose a time expression based on starting point, duration or deadline.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 have lived here since 2021.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We waited for an hour.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Please finish by Friday.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Stay until noon.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Explain the difference between 'by Friday' and 'until Friday'.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Use a timeline and ask learners to point to the start, duration and deadline.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005</a:t>
            </a:r>
          </a:p>
        </p:txBody>
      </p:sp>
    </p:spTree>
  </p:cSld>
  <p:clrMapOvr>
    <a:masterClrMapping/>
  </p:clrMapOvr>
</p:sld>
</file>

<file path=ppt/slides/slide7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GRAMMAR DEEPENING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Time Expressions: During, While, Within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These words show a time period, simultaneous action or a limit.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Nobody spoke during the meeting.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 took notes while she explained.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Reply within two days.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Create one sentence with each word.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Correct the common error: 'during I was travelling'.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006</a:t>
            </a:r>
          </a:p>
        </p:txBody>
      </p:sp>
    </p:spTree>
  </p:cSld>
  <p:clrMapOvr>
    <a:masterClrMapping/>
  </p:clrMapOvr>
</p:sld>
</file>

<file path=ppt/slides/slide7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GRAMMAR DEEPENING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Correlative Pairs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Some words work together to connect balanced ideas.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Either call me or send a message.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Neither the manager nor the client was available.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Both the price and the quality matter.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Join two ideas using both…and, either…or, neither…nor.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Keep the grammar of the connected parts parallel.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007</a:t>
            </a:r>
          </a:p>
        </p:txBody>
      </p:sp>
    </p:spTree>
  </p:cSld>
  <p:clrMapOvr>
    <a:masterClrMapping/>
  </p:clrMapOvr>
</p:sld>
</file>

<file path=ppt/slides/slide7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GRAMMAR DEEPENING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Not Only…but Also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This structure adds emphasis to two related points.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The course is not only practical but also affordable.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She not only planned the event but also hosted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Describe a useful skill using not only…but also.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Keep both connected phrases in the same grammatical form.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008</a:t>
            </a:r>
          </a:p>
        </p:txBody>
      </p:sp>
    </p:spTree>
  </p:cSld>
  <p:clrMapOvr>
    <a:masterClrMapping/>
  </p:clrMapOvr>
</p:sld>
</file>

<file path=ppt/slides/slide7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GRAMMAR DEEPENING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Countable and Uncountable: Advanced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Use quantity words that fit the noun.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many applications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much information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a few suggestions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a little patience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a piece of advice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Correct: 'I need an advice' and 'There are much people'.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Teach common units such as a piece of information and a bottle of water.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009</a:t>
            </a:r>
          </a:p>
        </p:txBody>
      </p:sp>
    </p:spTree>
  </p:cSld>
  <p:clrMapOvr>
    <a:masterClrMapping/>
  </p:clrMapOvr>
</p:sld>
</file>

<file path=ppt/slides/slide7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GRAMMAR DEEPENING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Emphasis with Do, Does and Did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Use an auxiliary to stress that a statement is true or to correct a misunderstanding.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 do understand your concern.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She does work hard.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 did send the email yesterday.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Respond politely to: 'You didn't call me.'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Stress the auxiliary naturally without sounding aggressive.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010</a:t>
            </a:r>
          </a:p>
        </p:txBody>
      </p:sp>
    </p:spTree>
  </p:cSld>
  <p:clrMapOvr>
    <a:masterClrMapping/>
  </p:clrMapOvr>
</p:sld>
</file>

<file path=ppt/slides/slide7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GRAMMAR DEEPENING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Sentence Transformation: Statements and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Change sentence form while preserving the meaning.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You are ready. → Are you ready?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She can drive. → Can she drive?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They arrived. → Did they arrive?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Transform five statements into questions.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Identify the helping verb before changing word order.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011</a:t>
            </a:r>
          </a:p>
        </p:txBody>
      </p:sp>
    </p:spTree>
  </p:cSld>
  <p:clrMapOvr>
    <a:masterClrMapping/>
  </p:clrMapOvr>
</p:sld>
</file>

<file path=ppt/slides/slide7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GRAMMAR DEEPENING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Sentence Transformation: Positive and Negative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Form negatives without changing the intended tense.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He works here. → He does not work here.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They were waiting. → They were not waiting.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She can help. → She cannot help.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Turn six positive sentences into negatives.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Do not add 'not' to a main verb without the correct auxiliary.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012</a:t>
            </a:r>
          </a:p>
        </p:txBody>
      </p:sp>
    </p:spTree>
  </p:cSld>
  <p:clrMapOvr>
    <a:masterClrMapping/>
  </p:clrMapOvr>
</p:sld>
</file>

<file path=ppt/slides/slide7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GRAMMAR DEEPENING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Sentence Transformation: Active to Passive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Use passive voice when the action or result matters more than the doer.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The team completed the report. → The report was completed by the team.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They will announce the result. → The result will be announced.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Change two sentences to passive voice.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Keep the tense in the auxiliary and use the past participle.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013</a:t>
            </a:r>
          </a:p>
        </p:txBody>
      </p:sp>
    </p:spTree>
  </p:cSld>
  <p:clrMapOvr>
    <a:masterClrMapping/>
  </p:clrMapOvr>
</p:sld>
</file>

<file path=ppt/slides/slide7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GRAMMAR DEEPENING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Active or Passive?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Choose the voice based on what the listener needs to know.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Active: The technician repaired the printer.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Passive: The printer was repaired this morning.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Give a short incident update using one active and one passive sentence.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Use passive voice when the actor is unknown, obvious or less important.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014</a:t>
            </a:r>
          </a:p>
        </p:txBody>
      </p:sp>
    </p:spTree>
  </p:cSld>
  <p:clrMapOvr>
    <a:masterClrMapping/>
  </p:clrMapOvr>
</p:sld>
</file>

<file path=ppt/slides/slide7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GRAMMAR DEEPENING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Direct and Reported Speech: Statements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Report another person's words while adjusting pronouns and tense where needed.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Direct: Maya said, 'I am busy.'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Reported: Maya said that she was busy.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Report: 'We have finished the task,' they said.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Time words may also change depending on the reporting context.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015</a:t>
            </a:r>
          </a:p>
        </p:txBody>
      </p:sp>
    </p:spTree>
  </p:cSld>
  <p:clrMapOvr>
    <a:masterClrMapping/>
  </p:clrMapOvr>
</p:sld>
</file>

<file path=ppt/slides/slide7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GRAMMAR DEEPENING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Reported Speech: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Reported questions use statement word order, not question word order.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Direct: He asked, 'Where do you live?'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Reported: He asked where I lived.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She asked, 'Are you ready?' → She asked whether I was ready.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Report one Wh-question and one yes/no question.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Do not keep the question mark or invert subject and verb in reported questions.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016</a:t>
            </a:r>
          </a:p>
        </p:txBody>
      </p:sp>
    </p:spTree>
  </p:cSld>
  <p:clrMapOvr>
    <a:masterClrMapping/>
  </p:clrMapOvr>
</p:sld>
</file>

<file path=ppt/slides/slide7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GRAMMAR DEEPENING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Reported Speech: Requests and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Use told/asked + object + to-infinitive for many reported instructions.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'Please wait here.' → She asked me to wait there.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'Don't touch it.' → He told us not to touch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Report: 'Please call me tomorrow.'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Change 'tomorrow' only when the reporting time requires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017</a:t>
            </a:r>
          </a:p>
        </p:txBody>
      </p:sp>
    </p:spTree>
  </p:cSld>
  <p:clrMapOvr>
    <a:masterClrMapping/>
  </p:clrMapOvr>
</p:sld>
</file>

<file path=ppt/slides/slide7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GRAMMAR DEEPENING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Question Tags: Meaning and 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Tags can check information, invite agreement or express surprise.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You have met him, haven't you?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It's a lovely day, isn't it?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You don't know her, do you?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Add tags to three positive and three negative statements.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Rising intonation often signals a genuine question; falling can signal confidence.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018</a:t>
            </a:r>
          </a:p>
        </p:txBody>
      </p:sp>
    </p:spTree>
  </p:cSld>
  <p:clrMapOvr>
    <a:masterClrMapping/>
  </p:clrMapOvr>
</p:sld>
</file>

<file path=ppt/slides/slide7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GRAMMAR DEEPENING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Short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Short answers avoid repeating the whole sentence.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Do you drive? — Yes, I do.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Has she arrived? — No, she hasn't.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Can they join us? — Yes, they can.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Answer ten questions with short answers, matching the auxiliary.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Do not answer 'Yes, I don't' or mix auxiliaries.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019</a:t>
            </a:r>
          </a:p>
        </p:txBody>
      </p:sp>
    </p:spTree>
  </p:cSld>
  <p:clrMapOvr>
    <a:masterClrMapping/>
  </p:clrMapOvr>
</p:sld>
</file>

<file path=ppt/slides/slide7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GRAMMAR DEEPENING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The Three Forms of Verbs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Learn base, past and past participle forms for accurate tense use.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go–went–gone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write–wrote–written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choose–chose–chosen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bring–brought–brought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Say the three forms of ten verbs, then use each in a sentence.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Practise irregular verbs in small daily groups instead of one long list.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020</a:t>
            </a:r>
          </a:p>
        </p:txBody>
      </p:sp>
    </p:spTree>
  </p:cSld>
  <p:clrMapOvr>
    <a:masterClrMapping/>
  </p:clrMapOvr>
</p:sld>
</file>

<file path=ppt/slides/slide7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GRAMMAR DEEPENING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Irregular Verb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Group irregular verbs by pattern to remember them more easily.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keep–kept–kept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sing–sang–sung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cut–cut–cut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speak–spoke–spoken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Sort a list into same-form, -t ending and vowel-change patterns.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Ask learners to create a personal 'verbs I often forget' list.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021</a:t>
            </a:r>
          </a:p>
        </p:txBody>
      </p:sp>
    </p:spTree>
  </p:cSld>
  <p:clrMapOvr>
    <a:masterClrMapping/>
  </p:clrMapOvr>
</p:sld>
</file>

<file path=ppt/slides/slide7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GRAMMAR DEEPENING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Abbreviations in Everyday English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Recognise common shortened forms in messages and formal documents.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Dr. = Doctor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approx. = approximately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e.g. = for example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etc. = and so 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Expand five abbreviations and use two in a short note.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Avoid informal abbreviations in formal letters unless the context allows them.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022</a:t>
            </a:r>
          </a:p>
        </p:txBody>
      </p:sp>
    </p:spTree>
  </p:cSld>
  <p:clrMapOvr>
    <a:masterClrMapping/>
  </p:clrMapOvr>
</p:sld>
</file>

<file path=ppt/slides/slide7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GRAMMAR DEEPENING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Numbers, Dates and Amounts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Read numbers clearly and prevent confusion in practical situations.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The meeting is on 21 October.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The total is ₹1,450.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The room number is 318.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Read aloud a phone number, date, price and percentage clearly.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Pause between groups of digits when giving a number by phone.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023</a:t>
            </a:r>
          </a:p>
        </p:txBody>
      </p:sp>
    </p:spTree>
  </p:cSld>
  <p:clrMapOvr>
    <a:masterClrMapping/>
  </p:clrMapOvr>
</p:sld>
</file>

<file path=ppt/slides/slide7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GRAMMAR DEEPENING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Punctuation: Commas and Full Stops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Punctuation helps the reader understand sentence boundaries and lists.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After lunch, we returned to work.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 bought apples, rice and tea.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The call ended. We sent a summary.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Add punctuation to a short paragraph with no punctuation.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Read the sentence aloud to hear natural pauses, then check grammar.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024</a:t>
            </a:r>
          </a:p>
        </p:txBody>
      </p:sp>
    </p:spTree>
  </p:cSld>
  <p:clrMapOvr>
    <a:masterClrMapping/>
  </p:clrMapOvr>
</p:sld>
</file>

<file path=ppt/slides/slide7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GRAMMAR DEEPENING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Punctuation: Apostrophes and Quotation 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Use apostrophes for possession/contractions and quotation marks for direct words.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Riya's bag is here.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We're ready.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He said, 'I'll call you later.'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Correct: 'The managers report is ready' when one manager owns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Distinguish its (possessive) from it's (it is / it has).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025</a:t>
            </a:r>
          </a:p>
        </p:txBody>
      </p:sp>
    </p:spTree>
  </p:cSld>
  <p:clrMapOvr>
    <a:masterClrMapping/>
  </p:clrMapOvr>
</p:sld>
</file>

<file path=ppt/slides/slide7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WORD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Word Building: Roots and Families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A root can produce several related words with different grammatical roles.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decide, decision, decisive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inform, information, informative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succeed, success, successful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Build a word family from create, employ and comfort.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Teach word families together with example sentences, not as isolated lists.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026</a:t>
            </a:r>
          </a:p>
        </p:txBody>
      </p:sp>
    </p:spTree>
  </p:cSld>
  <p:clrMapOvr>
    <a:masterClrMapping/>
  </p:clrMapOvr>
</p:sld>
</file>

<file path=ppt/slides/slide7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WORD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Prefixes: Meaning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A prefix can reverse, repeat or modify a word's meaning.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unhappy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disagree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rewrite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preview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international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Add a suitable prefix to: possible, agree, write, national.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Check the actual spelling and usage of the resulting word.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027</a:t>
            </a:r>
          </a:p>
        </p:txBody>
      </p:sp>
    </p:spTree>
  </p:cSld>
  <p:clrMapOvr>
    <a:masterClrMapping/>
  </p:clrMapOvr>
</p:sld>
</file>

<file path=ppt/slides/slide7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WORD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Suffixes: Parts of Speech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Suffixes often signal whether a word is a noun, adjective or adverb.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care → careful → carefully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quick → quickly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develop → development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Turn help, beauty and success into two related forms each.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Explain that spelling sometimes changes when a suffix is added.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028</a:t>
            </a:r>
          </a:p>
        </p:txBody>
      </p:sp>
    </p:spTree>
  </p:cSld>
  <p:clrMapOvr>
    <a:masterClrMapping/>
  </p:clrMapOvr>
</p:sld>
</file>

<file path=ppt/slides/slide7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WORD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One-Word Substitutes: People and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A precise noun can replace a longer description.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A person who writes books: author.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A person who studies stars: astronomer.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A person who treats teeth: dentist.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Give one-word labels for five occupations or roles.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Use a dictionary to verify the exact meaning before memorising.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029</a:t>
            </a:r>
          </a:p>
        </p:txBody>
      </p:sp>
    </p:spTree>
  </p:cSld>
  <p:clrMapOvr>
    <a:masterClrMapping/>
  </p:clrMapOvr>
</p:sld>
</file>

<file path=ppt/slides/slide7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WORD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One-Word Substitutes: Places and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Use concise vocabulary for familiar definitions.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A place where books are kept for public use: library.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A speech made without preparation: an impromptu speech.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A person who cannot read: illiterate.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Match definitions to words, then write original examples.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Discuss differences between similar terms instead of relying only on translation.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030</a:t>
            </a:r>
          </a:p>
        </p:txBody>
      </p:sp>
    </p:spTree>
  </p:cSld>
  <p:clrMapOvr>
    <a:masterClrMapping/>
  </p:clrMapOvr>
</p:sld>
</file>

<file path=ppt/slides/slide7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WORD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Collective Nouns and Group Phrases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Some nouns describe a group as one unit.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a team of players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a flock of birds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a bunch of keys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a piece of advice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Complete: a ___ of cattle; a ___ of grapes; a ___ of musicians.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Collective noun choice can vary by context; focus on common everyday combinations.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031</a:t>
            </a:r>
          </a:p>
        </p:txBody>
      </p:sp>
    </p:spTree>
  </p:cSld>
  <p:clrMapOvr>
    <a:masterClrMapping/>
  </p:clrMapOvr>
</p:sld>
</file>

<file path=ppt/slides/slide7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WORD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Young Animals and Animal Sounds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Learn these as vocabulary pairs and use them in context.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puppy—dog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kitten—cat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calf—cow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foal—horse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a dog barks; a cat meows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Match five animals to their young and sounds.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Treat animal terms as vocabulary enrichment, not as a core speaking priority.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032</a:t>
            </a:r>
          </a:p>
        </p:txBody>
      </p:sp>
    </p:spTree>
  </p:cSld>
  <p:clrMapOvr>
    <a:masterClrMapping/>
  </p:clrMapOvr>
</p:sld>
</file>

<file path=ppt/slides/slide7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WORD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Animal Idioms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Animal words often appear in expressions with figurative meanings.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a copycat = someone who imitates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let the cat out of the bag = reveal a secret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work like a horse = work very hard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Choose an idiom that fits a short situation.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Explain the figurative meaning before asking learners to use the expression.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033</a:t>
            </a:r>
          </a:p>
        </p:txBody>
      </p:sp>
    </p:spTree>
  </p:cSld>
  <p:clrMapOvr>
    <a:masterClrMapping/>
  </p:clrMapOvr>
</p:sld>
</file>

<file path=ppt/slides/slide7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WORD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Common Idioms in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An idiom is understood as a whole expression rather than word by word.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break the ice = make people feel comfortable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on the same page = share an understanding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a blessing in disguise = a good result from a difficult event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Create a two-line dialogue using one idiom naturally.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Avoid using idioms in formal writing if the audience may not know them.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034</a:t>
            </a:r>
          </a:p>
        </p:txBody>
      </p:sp>
    </p:spTree>
  </p:cSld>
  <p:clrMapOvr>
    <a:masterClrMapping/>
  </p:clrMapOvr>
</p:sld>
</file>

<file path=ppt/slides/slide7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WORD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Proverbs: Advice and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Proverbs express a general lesson in a memorable 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Practice makes perfect.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Better late than never.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Don't judge a book by its cover.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Explain one proverb in your own words and give a real-life example.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Ask whether the proverb fits every situation; encourage critical thinking.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035</a:t>
            </a:r>
          </a:p>
        </p:txBody>
      </p:sp>
    </p:spTree>
  </p:cSld>
  <p:clrMapOvr>
    <a:masterClrMapping/>
  </p:clrMapOvr>
</p:sld>
</file>

<file path=ppt/slides/slide7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WORD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Nationalities and Country Names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Country names and nationality words need correct spelling and capitalisation.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India—Indian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Japan—Japanese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France—French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Brazil—Brazilian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Say where five people are from and what their nationality 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Nationality words are capitalised in English.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036</a:t>
            </a:r>
          </a:p>
        </p:txBody>
      </p:sp>
    </p:spTree>
  </p:cSld>
  <p:clrMapOvr>
    <a:masterClrMapping/>
  </p:clrMapOvr>
</p:sld>
</file>

<file path=ppt/slides/slide7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WORD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Words Often Heard but Less Familiar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Build vocabulary by learning meaning, pronunciation and a sample sentence together.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reliable = can be trusted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reluctant = unwilling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efficient = working well without waste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inevitable = certain to happen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Choose two words and use each in a work-related sentence.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Use a learner dictionary and note word stress as well as meaning.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037</a:t>
            </a:r>
          </a:p>
        </p:txBody>
      </p:sp>
    </p:spTree>
  </p:cSld>
  <p:clrMapOvr>
    <a:masterClrMapping/>
  </p:clrMapOvr>
</p:sld>
</file>

<file path=ppt/slides/slide7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WORD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Confusing Words: Advice and Advise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Similar forms may differ in grammatical role.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Advice (noun): Thank you for the advice.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Advise (verb): I advise you to check the date.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Complete: Could you ___ me? I need your ___.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Listen for the final /s/ and /z/ sound where helpful.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038</a:t>
            </a:r>
          </a:p>
        </p:txBody>
      </p:sp>
    </p:spTree>
  </p:cSld>
  <p:clrMapOvr>
    <a:masterClrMapping/>
  </p:clrMapOvr>
</p:sld>
</file>

<file path=ppt/slides/slide7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WORD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Confusing Words: Affect and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Affect is usually a verb; effect is usually a noun in common use.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The delay affected the launch.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The effect was noticeable.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Choose the correct word in five sentences.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Teach the common pattern first, then mention that less common uses exist.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039</a:t>
            </a:r>
          </a:p>
        </p:txBody>
      </p:sp>
    </p:spTree>
  </p:cSld>
  <p:clrMapOvr>
    <a:masterClrMapping/>
  </p:clrMapOvr>
</p:sld>
</file>

<file path=ppt/slides/slide7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WORD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Confusing Words: Their, There, They're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These sound alike but have different roles.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Their files are ready.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Put it there.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They're on the way.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Write one sentence for each form.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Check meaning and grammar, not sound alone.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040</a:t>
            </a:r>
          </a:p>
        </p:txBody>
      </p:sp>
    </p:spTree>
  </p:cSld>
  <p:clrMapOvr>
    <a:masterClrMapping/>
  </p:clrMapOvr>
</p:sld>
</file>

<file path=ppt/slides/slide7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WORD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Confusing Words: Its and It's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Its shows possession; it's means it is or it has.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The company changed its policy.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It's time to leave.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It's been a long day.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Correct three sentences containing its/it's errors.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Expand it's to 'it is' or 'it has' to test the sentence.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041</a:t>
            </a:r>
          </a:p>
        </p:txBody>
      </p:sp>
    </p:spTree>
  </p:cSld>
  <p:clrMapOvr>
    <a:masterClrMapping/>
  </p:clrMapOvr>
</p:sld>
</file>

<file path=ppt/slides/slide7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WORD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Common Errors with Nouns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Noun forms and number must match the intended meaning.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Correct: I need some information.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The furniture is new.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She gave me two pieces of advice.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Fix: 'many informations', 'two furnitures', 'an equipment'.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Teach uncountable nouns with a natural measure phrase.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042</a:t>
            </a:r>
          </a:p>
        </p:txBody>
      </p:sp>
    </p:spTree>
  </p:cSld>
  <p:clrMapOvr>
    <a:masterClrMapping/>
  </p:clrMapOvr>
</p:sld>
</file>

<file path=ppt/slides/slide7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WORD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Common Errors with Pronouns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Pronouns must agree with the noun and fit their role in the sentence.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Meera and I attended.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The manager called him.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This seat is mine.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Correct: 'Her and me went there' and 'This is my'.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Ask who performs the action and who receives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043</a:t>
            </a:r>
          </a:p>
        </p:txBody>
      </p:sp>
    </p:spTree>
  </p:cSld>
  <p:clrMapOvr>
    <a:masterClrMapping/>
  </p:clrMapOvr>
</p:sld>
</file>

<file path=ppt/slides/slide7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WORD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Common Errors with Adjectives and Adverbs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Adjectives describe nouns; adverbs often describe actions.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She is a careful driver.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She drives carefully.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The soup smells good.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Correct: 'He speaks fluent' and 'She sings beautiful'.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Some linking verbs take adjectives rather than adverbs.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044</a:t>
            </a:r>
          </a:p>
        </p:txBody>
      </p:sp>
    </p:spTree>
  </p:cSld>
  <p:clrMapOvr>
    <a:masterClrMapping/>
  </p:clrMapOvr>
</p:sld>
</file>

<file path=ppt/slides/slide7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WORD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Common Errors with Verbs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Check tense, agreement and the form following an auxiliary.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She goes every day.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They went yesterday.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Did you see it?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Correct: 'He don't know' and 'Did you went there?'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After do/does/did, use the base form of the main verb.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045</a:t>
            </a:r>
          </a:p>
        </p:txBody>
      </p:sp>
    </p:spTree>
  </p:cSld>
  <p:clrMapOvr>
    <a:masterClrMapping/>
  </p:clrMapOvr>
</p:sld>
</file>

<file path=ppt/slides/slide7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WORD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Common Errors with Articles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A/an depends on sound; the is used for a specific reference.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a university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an hour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 saw a dog. The dog was brown.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Add articles: ___ honest person; ___ European city; ___ moon.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Focus on the first sound, not simply the first letter.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046</a:t>
            </a:r>
          </a:p>
        </p:txBody>
      </p:sp>
    </p:spTree>
  </p:cSld>
  <p:clrMapOvr>
    <a:masterClrMapping/>
  </p:clrMapOvr>
</p:sld>
</file>

<file path=ppt/slides/slide7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WORD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Common Errors with Prepositions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Many prepositions are fixed by usage and must be practised in phrases.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interested in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good at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responsible for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arrive at the station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arrive in Pune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Correct: 'discuss about the plan' and 'married with her'.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Build a collocation notebook from real reading and listening.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047</a:t>
            </a:r>
          </a:p>
        </p:txBody>
      </p:sp>
    </p:spTree>
  </p:cSld>
  <p:clrMapOvr>
    <a:masterClrMapping/>
  </p:clrMapOvr>
</p:sld>
</file>

<file path=ppt/slides/slide7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WORD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Common Errors with Conjunctions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Choose a conjunction that expresses the intended relationship.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Although it rained, we went out.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 was tired, so I went home.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Call me when you arrive.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Join two short sentences using although, because, unless and while.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Avoid using although and but together in the same clause structure.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048</a:t>
            </a:r>
          </a:p>
        </p:txBody>
      </p:sp>
    </p:spTree>
  </p:cSld>
  <p:clrMapOvr>
    <a:masterClrMapping/>
  </p:clrMapOvr>
</p:sld>
</file>

<file path=ppt/slides/slide7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WORD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Commonly Misspelt Words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Notice letter order and practise difficult words in short phrases.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necessary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separate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receive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environment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accommodation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Cover the list, write each word from memory, then check.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Use look–cover–write–check and revisit errors the next day.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049</a:t>
            </a:r>
          </a:p>
        </p:txBody>
      </p:sp>
    </p:spTree>
  </p:cSld>
  <p:clrMapOvr>
    <a:masterClrMapping/>
  </p:clrMapOvr>
</p:sld>
</file>

<file path=ppt/slides/slide7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WORD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Dictionary Skills: Pronunciation and Usage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A dictionary provides more than a translation.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Check part of speech, pronunciation, stress, plural form and example sentence.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Look up one unfamiliar word and teach it to a partner.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Choose a learner dictionary with audio pronunciation when possible.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050</a:t>
            </a:r>
          </a:p>
        </p:txBody>
      </p:sp>
    </p:spTree>
  </p:cSld>
  <p:clrMapOvr>
    <a:masterClrMapping/>
  </p:clrMapOvr>
</p:sld>
</file>

<file path=ppt/slides/slide7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CONVERSATION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Talking to a Student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Ask about studies, schedules and goals using follow-up questions.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Which subjects do you enjoy?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How are you preparing for the exam?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What do you find most difficult?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Role-play a student and a visitor asking about a course.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Use open questions to invite more than a yes/no answer.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051</a:t>
            </a:r>
          </a:p>
        </p:txBody>
      </p:sp>
    </p:spTree>
  </p:cSld>
  <p:clrMapOvr>
    <a:masterClrMapping/>
  </p:clrMapOvr>
</p:sld>
</file>

<file path=ppt/slides/slide7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CONVERSATION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Getting Ready to Go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Talk through plans, preparation and delays.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Have you packed everything?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I'm just getting ready.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We should leave in ten minutes.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Role-play a family member checking departure time and essentials.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Practise present continuous for current preparations.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052</a:t>
            </a:r>
          </a:p>
        </p:txBody>
      </p:sp>
    </p:spTree>
  </p:cSld>
  <p:clrMapOvr>
    <a:masterClrMapping/>
  </p:clrMapOvr>
</p:sld>
</file>

<file path=ppt/slides/slide7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CONVERSATION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Asking About a Patient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Ask after someone's health tactfully and respect privacy.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How is he feeling today?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Has the doctor seen him?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 hope he feels better soon.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Role-play a brief, considerate visit with a friend.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Avoid pressing for private medical details unless the person offers them.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053</a:t>
            </a:r>
          </a:p>
        </p:txBody>
      </p:sp>
    </p:spTree>
  </p:cSld>
  <p:clrMapOvr>
    <a:masterClrMapping/>
  </p:clrMapOvr>
</p:sld>
</file>

<file path=ppt/slides/slide7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CONVERSATION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At a General 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Ask about product type, quantity, price and payment.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Do you have this in a smaller pack?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How much is a kilo?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Could I have a receipt, please?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Shopkeeper/customer role-play with a missing item.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Practise polite requests and quantities.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054</a:t>
            </a:r>
          </a:p>
        </p:txBody>
      </p:sp>
    </p:spTree>
  </p:cSld>
  <p:clrMapOvr>
    <a:masterClrMapping/>
  </p:clrMapOvr>
</p:sld>
</file>

<file path=ppt/slides/slide7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CONVERSATION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At a Birthday Party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Greet the host, make small talk and offer good wishes.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Happy birthday!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Thank you for inviting me.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How do you know the host?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Hold a three-minute party conversation with greetings and follow-up questions.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Use short, friendly questions and avoid overly personal topics.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055</a:t>
            </a:r>
          </a:p>
        </p:txBody>
      </p:sp>
    </p:spTree>
  </p:cSld>
  <p:clrMapOvr>
    <a:masterClrMapping/>
  </p:clrMapOvr>
</p:sld>
</file>

<file path=ppt/slides/slide7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CONVERSATION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At a Bus Stop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Ask about the route, stop and arrival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Does this bus go to the university?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Where should I get off?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How often does it run?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One learner asks for a route; another gives directions and a landmark.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Repeat the destination to confirm you understood correctly.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056</a:t>
            </a:r>
          </a:p>
        </p:txBody>
      </p:sp>
    </p:spTree>
  </p:cSld>
  <p:clrMapOvr>
    <a:masterClrMapping/>
  </p:clrMapOvr>
</p:sld>
</file>

<file path=ppt/slides/slide7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CONVERSATION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At a Railway Station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Ask for a train, platform, timing and delay information.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Which platform does the train leave from?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Is the train running on time?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Where is the enquiry counter?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Practise a traveller asking staff three questions.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Numbers and platform names should be spoken clearly.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057</a:t>
            </a:r>
          </a:p>
        </p:txBody>
      </p:sp>
    </p:spTree>
  </p:cSld>
  <p:clrMapOvr>
    <a:masterClrMapping/>
  </p:clrMapOvr>
</p:sld>
</file>

<file path=ppt/slides/slide7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CONVERSATION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At the Ticket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Buy a ticket and confirm key details.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One ticket to Mumbai, please.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Is it a single or return ticket?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What time does it depart?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Complete a ticket-purchase role-play with a date and 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Repeat destination, date and passenger count before paying.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058</a:t>
            </a:r>
          </a:p>
        </p:txBody>
      </p:sp>
    </p:spTree>
  </p:cSld>
  <p:clrMapOvr>
    <a:masterClrMapping/>
  </p:clrMapOvr>
</p:sld>
</file>

<file path=ppt/slides/slide7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CONVERSATION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On the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Ask for confirmation and respond to announcements.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Is this the train for Pune?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Has boarding started?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Please tell me when the doors open.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Ask a station employee to confirm the destination and platform.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Listen for place names and numbers; request repetition if needed.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059</a:t>
            </a:r>
          </a:p>
        </p:txBody>
      </p:sp>
    </p:spTree>
  </p:cSld>
  <p:clrMapOvr>
    <a:masterClrMapping/>
  </p:clrMapOvr>
</p:sld>
</file>

<file path=ppt/slides/slide7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CONVERSATION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First Day on Campus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Introduce yourself, find a room and ask about routines.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I'm new here. Could you tell me where Room 12 is?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When does the class begin?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Role-play a new student asking a classmate for help.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Use friendly introductions before asking several questions.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060</a:t>
            </a:r>
          </a:p>
        </p:txBody>
      </p:sp>
    </p:spTree>
  </p:cSld>
  <p:clrMapOvr>
    <a:masterClrMapping/>
  </p:clrMapOvr>
</p:sld>
</file>

<file path=ppt/slides/slide7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CONVERSATION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A Friendly Conversation: Shared Interests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Build a conversation around a common interest and avoid a one-sided interview.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What kind of music do you enjoy?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 like jazz. What about you?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Have you tried it before?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Speak for two minutes about a hobby using three follow-up questions.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Balance questions with sharing something about yourself.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061</a:t>
            </a:r>
          </a:p>
        </p:txBody>
      </p:sp>
    </p:spTree>
  </p:cSld>
  <p:clrMapOvr>
    <a:masterClrMapping/>
  </p:clrMapOvr>
</p:sld>
</file>

<file path=ppt/slides/slide7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CONVERSATION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Booking a Hotel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Ask about availability, room type, price and cancellation conditions.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Do you have a room available for two nights?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Is breakfast included?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Could you confirm the booking by email?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Role-play booking a room and repeating the confirmation details.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Confirm dates, number of guests and total price.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062</a:t>
            </a:r>
          </a:p>
        </p:txBody>
      </p:sp>
    </p:spTree>
  </p:cSld>
  <p:clrMapOvr>
    <a:masterClrMapping/>
  </p:clrMapOvr>
</p:sld>
</file>

<file path=ppt/slides/slide7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CONVERSATION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Interview for a Child's Admission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Ask about the process, documents and school routine.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What documents should we bring?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When will the assessment take place?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How can parents support the child?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Parent asks an admissions coordinator for information.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Keep questions clear and respectful; do not coach a child to misrepresent abilities.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063</a:t>
            </a:r>
          </a:p>
        </p:txBody>
      </p:sp>
    </p:spTree>
  </p:cSld>
  <p:clrMapOvr>
    <a:masterClrMapping/>
  </p:clrMapOvr>
</p:sld>
</file>

<file path=ppt/slides/slide7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CONVERSATION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Talking to a Class Teacher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Discuss a learner's progress and agree on next steps.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Could you tell me how my child is progressing?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What should we practise at home?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Parent and teacher discuss one strength and one improvement area.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Focus on specific observations and constructive actions.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064</a:t>
            </a:r>
          </a:p>
        </p:txBody>
      </p:sp>
    </p:spTree>
  </p:cSld>
  <p:clrMapOvr>
    <a:masterClrMapping/>
  </p:clrMapOvr>
</p:sld>
</file>

<file path=ppt/slides/slide7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CONVERSATION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Making a Complaint: Electricity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Explain the problem, its duration and the action requested.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Our power has been out since 6 p.m.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Could you tell me when service may return?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Here is my complaint reference.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Role-play reporting an outage and recording the ticket number.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State location and reference details calmly; avoid blaming the representative.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065</a:t>
            </a:r>
          </a:p>
        </p:txBody>
      </p:sp>
    </p:spTree>
  </p:cSld>
  <p:clrMapOvr>
    <a:masterClrMapping/>
  </p:clrMapOvr>
</p:sld>
</file>

<file path=ppt/slides/slide7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CONVERSATION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Making a Complaint: Telephone or Internet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Describe a service issue and test whether it is resolved.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The connection keeps dropping.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 have restarted the router.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Could you check the line from your end?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Customer and support agent work through a short troubleshooting script.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Give exact times and error messages when available.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066</a:t>
            </a:r>
          </a:p>
        </p:txBody>
      </p:sp>
    </p:spTree>
  </p:cSld>
  <p:clrMapOvr>
    <a:masterClrMapping/>
  </p:clrMapOvr>
</p:sld>
</file>

<file path=ppt/slides/slide7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CONVERSATION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Making a Complaint: Faulty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Explain what was bought, what failed and the preferred remedy.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 bought this yesterday, but it does not switch on.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Could you replace it or arrange a repair?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Role-play with a receipt, product fault and requested resolution.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Keep the description factual and state the desired next step.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067</a:t>
            </a:r>
          </a:p>
        </p:txBody>
      </p:sp>
    </p:spTree>
  </p:cSld>
  <p:clrMapOvr>
    <a:masterClrMapping/>
  </p:clrMapOvr>
</p:sld>
</file>

<file path=ppt/slides/slide7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CONVERSATION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Everyday Complaints Without Conflict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Raise a problem firmly while remaining respectful.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I'm afraid this is not what I ordered.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Could we find a solution?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Thank you for looking into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Rewrite an angry complaint as a clear, polite request.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Separate the problem from assumptions about the other person's intent.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068</a:t>
            </a:r>
          </a:p>
        </p:txBody>
      </p:sp>
    </p:spTree>
  </p:cSld>
  <p:clrMapOvr>
    <a:masterClrMapping/>
  </p:clrMapOvr>
</p:sld>
</file>

<file path=ppt/slides/slide7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CONVERSATION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Talking About Careers: Sales and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Discuss customer needs, campaign results and targets.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Which customer group are we targeting?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The campaign increased enquiries.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What should we improve next month?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Give a one-minute update on a simple campaign.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Use numbers only when you can explain what they measure.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069</a:t>
            </a:r>
          </a:p>
        </p:txBody>
      </p:sp>
    </p:spTree>
  </p:cSld>
  <p:clrMapOvr>
    <a:masterClrMapping/>
  </p:clrMapOvr>
</p:sld>
</file>

<file path=ppt/slides/slide7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CONVERSATION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Talking About Careers: Journalism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Ask about sources, deadlines and the main point of a story.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What is the central claim?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Have you confirmed the source?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When is the article due?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Interview a partner about a campus or community event.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Distinguish confirmed facts from opinions and unverified claims.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070</a:t>
            </a:r>
          </a:p>
        </p:txBody>
      </p:sp>
    </p:spTree>
  </p:cSld>
  <p:clrMapOvr>
    <a:masterClrMapping/>
  </p:clrMapOvr>
</p:sld>
</file>

<file path=ppt/slides/slide7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CONVERSATION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Talking About Careers: Computers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Explain a technical issue in plain English.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The application freezes after login.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 can reproduce the error.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Could you share the exact steps?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Explain a software problem to a non-technical colleague.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Use sequence words: first, next, then, finally.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071</a:t>
            </a:r>
          </a:p>
        </p:txBody>
      </p:sp>
    </p:spTree>
  </p:cSld>
  <p:clrMapOvr>
    <a:masterClrMapping/>
  </p:clrMapOvr>
</p:sld>
</file>

<file path=ppt/slides/slide7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CONVERSATION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Speaking to a Property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Ask about rent, deposit, location and conditions.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What is the monthly rent?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How much is the deposit?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Are maintenance charges included?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Role-play viewing a rental flat and asking five questions.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Confirm all terms in writing before making a commitment.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072</a:t>
            </a:r>
          </a:p>
        </p:txBody>
      </p:sp>
    </p:spTree>
  </p:cSld>
  <p:clrMapOvr>
    <a:masterClrMapping/>
  </p:clrMapOvr>
</p:sld>
</file>

<file path=ppt/slides/slide7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CONVERSATION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Job Interview: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Give a concise, relevant professional introduction.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 specialise in Java and cloud-native services.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Recently, I worked on…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 am looking for a role where I can…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Deliver a 60-second introduction without reading notes.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Connect experience to the role; avoid repeating the entire résumé.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073</a:t>
            </a:r>
          </a:p>
        </p:txBody>
      </p:sp>
    </p:spTree>
  </p:cSld>
  <p:clrMapOvr>
    <a:masterClrMapping/>
  </p:clrMapOvr>
</p:sld>
</file>

<file path=ppt/slides/slide7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CONVERSATION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Job Interview: Experience and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Use a situation, action and result structure to explain achievements.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D3C"/>
                </a:solidFill>
                <a:latin typeface="Aptos"/>
              </a:defRPr>
            </a:pPr>
            <a:r>
              <a:t>• The service was slow. I profiled the API, found a query bottleneck and reduced response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Answer: Tell me about a difficult problem you solved.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Use truthful specifics and explain your personal contribution.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074</a:t>
            </a:r>
          </a:p>
        </p:txBody>
      </p:sp>
    </p:spTree>
  </p:cSld>
  <p:clrMapOvr>
    <a:masterClrMapping/>
  </p:clrMapOvr>
</p:sld>
</file>

<file path=ppt/slides/slide7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CONVERSATION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Door-to-Door Sales: Ethical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Introduce yourself, state the purpose and respect a refusal.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Good afternoon. I'm here to share information about…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Would now be a convenient time?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No problem; thank you for your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Practise an opening and a polite response to 'not interested'.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Never pressure a person who declines or asks you to leave.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075</a:t>
            </a:r>
          </a:p>
        </p:txBody>
      </p:sp>
    </p:spTree>
  </p:cSld>
  <p:clrMapOvr>
    <a:masterClrMapping/>
  </p:clrMapOvr>
</p:sld>
</file>

<file path=ppt/slides/slide7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CONVERSATION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Presenting an Offer to a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Describe a business benefit and ask for a next step.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We help teams reduce manual work.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Would a short demonstration be useful?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May I send a summary?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Give a 45-second product pitch and answer one question.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Avoid unsupported claims; ask about the customer's needs first.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076</a:t>
            </a:r>
          </a:p>
        </p:txBody>
      </p:sp>
    </p:spTree>
  </p:cSld>
  <p:clrMapOvr>
    <a:masterClrMapping/>
  </p:clrMapOvr>
</p:sld>
</file>

<file path=ppt/slides/slide7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CONVERSATION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At the 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Ask about account services, charges and documents.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What documents do I need to update my address?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Is there a service charge?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Could you explain this entry?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Customer asks a bank employee about a transaction.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Never share PINs or passwords; ask for official written guidance.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077</a:t>
            </a:r>
          </a:p>
        </p:txBody>
      </p:sp>
    </p:spTree>
  </p:cSld>
  <p:clrMapOvr>
    <a:masterClrMapping/>
  </p:clrMapOvr>
</p:sld>
</file>

<file path=ppt/slides/slide7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CONVERSATION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Boss and Secretary: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Arrange a meeting and communicate changes clearly.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The director is available after 3 p.m.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Shall I move the meeting to Thursday?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I'll send an updated invitation.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Handle a double-booking and confirm the new 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Repeat dates, times and participants before closing the call.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078</a:t>
            </a:r>
          </a:p>
        </p:txBody>
      </p:sp>
    </p:spTree>
  </p:cSld>
  <p:clrMapOvr>
    <a:masterClrMapping/>
  </p:clrMapOvr>
</p:sld>
</file>

<file path=ppt/slides/slide7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CONVERSATION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Giving a Progress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Summarise completed work, risks and next actions.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D3C"/>
                </a:solidFill>
                <a:latin typeface="Aptos"/>
              </a:defRPr>
            </a:pPr>
            <a:r>
              <a:t>• Completed: testing. In progress: documentation. Risk: waiting for approval. Next: release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Deliver a one-minute status report using four headings.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Be concise and distinguish a risk from an issue that has already occurred.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079</a:t>
            </a:r>
          </a:p>
        </p:txBody>
      </p:sp>
    </p:spTree>
  </p:cSld>
  <p:clrMapOvr>
    <a:masterClrMapping/>
  </p:clrMapOvr>
</p:sld>
</file>

<file path=ppt/slides/slide7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CONVERSATION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At a Tourist Office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Ask about local attractions, transport and opening hours.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What would you recommend for a half-day visit?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How do I get there by public transport?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Plan a half-day itinerary with an information officer.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Ask about travel time and accessibility, not only attraction names.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080</a:t>
            </a:r>
          </a:p>
        </p:txBody>
      </p:sp>
    </p:spTree>
  </p:cSld>
  <p:clrMapOvr>
    <a:masterClrMapping/>
  </p:clrMapOvr>
</p:sld>
</file>

<file path=ppt/slides/slide7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CONVERSATION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At the Cinema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Ask about showtimes, seats and facilities.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What time does the next show start?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Are two seats available together?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Is there an interval?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Buy tickets and ask where the screen is located.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Practise time expressions and polite clarification.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081</a:t>
            </a:r>
          </a:p>
        </p:txBody>
      </p:sp>
    </p:spTree>
  </p:cSld>
  <p:clrMapOvr>
    <a:masterClrMapping/>
  </p:clrMapOvr>
</p:sld>
</file>

<file path=ppt/slides/slide7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CONVERSATION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At a Playground or Sports 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Join an activity and ask about rules.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Can I join your team?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How many players do we need?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Whose turn is it?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Invite someone to play and explain one simple rule.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Use inclusive language and clarify rules before starting.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082</a:t>
            </a:r>
          </a:p>
        </p:txBody>
      </p:sp>
    </p:spTree>
  </p:cSld>
  <p:clrMapOvr>
    <a:masterClrMapping/>
  </p:clrMapOvr>
</p:sld>
</file>

<file path=ppt/slides/slide7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CONVERSATION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Attending a Wedding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Offer congratulations and make suitable small talk.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Congratulations to the couple.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The ceremony was lovely.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How do you know the family?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Role-play greeting the hosts and meeting a guest.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Keep comments warm and avoid intrusive questions about private matters.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083</a:t>
            </a:r>
          </a:p>
        </p:txBody>
      </p:sp>
    </p:spTree>
  </p:cSld>
  <p:clrMapOvr>
    <a:masterClrMapping/>
  </p:clrMapOvr>
</p:sld>
</file>

<file path=ppt/slides/slide7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CONVERSATION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At a Doctor's Office: Describing Symptoms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Give duration, location and severity clearly.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I've had a cough for three days.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The pain is worse at night.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 started feeling dizzy this morning.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Practise a patient describing symptoms and answering follow-up questions.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This is language practice, not a substitute for medical advice.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084</a:t>
            </a:r>
          </a:p>
        </p:txBody>
      </p:sp>
    </p:spTree>
  </p:cSld>
  <p:clrMapOvr>
    <a:masterClrMapping/>
  </p:clrMapOvr>
</p:sld>
</file>

<file path=ppt/slides/slide7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CONVERSATION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General Conversation: Keep It Going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Use follow-up questions, paraphrase and polite transitions.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Really? What happened next?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So you mean the train was delayed?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That reminds me of…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Continue a conversation for three minutes without changing topic abruptly.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Listen to the answer before planning the next question.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085</a:t>
            </a:r>
          </a:p>
        </p:txBody>
      </p:sp>
    </p:spTree>
  </p:cSld>
  <p:clrMapOvr>
    <a:masterClrMapping/>
  </p:clrMapOvr>
</p:sld>
</file>

<file path=ppt/slides/slide7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CONVERSATION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Agreeing, Refusing and Negotiating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Express a preference and offer an alternative.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That works for me.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I'm afraid I can't make it then.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Could we try Friday instead?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Negotiate a meeting time and reach agreement.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Be clear about constraints and propose a workable alternative.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086</a:t>
            </a:r>
          </a:p>
        </p:txBody>
      </p:sp>
    </p:spTree>
  </p:cSld>
  <p:clrMapOvr>
    <a:masterClrMapping/>
  </p:clrMapOvr>
</p:sld>
</file>

<file path=ppt/slides/slide7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CONVERSATION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Encouragement, Comfort and Sympathy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Respond with empathy instead of immediately giving advice.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I'm sorry you're going through this.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You've made real progress.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Is there anything I can do to help?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Choose a suitable response for three different situations.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Avoid minimising another person's feelings or promising what you cannot 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087</a:t>
            </a:r>
          </a:p>
        </p:txBody>
      </p:sp>
    </p:spTree>
  </p:cSld>
  <p:clrMapOvr>
    <a:masterClrMapping/>
  </p:clrMapOvr>
</p:sld>
</file>

<file path=ppt/slides/slide7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CONVERSATION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Anger and Disagreement: De-escalation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Describe the impact and ask to discuss a solution.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 felt concerned when the deadline changed without notice.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Can we agree on how to update each other?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Rewrite a blaming statement as an 'I' statement.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Keep your voice calm and focus on observable facts.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088</a:t>
            </a:r>
          </a:p>
        </p:txBody>
      </p:sp>
    </p:spTree>
  </p:cSld>
  <p:clrMapOvr>
    <a:masterClrMapping/>
  </p:clrMapOvr>
</p:sld>
</file>

<file path=ppt/slides/slide7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CONVERSATION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Refusal and Permission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Decline respectfully or ask permission with suitable formality.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I'm afraid I can't attend.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Would it be all right if I left early?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May I use this seat?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Give a reason and an alternative for two refusals.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You do not need to over-explain a reasonable boundary.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089</a:t>
            </a:r>
          </a:p>
        </p:txBody>
      </p:sp>
    </p:spTree>
  </p:cSld>
  <p:clrMapOvr>
    <a:masterClrMapping/>
  </p:clrMapOvr>
</p:sld>
</file>

<file path=ppt/slides/slide7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WRITING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Formal Letter: Layout and 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A formal letter has a clear purpose, organised paragraphs and a respectful close.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Subject: Request for Information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Dear Sir/Madam,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 am writing to enquire about…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Yours faithfully,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Turn a casual message into a formal enquiry.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Use a subject line when appropriate and keep each paragraph focused.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090</a:t>
            </a:r>
          </a:p>
        </p:txBody>
      </p:sp>
    </p:spTree>
  </p:cSld>
  <p:clrMapOvr>
    <a:masterClrMapping/>
  </p:clrMapOvr>
</p:sld>
</file>

<file path=ppt/slides/slide7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WRITING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Letter of Greetings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Send warm wishes for a festival, milestone or special occasion.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Dear Anita, wishing you and your family a joyful festival and a peaceful year ahead.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Write a short greeting card for a colleague.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Personalise the message without making it too long.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091</a:t>
            </a:r>
          </a:p>
        </p:txBody>
      </p:sp>
    </p:spTree>
  </p:cSld>
  <p:clrMapOvr>
    <a:masterClrMapping/>
  </p:clrMapOvr>
</p:sld>
</file>

<file path=ppt/slides/slide8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WRITING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Letter of Congratulations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Name the achievement and offer sincere good wishes.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D3C"/>
                </a:solidFill>
                <a:latin typeface="Aptos"/>
              </a:defRPr>
            </a:pPr>
            <a:r>
              <a:t>• Congratulations on your promotion. Your hard work has paid off, and I wish you continued success.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Write a note congratulating someone on a new job.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Avoid exaggerated claims; make the message specific.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092</a:t>
            </a:r>
          </a:p>
        </p:txBody>
      </p:sp>
    </p:spTree>
  </p:cSld>
  <p:clrMapOvr>
    <a:masterClrMapping/>
  </p:clrMapOvr>
</p:sld>
</file>

<file path=ppt/slides/slide8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WRITING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Letter of Sympathy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Express care and support in a sensitive situation.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D3C"/>
                </a:solidFill>
                <a:latin typeface="Aptos"/>
              </a:defRPr>
            </a:pPr>
            <a:r>
              <a:t>• I was sorry to hear about your loss. Please accept my heartfelt sympathy. I'm thinking of you and your family.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Draft a brief sympathy note for a colleague.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Keep it sincere and simple; do not assume how the person feels.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093</a:t>
            </a:r>
          </a:p>
        </p:txBody>
      </p:sp>
    </p:spTree>
  </p:cSld>
  <p:clrMapOvr>
    <a:masterClrMapping/>
  </p:clrMapOvr>
</p:sld>
</file>

<file path=ppt/slides/slide8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WRITING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Letter of Regret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Explain that you cannot attend or fulfil a request and, where useful, offer an alternative.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D3C"/>
                </a:solidFill>
                <a:latin typeface="Aptos"/>
              </a:defRPr>
            </a:pPr>
            <a:r>
              <a:t>• Thank you for the invitation. I regret that I will be unable to attend because of a prior commitment.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Decline an invitation politely in three sentences.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Apologise when appropriate and avoid unnecessary detail.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094</a:t>
            </a:r>
          </a:p>
        </p:txBody>
      </p:sp>
    </p:spTree>
  </p:cSld>
  <p:clrMapOvr>
    <a:masterClrMapping/>
  </p:clrMapOvr>
</p:sld>
</file>

<file path=ppt/slides/slide8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WRITING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Thank-You Letter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State what you appreciate and why it mattered.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D3C"/>
                </a:solidFill>
                <a:latin typeface="Aptos"/>
              </a:defRPr>
            </a:pPr>
            <a:r>
              <a:t>• Thank you for taking time to explain the process. Your guidance helped me prepare with confidence.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Write a thank-you note after an interview or meeting.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Mention a concrete contribution rather than only saying 'thanks'.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095</a:t>
            </a:r>
          </a:p>
        </p:txBody>
      </p:sp>
    </p:spTree>
  </p:cSld>
  <p:clrMapOvr>
    <a:masterClrMapping/>
  </p:clrMapOvr>
</p:sld>
</file>

<file path=ppt/slides/slide8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WRITING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Condolence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Offer respectful support after a death.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D3C"/>
                </a:solidFill>
                <a:latin typeface="Aptos"/>
              </a:defRPr>
            </a:pPr>
            <a:r>
              <a:t>• Please accept my sincere condolences. I hope you find comfort in the support of family and friends.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Write a two-sentence condolence message.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Avoid clichés that may not suit the recipient's beliefs or situation.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096</a:t>
            </a:r>
          </a:p>
        </p:txBody>
      </p:sp>
    </p:spTree>
  </p:cSld>
  <p:clrMapOvr>
    <a:masterClrMapping/>
  </p:clrMapOvr>
</p:sld>
</file>

<file path=ppt/slides/slide8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WRITING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Invitation Letter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Include the event, date, time, venue and RSVP details.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D3C"/>
                </a:solidFill>
                <a:latin typeface="Aptos"/>
              </a:defRPr>
            </a:pPr>
            <a:r>
              <a:t>• We would be delighted if you could join us for the annual gathering on Saturday at 6 p.m. at…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Write an invitation and a short acceptance reply.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Check date, time, venue and contact details before sending.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097</a:t>
            </a:r>
          </a:p>
        </p:txBody>
      </p:sp>
    </p:spTree>
  </p:cSld>
  <p:clrMapOvr>
    <a:masterClrMapping/>
  </p:clrMapOvr>
</p:sld>
</file>

<file path=ppt/slides/slide8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WRITING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Education-Related Letter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Write to a school or institution about admission, attendance or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D3C"/>
                </a:solidFill>
                <a:latin typeface="Aptos"/>
              </a:defRPr>
            </a:pPr>
            <a:r>
              <a:t>• I am writing to request a copy of the course completion certificate. Please let me know the required procedure.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Draft a letter requesting a transcript or certificate.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Include student details only where needed and use the official channel.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098</a:t>
            </a:r>
          </a:p>
        </p:txBody>
      </p:sp>
    </p:spTree>
  </p:cSld>
  <p:clrMapOvr>
    <a:masterClrMapping/>
  </p:clrMapOvr>
</p:sld>
</file>

<file path=ppt/slides/slide8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WRITING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Family Letter: Friendly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Use a warm opening, personal update and a natural closing.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It was lovely speaking with you. Work has been busy, but I hope to visit next month.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Write a short update to a relative who lives far away.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Choose tone and detail based on how close you are to the recipient.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099</a:t>
            </a:r>
          </a:p>
        </p:txBody>
      </p:sp>
    </p:spTree>
  </p:cSld>
  <p:clrMapOvr>
    <a:masterClrMapping/>
  </p:clrMapOvr>
</p:sld>
</file>

<file path=ppt/slides/slide8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WRITING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Family Letter: Elder to Younger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Give encouragement and practical advice without sounding harsh.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D3C"/>
                </a:solidFill>
                <a:latin typeface="Aptos"/>
              </a:defRPr>
            </a:pPr>
            <a:r>
              <a:t>• I was glad to hear about your new course. Keep a steady routine and ask for help whenever you need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Write an encouraging note to a younger family member.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Balance advice with appreciation and confidence in the reader.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100</a:t>
            </a:r>
          </a:p>
        </p:txBody>
      </p:sp>
    </p:spTree>
  </p:cSld>
  <p:clrMapOvr>
    <a:masterClrMapping/>
  </p:clrMapOvr>
</p:sld>
</file>

<file path=ppt/slides/slide8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WRITING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Family Letter: Younger to Elder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Use a respectful, warm tone and provide clear updates.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D3C"/>
                </a:solidFill>
                <a:latin typeface="Aptos"/>
              </a:defRPr>
            </a:pPr>
            <a:r>
              <a:t>• Dear Uncle, thank you for your message. My studies are going well, and I hope to visit during the holidays.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Write a short letter thanking an elder for support.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Respectful language can still sound natural and personal.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101</a:t>
            </a:r>
          </a:p>
        </p:txBody>
      </p:sp>
    </p:spTree>
  </p:cSld>
  <p:clrMapOvr>
    <a:masterClrMapping/>
  </p:clrMapOvr>
</p:sld>
</file>

<file path=ppt/slides/slide8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WRITING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Job Application Email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State the role, match key experience and mention attached documents.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Subject: Application for Java Architect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 am applying for… My experience includes… Please find my résumé attached.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Draft a short application email for a role you genuinely fit.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Do not claim skills or experience you cannot support.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102</a:t>
            </a:r>
          </a:p>
        </p:txBody>
      </p:sp>
    </p:spTree>
  </p:cSld>
  <p:clrMapOvr>
    <a:masterClrMapping/>
  </p:clrMapOvr>
</p:sld>
</file>

<file path=ppt/slides/slide8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WRITING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Reply to an Interview Invitation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Confirm attendance or request a different time professionally.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D3C"/>
                </a:solidFill>
                <a:latin typeface="Aptos"/>
              </a:defRPr>
            </a:pPr>
            <a:r>
              <a:t>• Thank you for the invitation. I confirm that I will attend the interview on Tuesday at 11 a.m.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Write a confirmation and a rescheduling request.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Repeat the date, time and time zone if the interview is remote.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103</a:t>
            </a:r>
          </a:p>
        </p:txBody>
      </p:sp>
    </p:spTree>
  </p:cSld>
  <p:clrMapOvr>
    <a:masterClrMapping/>
  </p:clrMapOvr>
</p:sld>
</file>

<file path=ppt/slides/slide8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WRITING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Complaint Letter: Service or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Present the facts, timeline, evidence and requested remedy.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D3C"/>
                </a:solidFill>
                <a:latin typeface="Aptos"/>
              </a:defRPr>
            </a:pPr>
            <a:r>
              <a:t>• I purchased the item on 4 October. It stopped working on 8 October. I would appreciate a replacement or repair.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Write a complaint with a clear subject and three factual points.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Attach relevant proof through the official channel and retain a copy.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104</a:t>
            </a:r>
          </a:p>
        </p:txBody>
      </p:sp>
    </p:spTree>
  </p:cSld>
  <p:clrMapOvr>
    <a:masterClrMapping/>
  </p:clrMapOvr>
</p:sld>
</file>

<file path=ppt/slides/slide8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WRITING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Hotel Accommodation Enquiry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Ask about dates, occupancy, price and facilities.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D3C"/>
                </a:solidFill>
                <a:latin typeface="Aptos"/>
              </a:defRPr>
            </a:pPr>
            <a:r>
              <a:t>• Could you confirm availability for two adults from 12 to 14 December? Please share the total price and cancellation terms.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Write a hotel enquiry and list four details to confirm.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Request the total cost, not only the nightly rate.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105</a:t>
            </a:r>
          </a:p>
        </p:txBody>
      </p:sp>
    </p:spTree>
  </p:cSld>
  <p:clrMapOvr>
    <a:masterClrMapping/>
  </p:clrMapOvr>
</p:sld>
</file>

<file path=ppt/slides/slide8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WRITING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Letter to a 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Use a specific subject and request an action or explanation.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Subject: Request to Update Contact Details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Please advise the documents required to update my registered mobile number.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Draft a request for a statement or address update.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Never include passwords, PINs or full sensitive account details in ordinary email.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106</a:t>
            </a:r>
          </a:p>
        </p:txBody>
      </p:sp>
    </p:spTree>
  </p:cSld>
  <p:clrMapOvr>
    <a:masterClrMapping/>
  </p:clrMapOvr>
</p:sld>
</file>

<file path=ppt/slides/slide8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WRITING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Letter to an Insurance Company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Describe the policy or claim and ask for the next step.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D3C"/>
                </a:solidFill>
                <a:latin typeface="Aptos"/>
              </a:defRPr>
            </a:pPr>
            <a:r>
              <a:t>• I am writing to enquire about the status of claim reference… Please let me know if any documents are outstanding.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Write a claim-status enquiry.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Use the insurer's official contact channel and provide only necessary identifiers.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107</a:t>
            </a:r>
          </a:p>
        </p:txBody>
      </p:sp>
    </p:spTree>
  </p:cSld>
  <p:clrMapOvr>
    <a:masterClrMapping/>
  </p:clrMapOvr>
</p:sld>
</file>

<file path=ppt/slides/slide8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WRITING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Business Complaint Letter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Keep the tone factual, firm and solution-oriented.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D3C"/>
                </a:solidFill>
                <a:latin typeface="Aptos"/>
              </a:defRPr>
            </a:pPr>
            <a:r>
              <a:t>• The shipment received on 15 October was short by three units. Please advise whether the missing items will be dispatched or credited.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Write a supplier complaint with a requested resolution.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Avoid emotional language; include order references and dates.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108</a:t>
            </a:r>
          </a:p>
        </p:txBody>
      </p:sp>
    </p:spTree>
  </p:cSld>
  <p:clrMapOvr>
    <a:masterClrMapping/>
  </p:clrMapOvr>
</p:sld>
</file>

<file path=ppt/slides/slide8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WRITING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Apology Letter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Acknowledge the error, apologise, explain corrective action and prevent recurrence.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D3C"/>
                </a:solidFill>
                <a:latin typeface="Aptos"/>
              </a:defRPr>
            </a:pPr>
            <a:r>
              <a:t>• I apologise for sending the incorrect version. I have attached the corrected file and added a final review step.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Write an apology for missing a deadline.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Do not shift blame; make the next action explicit.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109</a:t>
            </a:r>
          </a:p>
        </p:txBody>
      </p:sp>
    </p:spTree>
  </p:cSld>
  <p:clrMapOvr>
    <a:masterClrMapping/>
  </p:clrMapOvr>
</p:sld>
</file>

<file path=ppt/slides/slide8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WRITING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Official Letter: Request or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Use a clear subject, concise background and an actionable request.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D3C"/>
                </a:solidFill>
                <a:latin typeface="Aptos"/>
              </a:defRPr>
            </a:pPr>
            <a:r>
              <a:t>• I am writing to request approval for… The reason is… Please let me know if further information is required.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Write an official request to a department head.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Keep the tone professional and the request easy to locate.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110</a:t>
            </a:r>
          </a:p>
        </p:txBody>
      </p:sp>
    </p:spTree>
  </p:cSld>
  <p:clrMapOvr>
    <a:masterClrMapping/>
  </p:clrMapOvr>
</p:sld>
</file>

<file path=ppt/slides/slide8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WRITING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Letter from Landlord to Tenant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Communicate maintenance, access or payment matters clearly and respectfully.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D3C"/>
                </a:solidFill>
                <a:latin typeface="Aptos"/>
              </a:defRPr>
            </a:pPr>
            <a:r>
              <a:t>• This is to inform you that maintenance work is scheduled for… Please contact me if the proposed time causes difficulty.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Draft a notice about a repair visit.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Follow the applicable rental agreement and local rules; this is a language exercise.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111</a:t>
            </a:r>
          </a:p>
        </p:txBody>
      </p:sp>
    </p:spTree>
  </p:cSld>
  <p:clrMapOvr>
    <a:masterClrMapping/>
  </p:clrMapOvr>
</p:sld>
</file>

<file path=ppt/slides/slide8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WRITING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Letter from Tenant to Landlord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Describe the issue, its impact and a reasonable request.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D3C"/>
                </a:solidFill>
                <a:latin typeface="Aptos"/>
              </a:defRPr>
            </a:pPr>
            <a:r>
              <a:t>• The kitchen tap has been leaking since Monday. Could you arrange a repair visit this week?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Write a maintenance request with a preferred time window.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Keep a copy of the communication and report urgent safety issues promptly.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112</a:t>
            </a:r>
          </a:p>
        </p:txBody>
      </p:sp>
    </p:spTree>
  </p:cSld>
  <p:clrMapOvr>
    <a:masterClrMapping/>
  </p:clrMapOvr>
</p:sld>
</file>

<file path=ppt/slides/slide8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WRITING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Reply to a Matrimonial or Personal Advertisement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Respond respectfully, share only appropriate information and ask clear questions.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D3C"/>
                </a:solidFill>
                <a:latin typeface="Aptos"/>
              </a:defRPr>
            </a:pPr>
            <a:r>
              <a:t>• Thank you for sharing the profile. We would be interested in learning more about your expectations and preferred next steps.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Draft a neutral first reply without sharing sensitive details.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Respect privacy and consent; avoid disclosing personal documents or financial details early.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113</a:t>
            </a:r>
          </a:p>
        </p:txBody>
      </p:sp>
    </p:spTree>
  </p:cSld>
  <p:clrMapOvr>
    <a:masterClrMapping/>
  </p:clrMapOvr>
</p:sld>
</file>

<file path=ppt/slides/slide8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WRITING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Short Message vs Formal Letter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Match length and tone to the purpose and relationship.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Message: Running ten minutes late; please start without me.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Formal: I apologise for the delay and appreciate your patience.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Write the same update as a chat message and a formal email.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The medium changes the format, but clarity and courtesy still matter.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114</a:t>
            </a:r>
          </a:p>
        </p:txBody>
      </p:sp>
    </p:spTree>
  </p:cSld>
  <p:clrMapOvr>
    <a:masterClrMapping/>
  </p:clrMapOvr>
</p:sld>
</file>

<file path=ppt/slides/slide8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FLUENCY &amp;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Rapidex-Style Drill: Transform 12 Sentences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Practise grammar through quick, repeated transformations.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Change each statement into a question, a negative and a short answer.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Work in pairs; one learner reads a statement and the other transforms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Give immediate feedback on auxiliary verbs and word order.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115</a:t>
            </a:r>
          </a:p>
        </p:txBody>
      </p:sp>
    </p:spTree>
  </p:cSld>
  <p:clrMapOvr>
    <a:masterClrMapping/>
  </p:clrMapOvr>
</p:sld>
</file>

<file path=ppt/slides/slide8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FLUENCY &amp;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Mixed Grammar Error Hunt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Find and correct one error in each sentence.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She don't like tea.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 have seen him yesterday.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He is good in maths.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Please explain me this.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Correct the four sentences and explain each correction.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Ask learners to explain the rule in their own words.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116</a:t>
            </a:r>
          </a:p>
        </p:txBody>
      </p:sp>
    </p:spTree>
  </p:cSld>
  <p:clrMapOvr>
    <a:masterClrMapping/>
  </p:clrMapOvr>
</p:sld>
</file>

<file path=ppt/slides/slide8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FLUENCY &amp;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Pronunciation: Sound Contrast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Practise sounds that may change the meaning of a word.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ship/sheep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full/fool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live/leave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thin/then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Read each pair and use both words in a sentence.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Aim for intelligibility and consistency rather than copying a particular accent.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117</a:t>
            </a:r>
          </a:p>
        </p:txBody>
      </p:sp>
    </p:spTree>
  </p:cSld>
  <p:clrMapOvr>
    <a:masterClrMapping/>
  </p:clrMapOvr>
</p:sld>
</file>

<file path=ppt/slides/slide8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FLUENCY &amp;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Pronunciation: Silent-Letter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Notice common spelling patterns where a letter is not spoken.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know, knee, write, wrong, climb, listen, honest, island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Read the list, underline the silent letter and use five words aloud.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English spelling has exceptions; verify unfamiliar words in a dictionary.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118</a:t>
            </a:r>
          </a:p>
        </p:txBody>
      </p:sp>
    </p:spTree>
  </p:cSld>
  <p:clrMapOvr>
    <a:masterClrMapping/>
  </p:clrMapOvr>
</p:sld>
</file>

<file path=ppt/slides/slide8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FLUENCY &amp;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Pronunciation: Stress and Intonation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Use stress to highlight meaning and intonation to signal intent.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 wanted the BLUE one.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Are you ready?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Where do you live?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Say one sentence with two different emphases and explain the meaning change.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Record and replay a short sample to notice rhythm.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119</a:t>
            </a:r>
          </a:p>
        </p:txBody>
      </p:sp>
    </p:spTree>
  </p:cSld>
  <p:clrMapOvr>
    <a:masterClrMapping/>
  </p:clrMapOvr>
</p:sld>
</file>

<file path=ppt/slides/slide8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FLUENCY &amp;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Listening and Clarification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Use a simple sequence when you miss part of a message.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Sorry, I missed the last part.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Could you repeat the date?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So the deadline is Friday, correct?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Listen to a partner's instructions and repeat the key details.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Clarification is a professional skill, not a sign of weakness.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120</a:t>
            </a:r>
          </a:p>
        </p:txBody>
      </p:sp>
    </p:spTree>
  </p:cSld>
  <p:clrMapOvr>
    <a:masterClrMapping/>
  </p:clrMapOvr>
</p:sld>
</file>

<file path=ppt/slides/slide8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FLUENCY &amp;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One-Minute Topic: Work, Study or Hobbies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Organise a short talk with an opening, two points and a close.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 would like to talk about… First… Another reason is… To sum up…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Speak for one minute without reading a paragraph.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Use cue words, not a fully written script.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121</a:t>
            </a:r>
          </a:p>
        </p:txBody>
      </p:sp>
    </p:spTree>
  </p:cSld>
  <p:clrMapOvr>
    <a:masterClrMapping/>
  </p:clrMapOvr>
</p:sld>
</file>

<file path=ppt/slides/slide8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FLUENCY &amp;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14264A"/>
                </a:solidFill>
                <a:latin typeface="Aptos"/>
              </a:rPr>
              <a:t>Final Advanced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A697A"/>
                </a:solidFill>
                <a:latin typeface="Aptos"/>
              </a:rPr>
              <a:t>Demonstrate grammar, vocabulary, conversation and writing in a single task.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6537960" cy="2560320"/>
          </a:xfrm>
          <a:prstGeom prst="roundRect">
            <a:avLst/>
          </a:prstGeom>
          <a:solidFill>
            <a:srgbClr val="EEF6F8"/>
          </a:solidFill>
          <a:ln>
            <a:solidFill>
              <a:srgbClr val="D8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89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008B91"/>
                </a:solidFill>
                <a:latin typeface="Aptos"/>
              </a:rPr>
              <a:t>MODEL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989320" cy="182880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D3C"/>
                </a:solidFill>
                <a:latin typeface="Aptos"/>
              </a:defRPr>
            </a:pPr>
            <a:r>
              <a:t>• Task 1: ask for information. Task 2: report a problem. Task 3: write a short formal email.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48840"/>
            <a:ext cx="4407408" cy="2560320"/>
          </a:xfrm>
          <a:prstGeom prst="roundRect">
            <a:avLst/>
          </a:prstGeom>
          <a:solidFill>
            <a:srgbClr val="F9F7F0"/>
          </a:solidFill>
          <a:ln>
            <a:solidFill>
              <a:srgbClr val="EB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A46814"/>
                </a:solidFill>
                <a:latin typeface="Apto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24912"/>
            <a:ext cx="379476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232D3C"/>
                </a:solidFill>
                <a:latin typeface="Aptos"/>
              </a:rPr>
              <a:t>Complete a five-minute role-play and a 100-word email.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10912"/>
            <a:ext cx="1051560" cy="31089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06577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TEACHER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65192"/>
            <a:ext cx="9738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A697A"/>
                </a:solidFill>
                <a:latin typeface="Aptos"/>
              </a:rPr>
              <a:t>Assess clarity, grammar, vocabulary, politeness and listening response.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97296"/>
            <a:ext cx="8869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5A697A"/>
                </a:solidFill>
                <a:latin typeface="Aptos"/>
              </a:rPr>
              <a:t>SkyNetix Systems LLP | English Speaking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797296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8B91"/>
                </a:solidFill>
                <a:latin typeface="Aptos"/>
              </a:rPr>
              <a:t>ADV. 122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
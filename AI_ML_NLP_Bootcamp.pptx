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523"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 id="368" r:id="rId115"/>
    <p:sldId id="369" r:id="rId116"/>
    <p:sldId id="370" r:id="rId117"/>
    <p:sldId id="371" r:id="rId118"/>
    <p:sldId id="372" r:id="rId119"/>
    <p:sldId id="373" r:id="rId120"/>
    <p:sldId id="374" r:id="rId121"/>
    <p:sldId id="375" r:id="rId122"/>
    <p:sldId id="376" r:id="rId123"/>
    <p:sldId id="377" r:id="rId124"/>
    <p:sldId id="378" r:id="rId125"/>
    <p:sldId id="379" r:id="rId126"/>
    <p:sldId id="380" r:id="rId127"/>
    <p:sldId id="381" r:id="rId128"/>
    <p:sldId id="382" r:id="rId129"/>
    <p:sldId id="383" r:id="rId130"/>
    <p:sldId id="384" r:id="rId131"/>
    <p:sldId id="385" r:id="rId132"/>
    <p:sldId id="386" r:id="rId133"/>
    <p:sldId id="387" r:id="rId134"/>
    <p:sldId id="388" r:id="rId135"/>
    <p:sldId id="389" r:id="rId136"/>
    <p:sldId id="390" r:id="rId137"/>
    <p:sldId id="391" r:id="rId138"/>
    <p:sldId id="392" r:id="rId139"/>
    <p:sldId id="393" r:id="rId140"/>
    <p:sldId id="394" r:id="rId141"/>
    <p:sldId id="395" r:id="rId142"/>
    <p:sldId id="396" r:id="rId143"/>
    <p:sldId id="397" r:id="rId144"/>
    <p:sldId id="398" r:id="rId145"/>
    <p:sldId id="399" r:id="rId146"/>
    <p:sldId id="400" r:id="rId147"/>
    <p:sldId id="401" r:id="rId148"/>
    <p:sldId id="402" r:id="rId149"/>
    <p:sldId id="403" r:id="rId150"/>
    <p:sldId id="404" r:id="rId151"/>
    <p:sldId id="405" r:id="rId152"/>
    <p:sldId id="406" r:id="rId153"/>
    <p:sldId id="407" r:id="rId154"/>
    <p:sldId id="408" r:id="rId155"/>
    <p:sldId id="409" r:id="rId156"/>
    <p:sldId id="410" r:id="rId157"/>
    <p:sldId id="411" r:id="rId158"/>
    <p:sldId id="412" r:id="rId159"/>
    <p:sldId id="413" r:id="rId160"/>
    <p:sldId id="414" r:id="rId161"/>
    <p:sldId id="415" r:id="rId162"/>
    <p:sldId id="416" r:id="rId163"/>
    <p:sldId id="417" r:id="rId164"/>
    <p:sldId id="418" r:id="rId165"/>
    <p:sldId id="419" r:id="rId166"/>
    <p:sldId id="420" r:id="rId167"/>
    <p:sldId id="421" r:id="rId168"/>
    <p:sldId id="422" r:id="rId169"/>
    <p:sldId id="423" r:id="rId170"/>
    <p:sldId id="424" r:id="rId171"/>
    <p:sldId id="425" r:id="rId172"/>
    <p:sldId id="426" r:id="rId173"/>
    <p:sldId id="427" r:id="rId174"/>
    <p:sldId id="428" r:id="rId175"/>
    <p:sldId id="429" r:id="rId176"/>
    <p:sldId id="430" r:id="rId177"/>
    <p:sldId id="431" r:id="rId178"/>
    <p:sldId id="432" r:id="rId179"/>
    <p:sldId id="433" r:id="rId180"/>
    <p:sldId id="434" r:id="rId181"/>
    <p:sldId id="435" r:id="rId182"/>
    <p:sldId id="436" r:id="rId183"/>
    <p:sldId id="437" r:id="rId184"/>
    <p:sldId id="438" r:id="rId185"/>
    <p:sldId id="439" r:id="rId186"/>
    <p:sldId id="440" r:id="rId187"/>
    <p:sldId id="441" r:id="rId188"/>
    <p:sldId id="442" r:id="rId189"/>
    <p:sldId id="443" r:id="rId190"/>
    <p:sldId id="444" r:id="rId191"/>
    <p:sldId id="445" r:id="rId192"/>
    <p:sldId id="446" r:id="rId193"/>
    <p:sldId id="447" r:id="rId194"/>
    <p:sldId id="448" r:id="rId195"/>
    <p:sldId id="449" r:id="rId196"/>
    <p:sldId id="450" r:id="rId197"/>
    <p:sldId id="451" r:id="rId198"/>
    <p:sldId id="452" r:id="rId199"/>
    <p:sldId id="453" r:id="rId200"/>
    <p:sldId id="520" r:id="rId201"/>
    <p:sldId id="521" r:id="rId202"/>
    <p:sldId id="522" r:id="rId203"/>
    <p:sldId id="524" r:id="rId204"/>
    <p:sldId id="525" r:id="rId205"/>
    <p:sldId id="526" r:id="rId206"/>
    <p:sldId id="527" r:id="rId207"/>
    <p:sldId id="528" r:id="rId208"/>
    <p:sldId id="529" r:id="rId209"/>
    <p:sldId id="530" r:id="rId210"/>
    <p:sldId id="531" r:id="rId211"/>
    <p:sldId id="532" r:id="rId212"/>
    <p:sldId id="533" r:id="rId213"/>
    <p:sldId id="534" r:id="rId214"/>
    <p:sldId id="535" r:id="rId215"/>
    <p:sldId id="536" r:id="rId216"/>
    <p:sldId id="537" r:id="rId217"/>
    <p:sldId id="538" r:id="rId218"/>
    <p:sldId id="539" r:id="rId219"/>
    <p:sldId id="540" r:id="rId220"/>
    <p:sldId id="541" r:id="rId221"/>
    <p:sldId id="542" r:id="rId222"/>
    <p:sldId id="543" r:id="rId223"/>
    <p:sldId id="544" r:id="rId224"/>
    <p:sldId id="545" r:id="rId225"/>
    <p:sldId id="546" r:id="rId226"/>
    <p:sldId id="547" r:id="rId227"/>
    <p:sldId id="548" r:id="rId228"/>
    <p:sldId id="549" r:id="rId229"/>
    <p:sldId id="550" r:id="rId230"/>
    <p:sldId id="551" r:id="rId231"/>
    <p:sldId id="552" r:id="rId232"/>
    <p:sldId id="553" r:id="rId233"/>
    <p:sldId id="554" r:id="rId234"/>
    <p:sldId id="555" r:id="rId235"/>
    <p:sldId id="556" r:id="rId236"/>
    <p:sldId id="557" r:id="rId237"/>
    <p:sldId id="558" r:id="rId238"/>
    <p:sldId id="559" r:id="rId239"/>
    <p:sldId id="560" r:id="rId240"/>
    <p:sldId id="561" r:id="rId241"/>
    <p:sldId id="562" r:id="rId242"/>
    <p:sldId id="563" r:id="rId243"/>
    <p:sldId id="564" r:id="rId244"/>
    <p:sldId id="565" r:id="rId245"/>
    <p:sldId id="566" r:id="rId246"/>
    <p:sldId id="567" r:id="rId247"/>
    <p:sldId id="568" r:id="rId248"/>
    <p:sldId id="569" r:id="rId249"/>
    <p:sldId id="570" r:id="rId250"/>
    <p:sldId id="571" r:id="rId251"/>
    <p:sldId id="572" r:id="rId252"/>
    <p:sldId id="573" r:id="rId253"/>
    <p:sldId id="574" r:id="rId254"/>
    <p:sldId id="575" r:id="rId255"/>
    <p:sldId id="576" r:id="rId256"/>
    <p:sldId id="577" r:id="rId257"/>
    <p:sldId id="578" r:id="rId258"/>
    <p:sldId id="579" r:id="rId259"/>
    <p:sldId id="580" r:id="rId260"/>
    <p:sldId id="581" r:id="rId261"/>
    <p:sldId id="582" r:id="rId262"/>
    <p:sldId id="583" r:id="rId263"/>
    <p:sldId id="584" r:id="rId264"/>
    <p:sldId id="585" r:id="rId265"/>
    <p:sldId id="586" r:id="rId266"/>
    <p:sldId id="587" r:id="rId267"/>
    <p:sldId id="588" r:id="rId268"/>
    <p:sldId id="589" r:id="rId269"/>
    <p:sldId id="590" r:id="rId270"/>
    <p:sldId id="591" r:id="rId271"/>
    <p:sldId id="592" r:id="rId272"/>
    <p:sldId id="593" r:id="rId273"/>
    <p:sldId id="594" r:id="rId274"/>
    <p:sldId id="595" r:id="rId275"/>
    <p:sldId id="596" r:id="rId276"/>
    <p:sldId id="597" r:id="rId277"/>
    <p:sldId id="598" r:id="rId278"/>
    <p:sldId id="599" r:id="rId279"/>
    <p:sldId id="600" r:id="rId280"/>
    <p:sldId id="601" r:id="rId281"/>
    <p:sldId id="602" r:id="rId282"/>
    <p:sldId id="603" r:id="rId283"/>
    <p:sldId id="604" r:id="rId284"/>
    <p:sldId id="605" r:id="rId285"/>
    <p:sldId id="606" r:id="rId286"/>
    <p:sldId id="607" r:id="rId287"/>
    <p:sldId id="608" r:id="rId288"/>
    <p:sldId id="609" r:id="rId289"/>
    <p:sldId id="610" r:id="rId290"/>
    <p:sldId id="611" r:id="rId291"/>
    <p:sldId id="612" r:id="rId292"/>
    <p:sldId id="613" r:id="rId293"/>
    <p:sldId id="614" r:id="rId294"/>
    <p:sldId id="615" r:id="rId295"/>
    <p:sldId id="616" r:id="rId296"/>
    <p:sldId id="617" r:id="rId297"/>
    <p:sldId id="618" r:id="rId298"/>
    <p:sldId id="619" r:id="rId299"/>
    <p:sldId id="620" r:id="rId300"/>
    <p:sldId id="621" r:id="rId301"/>
    <p:sldId id="622" r:id="rId302"/>
    <p:sldId id="623" r:id="rId303"/>
    <p:sldId id="624" r:id="rId304"/>
    <p:sldId id="625" r:id="rId305"/>
    <p:sldId id="626" r:id="rId306"/>
    <p:sldId id="627" r:id="rId30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presProps" Target="presProp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viewProps" Target="view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theme" Target="theme/theme1.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tableStyles" Target="tableStyles.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23A"/>
        </a:solidFill>
        <a:effectLst/>
      </p:bgPr>
    </p:bg>
    <p:spTree>
      <p:nvGrpSpPr>
        <p:cNvPr id="1" name=""/>
        <p:cNvGrpSpPr/>
        <p:nvPr/>
      </p:nvGrpSpPr>
      <p:grpSpPr>
        <a:xfrm>
          <a:off x="0" y="0"/>
          <a:ext cx="0" cy="0"/>
          <a:chOff x="0" y="0"/>
          <a:chExt cx="0" cy="0"/>
        </a:xfrm>
      </p:grpSpPr>
      <p:sp>
        <p:nvSpPr>
          <p:cNvPr id="2" name="Rectangle 1"/>
          <p:cNvSpPr/>
          <p:nvPr/>
        </p:nvSpPr>
        <p:spPr>
          <a:xfrm>
            <a:off x="0" y="0"/>
            <a:ext cx="228600" cy="68580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1097280"/>
            <a:ext cx="10424160" cy="1554480"/>
          </a:xfrm>
          <a:prstGeom prst="rect">
            <a:avLst/>
          </a:prstGeom>
          <a:noFill/>
        </p:spPr>
        <p:txBody>
          <a:bodyPr wrap="square" lIns="73152" tIns="73152" rIns="73152" bIns="73152">
            <a:spAutoFit/>
          </a:bodyPr>
          <a:lstStyle/>
          <a:p>
            <a:pPr>
              <a:defRPr sz="3200" b="1">
                <a:solidFill>
                  <a:srgbClr val="FFFFFF"/>
                </a:solidFill>
                <a:latin typeface="Aptos"/>
              </a:defRPr>
            </a:pPr>
            <a:r>
              <a:t>COMPLETE MACHINE LEARNING</a:t>
            </a:r>
            <a:br/>
            <a:r>
              <a:t>&amp; NLP BOOTCAMP</a:t>
            </a:r>
          </a:p>
        </p:txBody>
      </p:sp>
      <p:sp>
        <p:nvSpPr>
          <p:cNvPr id="4" name="TextBox 3"/>
          <p:cNvSpPr txBox="1"/>
          <p:nvPr/>
        </p:nvSpPr>
        <p:spPr>
          <a:xfrm>
            <a:off x="822960" y="2880360"/>
            <a:ext cx="9601200" cy="502920"/>
          </a:xfrm>
          <a:prstGeom prst="rect">
            <a:avLst/>
          </a:prstGeom>
          <a:noFill/>
        </p:spPr>
        <p:txBody>
          <a:bodyPr wrap="square" lIns="73152" tIns="73152" rIns="73152" bIns="73152">
            <a:spAutoFit/>
          </a:bodyPr>
          <a:lstStyle/>
          <a:p>
            <a:pPr>
              <a:defRPr sz="2300" b="1">
                <a:solidFill>
                  <a:srgbClr val="ACD3FF"/>
                </a:solidFill>
                <a:latin typeface="Aptos"/>
              </a:defRPr>
            </a:pPr>
            <a:r>
              <a:t>Course-aligned study deck</a:t>
            </a:r>
          </a:p>
        </p:txBody>
      </p:sp>
      <p:sp>
        <p:nvSpPr>
          <p:cNvPr id="5" name="TextBox 4"/>
          <p:cNvSpPr txBox="1"/>
          <p:nvPr/>
        </p:nvSpPr>
        <p:spPr>
          <a:xfrm>
            <a:off x="822960" y="3657600"/>
            <a:ext cx="10241280" cy="685800"/>
          </a:xfrm>
          <a:prstGeom prst="rect">
            <a:avLst/>
          </a:prstGeom>
          <a:noFill/>
        </p:spPr>
        <p:txBody>
          <a:bodyPr wrap="square" lIns="73152" tIns="73152" rIns="73152" bIns="73152">
            <a:spAutoFit/>
          </a:bodyPr>
          <a:lstStyle/>
          <a:p>
            <a:pPr>
              <a:defRPr sz="1700" b="0">
                <a:solidFill>
                  <a:srgbClr val="FFFFFF"/>
                </a:solidFill>
                <a:latin typeface="Aptos"/>
              </a:defRPr>
            </a:pPr>
            <a:r>
              <a:t>Python • Data Science • Mathematics • ML • Deep Learning • NLP • Deployment • MLOps</a:t>
            </a:r>
          </a:p>
        </p:txBody>
      </p:sp>
      <p:sp>
        <p:nvSpPr>
          <p:cNvPr id="7" name="TextBox 6"/>
          <p:cNvSpPr txBox="1"/>
          <p:nvPr/>
        </p:nvSpPr>
        <p:spPr>
          <a:xfrm>
            <a:off x="11155680" y="6473952"/>
            <a:ext cx="457200" cy="182880"/>
          </a:xfrm>
          <a:prstGeom prst="rect">
            <a:avLst/>
          </a:prstGeom>
          <a:noFill/>
        </p:spPr>
        <p:txBody>
          <a:bodyPr wrap="square" lIns="73152" tIns="73152" rIns="73152" bIns="73152">
            <a:spAutoFit/>
          </a:bodyPr>
          <a:lstStyle/>
          <a:p>
            <a:pPr algn="r">
              <a:defRPr sz="900" b="0">
                <a:solidFill>
                  <a:srgbClr val="C8D2E1"/>
                </a:solidFill>
                <a:latin typeface="Aptos"/>
              </a:defRPr>
            </a:pPr>
            <a:r>
              <a:t>01</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37160"/>
          </a:xfrm>
          <a:prstGeom prst="rect">
            <a:avLst/>
          </a:prstGeom>
          <a:solidFill>
            <a:srgbClr val="532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640080"/>
          </a:xfrm>
          <a:prstGeom prst="rect">
            <a:avLst/>
          </a:prstGeom>
          <a:noFill/>
        </p:spPr>
        <p:txBody>
          <a:bodyPr wrap="none">
            <a:spAutoFit/>
          </a:bodyPr>
          <a:lstStyle/>
          <a:p>
            <a:pPr>
              <a:defRPr sz="3000" b="1">
                <a:solidFill>
                  <a:srgbClr val="46236E"/>
                </a:solidFill>
                <a:latin typeface="Aptos Display"/>
              </a:defRPr>
            </a:pPr>
            <a:r>
              <a:t>COURSE CONTENT</a:t>
            </a:r>
          </a:p>
        </p:txBody>
      </p:sp>
      <p:sp>
        <p:nvSpPr>
          <p:cNvPr id="4" name="TextBox 3"/>
          <p:cNvSpPr txBox="1"/>
          <p:nvPr/>
        </p:nvSpPr>
        <p:spPr>
          <a:xfrm>
            <a:off x="621792" y="960120"/>
            <a:ext cx="10972800" cy="365760"/>
          </a:xfrm>
          <a:prstGeom prst="rect">
            <a:avLst/>
          </a:prstGeom>
          <a:noFill/>
        </p:spPr>
        <p:txBody>
          <a:bodyPr wrap="none">
            <a:spAutoFit/>
          </a:bodyPr>
          <a:lstStyle/>
          <a:p>
            <a:pPr>
              <a:defRPr sz="1600">
                <a:solidFill>
                  <a:srgbClr val="5A5069"/>
                </a:solidFill>
                <a:latin typeface="Aptos"/>
              </a:defRPr>
            </a:pPr>
            <a:r>
              <a:t>Complete Machine Learning &amp; NLP Bootcamp</a:t>
            </a:r>
          </a:p>
        </p:txBody>
      </p:sp>
      <p:sp>
        <p:nvSpPr>
          <p:cNvPr id="5" name="Rounded Rectangle 4"/>
          <p:cNvSpPr/>
          <p:nvPr/>
        </p:nvSpPr>
        <p:spPr>
          <a:xfrm>
            <a:off x="594360" y="1536192"/>
            <a:ext cx="5440680" cy="667512"/>
          </a:xfrm>
          <a:prstGeom prst="roundRect">
            <a:avLst/>
          </a:prstGeom>
          <a:solidFill>
            <a:srgbClr val="FFFFFF"/>
          </a:solidFill>
          <a:ln w="12700">
            <a:solidFill>
              <a:srgbClr val="DACFEB"/>
            </a:solidFill>
          </a:ln>
        </p:spPr>
        <p:style>
          <a:lnRef idx="1">
            <a:schemeClr val="accent1"/>
          </a:lnRef>
          <a:fillRef idx="3">
            <a:schemeClr val="accent1"/>
          </a:fillRef>
          <a:effectRef idx="2">
            <a:schemeClr val="accent1"/>
          </a:effectRef>
          <a:fontRef idx="minor">
            <a:schemeClr val="lt1"/>
          </a:fontRef>
        </p:style>
        <p:txBody>
          <a:bodyPr lIns="146304" tIns="54864" rIns="109728" bIns="36576" rtlCol="0" anchor="ctr"/>
          <a:lstStyle/>
          <a:p>
            <a:pPr algn="ctr">
              <a:spcAft>
                <a:spcPts val="200"/>
              </a:spcAft>
              <a:defRPr sz="1400" b="1">
                <a:solidFill>
                  <a:srgbClr val="4D2B74"/>
                </a:solidFill>
                <a:latin typeface="Aptos"/>
              </a:defRPr>
            </a:pPr>
            <a:r>
              <a:t>01  Python Foundations</a:t>
            </a:r>
          </a:p>
          <a:p>
            <a:pPr>
              <a:spcBef>
                <a:spcPts val="0"/>
              </a:spcBef>
              <a:defRPr sz="850">
                <a:solidFill>
                  <a:srgbClr val="464650"/>
                </a:solidFill>
                <a:latin typeface="Aptos"/>
              </a:defRPr>
            </a:pPr>
            <a:r>
              <a:t>Python syntax, data structures, functions, OOP, packages, exceptions and virtual environments</a:t>
            </a:r>
          </a:p>
        </p:txBody>
      </p:sp>
      <p:sp>
        <p:nvSpPr>
          <p:cNvPr id="6" name="Rounded Rectangle 5"/>
          <p:cNvSpPr/>
          <p:nvPr/>
        </p:nvSpPr>
        <p:spPr>
          <a:xfrm>
            <a:off x="6355080" y="1536192"/>
            <a:ext cx="5440680" cy="667512"/>
          </a:xfrm>
          <a:prstGeom prst="roundRect">
            <a:avLst/>
          </a:prstGeom>
          <a:solidFill>
            <a:srgbClr val="FFFFFF"/>
          </a:solidFill>
          <a:ln w="12700">
            <a:solidFill>
              <a:srgbClr val="DACFEB"/>
            </a:solidFill>
          </a:ln>
        </p:spPr>
        <p:style>
          <a:lnRef idx="1">
            <a:schemeClr val="accent1"/>
          </a:lnRef>
          <a:fillRef idx="3">
            <a:schemeClr val="accent1"/>
          </a:fillRef>
          <a:effectRef idx="2">
            <a:schemeClr val="accent1"/>
          </a:effectRef>
          <a:fontRef idx="minor">
            <a:schemeClr val="lt1"/>
          </a:fontRef>
        </p:style>
        <p:txBody>
          <a:bodyPr lIns="146304" tIns="54864" rIns="109728" bIns="36576" rtlCol="0" anchor="ctr"/>
          <a:lstStyle/>
          <a:p>
            <a:pPr algn="ctr">
              <a:spcAft>
                <a:spcPts val="200"/>
              </a:spcAft>
              <a:defRPr sz="1400" b="1">
                <a:solidFill>
                  <a:srgbClr val="4D2B74"/>
                </a:solidFill>
                <a:latin typeface="Aptos"/>
              </a:defRPr>
            </a:pPr>
            <a:r>
              <a:t>02  Data Science &amp; EDA</a:t>
            </a:r>
          </a:p>
          <a:p>
            <a:pPr>
              <a:spcBef>
                <a:spcPts val="0"/>
              </a:spcBef>
              <a:defRPr sz="850">
                <a:solidFill>
                  <a:srgbClr val="464650"/>
                </a:solidFill>
                <a:latin typeface="Aptos"/>
              </a:defRPr>
            </a:pPr>
            <a:r>
              <a:t>NumPy, Pandas, data cleaning, missing values, visualization and exploratory data analysis</a:t>
            </a:r>
          </a:p>
        </p:txBody>
      </p:sp>
      <p:sp>
        <p:nvSpPr>
          <p:cNvPr id="7" name="Rounded Rectangle 6"/>
          <p:cNvSpPr/>
          <p:nvPr/>
        </p:nvSpPr>
        <p:spPr>
          <a:xfrm>
            <a:off x="594360" y="2313432"/>
            <a:ext cx="5440680" cy="667512"/>
          </a:xfrm>
          <a:prstGeom prst="roundRect">
            <a:avLst/>
          </a:prstGeom>
          <a:solidFill>
            <a:srgbClr val="FFFFFF"/>
          </a:solidFill>
          <a:ln w="12700">
            <a:solidFill>
              <a:srgbClr val="DACFEB"/>
            </a:solidFill>
          </a:ln>
        </p:spPr>
        <p:style>
          <a:lnRef idx="1">
            <a:schemeClr val="accent1"/>
          </a:lnRef>
          <a:fillRef idx="3">
            <a:schemeClr val="accent1"/>
          </a:fillRef>
          <a:effectRef idx="2">
            <a:schemeClr val="accent1"/>
          </a:effectRef>
          <a:fontRef idx="minor">
            <a:schemeClr val="lt1"/>
          </a:fontRef>
        </p:style>
        <p:txBody>
          <a:bodyPr lIns="146304" tIns="54864" rIns="109728" bIns="36576" rtlCol="0" anchor="ctr"/>
          <a:lstStyle/>
          <a:p>
            <a:pPr algn="ctr">
              <a:spcAft>
                <a:spcPts val="200"/>
              </a:spcAft>
              <a:defRPr sz="1400" b="1">
                <a:solidFill>
                  <a:srgbClr val="4D2B74"/>
                </a:solidFill>
                <a:latin typeface="Aptos"/>
              </a:defRPr>
            </a:pPr>
            <a:r>
              <a:t>03  Mathematics &amp; Statistics</a:t>
            </a:r>
          </a:p>
          <a:p>
            <a:pPr>
              <a:spcBef>
                <a:spcPts val="0"/>
              </a:spcBef>
              <a:defRPr sz="850">
                <a:solidFill>
                  <a:srgbClr val="464650"/>
                </a:solidFill>
                <a:latin typeface="Aptos"/>
              </a:defRPr>
            </a:pPr>
            <a:r>
              <a:t>Linear algebra, probability, descriptive statistics, distributions and hypothesis testing</a:t>
            </a:r>
          </a:p>
        </p:txBody>
      </p:sp>
      <p:sp>
        <p:nvSpPr>
          <p:cNvPr id="8" name="Rounded Rectangle 7"/>
          <p:cNvSpPr/>
          <p:nvPr/>
        </p:nvSpPr>
        <p:spPr>
          <a:xfrm>
            <a:off x="6355080" y="2313432"/>
            <a:ext cx="5440680" cy="667512"/>
          </a:xfrm>
          <a:prstGeom prst="roundRect">
            <a:avLst/>
          </a:prstGeom>
          <a:solidFill>
            <a:srgbClr val="FFFFFF"/>
          </a:solidFill>
          <a:ln w="12700">
            <a:solidFill>
              <a:srgbClr val="DACFEB"/>
            </a:solidFill>
          </a:ln>
        </p:spPr>
        <p:style>
          <a:lnRef idx="1">
            <a:schemeClr val="accent1"/>
          </a:lnRef>
          <a:fillRef idx="3">
            <a:schemeClr val="accent1"/>
          </a:fillRef>
          <a:effectRef idx="2">
            <a:schemeClr val="accent1"/>
          </a:effectRef>
          <a:fontRef idx="minor">
            <a:schemeClr val="lt1"/>
          </a:fontRef>
        </p:style>
        <p:txBody>
          <a:bodyPr lIns="146304" tIns="54864" rIns="109728" bIns="36576" rtlCol="0" anchor="ctr"/>
          <a:lstStyle/>
          <a:p>
            <a:pPr algn="ctr">
              <a:spcAft>
                <a:spcPts val="200"/>
              </a:spcAft>
              <a:defRPr sz="1400" b="1">
                <a:solidFill>
                  <a:srgbClr val="4D2B74"/>
                </a:solidFill>
                <a:latin typeface="Aptos"/>
              </a:defRPr>
            </a:pPr>
            <a:r>
              <a:t>04  Classical Machine Learning</a:t>
            </a:r>
          </a:p>
          <a:p>
            <a:pPr>
              <a:spcBef>
                <a:spcPts val="0"/>
              </a:spcBef>
              <a:defRPr sz="850">
                <a:solidFill>
                  <a:srgbClr val="464650"/>
                </a:solidFill>
                <a:latin typeface="Aptos"/>
              </a:defRPr>
            </a:pPr>
            <a:r>
              <a:t>Supervised and unsupervised learning, regression, classification, clustering and feature engineering</a:t>
            </a:r>
          </a:p>
        </p:txBody>
      </p:sp>
      <p:sp>
        <p:nvSpPr>
          <p:cNvPr id="9" name="Rounded Rectangle 8"/>
          <p:cNvSpPr/>
          <p:nvPr/>
        </p:nvSpPr>
        <p:spPr>
          <a:xfrm>
            <a:off x="594360" y="3090672"/>
            <a:ext cx="5440680" cy="667512"/>
          </a:xfrm>
          <a:prstGeom prst="roundRect">
            <a:avLst/>
          </a:prstGeom>
          <a:solidFill>
            <a:srgbClr val="FFFFFF"/>
          </a:solidFill>
          <a:ln w="12700">
            <a:solidFill>
              <a:srgbClr val="DACFEB"/>
            </a:solidFill>
          </a:ln>
        </p:spPr>
        <p:style>
          <a:lnRef idx="1">
            <a:schemeClr val="accent1"/>
          </a:lnRef>
          <a:fillRef idx="3">
            <a:schemeClr val="accent1"/>
          </a:fillRef>
          <a:effectRef idx="2">
            <a:schemeClr val="accent1"/>
          </a:effectRef>
          <a:fontRef idx="minor">
            <a:schemeClr val="lt1"/>
          </a:fontRef>
        </p:style>
        <p:txBody>
          <a:bodyPr lIns="146304" tIns="54864" rIns="109728" bIns="36576" rtlCol="0" anchor="ctr"/>
          <a:lstStyle/>
          <a:p>
            <a:pPr algn="ctr">
              <a:spcAft>
                <a:spcPts val="200"/>
              </a:spcAft>
              <a:defRPr sz="1400" b="1">
                <a:solidFill>
                  <a:srgbClr val="4D2B74"/>
                </a:solidFill>
                <a:latin typeface="Aptos"/>
              </a:defRPr>
            </a:pPr>
            <a:r>
              <a:t>05  Model Evaluation &amp; Tuning</a:t>
            </a:r>
          </a:p>
          <a:p>
            <a:pPr>
              <a:spcBef>
                <a:spcPts val="0"/>
              </a:spcBef>
              <a:defRPr sz="850">
                <a:solidFill>
                  <a:srgbClr val="464650"/>
                </a:solidFill>
                <a:latin typeface="Aptos"/>
              </a:defRPr>
            </a:pPr>
            <a:r>
              <a:t>Train/test splits, cross-validation, metrics, hyperparameter tuning and model selection</a:t>
            </a:r>
          </a:p>
        </p:txBody>
      </p:sp>
      <p:sp>
        <p:nvSpPr>
          <p:cNvPr id="10" name="Rounded Rectangle 9"/>
          <p:cNvSpPr/>
          <p:nvPr/>
        </p:nvSpPr>
        <p:spPr>
          <a:xfrm>
            <a:off x="6355080" y="3090672"/>
            <a:ext cx="5440680" cy="667512"/>
          </a:xfrm>
          <a:prstGeom prst="roundRect">
            <a:avLst/>
          </a:prstGeom>
          <a:solidFill>
            <a:srgbClr val="FFFFFF"/>
          </a:solidFill>
          <a:ln w="12700">
            <a:solidFill>
              <a:srgbClr val="DACFEB"/>
            </a:solidFill>
          </a:ln>
        </p:spPr>
        <p:style>
          <a:lnRef idx="1">
            <a:schemeClr val="accent1"/>
          </a:lnRef>
          <a:fillRef idx="3">
            <a:schemeClr val="accent1"/>
          </a:fillRef>
          <a:effectRef idx="2">
            <a:schemeClr val="accent1"/>
          </a:effectRef>
          <a:fontRef idx="minor">
            <a:schemeClr val="lt1"/>
          </a:fontRef>
        </p:style>
        <p:txBody>
          <a:bodyPr lIns="146304" tIns="54864" rIns="109728" bIns="36576" rtlCol="0" anchor="ctr"/>
          <a:lstStyle/>
          <a:p>
            <a:pPr algn="ctr">
              <a:spcAft>
                <a:spcPts val="200"/>
              </a:spcAft>
              <a:defRPr sz="1400" b="1">
                <a:solidFill>
                  <a:srgbClr val="4D2B74"/>
                </a:solidFill>
                <a:latin typeface="Aptos"/>
              </a:defRPr>
            </a:pPr>
            <a:r>
              <a:t>06  Deep Learning</a:t>
            </a:r>
          </a:p>
          <a:p>
            <a:pPr>
              <a:spcBef>
                <a:spcPts val="0"/>
              </a:spcBef>
              <a:defRPr sz="850">
                <a:solidFill>
                  <a:srgbClr val="464650"/>
                </a:solidFill>
                <a:latin typeface="Aptos"/>
              </a:defRPr>
            </a:pPr>
            <a:r>
              <a:t>Neural networks, backpropagation, optimization, CNNs, sequence models and transfer learning</a:t>
            </a:r>
          </a:p>
        </p:txBody>
      </p:sp>
      <p:sp>
        <p:nvSpPr>
          <p:cNvPr id="11" name="Rounded Rectangle 10"/>
          <p:cNvSpPr/>
          <p:nvPr/>
        </p:nvSpPr>
        <p:spPr>
          <a:xfrm>
            <a:off x="594360" y="3867912"/>
            <a:ext cx="5440680" cy="667512"/>
          </a:xfrm>
          <a:prstGeom prst="roundRect">
            <a:avLst/>
          </a:prstGeom>
          <a:solidFill>
            <a:srgbClr val="FFFFFF"/>
          </a:solidFill>
          <a:ln w="12700">
            <a:solidFill>
              <a:srgbClr val="DACFEB"/>
            </a:solidFill>
          </a:ln>
        </p:spPr>
        <p:style>
          <a:lnRef idx="1">
            <a:schemeClr val="accent1"/>
          </a:lnRef>
          <a:fillRef idx="3">
            <a:schemeClr val="accent1"/>
          </a:fillRef>
          <a:effectRef idx="2">
            <a:schemeClr val="accent1"/>
          </a:effectRef>
          <a:fontRef idx="minor">
            <a:schemeClr val="lt1"/>
          </a:fontRef>
        </p:style>
        <p:txBody>
          <a:bodyPr lIns="146304" tIns="54864" rIns="109728" bIns="36576" rtlCol="0" anchor="ctr"/>
          <a:lstStyle/>
          <a:p>
            <a:pPr algn="ctr">
              <a:spcAft>
                <a:spcPts val="200"/>
              </a:spcAft>
              <a:defRPr sz="1400" b="1">
                <a:solidFill>
                  <a:srgbClr val="4D2B74"/>
                </a:solidFill>
                <a:latin typeface="Aptos"/>
              </a:defRPr>
            </a:pPr>
            <a:r>
              <a:t>07  NLP &amp; Text Analytics</a:t>
            </a:r>
          </a:p>
          <a:p>
            <a:pPr>
              <a:spcBef>
                <a:spcPts val="0"/>
              </a:spcBef>
              <a:defRPr sz="850">
                <a:solidFill>
                  <a:srgbClr val="464650"/>
                </a:solidFill>
                <a:latin typeface="Aptos"/>
              </a:defRPr>
            </a:pPr>
            <a:r>
              <a:t>Text preprocessing, tokenization, vectorization, embeddings, sentiment analysis and text classification</a:t>
            </a:r>
          </a:p>
        </p:txBody>
      </p:sp>
      <p:sp>
        <p:nvSpPr>
          <p:cNvPr id="12" name="Rounded Rectangle 11"/>
          <p:cNvSpPr/>
          <p:nvPr/>
        </p:nvSpPr>
        <p:spPr>
          <a:xfrm>
            <a:off x="6355080" y="3867912"/>
            <a:ext cx="5440680" cy="667512"/>
          </a:xfrm>
          <a:prstGeom prst="roundRect">
            <a:avLst/>
          </a:prstGeom>
          <a:solidFill>
            <a:srgbClr val="FFFFFF"/>
          </a:solidFill>
          <a:ln w="12700">
            <a:solidFill>
              <a:srgbClr val="DACFEB"/>
            </a:solidFill>
          </a:ln>
        </p:spPr>
        <p:style>
          <a:lnRef idx="1">
            <a:schemeClr val="accent1"/>
          </a:lnRef>
          <a:fillRef idx="3">
            <a:schemeClr val="accent1"/>
          </a:fillRef>
          <a:effectRef idx="2">
            <a:schemeClr val="accent1"/>
          </a:effectRef>
          <a:fontRef idx="minor">
            <a:schemeClr val="lt1"/>
          </a:fontRef>
        </p:style>
        <p:txBody>
          <a:bodyPr lIns="146304" tIns="54864" rIns="109728" bIns="36576" rtlCol="0" anchor="ctr"/>
          <a:lstStyle/>
          <a:p>
            <a:pPr algn="ctr">
              <a:spcAft>
                <a:spcPts val="200"/>
              </a:spcAft>
              <a:defRPr sz="1400" b="1">
                <a:solidFill>
                  <a:srgbClr val="4D2B74"/>
                </a:solidFill>
                <a:latin typeface="Aptos"/>
              </a:defRPr>
            </a:pPr>
            <a:r>
              <a:t>08  Transformers &amp; Generative AI</a:t>
            </a:r>
          </a:p>
          <a:p>
            <a:pPr>
              <a:spcBef>
                <a:spcPts val="0"/>
              </a:spcBef>
              <a:defRPr sz="850">
                <a:solidFill>
                  <a:srgbClr val="464650"/>
                </a:solidFill>
                <a:latin typeface="Aptos"/>
              </a:defRPr>
            </a:pPr>
            <a:r>
              <a:t>Attention, transformer concepts, LLMs, prompting, fine-tuning concepts, LoRA/QLoRA and agents</a:t>
            </a:r>
          </a:p>
        </p:txBody>
      </p:sp>
      <p:sp>
        <p:nvSpPr>
          <p:cNvPr id="13" name="Rounded Rectangle 12"/>
          <p:cNvSpPr/>
          <p:nvPr/>
        </p:nvSpPr>
        <p:spPr>
          <a:xfrm>
            <a:off x="594360" y="4645152"/>
            <a:ext cx="5440680" cy="667512"/>
          </a:xfrm>
          <a:prstGeom prst="roundRect">
            <a:avLst/>
          </a:prstGeom>
          <a:solidFill>
            <a:srgbClr val="FFFFFF"/>
          </a:solidFill>
          <a:ln w="12700">
            <a:solidFill>
              <a:srgbClr val="DACFEB"/>
            </a:solidFill>
          </a:ln>
        </p:spPr>
        <p:style>
          <a:lnRef idx="1">
            <a:schemeClr val="accent1"/>
          </a:lnRef>
          <a:fillRef idx="3">
            <a:schemeClr val="accent1"/>
          </a:fillRef>
          <a:effectRef idx="2">
            <a:schemeClr val="accent1"/>
          </a:effectRef>
          <a:fontRef idx="minor">
            <a:schemeClr val="lt1"/>
          </a:fontRef>
        </p:style>
        <p:txBody>
          <a:bodyPr lIns="146304" tIns="54864" rIns="109728" bIns="36576" rtlCol="0" anchor="ctr"/>
          <a:lstStyle/>
          <a:p>
            <a:pPr algn="ctr">
              <a:spcAft>
                <a:spcPts val="200"/>
              </a:spcAft>
              <a:defRPr sz="1400" b="1">
                <a:solidFill>
                  <a:srgbClr val="4D2B74"/>
                </a:solidFill>
                <a:latin typeface="Aptos"/>
              </a:defRPr>
            </a:pPr>
            <a:r>
              <a:t>09  RAG &amp; AI Applications</a:t>
            </a:r>
          </a:p>
          <a:p>
            <a:pPr>
              <a:spcBef>
                <a:spcPts val="0"/>
              </a:spcBef>
              <a:defRPr sz="850">
                <a:solidFill>
                  <a:srgbClr val="464650"/>
                </a:solidFill>
                <a:latin typeface="Aptos"/>
              </a:defRPr>
            </a:pPr>
            <a:r>
              <a:t>Embeddings, vector search, retrieval-augmented generation, retrieval quality and hallucination checks</a:t>
            </a:r>
          </a:p>
        </p:txBody>
      </p:sp>
      <p:sp>
        <p:nvSpPr>
          <p:cNvPr id="14" name="Rounded Rectangle 13"/>
          <p:cNvSpPr/>
          <p:nvPr/>
        </p:nvSpPr>
        <p:spPr>
          <a:xfrm>
            <a:off x="6355080" y="4645152"/>
            <a:ext cx="5440680" cy="667512"/>
          </a:xfrm>
          <a:prstGeom prst="roundRect">
            <a:avLst/>
          </a:prstGeom>
          <a:solidFill>
            <a:srgbClr val="FFFFFF"/>
          </a:solidFill>
          <a:ln w="12700">
            <a:solidFill>
              <a:srgbClr val="DACFEB"/>
            </a:solidFill>
          </a:ln>
        </p:spPr>
        <p:style>
          <a:lnRef idx="1">
            <a:schemeClr val="accent1"/>
          </a:lnRef>
          <a:fillRef idx="3">
            <a:schemeClr val="accent1"/>
          </a:fillRef>
          <a:effectRef idx="2">
            <a:schemeClr val="accent1"/>
          </a:effectRef>
          <a:fontRef idx="minor">
            <a:schemeClr val="lt1"/>
          </a:fontRef>
        </p:style>
        <p:txBody>
          <a:bodyPr lIns="146304" tIns="54864" rIns="109728" bIns="36576" rtlCol="0" anchor="ctr"/>
          <a:lstStyle/>
          <a:p>
            <a:pPr algn="ctr">
              <a:spcAft>
                <a:spcPts val="200"/>
              </a:spcAft>
              <a:defRPr sz="1400" b="1">
                <a:solidFill>
                  <a:srgbClr val="4D2B74"/>
                </a:solidFill>
                <a:latin typeface="Aptos"/>
              </a:defRPr>
            </a:pPr>
            <a:r>
              <a:t>10  Deployment &amp; MLOps</a:t>
            </a:r>
          </a:p>
          <a:p>
            <a:pPr>
              <a:spcBef>
                <a:spcPts val="0"/>
              </a:spcBef>
              <a:defRPr sz="850">
                <a:solidFill>
                  <a:srgbClr val="464650"/>
                </a:solidFill>
                <a:latin typeface="Aptos"/>
              </a:defRPr>
            </a:pPr>
            <a:r>
              <a:t>Model APIs, Docker, cloud deployment, CI/CD, experiment tracking, monitoring and model lifecycle</a:t>
            </a:r>
          </a:p>
        </p:txBody>
      </p:sp>
      <p:sp>
        <p:nvSpPr>
          <p:cNvPr id="15" name="Rounded Rectangle 14"/>
          <p:cNvSpPr/>
          <p:nvPr/>
        </p:nvSpPr>
        <p:spPr>
          <a:xfrm>
            <a:off x="594360" y="5422392"/>
            <a:ext cx="5440680" cy="667512"/>
          </a:xfrm>
          <a:prstGeom prst="roundRect">
            <a:avLst/>
          </a:prstGeom>
          <a:solidFill>
            <a:srgbClr val="FFFFFF"/>
          </a:solidFill>
          <a:ln w="12700">
            <a:solidFill>
              <a:srgbClr val="DACFEB"/>
            </a:solidFill>
          </a:ln>
        </p:spPr>
        <p:style>
          <a:lnRef idx="1">
            <a:schemeClr val="accent1"/>
          </a:lnRef>
          <a:fillRef idx="3">
            <a:schemeClr val="accent1"/>
          </a:fillRef>
          <a:effectRef idx="2">
            <a:schemeClr val="accent1"/>
          </a:effectRef>
          <a:fontRef idx="minor">
            <a:schemeClr val="lt1"/>
          </a:fontRef>
        </p:style>
        <p:txBody>
          <a:bodyPr lIns="146304" tIns="54864" rIns="109728" bIns="36576" rtlCol="0" anchor="ctr"/>
          <a:lstStyle/>
          <a:p>
            <a:pPr algn="ctr">
              <a:spcAft>
                <a:spcPts val="200"/>
              </a:spcAft>
              <a:defRPr sz="1400" b="1">
                <a:solidFill>
                  <a:srgbClr val="4D2B74"/>
                </a:solidFill>
                <a:latin typeface="Aptos"/>
              </a:defRPr>
            </a:pPr>
            <a:r>
              <a:t>11  Responsible AI</a:t>
            </a:r>
          </a:p>
          <a:p>
            <a:pPr>
              <a:spcBef>
                <a:spcPts val="0"/>
              </a:spcBef>
              <a:defRPr sz="850">
                <a:solidFill>
                  <a:srgbClr val="464650"/>
                </a:solidFill>
                <a:latin typeface="Aptos"/>
              </a:defRPr>
            </a:pPr>
            <a:r>
              <a:t>Privacy, fairness, explainability, guardrails, security and responsible deployment</a:t>
            </a:r>
          </a:p>
        </p:txBody>
      </p:sp>
      <p:sp>
        <p:nvSpPr>
          <p:cNvPr id="16" name="Rounded Rectangle 15"/>
          <p:cNvSpPr/>
          <p:nvPr/>
        </p:nvSpPr>
        <p:spPr>
          <a:xfrm>
            <a:off x="6355080" y="5422392"/>
            <a:ext cx="5440680" cy="667512"/>
          </a:xfrm>
          <a:prstGeom prst="roundRect">
            <a:avLst/>
          </a:prstGeom>
          <a:solidFill>
            <a:srgbClr val="FFFFFF"/>
          </a:solidFill>
          <a:ln w="12700">
            <a:solidFill>
              <a:srgbClr val="DACFEB"/>
            </a:solidFill>
          </a:ln>
        </p:spPr>
        <p:style>
          <a:lnRef idx="1">
            <a:schemeClr val="accent1"/>
          </a:lnRef>
          <a:fillRef idx="3">
            <a:schemeClr val="accent1"/>
          </a:fillRef>
          <a:effectRef idx="2">
            <a:schemeClr val="accent1"/>
          </a:effectRef>
          <a:fontRef idx="minor">
            <a:schemeClr val="lt1"/>
          </a:fontRef>
        </p:style>
        <p:txBody>
          <a:bodyPr lIns="146304" tIns="54864" rIns="109728" bIns="36576" rtlCol="0" anchor="ctr"/>
          <a:lstStyle/>
          <a:p>
            <a:pPr algn="ctr">
              <a:spcAft>
                <a:spcPts val="200"/>
              </a:spcAft>
              <a:defRPr sz="1400" b="1">
                <a:solidFill>
                  <a:srgbClr val="4D2B74"/>
                </a:solidFill>
                <a:latin typeface="Aptos"/>
              </a:defRPr>
            </a:pPr>
            <a:r>
              <a:t>12  Projects &amp; Portfolio</a:t>
            </a:r>
          </a:p>
          <a:p>
            <a:pPr>
              <a:spcBef>
                <a:spcPts val="0"/>
              </a:spcBef>
              <a:defRPr sz="850">
                <a:solidFill>
                  <a:srgbClr val="464650"/>
                </a:solidFill>
                <a:latin typeface="Aptos"/>
              </a:defRPr>
            </a:pPr>
            <a:r>
              <a:t>Hands-on exercises, end-to-end capstone, testing, documentation, assessment and portfolio presentation</a:t>
            </a:r>
          </a:p>
        </p:txBody>
      </p:sp>
      <p:sp>
        <p:nvSpPr>
          <p:cNvPr id="17" name="TextBox 16"/>
          <p:cNvSpPr txBox="1"/>
          <p:nvPr/>
        </p:nvSpPr>
        <p:spPr>
          <a:xfrm>
            <a:off x="621792" y="6355080"/>
            <a:ext cx="10789920" cy="228600"/>
          </a:xfrm>
          <a:prstGeom prst="rect">
            <a:avLst/>
          </a:prstGeom>
          <a:noFill/>
        </p:spPr>
        <p:txBody>
          <a:bodyPr wrap="none">
            <a:spAutoFit/>
          </a:bodyPr>
          <a:lstStyle/>
          <a:p>
            <a:pPr>
              <a:defRPr sz="900">
                <a:solidFill>
                  <a:srgbClr val="645573"/>
                </a:solidFill>
                <a:latin typeface="Aptos"/>
              </a:defRPr>
            </a:pPr>
            <a:r>
              <a:t>SkyNetix Systems LLP  •  Learn concepts, practice with code, and build production-oriented projects.</a:t>
            </a:r>
          </a:p>
        </p:txBody>
      </p:sp>
      <p:pic>
        <p:nvPicPr>
          <p:cNvPr id="18" name="Picture 17"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How to use this deck</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ORIENTATION</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02</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800">
                <a:solidFill>
                  <a:srgbClr val="28303C"/>
                </a:solidFill>
                <a:latin typeface="Aptos"/>
              </a:defRPr>
            </a:pPr>
            <a:r>
              <a:rPr b="1"/>
              <a:t>Course alignment — Topics follow the public course outline: foundations through deployment and MLOps.</a:t>
            </a:r>
          </a:p>
          <a:p>
            <a:pPr>
              <a:spcAft>
                <a:spcPts val="1200"/>
              </a:spcAft>
              <a:defRPr sz="1800">
                <a:solidFill>
                  <a:srgbClr val="28303C"/>
                </a:solidFill>
                <a:latin typeface="Aptos"/>
              </a:defRPr>
            </a:pPr>
            <a:r>
              <a:rPr b="1"/>
              <a:t>Learning rhythm — Read the concept, run the code, then change an input and predict the result.</a:t>
            </a:r>
          </a:p>
          <a:p>
            <a:pPr>
              <a:spcAft>
                <a:spcPts val="1200"/>
              </a:spcAft>
              <a:defRPr sz="1800">
                <a:solidFill>
                  <a:srgbClr val="28303C"/>
                </a:solidFill>
                <a:latin typeface="Aptos"/>
              </a:defRPr>
            </a:pPr>
            <a:r>
              <a:rPr b="1"/>
              <a:t>Practice — Use the mini-projects and checkpoint questions to test understanding.</a:t>
            </a:r>
          </a:p>
          <a:p>
            <a:pPr>
              <a:spcAft>
                <a:spcPts val="1200"/>
              </a:spcAft>
              <a:defRPr sz="1800">
                <a:solidFill>
                  <a:srgbClr val="28303C"/>
                </a:solidFill>
                <a:latin typeface="Aptos"/>
              </a:defRPr>
            </a:pPr>
            <a:r>
              <a:rPr b="1"/>
              <a:t>Scope note — This is an original study guide; it does not reproduce paid lecture videos or private course resources.</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Learning roadmap</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ORIENTATION</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03</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685800" y="2286000"/>
            <a:ext cx="1623060"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Python &amp; Tools</a:t>
            </a:r>
          </a:p>
        </p:txBody>
      </p:sp>
      <p:cxnSp>
        <p:nvCxnSpPr>
          <p:cNvPr id="8" name="Connector 7"/>
          <p:cNvCxnSpPr/>
          <p:nvPr/>
        </p:nvCxnSpPr>
        <p:spPr>
          <a:xfrm>
            <a:off x="2327148"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528316" y="2286000"/>
            <a:ext cx="1623060" cy="1097280"/>
          </a:xfrm>
          <a:prstGeom prst="roundRect">
            <a:avLst/>
          </a:prstGeom>
          <a:solidFill>
            <a:srgbClr val="DCF5F1"/>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Data &amp; Math</a:t>
            </a:r>
          </a:p>
        </p:txBody>
      </p:sp>
      <p:cxnSp>
        <p:nvCxnSpPr>
          <p:cNvPr id="10" name="Connector 9"/>
          <p:cNvCxnSpPr/>
          <p:nvPr/>
        </p:nvCxnSpPr>
        <p:spPr>
          <a:xfrm>
            <a:off x="4169663" y="2834640"/>
            <a:ext cx="182881"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370832" y="2286000"/>
            <a:ext cx="1623060" cy="1097280"/>
          </a:xfrm>
          <a:prstGeom prst="roundRect">
            <a:avLst/>
          </a:prstGeom>
          <a:solidFill>
            <a:srgbClr val="FFF4DA"/>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Classical ML</a:t>
            </a:r>
          </a:p>
        </p:txBody>
      </p:sp>
      <p:cxnSp>
        <p:nvCxnSpPr>
          <p:cNvPr id="12" name="Connector 11"/>
          <p:cNvCxnSpPr/>
          <p:nvPr/>
        </p:nvCxnSpPr>
        <p:spPr>
          <a:xfrm>
            <a:off x="6012180"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213348" y="2286000"/>
            <a:ext cx="1623060"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Deep Learning</a:t>
            </a:r>
          </a:p>
        </p:txBody>
      </p:sp>
      <p:cxnSp>
        <p:nvCxnSpPr>
          <p:cNvPr id="14" name="Connector 13"/>
          <p:cNvCxnSpPr/>
          <p:nvPr/>
        </p:nvCxnSpPr>
        <p:spPr>
          <a:xfrm>
            <a:off x="7854696"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55864" y="2286000"/>
            <a:ext cx="1623060" cy="1097280"/>
          </a:xfrm>
          <a:prstGeom prst="roundRect">
            <a:avLst/>
          </a:prstGeom>
          <a:solidFill>
            <a:srgbClr val="DCF5F1"/>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NLP</a:t>
            </a:r>
          </a:p>
        </p:txBody>
      </p:sp>
      <p:cxnSp>
        <p:nvCxnSpPr>
          <p:cNvPr id="16" name="Connector 15"/>
          <p:cNvCxnSpPr/>
          <p:nvPr/>
        </p:nvCxnSpPr>
        <p:spPr>
          <a:xfrm>
            <a:off x="9697212"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898380" y="2286000"/>
            <a:ext cx="1623060" cy="1097280"/>
          </a:xfrm>
          <a:prstGeom prst="roundRect">
            <a:avLst/>
          </a:prstGeom>
          <a:solidFill>
            <a:srgbClr val="FFF4DA"/>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MLOps &amp; Deploy</a:t>
            </a:r>
          </a:p>
        </p:txBody>
      </p:sp>
      <p:sp>
        <p:nvSpPr>
          <p:cNvPr id="18" name="TextBox 17"/>
          <p:cNvSpPr txBox="1"/>
          <p:nvPr/>
        </p:nvSpPr>
        <p:spPr>
          <a:xfrm>
            <a:off x="868680" y="3886200"/>
            <a:ext cx="10424160" cy="1097280"/>
          </a:xfrm>
          <a:prstGeom prst="rect">
            <a:avLst/>
          </a:prstGeom>
          <a:noFill/>
        </p:spPr>
        <p:txBody>
          <a:bodyPr wrap="square" lIns="73152" tIns="73152" rIns="73152" bIns="73152">
            <a:spAutoFit/>
          </a:bodyPr>
          <a:lstStyle/>
          <a:p>
            <a:pPr algn="ctr">
              <a:defRPr sz="1700" b="0">
                <a:solidFill>
                  <a:srgbClr val="5F6C7D"/>
                </a:solidFill>
                <a:latin typeface="Aptos"/>
              </a:defRPr>
            </a:pPr>
            <a:r>
              <a:t>Build foundations first, then move from modeling to reliable production systems.</a:t>
            </a:r>
          </a:p>
        </p:txBody>
      </p:sp>
      <p:sp>
        <p:nvSpPr>
          <p:cNvPr id="19" name="Rounded Rectangle 18"/>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21" name="Rounded Rectangle 20"/>
          <p:cNvSpPr/>
          <p:nvPr/>
        </p:nvSpPr>
        <p:spPr>
          <a:xfrm>
            <a:off x="384048" y="5169406"/>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AI, ML, deep learning and data science</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ORIENTATION</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04</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rPr b="1"/>
              <a:t>Artificial intelligence — A broad field focused on systems that perform tasks associated with intelligent behavior.</a:t>
            </a:r>
          </a:p>
          <a:p>
            <a:pPr>
              <a:spcAft>
                <a:spcPts val="1200"/>
              </a:spcAft>
              <a:defRPr sz="1900">
                <a:solidFill>
                  <a:srgbClr val="28303C"/>
                </a:solidFill>
                <a:latin typeface="Aptos"/>
              </a:defRPr>
            </a:pPr>
            <a:r>
              <a:rPr b="1"/>
              <a:t>Machine learning — Methods that learn patterns from examples rather than relying only on hand-written rules.</a:t>
            </a:r>
          </a:p>
          <a:p>
            <a:pPr>
              <a:spcAft>
                <a:spcPts val="1200"/>
              </a:spcAft>
              <a:defRPr sz="1900">
                <a:solidFill>
                  <a:srgbClr val="28303C"/>
                </a:solidFill>
                <a:latin typeface="Aptos"/>
              </a:defRPr>
            </a:pPr>
            <a:r>
              <a:rPr b="1"/>
              <a:t>Deep learning — ML using multi-layer neural networks to learn representations.</a:t>
            </a:r>
          </a:p>
          <a:p>
            <a:pPr>
              <a:spcAft>
                <a:spcPts val="1200"/>
              </a:spcAft>
              <a:defRPr sz="1900">
                <a:solidFill>
                  <a:srgbClr val="28303C"/>
                </a:solidFill>
                <a:latin typeface="Aptos"/>
              </a:defRPr>
            </a:pPr>
            <a:r>
              <a:rPr b="1"/>
              <a:t>Data science — The end-to-end practice of collecting, cleaning, analyzing and communicating insights from data.</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Development environment</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PYTHON FOUNDATIONS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05</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Install Python or Anaconda; use VS Code, Jupyter Notebook or Google Colab.</a:t>
            </a:r>
          </a:p>
          <a:p>
            <a:pPr>
              <a:spcAft>
                <a:spcPts val="1200"/>
              </a:spcAft>
              <a:defRPr sz="1900">
                <a:solidFill>
                  <a:srgbClr val="28303C"/>
                </a:solidFill>
                <a:latin typeface="Aptos"/>
              </a:defRPr>
            </a:pPr>
            <a:r>
              <a:t>Create an isolated environment for each project to avoid dependency conflicts.</a:t>
            </a:r>
          </a:p>
          <a:p>
            <a:pPr>
              <a:spcAft>
                <a:spcPts val="1200"/>
              </a:spcAft>
              <a:defRPr sz="1900">
                <a:solidFill>
                  <a:srgbClr val="28303C"/>
                </a:solidFill>
                <a:latin typeface="Aptos"/>
              </a:defRPr>
            </a:pPr>
            <a:r>
              <a:t>Track dependencies in requirements.txt or an environment.yml file.</a:t>
            </a:r>
          </a:p>
          <a:p>
            <a:pPr>
              <a:spcAft>
                <a:spcPts val="1200"/>
              </a:spcAft>
              <a:defRPr sz="1900">
                <a:solidFill>
                  <a:srgbClr val="28303C"/>
                </a:solidFill>
                <a:latin typeface="Aptos"/>
              </a:defRPr>
            </a:pPr>
            <a:r>
              <a:t>Keep notebooks for exploration and move reusable logic into tested .py modules.</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Virtual environments and packages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PYTHON FOUNDATIONS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06</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777240" y="1508760"/>
            <a:ext cx="10607040" cy="4480560"/>
          </a:xfrm>
          <a:prstGeom prst="roundRect">
            <a:avLst/>
          </a:prstGeom>
          <a:solidFill>
            <a:srgbClr val="1B2536"/>
          </a:solidFill>
          <a:ln>
            <a:solidFill>
              <a:srgbClr val="1B2536"/>
            </a:solidFill>
          </a:ln>
        </p:spPr>
        <p:style>
          <a:lnRef idx="1">
            <a:schemeClr val="accent1"/>
          </a:lnRef>
          <a:fillRef idx="3">
            <a:schemeClr val="accent1"/>
          </a:fillRef>
          <a:effectRef idx="2">
            <a:schemeClr val="accent1"/>
          </a:effectRef>
          <a:fontRef idx="minor">
            <a:schemeClr val="lt1"/>
          </a:fontRef>
        </p:style>
        <p:txBody>
          <a:bodyPr wrap="square" lIns="201168" tIns="146304" rIns="164592" bIns="109728" rtlCol="0" anchor="ctr"/>
          <a:lstStyle/>
          <a:p>
            <a:pPr algn="ctr">
              <a:defRPr sz="1600">
                <a:solidFill>
                  <a:srgbClr val="E6EEF8"/>
                </a:solidFill>
                <a:latin typeface="Consolas"/>
              </a:defRPr>
            </a:pPr>
            <a:r>
              <a:t># Create and activate a virtual environment</a:t>
            </a:r>
            <a:br/>
            <a:r>
              <a:t>python -m venv .venv</a:t>
            </a:r>
            <a:br/>
            <a:br/>
            <a:r>
              <a:t># Windows PowerShell</a:t>
            </a:r>
            <a:br/>
            <a:r>
              <a:t>.venv\Scripts\Activate.ps1</a:t>
            </a:r>
            <a:br/>
            <a:br/>
            <a:r>
              <a:t># Install core data libraries</a:t>
            </a:r>
            <a:br/>
            <a:r>
              <a:t>python -m pip install numpy pandas matplotlib scikit-learn</a:t>
            </a:r>
            <a:br/>
            <a:br/>
            <a:r>
              <a:t># Capture project dependencies</a:t>
            </a:r>
            <a:br/>
            <a:r>
              <a:t>python -m pip freeze &gt; requirements.txt</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Python syntax, variables and types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PYTHON FOUNDATIONS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07</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777240" y="1508760"/>
            <a:ext cx="10607040" cy="4480560"/>
          </a:xfrm>
          <a:prstGeom prst="roundRect">
            <a:avLst/>
          </a:prstGeom>
          <a:solidFill>
            <a:srgbClr val="1B2536"/>
          </a:solidFill>
          <a:ln>
            <a:solidFill>
              <a:srgbClr val="1B2536"/>
            </a:solidFill>
          </a:ln>
        </p:spPr>
        <p:style>
          <a:lnRef idx="1">
            <a:schemeClr val="accent1"/>
          </a:lnRef>
          <a:fillRef idx="3">
            <a:schemeClr val="accent1"/>
          </a:fillRef>
          <a:effectRef idx="2">
            <a:schemeClr val="accent1"/>
          </a:effectRef>
          <a:fontRef idx="minor">
            <a:schemeClr val="lt1"/>
          </a:fontRef>
        </p:style>
        <p:txBody>
          <a:bodyPr wrap="square" lIns="201168" tIns="146304" rIns="164592" bIns="109728" rtlCol="0" anchor="ctr"/>
          <a:lstStyle/>
          <a:p>
            <a:pPr algn="ctr">
              <a:defRPr sz="1600">
                <a:solidFill>
                  <a:srgbClr val="E6EEF8"/>
                </a:solidFill>
                <a:latin typeface="Consolas"/>
              </a:defRPr>
            </a:pPr>
            <a:r>
              <a:t>customer = "Maya"</a:t>
            </a:r>
            <a:br/>
            <a:r>
              <a:t>orders = 3</a:t>
            </a:r>
            <a:br/>
            <a:r>
              <a:t>order_value = 249.50</a:t>
            </a:r>
            <a:br/>
            <a:r>
              <a:t>is_member = True</a:t>
            </a:r>
            <a:br/>
            <a:br/>
            <a:r>
              <a:t>print(type(customer), type(orders))</a:t>
            </a:r>
            <a:br/>
            <a:r>
              <a:t>total = orders * order_value</a:t>
            </a:r>
            <a:br/>
            <a:r>
              <a:t>print(f"{customer}'s total: ₹{total:.2f}")</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Operators and expressions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PYTHON FOUNDATIONS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08</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2000">
                <a:solidFill>
                  <a:srgbClr val="28303C"/>
                </a:solidFill>
                <a:latin typeface="Aptos"/>
              </a:defRPr>
            </a:pPr>
            <a:r>
              <a:rPr b="1"/>
              <a:t>Arithmetic — +, -, *, /, //, %, **</a:t>
            </a:r>
          </a:p>
          <a:p>
            <a:pPr>
              <a:spcAft>
                <a:spcPts val="1200"/>
              </a:spcAft>
              <a:defRPr sz="2000">
                <a:solidFill>
                  <a:srgbClr val="28303C"/>
                </a:solidFill>
                <a:latin typeface="Aptos"/>
              </a:defRPr>
            </a:pPr>
            <a:r>
              <a:rPr b="1"/>
              <a:t>Comparison — ==, !=, &lt;, &lt;=, &gt;, &gt;=</a:t>
            </a:r>
          </a:p>
          <a:p>
            <a:pPr>
              <a:spcAft>
                <a:spcPts val="1200"/>
              </a:spcAft>
              <a:defRPr sz="2000">
                <a:solidFill>
                  <a:srgbClr val="28303C"/>
                </a:solidFill>
                <a:latin typeface="Aptos"/>
              </a:defRPr>
            </a:pPr>
            <a:r>
              <a:rPr b="1"/>
              <a:t>Logical — and, or, not</a:t>
            </a:r>
          </a:p>
          <a:p>
            <a:pPr>
              <a:spcAft>
                <a:spcPts val="1200"/>
              </a:spcAft>
              <a:defRPr sz="2000">
                <a:solidFill>
                  <a:srgbClr val="28303C"/>
                </a:solidFill>
                <a:latin typeface="Aptos"/>
              </a:defRPr>
            </a:pPr>
            <a:r>
              <a:rPr b="1"/>
              <a:t>Membership — in and not in</a:t>
            </a:r>
          </a:p>
          <a:p>
            <a:pPr>
              <a:spcAft>
                <a:spcPts val="1200"/>
              </a:spcAft>
              <a:defRPr sz="2000">
                <a:solidFill>
                  <a:srgbClr val="28303C"/>
                </a:solidFill>
                <a:latin typeface="Aptos"/>
              </a:defRPr>
            </a:pPr>
            <a:r>
              <a:rPr b="1"/>
              <a:t>Best practice — Use parentheses when they make precedence easier to read.</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Control flow</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PYTHON FOUNDATIONS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09</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777240" y="1508760"/>
            <a:ext cx="10607040" cy="4480560"/>
          </a:xfrm>
          <a:prstGeom prst="roundRect">
            <a:avLst/>
          </a:prstGeom>
          <a:solidFill>
            <a:srgbClr val="1B2536"/>
          </a:solidFill>
          <a:ln>
            <a:solidFill>
              <a:srgbClr val="1B2536"/>
            </a:solidFill>
          </a:ln>
        </p:spPr>
        <p:style>
          <a:lnRef idx="1">
            <a:schemeClr val="accent1"/>
          </a:lnRef>
          <a:fillRef idx="3">
            <a:schemeClr val="accent1"/>
          </a:fillRef>
          <a:effectRef idx="2">
            <a:schemeClr val="accent1"/>
          </a:effectRef>
          <a:fontRef idx="minor">
            <a:schemeClr val="lt1"/>
          </a:fontRef>
        </p:style>
        <p:txBody>
          <a:bodyPr wrap="square" lIns="201168" tIns="146304" rIns="164592" bIns="109728" rtlCol="0" anchor="ctr"/>
          <a:lstStyle/>
          <a:p>
            <a:pPr algn="ctr">
              <a:defRPr sz="1600">
                <a:solidFill>
                  <a:srgbClr val="E6EEF8"/>
                </a:solidFill>
                <a:latin typeface="Consolas"/>
              </a:defRPr>
            </a:pPr>
            <a:r>
              <a:t>score = 78</a:t>
            </a:r>
            <a:br/>
            <a:br/>
            <a:r>
              <a:t>if score &gt;= 85:</a:t>
            </a:r>
            <a:br/>
            <a:r>
              <a:t>    grade = "A"</a:t>
            </a:r>
            <a:br/>
            <a:r>
              <a:t>elif score &gt;= 70:</a:t>
            </a:r>
            <a:br/>
            <a:r>
              <a:t>    grade = "B"</a:t>
            </a:r>
            <a:br/>
            <a:r>
              <a:t>else:</a:t>
            </a:r>
            <a:br/>
            <a:r>
              <a:t>    grade = "C"</a:t>
            </a:r>
            <a:br/>
            <a:br/>
            <a:r>
              <a:t>print(grade)  # B</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Loops and iteration</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PYTHON FOUNDATIONS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10</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777240" y="1508760"/>
            <a:ext cx="10607040" cy="4480560"/>
          </a:xfrm>
          <a:prstGeom prst="roundRect">
            <a:avLst/>
          </a:prstGeom>
          <a:solidFill>
            <a:srgbClr val="1B2536"/>
          </a:solidFill>
          <a:ln>
            <a:solidFill>
              <a:srgbClr val="1B2536"/>
            </a:solidFill>
          </a:ln>
        </p:spPr>
        <p:style>
          <a:lnRef idx="1">
            <a:schemeClr val="accent1"/>
          </a:lnRef>
          <a:fillRef idx="3">
            <a:schemeClr val="accent1"/>
          </a:fillRef>
          <a:effectRef idx="2">
            <a:schemeClr val="accent1"/>
          </a:effectRef>
          <a:fontRef idx="minor">
            <a:schemeClr val="lt1"/>
          </a:fontRef>
        </p:style>
        <p:txBody>
          <a:bodyPr wrap="square" lIns="201168" tIns="146304" rIns="164592" bIns="109728" rtlCol="0" anchor="ctr"/>
          <a:lstStyle/>
          <a:p>
            <a:pPr algn="ctr">
              <a:defRPr sz="1600">
                <a:solidFill>
                  <a:srgbClr val="E6EEF8"/>
                </a:solidFill>
                <a:latin typeface="Consolas"/>
              </a:defRPr>
            </a:pPr>
            <a:r>
              <a:t>scores = [72, 91, 64, 88]</a:t>
            </a:r>
            <a:br/>
            <a:r>
              <a:t>passed = []</a:t>
            </a:r>
            <a:br/>
            <a:br/>
            <a:r>
              <a:t>for score in scores:</a:t>
            </a:r>
            <a:br/>
            <a:r>
              <a:t>    if score &gt;= 70:</a:t>
            </a:r>
            <a:br/>
            <a:r>
              <a:t>        passed.append(score)</a:t>
            </a:r>
            <a:br/>
            <a:br/>
            <a:r>
              <a:t>print(passed)  # [72, 91, 88]</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Core data structures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PYTHON FOUNDATIONS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11</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2000">
                <a:solidFill>
                  <a:srgbClr val="28303C"/>
                </a:solidFill>
                <a:latin typeface="Aptos"/>
              </a:defRPr>
            </a:pPr>
            <a:r>
              <a:rPr b="1"/>
              <a:t>List — Ordered, mutable collection; useful for sequences.</a:t>
            </a:r>
          </a:p>
          <a:p>
            <a:pPr>
              <a:spcAft>
                <a:spcPts val="1200"/>
              </a:spcAft>
              <a:defRPr sz="2000">
                <a:solidFill>
                  <a:srgbClr val="28303C"/>
                </a:solidFill>
                <a:latin typeface="Aptos"/>
              </a:defRPr>
            </a:pPr>
            <a:r>
              <a:rPr b="1"/>
              <a:t>Tuple — Ordered, immutable collection; useful for fixed records.</a:t>
            </a:r>
          </a:p>
          <a:p>
            <a:pPr>
              <a:spcAft>
                <a:spcPts val="1200"/>
              </a:spcAft>
              <a:defRPr sz="2000">
                <a:solidFill>
                  <a:srgbClr val="28303C"/>
                </a:solidFill>
                <a:latin typeface="Aptos"/>
              </a:defRPr>
            </a:pPr>
            <a:r>
              <a:rPr b="1"/>
              <a:t>Set — Unique elements; useful for membership and set operations.</a:t>
            </a:r>
          </a:p>
          <a:p>
            <a:pPr>
              <a:spcAft>
                <a:spcPts val="1200"/>
              </a:spcAft>
              <a:defRPr sz="2000">
                <a:solidFill>
                  <a:srgbClr val="28303C"/>
                </a:solidFill>
                <a:latin typeface="Aptos"/>
              </a:defRPr>
            </a:pPr>
            <a:r>
              <a:rPr b="1"/>
              <a:t>Dictionary — Key-value mapping; useful for structured records and lookups.</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Comprehensions and common patterns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PYTHON FOUNDATIONS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12</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777240" y="1508760"/>
            <a:ext cx="10607040" cy="4480560"/>
          </a:xfrm>
          <a:prstGeom prst="roundRect">
            <a:avLst/>
          </a:prstGeom>
          <a:solidFill>
            <a:srgbClr val="1B2536"/>
          </a:solidFill>
          <a:ln>
            <a:solidFill>
              <a:srgbClr val="1B2536"/>
            </a:solidFill>
          </a:ln>
        </p:spPr>
        <p:style>
          <a:lnRef idx="1">
            <a:schemeClr val="accent1"/>
          </a:lnRef>
          <a:fillRef idx="3">
            <a:schemeClr val="accent1"/>
          </a:fillRef>
          <a:effectRef idx="2">
            <a:schemeClr val="accent1"/>
          </a:effectRef>
          <a:fontRef idx="minor">
            <a:schemeClr val="lt1"/>
          </a:fontRef>
        </p:style>
        <p:txBody>
          <a:bodyPr wrap="square" lIns="201168" tIns="146304" rIns="164592" bIns="109728" rtlCol="0" anchor="ctr"/>
          <a:lstStyle/>
          <a:p>
            <a:pPr algn="ctr">
              <a:defRPr sz="1600">
                <a:solidFill>
                  <a:srgbClr val="E6EEF8"/>
                </a:solidFill>
                <a:latin typeface="Consolas"/>
              </a:defRPr>
            </a:pPr>
            <a:r>
              <a:t>values = [2, 5, 8, 11, 14]</a:t>
            </a:r>
            <a:br/>
            <a:r>
              <a:t>squares_of_evens = [x * x for x in values if x % 2 == 0]</a:t>
            </a:r>
            <a:br/>
            <a:r>
              <a:t>lookup = {x: x * x for x in values}</a:t>
            </a:r>
            <a:br/>
            <a:br/>
            <a:r>
              <a:t>print(squares_of_evens)  # [4, 64, 196]</a:t>
            </a:r>
            <a:br/>
            <a:r>
              <a:t>print(lookup[11])        # 121</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Functions and reusable code</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PYTHON FOUNDATIONS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13</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777240" y="1508760"/>
            <a:ext cx="10607040" cy="4480560"/>
          </a:xfrm>
          <a:prstGeom prst="roundRect">
            <a:avLst/>
          </a:prstGeom>
          <a:solidFill>
            <a:srgbClr val="1B2536"/>
          </a:solidFill>
          <a:ln>
            <a:solidFill>
              <a:srgbClr val="1B2536"/>
            </a:solidFill>
          </a:ln>
        </p:spPr>
        <p:style>
          <a:lnRef idx="1">
            <a:schemeClr val="accent1"/>
          </a:lnRef>
          <a:fillRef idx="3">
            <a:schemeClr val="accent1"/>
          </a:fillRef>
          <a:effectRef idx="2">
            <a:schemeClr val="accent1"/>
          </a:effectRef>
          <a:fontRef idx="minor">
            <a:schemeClr val="lt1"/>
          </a:fontRef>
        </p:style>
        <p:txBody>
          <a:bodyPr wrap="square" lIns="201168" tIns="146304" rIns="164592" bIns="109728" rtlCol="0" anchor="ctr"/>
          <a:lstStyle/>
          <a:p>
            <a:pPr algn="ctr">
              <a:defRPr sz="1600">
                <a:solidFill>
                  <a:srgbClr val="E6EEF8"/>
                </a:solidFill>
                <a:latin typeface="Consolas"/>
              </a:defRPr>
            </a:pPr>
            <a:r>
              <a:t>def mean(values):</a:t>
            </a:r>
            <a:br/>
            <a:r>
              <a:t>    if not values:</a:t>
            </a:r>
            <a:br/>
            <a:r>
              <a:t>        raise ValueError("values must not be empty")</a:t>
            </a:r>
            <a:br/>
            <a:r>
              <a:t>    return sum(values) / len(values)</a:t>
            </a:r>
            <a:br/>
            <a:br/>
            <a:r>
              <a:t>print(mean([10, 20, 30]))  # 20.0</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Lambda, map and filter</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PYTHON FOUNDATIONS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14</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777240" y="1508760"/>
            <a:ext cx="10607040" cy="4480560"/>
          </a:xfrm>
          <a:prstGeom prst="roundRect">
            <a:avLst/>
          </a:prstGeom>
          <a:solidFill>
            <a:srgbClr val="1B2536"/>
          </a:solidFill>
          <a:ln>
            <a:solidFill>
              <a:srgbClr val="1B2536"/>
            </a:solidFill>
          </a:ln>
        </p:spPr>
        <p:style>
          <a:lnRef idx="1">
            <a:schemeClr val="accent1"/>
          </a:lnRef>
          <a:fillRef idx="3">
            <a:schemeClr val="accent1"/>
          </a:fillRef>
          <a:effectRef idx="2">
            <a:schemeClr val="accent1"/>
          </a:effectRef>
          <a:fontRef idx="minor">
            <a:schemeClr val="lt1"/>
          </a:fontRef>
        </p:style>
        <p:txBody>
          <a:bodyPr wrap="square" lIns="201168" tIns="146304" rIns="164592" bIns="109728" rtlCol="0" anchor="ctr"/>
          <a:lstStyle/>
          <a:p>
            <a:pPr algn="ctr">
              <a:defRPr sz="1600">
                <a:solidFill>
                  <a:srgbClr val="E6EEF8"/>
                </a:solidFill>
                <a:latin typeface="Consolas"/>
              </a:defRPr>
            </a:pPr>
            <a:r>
              <a:t>prices = [100, 250, 400, 550]</a:t>
            </a:r>
            <a:br/>
            <a:r>
              <a:t>discounted = list(map(lambda p: p * 0.9, prices))</a:t>
            </a:r>
            <a:br/>
            <a:r>
              <a:t>large_orders = list(filter(lambda p: p &gt;= 400, prices))</a:t>
            </a:r>
            <a:br/>
            <a:br/>
            <a:r>
              <a:t>print(discounted)</a:t>
            </a:r>
            <a:br/>
            <a:r>
              <a:t>print(large_orders)</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Modules, packages and imports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PYTHON FOUNDATIONS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15</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Use imports to reuse standard-library and third-party functionality.</a:t>
            </a:r>
          </a:p>
          <a:p>
            <a:pPr>
              <a:spcAft>
                <a:spcPts val="1200"/>
              </a:spcAft>
              <a:defRPr sz="1900">
                <a:solidFill>
                  <a:srgbClr val="28303C"/>
                </a:solidFill>
                <a:latin typeface="Aptos"/>
              </a:defRPr>
            </a:pPr>
            <a:r>
              <a:t>Organize related modules in packages; keep public APIs small and clear.</a:t>
            </a:r>
          </a:p>
          <a:p>
            <a:pPr>
              <a:spcAft>
                <a:spcPts val="1200"/>
              </a:spcAft>
              <a:defRPr sz="1900">
                <a:solidFill>
                  <a:srgbClr val="28303C"/>
                </a:solidFill>
                <a:latin typeface="Aptos"/>
              </a:defRPr>
            </a:pPr>
            <a:r>
              <a:t>Avoid running expensive work at import time.</a:t>
            </a:r>
          </a:p>
          <a:p>
            <a:pPr>
              <a:spcAft>
                <a:spcPts val="1200"/>
              </a:spcAft>
              <a:defRPr sz="1900">
                <a:solidFill>
                  <a:srgbClr val="28303C"/>
                </a:solidFill>
                <a:latin typeface="Aptos"/>
              </a:defRPr>
            </a:pPr>
            <a:r>
              <a:t>Use a main guard for script entry points: if __name__ == '__main__':</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Files, exceptions and robust code</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PYTHON FOUNDATIONS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16</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777240" y="1508760"/>
            <a:ext cx="10607040" cy="4480560"/>
          </a:xfrm>
          <a:prstGeom prst="roundRect">
            <a:avLst/>
          </a:prstGeom>
          <a:solidFill>
            <a:srgbClr val="1B2536"/>
          </a:solidFill>
          <a:ln>
            <a:solidFill>
              <a:srgbClr val="1B2536"/>
            </a:solidFill>
          </a:ln>
        </p:spPr>
        <p:style>
          <a:lnRef idx="1">
            <a:schemeClr val="accent1"/>
          </a:lnRef>
          <a:fillRef idx="3">
            <a:schemeClr val="accent1"/>
          </a:fillRef>
          <a:effectRef idx="2">
            <a:schemeClr val="accent1"/>
          </a:effectRef>
          <a:fontRef idx="minor">
            <a:schemeClr val="lt1"/>
          </a:fontRef>
        </p:style>
        <p:txBody>
          <a:bodyPr wrap="square" lIns="201168" tIns="146304" rIns="164592" bIns="109728" rtlCol="0" anchor="ctr"/>
          <a:lstStyle/>
          <a:p>
            <a:pPr algn="ctr">
              <a:defRPr sz="1600">
                <a:solidFill>
                  <a:srgbClr val="E6EEF8"/>
                </a:solidFill>
                <a:latin typeface="Consolas"/>
              </a:defRPr>
            </a:pPr>
            <a:r>
              <a:t>from pathlib import Path</a:t>
            </a:r>
            <a:br/>
            <a:r>
              <a:t>import json</a:t>
            </a:r>
            <a:br/>
            <a:br/>
            <a:r>
              <a:t>path = Path("config.json")</a:t>
            </a:r>
            <a:br/>
            <a:r>
              <a:t>try:</a:t>
            </a:r>
            <a:br/>
            <a:r>
              <a:t>    config = json.loads(path.read_text(encoding="utf-8"))</a:t>
            </a:r>
            <a:br/>
            <a:r>
              <a:t>except FileNotFoundError:</a:t>
            </a:r>
            <a:br/>
            <a:r>
              <a:t>    config = {"mode": "development"}</a:t>
            </a:r>
            <a:br/>
            <a:r>
              <a:t>except json.JSONDecodeError as exc:</a:t>
            </a:r>
            <a:br/>
            <a:r>
              <a:t>    raise ValueError("Invalid JSON configuration") from exc</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Object-oriented Python</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PYTHON FOUNDATIONS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17</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777240" y="1508760"/>
            <a:ext cx="10607040" cy="4480560"/>
          </a:xfrm>
          <a:prstGeom prst="roundRect">
            <a:avLst/>
          </a:prstGeom>
          <a:solidFill>
            <a:srgbClr val="1B2536"/>
          </a:solidFill>
          <a:ln>
            <a:solidFill>
              <a:srgbClr val="1B2536"/>
            </a:solidFill>
          </a:ln>
        </p:spPr>
        <p:style>
          <a:lnRef idx="1">
            <a:schemeClr val="accent1"/>
          </a:lnRef>
          <a:fillRef idx="3">
            <a:schemeClr val="accent1"/>
          </a:fillRef>
          <a:effectRef idx="2">
            <a:schemeClr val="accent1"/>
          </a:effectRef>
          <a:fontRef idx="minor">
            <a:schemeClr val="lt1"/>
          </a:fontRef>
        </p:style>
        <p:txBody>
          <a:bodyPr wrap="square" lIns="201168" tIns="146304" rIns="164592" bIns="109728" rtlCol="0" anchor="ctr"/>
          <a:lstStyle/>
          <a:p>
            <a:pPr algn="ctr">
              <a:defRPr sz="1600">
                <a:solidFill>
                  <a:srgbClr val="E6EEF8"/>
                </a:solidFill>
                <a:latin typeface="Consolas"/>
              </a:defRPr>
            </a:pPr>
            <a:r>
              <a:t>class ModelConfig:</a:t>
            </a:r>
            <a:br/>
            <a:r>
              <a:t>    def __init__(self, name, learning_rate=0.01):</a:t>
            </a:r>
            <a:br/>
            <a:r>
              <a:t>        self.name = name</a:t>
            </a:r>
            <a:br/>
            <a:r>
              <a:t>        self.learning_rate = learning_rate</a:t>
            </a:r>
            <a:br/>
            <a:br/>
            <a:r>
              <a:t>    def describe(self):</a:t>
            </a:r>
            <a:br/>
            <a:r>
              <a:t>        return f"{self.name}: lr={self.learning_rate}"</a:t>
            </a:r>
            <a:br/>
            <a:br/>
            <a:r>
              <a:t>cfg = ModelConfig("baseline")</a:t>
            </a:r>
            <a:br/>
            <a:r>
              <a:t>print(cfg.describe())</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Python practice checkpoint</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PYTHON FOUNDATIONS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18</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2000">
                <a:solidFill>
                  <a:srgbClr val="28303C"/>
                </a:solidFill>
                <a:latin typeface="Aptos"/>
              </a:defRPr>
            </a:pPr>
            <a:r>
              <a:t>Write a function that returns the largest value in a list without using max().</a:t>
            </a:r>
          </a:p>
          <a:p>
            <a:pPr>
              <a:spcAft>
                <a:spcPts val="1200"/>
              </a:spcAft>
              <a:defRPr sz="2000">
                <a:solidFill>
                  <a:srgbClr val="28303C"/>
                </a:solidFill>
                <a:latin typeface="Aptos"/>
              </a:defRPr>
            </a:pPr>
            <a:r>
              <a:t>Remove duplicates while preserving the original order.</a:t>
            </a:r>
          </a:p>
          <a:p>
            <a:pPr>
              <a:spcAft>
                <a:spcPts val="1200"/>
              </a:spcAft>
              <a:defRPr sz="2000">
                <a:solidFill>
                  <a:srgbClr val="28303C"/>
                </a:solidFill>
                <a:latin typeface="Aptos"/>
              </a:defRPr>
            </a:pPr>
            <a:r>
              <a:t>Count the frequency of words in a sentence.</a:t>
            </a:r>
          </a:p>
          <a:p>
            <a:pPr>
              <a:spcAft>
                <a:spcPts val="1200"/>
              </a:spcAft>
              <a:defRPr sz="2000">
                <a:solidFill>
                  <a:srgbClr val="28303C"/>
                </a:solidFill>
                <a:latin typeface="Aptos"/>
              </a:defRPr>
            </a:pPr>
            <a:r>
              <a:t>Read a CSV file and handle missing or malformed input safely.</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NumPy arrays and vectorization</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DATA SCIENCE</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19</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777240" y="1508760"/>
            <a:ext cx="10607040" cy="4480560"/>
          </a:xfrm>
          <a:prstGeom prst="roundRect">
            <a:avLst/>
          </a:prstGeom>
          <a:solidFill>
            <a:srgbClr val="1B2536"/>
          </a:solidFill>
          <a:ln>
            <a:solidFill>
              <a:srgbClr val="1B2536"/>
            </a:solidFill>
          </a:ln>
        </p:spPr>
        <p:style>
          <a:lnRef idx="1">
            <a:schemeClr val="accent1"/>
          </a:lnRef>
          <a:fillRef idx="3">
            <a:schemeClr val="accent1"/>
          </a:fillRef>
          <a:effectRef idx="2">
            <a:schemeClr val="accent1"/>
          </a:effectRef>
          <a:fontRef idx="minor">
            <a:schemeClr val="lt1"/>
          </a:fontRef>
        </p:style>
        <p:txBody>
          <a:bodyPr wrap="square" lIns="201168" tIns="146304" rIns="164592" bIns="109728" rtlCol="0" anchor="ctr"/>
          <a:lstStyle/>
          <a:p>
            <a:pPr algn="ctr">
              <a:defRPr sz="1600">
                <a:solidFill>
                  <a:srgbClr val="E6EEF8"/>
                </a:solidFill>
                <a:latin typeface="Consolas"/>
              </a:defRPr>
            </a:pPr>
            <a:r>
              <a:t>import numpy as np</a:t>
            </a:r>
            <a:br/>
            <a:br/>
            <a:r>
              <a:t>x = np.array([10, 20, 30, 40])</a:t>
            </a:r>
            <a:br/>
            <a:r>
              <a:t>z = (x - x.mean()) / x.std()</a:t>
            </a:r>
            <a:br/>
            <a:br/>
            <a:r>
              <a:t>print(x.mean(), x.std())</a:t>
            </a:r>
            <a:br/>
            <a:r>
              <a:t>print(z.round(2))</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Pandas: inspect and clean data</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DATA SCIENCE</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20</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777240" y="1508760"/>
            <a:ext cx="10607040" cy="4480560"/>
          </a:xfrm>
          <a:prstGeom prst="roundRect">
            <a:avLst/>
          </a:prstGeom>
          <a:solidFill>
            <a:srgbClr val="1B2536"/>
          </a:solidFill>
          <a:ln>
            <a:solidFill>
              <a:srgbClr val="1B2536"/>
            </a:solidFill>
          </a:ln>
        </p:spPr>
        <p:style>
          <a:lnRef idx="1">
            <a:schemeClr val="accent1"/>
          </a:lnRef>
          <a:fillRef idx="3">
            <a:schemeClr val="accent1"/>
          </a:fillRef>
          <a:effectRef idx="2">
            <a:schemeClr val="accent1"/>
          </a:effectRef>
          <a:fontRef idx="minor">
            <a:schemeClr val="lt1"/>
          </a:fontRef>
        </p:style>
        <p:txBody>
          <a:bodyPr wrap="square" lIns="201168" tIns="146304" rIns="164592" bIns="109728" rtlCol="0" anchor="ctr"/>
          <a:lstStyle/>
          <a:p>
            <a:pPr algn="ctr">
              <a:defRPr sz="1600">
                <a:solidFill>
                  <a:srgbClr val="E6EEF8"/>
                </a:solidFill>
                <a:latin typeface="Consolas"/>
              </a:defRPr>
            </a:pPr>
            <a:r>
              <a:t>import pandas as pd</a:t>
            </a:r>
            <a:br/>
            <a:br/>
            <a:r>
              <a:t>df = pd.read_csv("customers.csv")</a:t>
            </a:r>
            <a:br/>
            <a:r>
              <a:t>print(df.shape)</a:t>
            </a:r>
            <a:br/>
            <a:r>
              <a:t>print(df.head())</a:t>
            </a:r>
            <a:br/>
            <a:r>
              <a:t>print(df.isna().sum())</a:t>
            </a:r>
            <a:br/>
            <a:br/>
            <a:r>
              <a:t>df = df.drop_duplicates()</a:t>
            </a:r>
            <a:br/>
            <a:r>
              <a:t>df["age"] = df["age"].fillna(df["age"].median())</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Exploratory data analysis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DATA SCIENCE</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21</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Inspect dimensions, types, ranges, missingness and duplicate rows.</a:t>
            </a:r>
          </a:p>
          <a:p>
            <a:pPr>
              <a:spcAft>
                <a:spcPts val="1200"/>
              </a:spcAft>
              <a:defRPr sz="1900">
                <a:solidFill>
                  <a:srgbClr val="28303C"/>
                </a:solidFill>
                <a:latin typeface="Aptos"/>
              </a:defRPr>
            </a:pPr>
            <a:r>
              <a:t>Use summary statistics to understand central tendency and spread.</a:t>
            </a:r>
          </a:p>
          <a:p>
            <a:pPr>
              <a:spcAft>
                <a:spcPts val="1200"/>
              </a:spcAft>
              <a:defRPr sz="1900">
                <a:solidFill>
                  <a:srgbClr val="28303C"/>
                </a:solidFill>
                <a:latin typeface="Aptos"/>
              </a:defRPr>
            </a:pPr>
            <a:r>
              <a:t>Explore distributions and relationships with plots and grouped summaries.</a:t>
            </a:r>
          </a:p>
          <a:p>
            <a:pPr>
              <a:spcAft>
                <a:spcPts val="1200"/>
              </a:spcAft>
              <a:defRPr sz="1900">
                <a:solidFill>
                  <a:srgbClr val="28303C"/>
                </a:solidFill>
                <a:latin typeface="Aptos"/>
              </a:defRPr>
            </a:pPr>
            <a:r>
              <a:t>Check target balance, outliers and possible data leakage before modeling.</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Data visualization</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DATA SCIENCE</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22</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777240" y="1508760"/>
            <a:ext cx="10607040" cy="4480560"/>
          </a:xfrm>
          <a:prstGeom prst="roundRect">
            <a:avLst/>
          </a:prstGeom>
          <a:solidFill>
            <a:srgbClr val="1B2536"/>
          </a:solidFill>
          <a:ln>
            <a:solidFill>
              <a:srgbClr val="1B2536"/>
            </a:solidFill>
          </a:ln>
        </p:spPr>
        <p:style>
          <a:lnRef idx="1">
            <a:schemeClr val="accent1"/>
          </a:lnRef>
          <a:fillRef idx="3">
            <a:schemeClr val="accent1"/>
          </a:fillRef>
          <a:effectRef idx="2">
            <a:schemeClr val="accent1"/>
          </a:effectRef>
          <a:fontRef idx="minor">
            <a:schemeClr val="lt1"/>
          </a:fontRef>
        </p:style>
        <p:txBody>
          <a:bodyPr wrap="square" lIns="201168" tIns="146304" rIns="164592" bIns="109728" rtlCol="0" anchor="ctr"/>
          <a:lstStyle/>
          <a:p>
            <a:pPr algn="ctr">
              <a:defRPr sz="1600">
                <a:solidFill>
                  <a:srgbClr val="E6EEF8"/>
                </a:solidFill>
                <a:latin typeface="Consolas"/>
              </a:defRPr>
            </a:pPr>
            <a:r>
              <a:t>import matplotlib.pyplot as plt</a:t>
            </a:r>
            <a:br/>
            <a:br/>
            <a:r>
              <a:t>df["monthly_spend"].hist(bins=25)</a:t>
            </a:r>
            <a:br/>
            <a:r>
              <a:t>plt.title("Monthly spend distribution")</a:t>
            </a:r>
            <a:br/>
            <a:r>
              <a:t>plt.xlabel("Spend")</a:t>
            </a:r>
            <a:br/>
            <a:r>
              <a:t>plt.ylabel("Customers")</a:t>
            </a:r>
            <a:br/>
            <a:r>
              <a:t>plt.tight_layout()</a:t>
            </a:r>
            <a:br/>
            <a:r>
              <a:t>plt.show()</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Descriptive statistics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MATHEMATICS FOR ML</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23</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rPr b="1"/>
              <a:t>Mean — Arithmetic average; sensitive to extreme values.</a:t>
            </a:r>
          </a:p>
          <a:p>
            <a:pPr>
              <a:spcAft>
                <a:spcPts val="1200"/>
              </a:spcAft>
              <a:defRPr sz="1900">
                <a:solidFill>
                  <a:srgbClr val="28303C"/>
                </a:solidFill>
                <a:latin typeface="Aptos"/>
              </a:defRPr>
            </a:pPr>
            <a:r>
              <a:rPr b="1"/>
              <a:t>Median — Middle observation; robust to skew and outliers.</a:t>
            </a:r>
          </a:p>
          <a:p>
            <a:pPr>
              <a:spcAft>
                <a:spcPts val="1200"/>
              </a:spcAft>
              <a:defRPr sz="1900">
                <a:solidFill>
                  <a:srgbClr val="28303C"/>
                </a:solidFill>
                <a:latin typeface="Aptos"/>
              </a:defRPr>
            </a:pPr>
            <a:r>
              <a:rPr b="1"/>
              <a:t>Variance / standard deviation — Measure dispersion around the mean.</a:t>
            </a:r>
          </a:p>
          <a:p>
            <a:pPr>
              <a:spcAft>
                <a:spcPts val="1200"/>
              </a:spcAft>
              <a:defRPr sz="1900">
                <a:solidFill>
                  <a:srgbClr val="28303C"/>
                </a:solidFill>
                <a:latin typeface="Aptos"/>
              </a:defRPr>
            </a:pPr>
            <a:r>
              <a:rPr b="1"/>
              <a:t>Quantiles and IQR — Describe distribution position and middle-spread.</a:t>
            </a:r>
          </a:p>
          <a:p>
            <a:pPr>
              <a:spcAft>
                <a:spcPts val="1200"/>
              </a:spcAft>
              <a:defRPr sz="1900">
                <a:solidFill>
                  <a:srgbClr val="28303C"/>
                </a:solidFill>
                <a:latin typeface="Aptos"/>
              </a:defRPr>
            </a:pPr>
            <a:r>
              <a:rPr b="1"/>
              <a:t>Correlation — Measures association; does not prove causation.</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Probability and conditional probability</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MATHEMATICS FOR ML</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24</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Probability quantifies uncertainty and ranges from 0 to 1.</a:t>
            </a:r>
          </a:p>
          <a:p>
            <a:pPr>
              <a:spcAft>
                <a:spcPts val="1200"/>
              </a:spcAft>
              <a:defRPr sz="1900">
                <a:solidFill>
                  <a:srgbClr val="28303C"/>
                </a:solidFill>
                <a:latin typeface="Aptos"/>
              </a:defRPr>
            </a:pPr>
            <a:r>
              <a:t>P(A and B) describes joint occurrence; P(A | B) describes A given B.</a:t>
            </a:r>
          </a:p>
          <a:p>
            <a:pPr>
              <a:spcAft>
                <a:spcPts val="1200"/>
              </a:spcAft>
              <a:defRPr sz="1900">
                <a:solidFill>
                  <a:srgbClr val="28303C"/>
                </a:solidFill>
                <a:latin typeface="Aptos"/>
              </a:defRPr>
            </a:pPr>
            <a:r>
              <a:t>Bayes' theorem updates beliefs using observed evidence.</a:t>
            </a:r>
          </a:p>
          <a:p>
            <a:pPr>
              <a:spcAft>
                <a:spcPts val="1200"/>
              </a:spcAft>
              <a:defRPr sz="1900">
                <a:solidFill>
                  <a:srgbClr val="28303C"/>
                </a:solidFill>
                <a:latin typeface="Aptos"/>
              </a:defRPr>
            </a:pPr>
            <a:r>
              <a:t>Base rates matter: a high test accuracy can still produce many false alarms for rare events.</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Distributions and sampling</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MATHEMATICS FOR ML</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25</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800">
                <a:solidFill>
                  <a:srgbClr val="28303C"/>
                </a:solidFill>
                <a:latin typeface="Aptos"/>
              </a:defRPr>
            </a:pPr>
            <a:r>
              <a:rPr b="1"/>
              <a:t>Normal distribution — Symmetric bell-shaped model used in many statistical methods.</a:t>
            </a:r>
          </a:p>
          <a:p>
            <a:pPr>
              <a:spcAft>
                <a:spcPts val="1200"/>
              </a:spcAft>
              <a:defRPr sz="1800">
                <a:solidFill>
                  <a:srgbClr val="28303C"/>
                </a:solidFill>
                <a:latin typeface="Aptos"/>
              </a:defRPr>
            </a:pPr>
            <a:r>
              <a:rPr b="1"/>
              <a:t>Binomial distribution — Counts successes across fixed independent trials.</a:t>
            </a:r>
          </a:p>
          <a:p>
            <a:pPr>
              <a:spcAft>
                <a:spcPts val="1200"/>
              </a:spcAft>
              <a:defRPr sz="1800">
                <a:solidFill>
                  <a:srgbClr val="28303C"/>
                </a:solidFill>
                <a:latin typeface="Aptos"/>
              </a:defRPr>
            </a:pPr>
            <a:r>
              <a:rPr b="1"/>
              <a:t>Sampling — A sample estimates properties of a population.</a:t>
            </a:r>
          </a:p>
          <a:p>
            <a:pPr>
              <a:spcAft>
                <a:spcPts val="1200"/>
              </a:spcAft>
              <a:defRPr sz="1800">
                <a:solidFill>
                  <a:srgbClr val="28303C"/>
                </a:solidFill>
                <a:latin typeface="Aptos"/>
              </a:defRPr>
            </a:pPr>
            <a:r>
              <a:rPr b="1"/>
              <a:t>Sampling bias — A sample can systematically misrepresent the population.</a:t>
            </a:r>
          </a:p>
          <a:p>
            <a:pPr>
              <a:spcAft>
                <a:spcPts val="1200"/>
              </a:spcAft>
              <a:defRPr sz="1800">
                <a:solidFill>
                  <a:srgbClr val="28303C"/>
                </a:solidFill>
                <a:latin typeface="Aptos"/>
              </a:defRPr>
            </a:pPr>
            <a:r>
              <a:rPr b="1"/>
              <a:t>Central limit idea — Under suitable conditions, sample means become approximately normal as sample size grows.</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Linear algebra essentials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MATHEMATICS FOR ML</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26</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rPr b="1"/>
              <a:t>Scalar, vector, matrix — Numbers, ordered arrays, and 2D arrays.</a:t>
            </a:r>
          </a:p>
          <a:p>
            <a:pPr>
              <a:spcAft>
                <a:spcPts val="1200"/>
              </a:spcAft>
              <a:defRPr sz="1900">
                <a:solidFill>
                  <a:srgbClr val="28303C"/>
                </a:solidFill>
                <a:latin typeface="Aptos"/>
              </a:defRPr>
            </a:pPr>
            <a:r>
              <a:rPr b="1"/>
              <a:t>Dot product — Combines aligned values; central to linear models and neural layers.</a:t>
            </a:r>
          </a:p>
          <a:p>
            <a:pPr>
              <a:spcAft>
                <a:spcPts val="1200"/>
              </a:spcAft>
              <a:defRPr sz="1900">
                <a:solidFill>
                  <a:srgbClr val="28303C"/>
                </a:solidFill>
                <a:latin typeface="Aptos"/>
              </a:defRPr>
            </a:pPr>
            <a:r>
              <a:rPr b="1"/>
              <a:t>Matrix multiplication — Composes linear transformations.</a:t>
            </a:r>
          </a:p>
          <a:p>
            <a:pPr>
              <a:spcAft>
                <a:spcPts val="1200"/>
              </a:spcAft>
              <a:defRPr sz="1900">
                <a:solidFill>
                  <a:srgbClr val="28303C"/>
                </a:solidFill>
                <a:latin typeface="Aptos"/>
              </a:defRPr>
            </a:pPr>
            <a:r>
              <a:rPr b="1"/>
              <a:t>Norm — Measures vector magnitude; often used in regularization.</a:t>
            </a:r>
          </a:p>
          <a:p>
            <a:pPr>
              <a:spcAft>
                <a:spcPts val="1200"/>
              </a:spcAft>
              <a:defRPr sz="1900">
                <a:solidFill>
                  <a:srgbClr val="28303C"/>
                </a:solidFill>
                <a:latin typeface="Aptos"/>
              </a:defRPr>
            </a:pPr>
            <a:r>
              <a:rPr b="1"/>
              <a:t>Shape discipline — Track rows, columns and feature dimensions explicitly.</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Calculus and gradients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MATHEMATICS FOR ML</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27</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2000">
                <a:solidFill>
                  <a:srgbClr val="28303C"/>
                </a:solidFill>
                <a:latin typeface="Aptos"/>
              </a:defRPr>
            </a:pPr>
            <a:r>
              <a:t>A derivative measures how a function changes with an input.</a:t>
            </a:r>
          </a:p>
          <a:p>
            <a:pPr>
              <a:spcAft>
                <a:spcPts val="1200"/>
              </a:spcAft>
              <a:defRPr sz="2000">
                <a:solidFill>
                  <a:srgbClr val="28303C"/>
                </a:solidFill>
                <a:latin typeface="Aptos"/>
              </a:defRPr>
            </a:pPr>
            <a:r>
              <a:t>A partial derivative measures change with respect to one parameter.</a:t>
            </a:r>
          </a:p>
          <a:p>
            <a:pPr>
              <a:spcAft>
                <a:spcPts val="1200"/>
              </a:spcAft>
              <a:defRPr sz="2000">
                <a:solidFill>
                  <a:srgbClr val="28303C"/>
                </a:solidFill>
                <a:latin typeface="Aptos"/>
              </a:defRPr>
            </a:pPr>
            <a:r>
              <a:t>The gradient collects partial derivatives for all model parameters.</a:t>
            </a:r>
          </a:p>
          <a:p>
            <a:pPr>
              <a:spcAft>
                <a:spcPts val="1200"/>
              </a:spcAft>
              <a:defRPr sz="2000">
                <a:solidFill>
                  <a:srgbClr val="28303C"/>
                </a:solidFill>
                <a:latin typeface="Aptos"/>
              </a:defRPr>
            </a:pPr>
            <a:r>
              <a:t>Gradient descent updates parameters in the direction that reduces the loss.</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Train, validation and test split</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DATA SCIENCE</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28</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685800" y="2286000"/>
            <a:ext cx="2544318"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Raw data</a:t>
            </a:r>
          </a:p>
        </p:txBody>
      </p:sp>
      <p:cxnSp>
        <p:nvCxnSpPr>
          <p:cNvPr id="8" name="Connector 7"/>
          <p:cNvCxnSpPr/>
          <p:nvPr/>
        </p:nvCxnSpPr>
        <p:spPr>
          <a:xfrm>
            <a:off x="3248406"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449574" y="2286000"/>
            <a:ext cx="2544318" cy="1097280"/>
          </a:xfrm>
          <a:prstGeom prst="roundRect">
            <a:avLst/>
          </a:prstGeom>
          <a:solidFill>
            <a:srgbClr val="DCF5F1"/>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Train set</a:t>
            </a:r>
          </a:p>
        </p:txBody>
      </p:sp>
      <p:cxnSp>
        <p:nvCxnSpPr>
          <p:cNvPr id="10" name="Connector 9"/>
          <p:cNvCxnSpPr/>
          <p:nvPr/>
        </p:nvCxnSpPr>
        <p:spPr>
          <a:xfrm>
            <a:off x="6012179" y="2834640"/>
            <a:ext cx="182881"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13348" y="2286000"/>
            <a:ext cx="2544318" cy="1097280"/>
          </a:xfrm>
          <a:prstGeom prst="roundRect">
            <a:avLst/>
          </a:prstGeom>
          <a:solidFill>
            <a:srgbClr val="FFF4DA"/>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Validation set</a:t>
            </a:r>
          </a:p>
        </p:txBody>
      </p:sp>
      <p:cxnSp>
        <p:nvCxnSpPr>
          <p:cNvPr id="12" name="Connector 11"/>
          <p:cNvCxnSpPr/>
          <p:nvPr/>
        </p:nvCxnSpPr>
        <p:spPr>
          <a:xfrm>
            <a:off x="8775954"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977122" y="2286000"/>
            <a:ext cx="2544318"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Test set</a:t>
            </a:r>
          </a:p>
        </p:txBody>
      </p:sp>
      <p:sp>
        <p:nvSpPr>
          <p:cNvPr id="14" name="TextBox 13"/>
          <p:cNvSpPr txBox="1"/>
          <p:nvPr/>
        </p:nvSpPr>
        <p:spPr>
          <a:xfrm>
            <a:off x="868680" y="3886200"/>
            <a:ext cx="10424160" cy="1097280"/>
          </a:xfrm>
          <a:prstGeom prst="rect">
            <a:avLst/>
          </a:prstGeom>
          <a:noFill/>
        </p:spPr>
        <p:txBody>
          <a:bodyPr wrap="square" lIns="73152" tIns="73152" rIns="73152" bIns="73152">
            <a:spAutoFit/>
          </a:bodyPr>
          <a:lstStyle/>
          <a:p>
            <a:pPr algn="ctr">
              <a:defRPr sz="1700" b="0">
                <a:solidFill>
                  <a:srgbClr val="5F6C7D"/>
                </a:solidFill>
                <a:latin typeface="Aptos"/>
              </a:defRPr>
            </a:pPr>
            <a:r>
              <a:t>Fit parameters on training data, tune choices on validation data, and reserve test data for final evaluation.</a:t>
            </a:r>
          </a:p>
        </p:txBody>
      </p:sp>
      <p:sp>
        <p:nvSpPr>
          <p:cNvPr id="15" name="Rounded Rectangle 14"/>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7" name="Rounded Rectangle 16"/>
          <p:cNvSpPr/>
          <p:nvPr/>
        </p:nvSpPr>
        <p:spPr>
          <a:xfrm>
            <a:off x="384048" y="5326724"/>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Data preprocessing pipeline</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DATA SCIENCE</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29</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685800" y="2286000"/>
            <a:ext cx="1991563"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Raw data</a:t>
            </a:r>
          </a:p>
        </p:txBody>
      </p:sp>
      <p:cxnSp>
        <p:nvCxnSpPr>
          <p:cNvPr id="8" name="Connector 7"/>
          <p:cNvCxnSpPr/>
          <p:nvPr/>
        </p:nvCxnSpPr>
        <p:spPr>
          <a:xfrm>
            <a:off x="2695651"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96819" y="2286000"/>
            <a:ext cx="1991563" cy="1097280"/>
          </a:xfrm>
          <a:prstGeom prst="roundRect">
            <a:avLst/>
          </a:prstGeom>
          <a:solidFill>
            <a:srgbClr val="DCF5F1"/>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Impute</a:t>
            </a:r>
          </a:p>
        </p:txBody>
      </p:sp>
      <p:cxnSp>
        <p:nvCxnSpPr>
          <p:cNvPr id="10" name="Connector 9"/>
          <p:cNvCxnSpPr/>
          <p:nvPr/>
        </p:nvCxnSpPr>
        <p:spPr>
          <a:xfrm>
            <a:off x="4906670"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107838" y="2286000"/>
            <a:ext cx="1991563" cy="1097280"/>
          </a:xfrm>
          <a:prstGeom prst="roundRect">
            <a:avLst/>
          </a:prstGeom>
          <a:solidFill>
            <a:srgbClr val="FFF4DA"/>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Encode</a:t>
            </a:r>
          </a:p>
        </p:txBody>
      </p:sp>
      <p:cxnSp>
        <p:nvCxnSpPr>
          <p:cNvPr id="12" name="Connector 11"/>
          <p:cNvCxnSpPr/>
          <p:nvPr/>
        </p:nvCxnSpPr>
        <p:spPr>
          <a:xfrm>
            <a:off x="7117689"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18857" y="2286000"/>
            <a:ext cx="1991563"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Scale</a:t>
            </a:r>
          </a:p>
        </p:txBody>
      </p:sp>
      <p:cxnSp>
        <p:nvCxnSpPr>
          <p:cNvPr id="14" name="Connector 13"/>
          <p:cNvCxnSpPr/>
          <p:nvPr/>
        </p:nvCxnSpPr>
        <p:spPr>
          <a:xfrm>
            <a:off x="9328708"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529876" y="2286000"/>
            <a:ext cx="1991563" cy="1097280"/>
          </a:xfrm>
          <a:prstGeom prst="roundRect">
            <a:avLst/>
          </a:prstGeom>
          <a:solidFill>
            <a:srgbClr val="DCF5F1"/>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Model</a:t>
            </a:r>
          </a:p>
        </p:txBody>
      </p:sp>
      <p:sp>
        <p:nvSpPr>
          <p:cNvPr id="16" name="TextBox 15"/>
          <p:cNvSpPr txBox="1"/>
          <p:nvPr/>
        </p:nvSpPr>
        <p:spPr>
          <a:xfrm>
            <a:off x="868680" y="3886200"/>
            <a:ext cx="10424160" cy="1097280"/>
          </a:xfrm>
          <a:prstGeom prst="rect">
            <a:avLst/>
          </a:prstGeom>
          <a:noFill/>
        </p:spPr>
        <p:txBody>
          <a:bodyPr wrap="square" lIns="73152" tIns="73152" rIns="73152" bIns="73152">
            <a:spAutoFit/>
          </a:bodyPr>
          <a:lstStyle/>
          <a:p>
            <a:pPr algn="ctr">
              <a:defRPr sz="1700" b="0">
                <a:solidFill>
                  <a:srgbClr val="5F6C7D"/>
                </a:solidFill>
                <a:latin typeface="Aptos"/>
              </a:defRPr>
            </a:pPr>
            <a:r>
              <a:t>Fit preprocessing only on training data; use a pipeline to apply the same learned transformations to validation, test and production data.</a:t>
            </a:r>
          </a:p>
        </p:txBody>
      </p:sp>
      <p:sp>
        <p:nvSpPr>
          <p:cNvPr id="17" name="Rounded Rectangle 16"/>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9" name="Rounded Rectangle 18"/>
          <p:cNvSpPr/>
          <p:nvPr/>
        </p:nvSpPr>
        <p:spPr>
          <a:xfrm>
            <a:off x="384048" y="5316892"/>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Machine learning workflow</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CLASSICAL ML</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30</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685800" y="2286000"/>
            <a:ext cx="1623060"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Define problem</a:t>
            </a:r>
          </a:p>
        </p:txBody>
      </p:sp>
      <p:cxnSp>
        <p:nvCxnSpPr>
          <p:cNvPr id="8" name="Connector 7"/>
          <p:cNvCxnSpPr/>
          <p:nvPr/>
        </p:nvCxnSpPr>
        <p:spPr>
          <a:xfrm>
            <a:off x="2327148"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528316" y="2286000"/>
            <a:ext cx="1623060" cy="1097280"/>
          </a:xfrm>
          <a:prstGeom prst="roundRect">
            <a:avLst/>
          </a:prstGeom>
          <a:solidFill>
            <a:srgbClr val="DCF5F1"/>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Collect data</a:t>
            </a:r>
          </a:p>
        </p:txBody>
      </p:sp>
      <p:cxnSp>
        <p:nvCxnSpPr>
          <p:cNvPr id="10" name="Connector 9"/>
          <p:cNvCxnSpPr/>
          <p:nvPr/>
        </p:nvCxnSpPr>
        <p:spPr>
          <a:xfrm>
            <a:off x="4169663" y="2834640"/>
            <a:ext cx="182881"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370832" y="2286000"/>
            <a:ext cx="1623060" cy="1097280"/>
          </a:xfrm>
          <a:prstGeom prst="roundRect">
            <a:avLst/>
          </a:prstGeom>
          <a:solidFill>
            <a:srgbClr val="FFF4DA"/>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Prepare features</a:t>
            </a:r>
          </a:p>
        </p:txBody>
      </p:sp>
      <p:cxnSp>
        <p:nvCxnSpPr>
          <p:cNvPr id="12" name="Connector 11"/>
          <p:cNvCxnSpPr/>
          <p:nvPr/>
        </p:nvCxnSpPr>
        <p:spPr>
          <a:xfrm>
            <a:off x="6012180"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213348" y="2286000"/>
            <a:ext cx="1623060"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Train</a:t>
            </a:r>
          </a:p>
        </p:txBody>
      </p:sp>
      <p:cxnSp>
        <p:nvCxnSpPr>
          <p:cNvPr id="14" name="Connector 13"/>
          <p:cNvCxnSpPr/>
          <p:nvPr/>
        </p:nvCxnSpPr>
        <p:spPr>
          <a:xfrm>
            <a:off x="7854696"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55864" y="2286000"/>
            <a:ext cx="1623060" cy="1097280"/>
          </a:xfrm>
          <a:prstGeom prst="roundRect">
            <a:avLst/>
          </a:prstGeom>
          <a:solidFill>
            <a:srgbClr val="DCF5F1"/>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Evaluate</a:t>
            </a:r>
          </a:p>
        </p:txBody>
      </p:sp>
      <p:cxnSp>
        <p:nvCxnSpPr>
          <p:cNvPr id="16" name="Connector 15"/>
          <p:cNvCxnSpPr/>
          <p:nvPr/>
        </p:nvCxnSpPr>
        <p:spPr>
          <a:xfrm>
            <a:off x="9697212"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898380" y="2286000"/>
            <a:ext cx="1623060" cy="1097280"/>
          </a:xfrm>
          <a:prstGeom prst="roundRect">
            <a:avLst/>
          </a:prstGeom>
          <a:solidFill>
            <a:srgbClr val="FFF4DA"/>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Deploy &amp; monitor</a:t>
            </a:r>
          </a:p>
        </p:txBody>
      </p:sp>
      <p:sp>
        <p:nvSpPr>
          <p:cNvPr id="18" name="TextBox 17"/>
          <p:cNvSpPr txBox="1"/>
          <p:nvPr/>
        </p:nvSpPr>
        <p:spPr>
          <a:xfrm>
            <a:off x="868680" y="3886200"/>
            <a:ext cx="10424160" cy="1097280"/>
          </a:xfrm>
          <a:prstGeom prst="rect">
            <a:avLst/>
          </a:prstGeom>
          <a:noFill/>
        </p:spPr>
        <p:txBody>
          <a:bodyPr wrap="square" lIns="73152" tIns="73152" rIns="73152" bIns="73152">
            <a:spAutoFit/>
          </a:bodyPr>
          <a:lstStyle/>
          <a:p>
            <a:pPr algn="ctr">
              <a:defRPr sz="1700" b="0">
                <a:solidFill>
                  <a:srgbClr val="5F6C7D"/>
                </a:solidFill>
                <a:latin typeface="Aptos"/>
              </a:defRPr>
            </a:pPr>
            <a:r>
              <a:t>The workflow is iterative: monitoring can reveal drift or data-quality issues that require retraining.</a:t>
            </a:r>
          </a:p>
        </p:txBody>
      </p:sp>
      <p:sp>
        <p:nvSpPr>
          <p:cNvPr id="19" name="Rounded Rectangle 18"/>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21" name="Rounded Rectangle 20"/>
          <p:cNvSpPr/>
          <p:nvPr/>
        </p:nvSpPr>
        <p:spPr>
          <a:xfrm>
            <a:off x="384048" y="5267730"/>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Learning paradigms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CLASSICAL ML</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31</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rPr b="1"/>
              <a:t>Supervised learning — Learns from labeled examples; regression and classification.</a:t>
            </a:r>
          </a:p>
          <a:p>
            <a:pPr>
              <a:spcAft>
                <a:spcPts val="1200"/>
              </a:spcAft>
              <a:defRPr sz="1900">
                <a:solidFill>
                  <a:srgbClr val="28303C"/>
                </a:solidFill>
                <a:latin typeface="Aptos"/>
              </a:defRPr>
            </a:pPr>
            <a:r>
              <a:rPr b="1"/>
              <a:t>Unsupervised learning — Finds structure in unlabeled data; clustering and dimensionality reduction.</a:t>
            </a:r>
          </a:p>
          <a:p>
            <a:pPr>
              <a:spcAft>
                <a:spcPts val="1200"/>
              </a:spcAft>
              <a:defRPr sz="1900">
                <a:solidFill>
                  <a:srgbClr val="28303C"/>
                </a:solidFill>
                <a:latin typeface="Aptos"/>
              </a:defRPr>
            </a:pPr>
            <a:r>
              <a:rPr b="1"/>
              <a:t>Reinforcement learning — Learns behavior through actions, rewards and interaction.</a:t>
            </a:r>
          </a:p>
          <a:p>
            <a:pPr>
              <a:spcAft>
                <a:spcPts val="1200"/>
              </a:spcAft>
              <a:defRPr sz="1900">
                <a:solidFill>
                  <a:srgbClr val="28303C"/>
                </a:solidFill>
                <a:latin typeface="Aptos"/>
              </a:defRPr>
            </a:pPr>
            <a:r>
              <a:rPr b="1"/>
              <a:t>Semi/self-supervised learning — Uses limited labels or learning signals derived from the data itself.</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Regression vs classification</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CLASSICAL ML</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32</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685800" y="2286000"/>
            <a:ext cx="3465575"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Input features</a:t>
            </a:r>
          </a:p>
        </p:txBody>
      </p:sp>
      <p:cxnSp>
        <p:nvCxnSpPr>
          <p:cNvPr id="8" name="Connector 7"/>
          <p:cNvCxnSpPr/>
          <p:nvPr/>
        </p:nvCxnSpPr>
        <p:spPr>
          <a:xfrm>
            <a:off x="4169663" y="2834640"/>
            <a:ext cx="182881"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370831" y="2286000"/>
            <a:ext cx="3465575" cy="1097280"/>
          </a:xfrm>
          <a:prstGeom prst="roundRect">
            <a:avLst/>
          </a:prstGeom>
          <a:solidFill>
            <a:srgbClr val="DCF5F1"/>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Learning algorithm</a:t>
            </a:r>
          </a:p>
        </p:txBody>
      </p:sp>
      <p:cxnSp>
        <p:nvCxnSpPr>
          <p:cNvPr id="10" name="Connector 9"/>
          <p:cNvCxnSpPr/>
          <p:nvPr/>
        </p:nvCxnSpPr>
        <p:spPr>
          <a:xfrm>
            <a:off x="7854695"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055863" y="2286000"/>
            <a:ext cx="3465575" cy="1097280"/>
          </a:xfrm>
          <a:prstGeom prst="roundRect">
            <a:avLst/>
          </a:prstGeom>
          <a:solidFill>
            <a:srgbClr val="FFF4DA"/>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Numeric output</a:t>
            </a:r>
            <a:br/>
            <a:r>
              <a:t>(regression)</a:t>
            </a:r>
          </a:p>
        </p:txBody>
      </p:sp>
      <p:sp>
        <p:nvSpPr>
          <p:cNvPr id="12" name="TextBox 11"/>
          <p:cNvSpPr txBox="1"/>
          <p:nvPr/>
        </p:nvSpPr>
        <p:spPr>
          <a:xfrm>
            <a:off x="868680" y="3886200"/>
            <a:ext cx="10424160" cy="1097280"/>
          </a:xfrm>
          <a:prstGeom prst="rect">
            <a:avLst/>
          </a:prstGeom>
          <a:noFill/>
        </p:spPr>
        <p:txBody>
          <a:bodyPr wrap="square" lIns="73152" tIns="73152" rIns="73152" bIns="73152">
            <a:spAutoFit/>
          </a:bodyPr>
          <a:lstStyle/>
          <a:p>
            <a:pPr algn="ctr">
              <a:defRPr sz="1700" b="0">
                <a:solidFill>
                  <a:srgbClr val="5F6C7D"/>
                </a:solidFill>
                <a:latin typeface="Aptos"/>
              </a:defRPr>
            </a:pPr>
            <a:r>
              <a:t>Classification instead predicts a class or class probability; choose metrics that match the business goal.</a:t>
            </a:r>
          </a:p>
        </p:txBody>
      </p:sp>
      <p:sp>
        <p:nvSpPr>
          <p:cNvPr id="13" name="Rounded Rectangle 12"/>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5" name="Rounded Rectangle 14"/>
          <p:cNvSpPr/>
          <p:nvPr/>
        </p:nvSpPr>
        <p:spPr>
          <a:xfrm>
            <a:off x="384048" y="5326724"/>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Simple and multiple linear regression</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CLASSICAL ML</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33</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Model a target as a weighted sum of input features plus an intercept.</a:t>
            </a:r>
          </a:p>
          <a:p>
            <a:pPr>
              <a:spcAft>
                <a:spcPts val="1200"/>
              </a:spcAft>
              <a:defRPr sz="1900">
                <a:solidFill>
                  <a:srgbClr val="28303C"/>
                </a:solidFill>
                <a:latin typeface="Aptos"/>
              </a:defRPr>
            </a:pPr>
            <a:r>
              <a:t>Coefficients estimate the direction and magnitude of a feature's association, conditional on the model.</a:t>
            </a:r>
          </a:p>
          <a:p>
            <a:pPr>
              <a:spcAft>
                <a:spcPts val="1200"/>
              </a:spcAft>
              <a:defRPr sz="1900">
                <a:solidFill>
                  <a:srgbClr val="28303C"/>
                </a:solidFill>
                <a:latin typeface="Aptos"/>
              </a:defRPr>
            </a:pPr>
            <a:r>
              <a:t>Inspect residuals and evaluate on held-out data.</a:t>
            </a:r>
          </a:p>
          <a:p>
            <a:pPr>
              <a:spcAft>
                <a:spcPts val="1200"/>
              </a:spcAft>
              <a:defRPr sz="1900">
                <a:solidFill>
                  <a:srgbClr val="28303C"/>
                </a:solidFill>
                <a:latin typeface="Aptos"/>
              </a:defRPr>
            </a:pPr>
            <a:r>
              <a:t>Linear models are interpretable baselines, but can miss nonlinear relationships.</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Regression loss and metrics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CLASSICAL ML</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34</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rPr b="1"/>
              <a:t>MAE — Average absolute prediction error; easy to interpret in target units.</a:t>
            </a:r>
          </a:p>
          <a:p>
            <a:pPr>
              <a:spcAft>
                <a:spcPts val="1200"/>
              </a:spcAft>
              <a:defRPr sz="1900">
                <a:solidFill>
                  <a:srgbClr val="28303C"/>
                </a:solidFill>
                <a:latin typeface="Aptos"/>
              </a:defRPr>
            </a:pPr>
            <a:r>
              <a:rPr b="1"/>
              <a:t>MSE — Squares errors, penalizing large mistakes more heavily.</a:t>
            </a:r>
          </a:p>
          <a:p>
            <a:pPr>
              <a:spcAft>
                <a:spcPts val="1200"/>
              </a:spcAft>
              <a:defRPr sz="1900">
                <a:solidFill>
                  <a:srgbClr val="28303C"/>
                </a:solidFill>
                <a:latin typeface="Aptos"/>
              </a:defRPr>
            </a:pPr>
            <a:r>
              <a:rPr b="1"/>
              <a:t>RMSE — Square root of MSE; returns to target units.</a:t>
            </a:r>
          </a:p>
          <a:p>
            <a:pPr>
              <a:spcAft>
                <a:spcPts val="1200"/>
              </a:spcAft>
              <a:defRPr sz="1900">
                <a:solidFill>
                  <a:srgbClr val="28303C"/>
                </a:solidFill>
                <a:latin typeface="Aptos"/>
              </a:defRPr>
            </a:pPr>
            <a:r>
              <a:rPr b="1"/>
              <a:t>R² — Compares model performance with a mean-target baseline; can be negative on test data.</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Polynomial regression and regularization</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CLASSICAL ML</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35</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Polynomial features allow a linear model to fit curved relationships.</a:t>
            </a:r>
          </a:p>
          <a:p>
            <a:pPr>
              <a:spcAft>
                <a:spcPts val="1200"/>
              </a:spcAft>
              <a:defRPr sz="1900">
                <a:solidFill>
                  <a:srgbClr val="28303C"/>
                </a:solidFill>
                <a:latin typeface="Aptos"/>
              </a:defRPr>
            </a:pPr>
            <a:r>
              <a:t>Higher degree increases flexibility and can overfit.</a:t>
            </a:r>
          </a:p>
          <a:p>
            <a:pPr>
              <a:spcAft>
                <a:spcPts val="1200"/>
              </a:spcAft>
              <a:defRPr sz="1900">
                <a:solidFill>
                  <a:srgbClr val="28303C"/>
                </a:solidFill>
                <a:latin typeface="Aptos"/>
              </a:defRPr>
            </a:pPr>
            <a:r>
              <a:rPr b="1"/>
              <a:t>Ridge — L2 penalty shrinks coefficients.</a:t>
            </a:r>
          </a:p>
          <a:p>
            <a:pPr>
              <a:spcAft>
                <a:spcPts val="1200"/>
              </a:spcAft>
              <a:defRPr sz="1900">
                <a:solidFill>
                  <a:srgbClr val="28303C"/>
                </a:solidFill>
                <a:latin typeface="Aptos"/>
              </a:defRPr>
            </a:pPr>
            <a:r>
              <a:rPr b="1"/>
              <a:t>Lasso — L1 penalty can drive some coefficients to zero.</a:t>
            </a:r>
          </a:p>
          <a:p>
            <a:pPr>
              <a:spcAft>
                <a:spcPts val="1200"/>
              </a:spcAft>
              <a:defRPr sz="1900">
                <a:solidFill>
                  <a:srgbClr val="28303C"/>
                </a:solidFill>
                <a:latin typeface="Aptos"/>
              </a:defRPr>
            </a:pPr>
            <a:r>
              <a:t>Tune complexity and regularization using validation or cross-validation.</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Logistic regression and classification</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CLASSICAL ML</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36</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Logistic regression maps a linear score to a probability using a sigmoid for binary classification.</a:t>
            </a:r>
          </a:p>
          <a:p>
            <a:pPr>
              <a:spcAft>
                <a:spcPts val="1200"/>
              </a:spcAft>
              <a:defRPr sz="1900">
                <a:solidFill>
                  <a:srgbClr val="28303C"/>
                </a:solidFill>
                <a:latin typeface="Aptos"/>
              </a:defRPr>
            </a:pPr>
            <a:r>
              <a:t>Choose a decision threshold based on the cost of false positives and false negatives.</a:t>
            </a:r>
          </a:p>
          <a:p>
            <a:pPr>
              <a:spcAft>
                <a:spcPts val="1200"/>
              </a:spcAft>
              <a:defRPr sz="1900">
                <a:solidFill>
                  <a:srgbClr val="28303C"/>
                </a:solidFill>
                <a:latin typeface="Aptos"/>
              </a:defRPr>
            </a:pPr>
            <a:r>
              <a:t>Multiclass problems can use one-vs-rest or softmax-based approaches.</a:t>
            </a:r>
          </a:p>
          <a:p>
            <a:pPr>
              <a:spcAft>
                <a:spcPts val="1200"/>
              </a:spcAft>
              <a:defRPr sz="1900">
                <a:solidFill>
                  <a:srgbClr val="28303C"/>
                </a:solidFill>
                <a:latin typeface="Aptos"/>
              </a:defRPr>
            </a:pPr>
            <a:r>
              <a:t>Calibrated probabilities can be important for risk-based decisions.</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Confusion matrix and classification metrics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CLASSICAL ML</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37</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rPr b="1"/>
              <a:t>True positive / true negative — Correct positive / negative predictions.</a:t>
            </a:r>
          </a:p>
          <a:p>
            <a:pPr>
              <a:spcAft>
                <a:spcPts val="1200"/>
              </a:spcAft>
              <a:defRPr sz="1900">
                <a:solidFill>
                  <a:srgbClr val="28303C"/>
                </a:solidFill>
                <a:latin typeface="Aptos"/>
              </a:defRPr>
            </a:pPr>
            <a:r>
              <a:rPr b="1"/>
              <a:t>False positive / false negative — Incorrect positive / negative predictions.</a:t>
            </a:r>
          </a:p>
          <a:p>
            <a:pPr>
              <a:spcAft>
                <a:spcPts val="1200"/>
              </a:spcAft>
              <a:defRPr sz="1900">
                <a:solidFill>
                  <a:srgbClr val="28303C"/>
                </a:solidFill>
                <a:latin typeface="Aptos"/>
              </a:defRPr>
            </a:pPr>
            <a:r>
              <a:rPr b="1"/>
              <a:t>Precision — Of predicted positives, how many were correct?</a:t>
            </a:r>
          </a:p>
          <a:p>
            <a:pPr>
              <a:spcAft>
                <a:spcPts val="1200"/>
              </a:spcAft>
              <a:defRPr sz="1900">
                <a:solidFill>
                  <a:srgbClr val="28303C"/>
                </a:solidFill>
                <a:latin typeface="Aptos"/>
              </a:defRPr>
            </a:pPr>
            <a:r>
              <a:rPr b="1"/>
              <a:t>Recall — Of actual positives, how many were found?</a:t>
            </a:r>
          </a:p>
          <a:p>
            <a:pPr>
              <a:spcAft>
                <a:spcPts val="1200"/>
              </a:spcAft>
              <a:defRPr sz="1900">
                <a:solidFill>
                  <a:srgbClr val="28303C"/>
                </a:solidFill>
                <a:latin typeface="Aptos"/>
              </a:defRPr>
            </a:pPr>
            <a:r>
              <a:rPr b="1"/>
              <a:t>F1 — Harmonic mean of precision and recall.</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Decision trees and ensembles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CLASSICAL ML</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38</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Decision trees split data using feature rules to reduce impurity or prediction error.</a:t>
            </a:r>
          </a:p>
          <a:p>
            <a:pPr>
              <a:spcAft>
                <a:spcPts val="1200"/>
              </a:spcAft>
              <a:defRPr sz="1900">
                <a:solidFill>
                  <a:srgbClr val="28303C"/>
                </a:solidFill>
                <a:latin typeface="Aptos"/>
              </a:defRPr>
            </a:pPr>
            <a:r>
              <a:t>Trees are intuitive but can be unstable and overfit without constraints.</a:t>
            </a:r>
          </a:p>
          <a:p>
            <a:pPr>
              <a:spcAft>
                <a:spcPts val="1200"/>
              </a:spcAft>
              <a:defRPr sz="1900">
                <a:solidFill>
                  <a:srgbClr val="28303C"/>
                </a:solidFill>
                <a:latin typeface="Aptos"/>
              </a:defRPr>
            </a:pPr>
            <a:r>
              <a:t>Random forests average many randomized trees to reduce variance.</a:t>
            </a:r>
          </a:p>
          <a:p>
            <a:pPr>
              <a:spcAft>
                <a:spcPts val="1200"/>
              </a:spcAft>
              <a:defRPr sz="1900">
                <a:solidFill>
                  <a:srgbClr val="28303C"/>
                </a:solidFill>
                <a:latin typeface="Aptos"/>
              </a:defRPr>
            </a:pPr>
            <a:r>
              <a:t>Gradient boosting builds learners sequentially to correct earlier errors.</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K-nearest neighbors and support vector machines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CLASSICAL ML</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39</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rPr b="1"/>
              <a:t>KNN — Predicts from nearby examples; sensitive to scaling and choice of k.</a:t>
            </a:r>
          </a:p>
          <a:p>
            <a:pPr>
              <a:spcAft>
                <a:spcPts val="1200"/>
              </a:spcAft>
              <a:defRPr sz="1900">
                <a:solidFill>
                  <a:srgbClr val="28303C"/>
                </a:solidFill>
                <a:latin typeface="Aptos"/>
              </a:defRPr>
            </a:pPr>
            <a:r>
              <a:rPr b="1"/>
              <a:t>Distance metrics — Euclidean, Manhattan and cosine similarity serve different data geometries.</a:t>
            </a:r>
          </a:p>
          <a:p>
            <a:pPr>
              <a:spcAft>
                <a:spcPts val="1200"/>
              </a:spcAft>
              <a:defRPr sz="1900">
                <a:solidFill>
                  <a:srgbClr val="28303C"/>
                </a:solidFill>
                <a:latin typeface="Aptos"/>
              </a:defRPr>
            </a:pPr>
            <a:r>
              <a:rPr b="1"/>
              <a:t>SVM — Finds a margin-separating boundary; kernels can represent nonlinear boundaries.</a:t>
            </a:r>
          </a:p>
          <a:p>
            <a:pPr>
              <a:spcAft>
                <a:spcPts val="1200"/>
              </a:spcAft>
              <a:defRPr sz="1900">
                <a:solidFill>
                  <a:srgbClr val="28303C"/>
                </a:solidFill>
                <a:latin typeface="Aptos"/>
              </a:defRPr>
            </a:pPr>
            <a:r>
              <a:t>Scale features and tune hyperparameters using a disciplined validation process.</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Naive Bayes and probabilistic baselines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CLASSICAL ML</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40</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Uses Bayes' theorem with a conditional-independence assumption.</a:t>
            </a:r>
          </a:p>
          <a:p>
            <a:pPr>
              <a:spcAft>
                <a:spcPts val="1200"/>
              </a:spcAft>
              <a:defRPr sz="1900">
                <a:solidFill>
                  <a:srgbClr val="28303C"/>
                </a:solidFill>
                <a:latin typeface="Aptos"/>
              </a:defRPr>
            </a:pPr>
            <a:r>
              <a:t>Common variants include Gaussian, Multinomial and Bernoulli Naive Bayes.</a:t>
            </a:r>
          </a:p>
          <a:p>
            <a:pPr>
              <a:spcAft>
                <a:spcPts val="1200"/>
              </a:spcAft>
              <a:defRPr sz="1900">
                <a:solidFill>
                  <a:srgbClr val="28303C"/>
                </a:solidFill>
                <a:latin typeface="Aptos"/>
              </a:defRPr>
            </a:pPr>
            <a:r>
              <a:t>Often useful for text classification and fast baseline models.</a:t>
            </a:r>
          </a:p>
          <a:p>
            <a:pPr>
              <a:spcAft>
                <a:spcPts val="1200"/>
              </a:spcAft>
              <a:defRPr sz="1900">
                <a:solidFill>
                  <a:srgbClr val="28303C"/>
                </a:solidFill>
                <a:latin typeface="Aptos"/>
              </a:defRPr>
            </a:pPr>
            <a:r>
              <a:t>The independence assumption is simplified, but predictive performance can still be strong.</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Clustering: K-means intuition</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CLASSICAL ML</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41</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685800" y="2286000"/>
            <a:ext cx="2544318"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Choose k</a:t>
            </a:r>
          </a:p>
        </p:txBody>
      </p:sp>
      <p:cxnSp>
        <p:nvCxnSpPr>
          <p:cNvPr id="8" name="Connector 7"/>
          <p:cNvCxnSpPr/>
          <p:nvPr/>
        </p:nvCxnSpPr>
        <p:spPr>
          <a:xfrm>
            <a:off x="3248406"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449574" y="2286000"/>
            <a:ext cx="2544318" cy="1097280"/>
          </a:xfrm>
          <a:prstGeom prst="roundRect">
            <a:avLst/>
          </a:prstGeom>
          <a:solidFill>
            <a:srgbClr val="DCF5F1"/>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Assign points</a:t>
            </a:r>
          </a:p>
        </p:txBody>
      </p:sp>
      <p:cxnSp>
        <p:nvCxnSpPr>
          <p:cNvPr id="10" name="Connector 9"/>
          <p:cNvCxnSpPr/>
          <p:nvPr/>
        </p:nvCxnSpPr>
        <p:spPr>
          <a:xfrm>
            <a:off x="6012179" y="2834640"/>
            <a:ext cx="182881"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13348" y="2286000"/>
            <a:ext cx="2544318" cy="1097280"/>
          </a:xfrm>
          <a:prstGeom prst="roundRect">
            <a:avLst/>
          </a:prstGeom>
          <a:solidFill>
            <a:srgbClr val="FFF4DA"/>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Update centroids</a:t>
            </a:r>
          </a:p>
        </p:txBody>
      </p:sp>
      <p:cxnSp>
        <p:nvCxnSpPr>
          <p:cNvPr id="12" name="Connector 11"/>
          <p:cNvCxnSpPr/>
          <p:nvPr/>
        </p:nvCxnSpPr>
        <p:spPr>
          <a:xfrm>
            <a:off x="8775954"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977122" y="2286000"/>
            <a:ext cx="2544318"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Repeat until stable</a:t>
            </a:r>
          </a:p>
        </p:txBody>
      </p:sp>
      <p:sp>
        <p:nvSpPr>
          <p:cNvPr id="14" name="TextBox 13"/>
          <p:cNvSpPr txBox="1"/>
          <p:nvPr/>
        </p:nvSpPr>
        <p:spPr>
          <a:xfrm>
            <a:off x="868680" y="3886200"/>
            <a:ext cx="10424160" cy="1097280"/>
          </a:xfrm>
          <a:prstGeom prst="rect">
            <a:avLst/>
          </a:prstGeom>
          <a:noFill/>
        </p:spPr>
        <p:txBody>
          <a:bodyPr wrap="square" lIns="73152" tIns="73152" rIns="73152" bIns="73152">
            <a:spAutoFit/>
          </a:bodyPr>
          <a:lstStyle/>
          <a:p>
            <a:pPr algn="ctr">
              <a:defRPr sz="1700" b="0">
                <a:solidFill>
                  <a:srgbClr val="5F6C7D"/>
                </a:solidFill>
                <a:latin typeface="Aptos"/>
              </a:defRPr>
            </a:pPr>
            <a:r>
              <a:t>K-means minimizes within-cluster squared distances; scale features and inspect whether clusters are meaningful.</a:t>
            </a:r>
          </a:p>
        </p:txBody>
      </p:sp>
      <p:sp>
        <p:nvSpPr>
          <p:cNvPr id="15" name="Rounded Rectangle 14"/>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7" name="Rounded Rectangle 16"/>
          <p:cNvSpPr/>
          <p:nvPr/>
        </p:nvSpPr>
        <p:spPr>
          <a:xfrm>
            <a:off x="384048" y="5375885"/>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Dimensionality reduction and PCA</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CLASSICAL ML</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42</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High-dimensional data can contain redundancy and noise.</a:t>
            </a:r>
          </a:p>
          <a:p>
            <a:pPr>
              <a:spcAft>
                <a:spcPts val="1200"/>
              </a:spcAft>
              <a:defRPr sz="1900">
                <a:solidFill>
                  <a:srgbClr val="28303C"/>
                </a:solidFill>
                <a:latin typeface="Aptos"/>
              </a:defRPr>
            </a:pPr>
            <a:r>
              <a:t>PCA finds orthogonal directions that capture decreasing amounts of variance.</a:t>
            </a:r>
          </a:p>
          <a:p>
            <a:pPr>
              <a:spcAft>
                <a:spcPts val="1200"/>
              </a:spcAft>
              <a:defRPr sz="1900">
                <a:solidFill>
                  <a:srgbClr val="28303C"/>
                </a:solidFill>
                <a:latin typeface="Aptos"/>
              </a:defRPr>
            </a:pPr>
            <a:r>
              <a:t>Standardize features when their scales are not comparable.</a:t>
            </a:r>
          </a:p>
          <a:p>
            <a:pPr>
              <a:spcAft>
                <a:spcPts val="1200"/>
              </a:spcAft>
              <a:defRPr sz="1900">
                <a:solidFill>
                  <a:srgbClr val="28303C"/>
                </a:solidFill>
                <a:latin typeface="Aptos"/>
              </a:defRPr>
            </a:pPr>
            <a:r>
              <a:t>Use PCA for compression, visualization and preprocessing—not as a guarantee of better predictive accuracy.</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Cross-validation and hyperparameter tuning</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CLASSICAL ML</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43</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Cross-validation estimates how results vary across data splits.</a:t>
            </a:r>
          </a:p>
          <a:p>
            <a:pPr>
              <a:spcAft>
                <a:spcPts val="1200"/>
              </a:spcAft>
              <a:defRPr sz="1900">
                <a:solidFill>
                  <a:srgbClr val="28303C"/>
                </a:solidFill>
                <a:latin typeface="Aptos"/>
              </a:defRPr>
            </a:pPr>
            <a:r>
              <a:t>Grid search evaluates a defined parameter grid; randomized search samples candidates.</a:t>
            </a:r>
          </a:p>
          <a:p>
            <a:pPr>
              <a:spcAft>
                <a:spcPts val="1200"/>
              </a:spcAft>
              <a:defRPr sz="1900">
                <a:solidFill>
                  <a:srgbClr val="28303C"/>
                </a:solidFill>
                <a:latin typeface="Aptos"/>
              </a:defRPr>
            </a:pPr>
            <a:r>
              <a:t>Use stratified folds for imbalanced classification where appropriate.</a:t>
            </a:r>
          </a:p>
          <a:p>
            <a:pPr>
              <a:spcAft>
                <a:spcPts val="1200"/>
              </a:spcAft>
              <a:defRPr sz="1900">
                <a:solidFill>
                  <a:srgbClr val="28303C"/>
                </a:solidFill>
                <a:latin typeface="Aptos"/>
              </a:defRPr>
            </a:pPr>
            <a:r>
              <a:t>Keep the final test set out of repeated model-selection decisions.</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Overfitting, underfitting and bias-variance</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CLASSICAL ML</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44</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rPr b="1"/>
              <a:t>Underfitting — Model is too simple to capture the signal; both train and validation scores are poor.</a:t>
            </a:r>
          </a:p>
          <a:p>
            <a:pPr>
              <a:spcAft>
                <a:spcPts val="1200"/>
              </a:spcAft>
              <a:defRPr sz="1900">
                <a:solidFill>
                  <a:srgbClr val="28303C"/>
                </a:solidFill>
                <a:latin typeface="Aptos"/>
              </a:defRPr>
            </a:pPr>
            <a:r>
              <a:rPr b="1"/>
              <a:t>Overfitting — Model memorizes training details; training score is strong but validation performance drops.</a:t>
            </a:r>
          </a:p>
          <a:p>
            <a:pPr>
              <a:spcAft>
                <a:spcPts val="1200"/>
              </a:spcAft>
              <a:defRPr sz="1900">
                <a:solidFill>
                  <a:srgbClr val="28303C"/>
                </a:solidFill>
                <a:latin typeface="Aptos"/>
              </a:defRPr>
            </a:pPr>
            <a:r>
              <a:rPr b="1"/>
              <a:t>Bias — Error from overly restrictive assumptions.</a:t>
            </a:r>
          </a:p>
          <a:p>
            <a:pPr>
              <a:spcAft>
                <a:spcPts val="1200"/>
              </a:spcAft>
              <a:defRPr sz="1900">
                <a:solidFill>
                  <a:srgbClr val="28303C"/>
                </a:solidFill>
                <a:latin typeface="Aptos"/>
              </a:defRPr>
            </a:pPr>
            <a:r>
              <a:rPr b="1"/>
              <a:t>Variance — Sensitivity to the particular training sample.</a:t>
            </a:r>
          </a:p>
          <a:p>
            <a:pPr>
              <a:spcAft>
                <a:spcPts val="1200"/>
              </a:spcAft>
              <a:defRPr sz="1900">
                <a:solidFill>
                  <a:srgbClr val="28303C"/>
                </a:solidFill>
                <a:latin typeface="Aptos"/>
              </a:defRPr>
            </a:pPr>
            <a:r>
              <a:t>Use more representative data, regularization, suitable complexity and careful validation.</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Feature engineering and leakage</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CLASSICAL ML</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45</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Create domain-relevant features, aggregate histories and derive useful time-based variables.</a:t>
            </a:r>
          </a:p>
          <a:p>
            <a:pPr>
              <a:spcAft>
                <a:spcPts val="1200"/>
              </a:spcAft>
              <a:defRPr sz="1900">
                <a:solidFill>
                  <a:srgbClr val="28303C"/>
                </a:solidFill>
                <a:latin typeface="Aptos"/>
              </a:defRPr>
            </a:pPr>
            <a:r>
              <a:t>Encode categories and scale numeric inputs where the algorithm needs it.</a:t>
            </a:r>
          </a:p>
          <a:p>
            <a:pPr>
              <a:spcAft>
                <a:spcPts val="1200"/>
              </a:spcAft>
              <a:defRPr sz="1900">
                <a:solidFill>
                  <a:srgbClr val="28303C"/>
                </a:solidFill>
                <a:latin typeface="Aptos"/>
              </a:defRPr>
            </a:pPr>
            <a:r>
              <a:t>Leakage occurs when training uses information unavailable at prediction time.</a:t>
            </a:r>
          </a:p>
          <a:p>
            <a:pPr>
              <a:spcAft>
                <a:spcPts val="1200"/>
              </a:spcAft>
              <a:defRPr sz="1900">
                <a:solidFill>
                  <a:srgbClr val="28303C"/>
                </a:solidFill>
                <a:latin typeface="Aptos"/>
              </a:defRPr>
            </a:pPr>
            <a:r>
              <a:t>Split by time, customer or entity when random splitting would let related records cross partitions.</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Imbalanced classification</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CLASSICAL ML</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46</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Accuracy can be misleading when one class dominates.</a:t>
            </a:r>
          </a:p>
          <a:p>
            <a:pPr>
              <a:spcAft>
                <a:spcPts val="1200"/>
              </a:spcAft>
              <a:defRPr sz="1900">
                <a:solidFill>
                  <a:srgbClr val="28303C"/>
                </a:solidFill>
                <a:latin typeface="Aptos"/>
              </a:defRPr>
            </a:pPr>
            <a:r>
              <a:t>Inspect precision-recall curves, recall, precision, F1 and class-specific errors.</a:t>
            </a:r>
          </a:p>
          <a:p>
            <a:pPr>
              <a:spcAft>
                <a:spcPts val="1200"/>
              </a:spcAft>
              <a:defRPr sz="1900">
                <a:solidFill>
                  <a:srgbClr val="28303C"/>
                </a:solidFill>
                <a:latin typeface="Aptos"/>
              </a:defRPr>
            </a:pPr>
            <a:r>
              <a:t>Consider class weights, resampling or threshold adjustment—inside training/validation only.</a:t>
            </a:r>
          </a:p>
          <a:p>
            <a:pPr>
              <a:spcAft>
                <a:spcPts val="1200"/>
              </a:spcAft>
              <a:defRPr sz="1900">
                <a:solidFill>
                  <a:srgbClr val="28303C"/>
                </a:solidFill>
                <a:latin typeface="Aptos"/>
              </a:defRPr>
            </a:pPr>
            <a:r>
              <a:t>Evaluate on data reflecting real-world prevalence and decision costs.</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Neural network building blocks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DEEP LEARNING</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47</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685800" y="2286000"/>
            <a:ext cx="2544318"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Input features</a:t>
            </a:r>
          </a:p>
        </p:txBody>
      </p:sp>
      <p:cxnSp>
        <p:nvCxnSpPr>
          <p:cNvPr id="8" name="Connector 7"/>
          <p:cNvCxnSpPr/>
          <p:nvPr/>
        </p:nvCxnSpPr>
        <p:spPr>
          <a:xfrm>
            <a:off x="3248406"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449574" y="2286000"/>
            <a:ext cx="2544318" cy="1097280"/>
          </a:xfrm>
          <a:prstGeom prst="roundRect">
            <a:avLst/>
          </a:prstGeom>
          <a:solidFill>
            <a:srgbClr val="DCF5F1"/>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Hidden layer(s)</a:t>
            </a:r>
          </a:p>
        </p:txBody>
      </p:sp>
      <p:cxnSp>
        <p:nvCxnSpPr>
          <p:cNvPr id="10" name="Connector 9"/>
          <p:cNvCxnSpPr/>
          <p:nvPr/>
        </p:nvCxnSpPr>
        <p:spPr>
          <a:xfrm>
            <a:off x="6012179" y="2834640"/>
            <a:ext cx="182881"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13348" y="2286000"/>
            <a:ext cx="2544318" cy="1097280"/>
          </a:xfrm>
          <a:prstGeom prst="roundRect">
            <a:avLst/>
          </a:prstGeom>
          <a:solidFill>
            <a:srgbClr val="FFF4DA"/>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Activation</a:t>
            </a:r>
          </a:p>
        </p:txBody>
      </p:sp>
      <p:cxnSp>
        <p:nvCxnSpPr>
          <p:cNvPr id="12" name="Connector 11"/>
          <p:cNvCxnSpPr/>
          <p:nvPr/>
        </p:nvCxnSpPr>
        <p:spPr>
          <a:xfrm>
            <a:off x="8775954"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977122" y="2286000"/>
            <a:ext cx="2544318"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Output layer</a:t>
            </a:r>
          </a:p>
        </p:txBody>
      </p:sp>
      <p:sp>
        <p:nvSpPr>
          <p:cNvPr id="14" name="TextBox 13"/>
          <p:cNvSpPr txBox="1"/>
          <p:nvPr/>
        </p:nvSpPr>
        <p:spPr>
          <a:xfrm>
            <a:off x="868680" y="3886200"/>
            <a:ext cx="10424160" cy="1097280"/>
          </a:xfrm>
          <a:prstGeom prst="rect">
            <a:avLst/>
          </a:prstGeom>
          <a:noFill/>
        </p:spPr>
        <p:txBody>
          <a:bodyPr wrap="square" lIns="73152" tIns="73152" rIns="73152" bIns="73152">
            <a:spAutoFit/>
          </a:bodyPr>
          <a:lstStyle/>
          <a:p>
            <a:pPr algn="ctr">
              <a:defRPr sz="1700" b="0">
                <a:solidFill>
                  <a:srgbClr val="5F6C7D"/>
                </a:solidFill>
                <a:latin typeface="Aptos"/>
              </a:defRPr>
            </a:pPr>
            <a:r>
              <a:t>Weights and biases are learned from data; activations allow the network to represent nonlinear functions.</a:t>
            </a:r>
          </a:p>
        </p:txBody>
      </p:sp>
      <p:sp>
        <p:nvSpPr>
          <p:cNvPr id="15" name="Rounded Rectangle 14"/>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7" name="Rounded Rectangle 16"/>
          <p:cNvSpPr/>
          <p:nvPr/>
        </p:nvSpPr>
        <p:spPr>
          <a:xfrm>
            <a:off x="384048" y="5326724"/>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Forward pass, loss and backpropagation</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DEEP LEARNING</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48</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Forward pass computes predictions from current parameters.</a:t>
            </a:r>
          </a:p>
          <a:p>
            <a:pPr>
              <a:spcAft>
                <a:spcPts val="1200"/>
              </a:spcAft>
              <a:defRPr sz="1900">
                <a:solidFill>
                  <a:srgbClr val="28303C"/>
                </a:solidFill>
                <a:latin typeface="Aptos"/>
              </a:defRPr>
            </a:pPr>
            <a:r>
              <a:t>Loss compares predictions with targets.</a:t>
            </a:r>
          </a:p>
          <a:p>
            <a:pPr>
              <a:spcAft>
                <a:spcPts val="1200"/>
              </a:spcAft>
              <a:defRPr sz="1900">
                <a:solidFill>
                  <a:srgbClr val="28303C"/>
                </a:solidFill>
                <a:latin typeface="Aptos"/>
              </a:defRPr>
            </a:pPr>
            <a:r>
              <a:t>Backpropagation applies the chain rule to compute parameter gradients.</a:t>
            </a:r>
          </a:p>
          <a:p>
            <a:pPr>
              <a:spcAft>
                <a:spcPts val="1200"/>
              </a:spcAft>
              <a:defRPr sz="1900">
                <a:solidFill>
                  <a:srgbClr val="28303C"/>
                </a:solidFill>
                <a:latin typeface="Aptos"/>
              </a:defRPr>
            </a:pPr>
            <a:r>
              <a:t>The optimizer updates parameters; training repeats over batches and epochs.</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Activation functions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DEEP LEARNING</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49</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rPr b="1"/>
              <a:t>ReLU — max(0, x); common in hidden layers.</a:t>
            </a:r>
          </a:p>
          <a:p>
            <a:pPr>
              <a:spcAft>
                <a:spcPts val="1200"/>
              </a:spcAft>
              <a:defRPr sz="1900">
                <a:solidFill>
                  <a:srgbClr val="28303C"/>
                </a:solidFill>
                <a:latin typeface="Aptos"/>
              </a:defRPr>
            </a:pPr>
            <a:r>
              <a:rPr b="1"/>
              <a:t>Sigmoid — Maps a scalar to (0, 1); common binary probability output.</a:t>
            </a:r>
          </a:p>
          <a:p>
            <a:pPr>
              <a:spcAft>
                <a:spcPts val="1200"/>
              </a:spcAft>
              <a:defRPr sz="1900">
                <a:solidFill>
                  <a:srgbClr val="28303C"/>
                </a:solidFill>
                <a:latin typeface="Aptos"/>
              </a:defRPr>
            </a:pPr>
            <a:r>
              <a:rPr b="1"/>
              <a:t>Tanh — Maps to (-1, 1).</a:t>
            </a:r>
          </a:p>
          <a:p>
            <a:pPr>
              <a:spcAft>
                <a:spcPts val="1200"/>
              </a:spcAft>
              <a:defRPr sz="1900">
                <a:solidFill>
                  <a:srgbClr val="28303C"/>
                </a:solidFill>
                <a:latin typeface="Aptos"/>
              </a:defRPr>
            </a:pPr>
            <a:r>
              <a:rPr b="1"/>
              <a:t>Softmax — Converts class scores to a probability distribution.</a:t>
            </a:r>
          </a:p>
          <a:p>
            <a:pPr>
              <a:spcAft>
                <a:spcPts val="1200"/>
              </a:spcAft>
              <a:defRPr sz="1900">
                <a:solidFill>
                  <a:srgbClr val="28303C"/>
                </a:solidFill>
                <a:latin typeface="Aptos"/>
              </a:defRPr>
            </a:pPr>
            <a:r>
              <a:t>Activation choice depends on the architecture and task.</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Loss functions and optimizers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DEEP LEARNING</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50</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rPr b="1"/>
              <a:t>MSE — Common for regression.</a:t>
            </a:r>
          </a:p>
          <a:p>
            <a:pPr>
              <a:spcAft>
                <a:spcPts val="1200"/>
              </a:spcAft>
              <a:defRPr sz="1900">
                <a:solidFill>
                  <a:srgbClr val="28303C"/>
                </a:solidFill>
                <a:latin typeface="Aptos"/>
              </a:defRPr>
            </a:pPr>
            <a:r>
              <a:rPr b="1"/>
              <a:t>Binary / categorical cross-entropy — Common for classification.</a:t>
            </a:r>
          </a:p>
          <a:p>
            <a:pPr>
              <a:spcAft>
                <a:spcPts val="1200"/>
              </a:spcAft>
              <a:defRPr sz="1900">
                <a:solidFill>
                  <a:srgbClr val="28303C"/>
                </a:solidFill>
                <a:latin typeface="Aptos"/>
              </a:defRPr>
            </a:pPr>
            <a:r>
              <a:rPr b="1"/>
              <a:t>SGD — Simple gradient-based optimizer; momentum can smooth updates.</a:t>
            </a:r>
          </a:p>
          <a:p>
            <a:pPr>
              <a:spcAft>
                <a:spcPts val="1200"/>
              </a:spcAft>
              <a:defRPr sz="1900">
                <a:solidFill>
                  <a:srgbClr val="28303C"/>
                </a:solidFill>
                <a:latin typeface="Aptos"/>
              </a:defRPr>
            </a:pPr>
            <a:r>
              <a:rPr b="1"/>
              <a:t>Adam — Adaptive per-parameter learning rates and momentum estimates.</a:t>
            </a:r>
          </a:p>
          <a:p>
            <a:pPr>
              <a:spcAft>
                <a:spcPts val="1200"/>
              </a:spcAft>
              <a:defRPr sz="1900">
                <a:solidFill>
                  <a:srgbClr val="28303C"/>
                </a:solidFill>
                <a:latin typeface="Aptos"/>
              </a:defRPr>
            </a:pPr>
            <a:r>
              <a:t>Learning rate is a key hyperparameter; monitor both training and validation loss.</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Training loop concepts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DEEP LEARNING</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51</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rPr b="1"/>
              <a:t>Epoch — One pass through the training dataset.</a:t>
            </a:r>
          </a:p>
          <a:p>
            <a:pPr>
              <a:spcAft>
                <a:spcPts val="1200"/>
              </a:spcAft>
              <a:defRPr sz="1900">
                <a:solidFill>
                  <a:srgbClr val="28303C"/>
                </a:solidFill>
                <a:latin typeface="Aptos"/>
              </a:defRPr>
            </a:pPr>
            <a:r>
              <a:rPr b="1"/>
              <a:t>Batch size — Examples processed before an update.</a:t>
            </a:r>
          </a:p>
          <a:p>
            <a:pPr>
              <a:spcAft>
                <a:spcPts val="1200"/>
              </a:spcAft>
              <a:defRPr sz="1900">
                <a:solidFill>
                  <a:srgbClr val="28303C"/>
                </a:solidFill>
                <a:latin typeface="Aptos"/>
              </a:defRPr>
            </a:pPr>
            <a:r>
              <a:rPr b="1"/>
              <a:t>Learning rate — Step size used by the optimizer.</a:t>
            </a:r>
          </a:p>
          <a:p>
            <a:pPr>
              <a:spcAft>
                <a:spcPts val="1200"/>
              </a:spcAft>
              <a:defRPr sz="1900">
                <a:solidFill>
                  <a:srgbClr val="28303C"/>
                </a:solidFill>
                <a:latin typeface="Aptos"/>
              </a:defRPr>
            </a:pPr>
            <a:r>
              <a:rPr b="1"/>
              <a:t>Early stopping — Stop when validation performance ceases to improve.</a:t>
            </a:r>
          </a:p>
          <a:p>
            <a:pPr>
              <a:spcAft>
                <a:spcPts val="1200"/>
              </a:spcAft>
              <a:defRPr sz="1900">
                <a:solidFill>
                  <a:srgbClr val="28303C"/>
                </a:solidFill>
                <a:latin typeface="Aptos"/>
              </a:defRPr>
            </a:pPr>
            <a:r>
              <a:rPr b="1"/>
              <a:t>Checkpointing — Save model weights and training state for recovery or selection.</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080916"/>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Machine learning includes regression for numeric predictions, classification for categories, clustering for unlabeled groups, and dimensionality reduction for compact features. Choose based on the task and validate with suitable metrics.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Convolutional neural networks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DEEP LEARNING</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52</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685800" y="2286000"/>
            <a:ext cx="1991563"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Image</a:t>
            </a:r>
          </a:p>
        </p:txBody>
      </p:sp>
      <p:cxnSp>
        <p:nvCxnSpPr>
          <p:cNvPr id="8" name="Connector 7"/>
          <p:cNvCxnSpPr/>
          <p:nvPr/>
        </p:nvCxnSpPr>
        <p:spPr>
          <a:xfrm>
            <a:off x="2695651"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96819" y="2286000"/>
            <a:ext cx="1991563" cy="1097280"/>
          </a:xfrm>
          <a:prstGeom prst="roundRect">
            <a:avLst/>
          </a:prstGeom>
          <a:solidFill>
            <a:srgbClr val="DCF5F1"/>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Convolution</a:t>
            </a:r>
          </a:p>
        </p:txBody>
      </p:sp>
      <p:cxnSp>
        <p:nvCxnSpPr>
          <p:cNvPr id="10" name="Connector 9"/>
          <p:cNvCxnSpPr/>
          <p:nvPr/>
        </p:nvCxnSpPr>
        <p:spPr>
          <a:xfrm>
            <a:off x="4906670"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107838" y="2286000"/>
            <a:ext cx="1991563" cy="1097280"/>
          </a:xfrm>
          <a:prstGeom prst="roundRect">
            <a:avLst/>
          </a:prstGeom>
          <a:solidFill>
            <a:srgbClr val="FFF4DA"/>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Activation &amp; pooling</a:t>
            </a:r>
          </a:p>
        </p:txBody>
      </p:sp>
      <p:cxnSp>
        <p:nvCxnSpPr>
          <p:cNvPr id="12" name="Connector 11"/>
          <p:cNvCxnSpPr/>
          <p:nvPr/>
        </p:nvCxnSpPr>
        <p:spPr>
          <a:xfrm>
            <a:off x="7117689"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18857" y="2286000"/>
            <a:ext cx="1991563"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Feature maps</a:t>
            </a:r>
          </a:p>
        </p:txBody>
      </p:sp>
      <p:cxnSp>
        <p:nvCxnSpPr>
          <p:cNvPr id="14" name="Connector 13"/>
          <p:cNvCxnSpPr/>
          <p:nvPr/>
        </p:nvCxnSpPr>
        <p:spPr>
          <a:xfrm>
            <a:off x="9328708"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529876" y="2286000"/>
            <a:ext cx="1991563" cy="1097280"/>
          </a:xfrm>
          <a:prstGeom prst="roundRect">
            <a:avLst/>
          </a:prstGeom>
          <a:solidFill>
            <a:srgbClr val="DCF5F1"/>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Classifier</a:t>
            </a:r>
          </a:p>
        </p:txBody>
      </p:sp>
      <p:sp>
        <p:nvSpPr>
          <p:cNvPr id="16" name="TextBox 15"/>
          <p:cNvSpPr txBox="1"/>
          <p:nvPr/>
        </p:nvSpPr>
        <p:spPr>
          <a:xfrm>
            <a:off x="868680" y="3886200"/>
            <a:ext cx="10424160" cy="1097280"/>
          </a:xfrm>
          <a:prstGeom prst="rect">
            <a:avLst/>
          </a:prstGeom>
          <a:noFill/>
        </p:spPr>
        <p:txBody>
          <a:bodyPr wrap="square" lIns="73152" tIns="73152" rIns="73152" bIns="73152">
            <a:spAutoFit/>
          </a:bodyPr>
          <a:lstStyle/>
          <a:p>
            <a:pPr algn="ctr">
              <a:defRPr sz="1700" b="0">
                <a:solidFill>
                  <a:srgbClr val="5F6C7D"/>
                </a:solidFill>
                <a:latin typeface="Aptos"/>
              </a:defRPr>
            </a:pPr>
            <a:r>
              <a:t>CNNs use local filters and shared weights to learn spatial features from images.</a:t>
            </a:r>
          </a:p>
        </p:txBody>
      </p:sp>
      <p:sp>
        <p:nvSpPr>
          <p:cNvPr id="17" name="Rounded Rectangle 16"/>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9" name="Rounded Rectangle 18"/>
          <p:cNvSpPr/>
          <p:nvPr/>
        </p:nvSpPr>
        <p:spPr>
          <a:xfrm>
            <a:off x="384048" y="5267730"/>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Linear regression learns feature weights to predict a number, such as a house price. Check residuals and test on unseen data to see whether a linear relationship is suitable.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CNN: practical considerations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DEEP LEARNING</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53</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Normalize image values and apply consistent resizing and channel ordering.</a:t>
            </a:r>
          </a:p>
          <a:p>
            <a:pPr>
              <a:spcAft>
                <a:spcPts val="1200"/>
              </a:spcAft>
              <a:defRPr sz="1900">
                <a:solidFill>
                  <a:srgbClr val="28303C"/>
                </a:solidFill>
                <a:latin typeface="Aptos"/>
              </a:defRPr>
            </a:pPr>
            <a:r>
              <a:t>Use augmentation to improve robustness when transformations preserve labels.</a:t>
            </a:r>
          </a:p>
          <a:p>
            <a:pPr>
              <a:spcAft>
                <a:spcPts val="1200"/>
              </a:spcAft>
              <a:defRPr sz="1900">
                <a:solidFill>
                  <a:srgbClr val="28303C"/>
                </a:solidFill>
                <a:latin typeface="Aptos"/>
              </a:defRPr>
            </a:pPr>
            <a:r>
              <a:t>Transfer learning can reuse pretrained visual features when data is limited.</a:t>
            </a:r>
          </a:p>
          <a:p>
            <a:pPr>
              <a:spcAft>
                <a:spcPts val="1200"/>
              </a:spcAft>
              <a:defRPr sz="1900">
                <a:solidFill>
                  <a:srgbClr val="28303C"/>
                </a:solidFill>
                <a:latin typeface="Aptos"/>
              </a:defRPr>
            </a:pPr>
            <a:r>
              <a:t>Track class-wise performance and inspect false predictions, not only aggregate accuracy.</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267730"/>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Logistic regression estimates class probabilities. A threshold turns probability into a label; choose the threshold based on the relative cost of false positives and false negatives.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Sequence models and embeddings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DEEP LEARNING</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54</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Sequences have order: tokens, sensor readings, events or time steps.</a:t>
            </a:r>
          </a:p>
          <a:p>
            <a:pPr>
              <a:spcAft>
                <a:spcPts val="1200"/>
              </a:spcAft>
              <a:defRPr sz="1900">
                <a:solidFill>
                  <a:srgbClr val="28303C"/>
                </a:solidFill>
                <a:latin typeface="Aptos"/>
              </a:defRPr>
            </a:pPr>
            <a:r>
              <a:t>Embeddings map discrete tokens or categories to dense vectors.</a:t>
            </a:r>
          </a:p>
          <a:p>
            <a:pPr>
              <a:spcAft>
                <a:spcPts val="1200"/>
              </a:spcAft>
              <a:defRPr sz="1900">
                <a:solidFill>
                  <a:srgbClr val="28303C"/>
                </a:solidFill>
                <a:latin typeface="Aptos"/>
              </a:defRPr>
            </a:pPr>
            <a:r>
              <a:t>RNNs process sequential state; LSTMs and GRUs help preserve longer-range information.</a:t>
            </a:r>
          </a:p>
          <a:p>
            <a:pPr>
              <a:spcAft>
                <a:spcPts val="1200"/>
              </a:spcAft>
              <a:defRPr sz="1900">
                <a:solidFill>
                  <a:srgbClr val="28303C"/>
                </a:solidFill>
                <a:latin typeface="Aptos"/>
              </a:defRPr>
            </a:pPr>
            <a:r>
              <a:t>Transformers use attention to model relationships across tokens.</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208736"/>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Decision trees split data using feature-based rules. Random forests combine many trees to improve stability. Limit tree depth and evaluate on unseen data to reduce overfitting.</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NLP pipeline</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NLP</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55</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685800" y="2286000"/>
            <a:ext cx="1623060"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Raw text</a:t>
            </a:r>
          </a:p>
        </p:txBody>
      </p:sp>
      <p:cxnSp>
        <p:nvCxnSpPr>
          <p:cNvPr id="8" name="Connector 7"/>
          <p:cNvCxnSpPr/>
          <p:nvPr/>
        </p:nvCxnSpPr>
        <p:spPr>
          <a:xfrm>
            <a:off x="2327148"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528316" y="2286000"/>
            <a:ext cx="1623060" cy="1097280"/>
          </a:xfrm>
          <a:prstGeom prst="roundRect">
            <a:avLst/>
          </a:prstGeom>
          <a:solidFill>
            <a:srgbClr val="DCF5F1"/>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Clean &amp; normalize</a:t>
            </a:r>
          </a:p>
        </p:txBody>
      </p:sp>
      <p:cxnSp>
        <p:nvCxnSpPr>
          <p:cNvPr id="10" name="Connector 9"/>
          <p:cNvCxnSpPr/>
          <p:nvPr/>
        </p:nvCxnSpPr>
        <p:spPr>
          <a:xfrm>
            <a:off x="4169663" y="2834640"/>
            <a:ext cx="182881"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370832" y="2286000"/>
            <a:ext cx="1623060" cy="1097280"/>
          </a:xfrm>
          <a:prstGeom prst="roundRect">
            <a:avLst/>
          </a:prstGeom>
          <a:solidFill>
            <a:srgbClr val="FFF4DA"/>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Tokenize</a:t>
            </a:r>
          </a:p>
        </p:txBody>
      </p:sp>
      <p:cxnSp>
        <p:nvCxnSpPr>
          <p:cNvPr id="12" name="Connector 11"/>
          <p:cNvCxnSpPr/>
          <p:nvPr/>
        </p:nvCxnSpPr>
        <p:spPr>
          <a:xfrm>
            <a:off x="6012180"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213348" y="2286000"/>
            <a:ext cx="1623060"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Vectorize / embed</a:t>
            </a:r>
          </a:p>
        </p:txBody>
      </p:sp>
      <p:cxnSp>
        <p:nvCxnSpPr>
          <p:cNvPr id="14" name="Connector 13"/>
          <p:cNvCxnSpPr/>
          <p:nvPr/>
        </p:nvCxnSpPr>
        <p:spPr>
          <a:xfrm>
            <a:off x="7854696"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55864" y="2286000"/>
            <a:ext cx="1623060" cy="1097280"/>
          </a:xfrm>
          <a:prstGeom prst="roundRect">
            <a:avLst/>
          </a:prstGeom>
          <a:solidFill>
            <a:srgbClr val="DCF5F1"/>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Model</a:t>
            </a:r>
          </a:p>
        </p:txBody>
      </p:sp>
      <p:cxnSp>
        <p:nvCxnSpPr>
          <p:cNvPr id="16" name="Connector 15"/>
          <p:cNvCxnSpPr/>
          <p:nvPr/>
        </p:nvCxnSpPr>
        <p:spPr>
          <a:xfrm>
            <a:off x="9697212"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898380" y="2286000"/>
            <a:ext cx="1623060" cy="1097280"/>
          </a:xfrm>
          <a:prstGeom prst="roundRect">
            <a:avLst/>
          </a:prstGeom>
          <a:solidFill>
            <a:srgbClr val="FFF4DA"/>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Evaluate</a:t>
            </a:r>
          </a:p>
        </p:txBody>
      </p:sp>
      <p:sp>
        <p:nvSpPr>
          <p:cNvPr id="18" name="TextBox 17"/>
          <p:cNvSpPr txBox="1"/>
          <p:nvPr/>
        </p:nvSpPr>
        <p:spPr>
          <a:xfrm>
            <a:off x="868680" y="3886200"/>
            <a:ext cx="10424160" cy="1097280"/>
          </a:xfrm>
          <a:prstGeom prst="rect">
            <a:avLst/>
          </a:prstGeom>
          <a:noFill/>
        </p:spPr>
        <p:txBody>
          <a:bodyPr wrap="square" lIns="73152" tIns="73152" rIns="73152" bIns="73152">
            <a:spAutoFit/>
          </a:bodyPr>
          <a:lstStyle/>
          <a:p>
            <a:pPr algn="ctr">
              <a:defRPr sz="1700" b="0">
                <a:solidFill>
                  <a:srgbClr val="5F6C7D"/>
                </a:solidFill>
                <a:latin typeface="Aptos"/>
              </a:defRPr>
            </a:pPr>
            <a:r>
              <a:t>The right preprocessing depends on the task; preserve important signals such as negation and domain-specific terms.</a:t>
            </a:r>
          </a:p>
        </p:txBody>
      </p:sp>
      <p:sp>
        <p:nvSpPr>
          <p:cNvPr id="19" name="Rounded Rectangle 18"/>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21" name="Rounded Rectangle 20"/>
          <p:cNvSpPr/>
          <p:nvPr/>
        </p:nvSpPr>
        <p:spPr>
          <a:xfrm>
            <a:off x="384048" y="5267730"/>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KNN predicts using nearby training examples. Feature scaling matters because distance drives the result; small K is sensitive to noise, while large K can blur local patterns.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Text cleaning and tokenization</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NLP</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56</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Normalize casing and whitespace when appropriate.</a:t>
            </a:r>
          </a:p>
          <a:p>
            <a:pPr>
              <a:spcAft>
                <a:spcPts val="1200"/>
              </a:spcAft>
              <a:defRPr sz="1900">
                <a:solidFill>
                  <a:srgbClr val="28303C"/>
                </a:solidFill>
                <a:latin typeface="Aptos"/>
              </a:defRPr>
            </a:pPr>
            <a:r>
              <a:t>Handle punctuation, URLs, emojis, language variants and domain-specific terms deliberately.</a:t>
            </a:r>
          </a:p>
          <a:p>
            <a:pPr>
              <a:spcAft>
                <a:spcPts val="1200"/>
              </a:spcAft>
              <a:defRPr sz="1900">
                <a:solidFill>
                  <a:srgbClr val="28303C"/>
                </a:solidFill>
                <a:latin typeface="Aptos"/>
              </a:defRPr>
            </a:pPr>
            <a:r>
              <a:t>Tokenization can be word-, subword- or character-based.</a:t>
            </a:r>
          </a:p>
          <a:p>
            <a:pPr>
              <a:spcAft>
                <a:spcPts val="1200"/>
              </a:spcAft>
              <a:defRPr sz="1900">
                <a:solidFill>
                  <a:srgbClr val="28303C"/>
                </a:solidFill>
                <a:latin typeface="Aptos"/>
              </a:defRPr>
            </a:pPr>
            <a:r>
              <a:t>Avoid removing words such as “not” when they change meaning.</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326724"/>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SVM finds a boundary with a wide margin between classes. Scaling and kernel choice affect results, so compare settings using validation or cross-validation.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Stemming, lemmatization and stop words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NLP</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57</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rPr b="1"/>
              <a:t>Stemming — Heuristic chopping that may produce non-words.</a:t>
            </a:r>
          </a:p>
          <a:p>
            <a:pPr>
              <a:spcAft>
                <a:spcPts val="1200"/>
              </a:spcAft>
              <a:defRPr sz="1900">
                <a:solidFill>
                  <a:srgbClr val="28303C"/>
                </a:solidFill>
                <a:latin typeface="Aptos"/>
              </a:defRPr>
            </a:pPr>
            <a:r>
              <a:rPr b="1"/>
              <a:t>Lemmatization — Maps words to dictionary forms using linguistic analysis.</a:t>
            </a:r>
          </a:p>
          <a:p>
            <a:pPr>
              <a:spcAft>
                <a:spcPts val="1200"/>
              </a:spcAft>
              <a:defRPr sz="1900">
                <a:solidFill>
                  <a:srgbClr val="28303C"/>
                </a:solidFill>
                <a:latin typeface="Aptos"/>
              </a:defRPr>
            </a:pPr>
            <a:r>
              <a:rPr b="1"/>
              <a:t>Stop-word removal — Can reduce noise, but may remove meaningful terms.</a:t>
            </a:r>
          </a:p>
          <a:p>
            <a:pPr>
              <a:spcAft>
                <a:spcPts val="1200"/>
              </a:spcAft>
              <a:defRPr sz="1900">
                <a:solidFill>
                  <a:srgbClr val="28303C"/>
                </a:solidFill>
                <a:latin typeface="Aptos"/>
              </a:defRPr>
            </a:pPr>
            <a:r>
              <a:t>Always test preprocessing against the actual task and language.</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267730"/>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Naive Bayes uses Bayes' theorem with a simplifying conditional-independence assumption. It is fast and often useful for text classification; evaluate with precision and recall.</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Bag of words and TF-IDF</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NLP</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58</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Bag of words represents documents by token counts and ignores word order.</a:t>
            </a:r>
          </a:p>
          <a:p>
            <a:pPr>
              <a:spcAft>
                <a:spcPts val="1200"/>
              </a:spcAft>
              <a:defRPr sz="1900">
                <a:solidFill>
                  <a:srgbClr val="28303C"/>
                </a:solidFill>
                <a:latin typeface="Aptos"/>
              </a:defRPr>
            </a:pPr>
            <a:r>
              <a:t>TF-IDF downweights terms common across many documents.</a:t>
            </a:r>
          </a:p>
          <a:p>
            <a:pPr>
              <a:spcAft>
                <a:spcPts val="1200"/>
              </a:spcAft>
              <a:defRPr sz="1900">
                <a:solidFill>
                  <a:srgbClr val="28303C"/>
                </a:solidFill>
                <a:latin typeface="Aptos"/>
              </a:defRPr>
            </a:pPr>
            <a:r>
              <a:t>Sparse vector representations work well with linear models and Naive Bayes.</a:t>
            </a:r>
          </a:p>
          <a:p>
            <a:pPr>
              <a:spcAft>
                <a:spcPts val="1200"/>
              </a:spcAft>
              <a:defRPr sz="1900">
                <a:solidFill>
                  <a:srgbClr val="28303C"/>
                </a:solidFill>
                <a:latin typeface="Aptos"/>
              </a:defRPr>
            </a:pPr>
            <a:r>
              <a:t>Fit vectorizers on training text only to avoid leakage.</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208736"/>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DBSCAN groups dense regions and marks sparse points as noise. Tune neighborhood radius and minimum samples carefully because scale strongly affects the clusters.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Word embeddings and semantic similarity</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NLP</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59</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Embeddings map words, tokens or documents into dense vector spaces.</a:t>
            </a:r>
          </a:p>
          <a:p>
            <a:pPr>
              <a:spcAft>
                <a:spcPts val="1200"/>
              </a:spcAft>
              <a:defRPr sz="1900">
                <a:solidFill>
                  <a:srgbClr val="28303C"/>
                </a:solidFill>
                <a:latin typeface="Aptos"/>
              </a:defRPr>
            </a:pPr>
            <a:r>
              <a:t>Similar contexts may produce nearby vectors under a chosen similarity metric.</a:t>
            </a:r>
          </a:p>
          <a:p>
            <a:pPr>
              <a:spcAft>
                <a:spcPts val="1200"/>
              </a:spcAft>
              <a:defRPr sz="1900">
                <a:solidFill>
                  <a:srgbClr val="28303C"/>
                </a:solidFill>
                <a:latin typeface="Aptos"/>
              </a:defRPr>
            </a:pPr>
            <a:r>
              <a:t>Static embeddings assign one vector per word; contextual embeddings vary with context.</a:t>
            </a:r>
          </a:p>
          <a:p>
            <a:pPr>
              <a:spcAft>
                <a:spcPts val="1200"/>
              </a:spcAft>
              <a:defRPr sz="1900">
                <a:solidFill>
                  <a:srgbClr val="28303C"/>
                </a:solidFill>
                <a:latin typeface="Aptos"/>
              </a:defRPr>
            </a:pPr>
            <a:r>
              <a:t>Cosine similarity is often used to compare embedding directions.</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425046"/>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PCA creates new components that preserve as much variance as possible. It can compress features or aid visualization, but components may be less interpretable than original variables.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Transformers and attention</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NLP</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60</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685800" y="2286000"/>
            <a:ext cx="1991563"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Tokens</a:t>
            </a:r>
          </a:p>
        </p:txBody>
      </p:sp>
      <p:cxnSp>
        <p:nvCxnSpPr>
          <p:cNvPr id="8" name="Connector 7"/>
          <p:cNvCxnSpPr/>
          <p:nvPr/>
        </p:nvCxnSpPr>
        <p:spPr>
          <a:xfrm>
            <a:off x="2695651"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96819" y="2286000"/>
            <a:ext cx="1991563" cy="1097280"/>
          </a:xfrm>
          <a:prstGeom prst="roundRect">
            <a:avLst/>
          </a:prstGeom>
          <a:solidFill>
            <a:srgbClr val="DCF5F1"/>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Token + position embeddings</a:t>
            </a:r>
          </a:p>
        </p:txBody>
      </p:sp>
      <p:cxnSp>
        <p:nvCxnSpPr>
          <p:cNvPr id="10" name="Connector 9"/>
          <p:cNvCxnSpPr/>
          <p:nvPr/>
        </p:nvCxnSpPr>
        <p:spPr>
          <a:xfrm>
            <a:off x="4906670"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107838" y="2286000"/>
            <a:ext cx="1991563" cy="1097280"/>
          </a:xfrm>
          <a:prstGeom prst="roundRect">
            <a:avLst/>
          </a:prstGeom>
          <a:solidFill>
            <a:srgbClr val="FFF4DA"/>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Self-attention blocks</a:t>
            </a:r>
          </a:p>
        </p:txBody>
      </p:sp>
      <p:cxnSp>
        <p:nvCxnSpPr>
          <p:cNvPr id="12" name="Connector 11"/>
          <p:cNvCxnSpPr/>
          <p:nvPr/>
        </p:nvCxnSpPr>
        <p:spPr>
          <a:xfrm>
            <a:off x="7117689"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18857" y="2286000"/>
            <a:ext cx="1991563"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Contextual representations</a:t>
            </a:r>
          </a:p>
        </p:txBody>
      </p:sp>
      <p:cxnSp>
        <p:nvCxnSpPr>
          <p:cNvPr id="14" name="Connector 13"/>
          <p:cNvCxnSpPr/>
          <p:nvPr/>
        </p:nvCxnSpPr>
        <p:spPr>
          <a:xfrm>
            <a:off x="9328708"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529876" y="2286000"/>
            <a:ext cx="1991563" cy="1097280"/>
          </a:xfrm>
          <a:prstGeom prst="roundRect">
            <a:avLst/>
          </a:prstGeom>
          <a:solidFill>
            <a:srgbClr val="DCF5F1"/>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Task head</a:t>
            </a:r>
          </a:p>
        </p:txBody>
      </p:sp>
      <p:sp>
        <p:nvSpPr>
          <p:cNvPr id="16" name="TextBox 15"/>
          <p:cNvSpPr txBox="1"/>
          <p:nvPr/>
        </p:nvSpPr>
        <p:spPr>
          <a:xfrm>
            <a:off x="868680" y="3886200"/>
            <a:ext cx="10424160" cy="1097280"/>
          </a:xfrm>
          <a:prstGeom prst="rect">
            <a:avLst/>
          </a:prstGeom>
          <a:noFill/>
        </p:spPr>
        <p:txBody>
          <a:bodyPr wrap="square" lIns="73152" tIns="73152" rIns="73152" bIns="73152">
            <a:spAutoFit/>
          </a:bodyPr>
          <a:lstStyle/>
          <a:p>
            <a:pPr algn="ctr">
              <a:defRPr sz="1700" b="0">
                <a:solidFill>
                  <a:srgbClr val="5F6C7D"/>
                </a:solidFill>
                <a:latin typeface="Aptos"/>
              </a:defRPr>
            </a:pPr>
            <a:r>
              <a:t>Self-attention lets each token combine information from other tokens; position information helps represent order.</a:t>
            </a:r>
          </a:p>
        </p:txBody>
      </p:sp>
      <p:sp>
        <p:nvSpPr>
          <p:cNvPr id="17" name="Rounded Rectangle 16"/>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9" name="Rounded Rectangle 18"/>
          <p:cNvSpPr/>
          <p:nvPr/>
        </p:nvSpPr>
        <p:spPr>
          <a:xfrm>
            <a:off x="384048" y="5326724"/>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Gradient descent updates parameters in the direction that reduces loss. A learning rate that is too high may overshoot; one that is too low makes training slow.</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NLP tasks and evaluation</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NLP</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61</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rPr b="1"/>
              <a:t>Classification — Sentiment, topic, intent and spam detection.</a:t>
            </a:r>
          </a:p>
          <a:p>
            <a:pPr>
              <a:spcAft>
                <a:spcPts val="1200"/>
              </a:spcAft>
              <a:defRPr sz="1900">
                <a:solidFill>
                  <a:srgbClr val="28303C"/>
                </a:solidFill>
                <a:latin typeface="Aptos"/>
              </a:defRPr>
            </a:pPr>
            <a:r>
              <a:rPr b="1"/>
              <a:t>Sequence labeling — Named-entity recognition and token tagging.</a:t>
            </a:r>
          </a:p>
          <a:p>
            <a:pPr>
              <a:spcAft>
                <a:spcPts val="1200"/>
              </a:spcAft>
              <a:defRPr sz="1900">
                <a:solidFill>
                  <a:srgbClr val="28303C"/>
                </a:solidFill>
                <a:latin typeface="Aptos"/>
              </a:defRPr>
            </a:pPr>
            <a:r>
              <a:rPr b="1"/>
              <a:t>Generation — Summarization, translation and assistant responses.</a:t>
            </a:r>
          </a:p>
          <a:p>
            <a:pPr>
              <a:spcAft>
                <a:spcPts val="1200"/>
              </a:spcAft>
              <a:defRPr sz="1900">
                <a:solidFill>
                  <a:srgbClr val="28303C"/>
                </a:solidFill>
                <a:latin typeface="Aptos"/>
              </a:defRPr>
            </a:pPr>
            <a:r>
              <a:rPr b="1"/>
              <a:t>Metrics — Accuracy/F1 for classification; task-specific overlap or human evaluation for generation.</a:t>
            </a:r>
          </a:p>
          <a:p>
            <a:pPr>
              <a:spcAft>
                <a:spcPts val="1200"/>
              </a:spcAft>
              <a:defRPr sz="1900">
                <a:solidFill>
                  <a:srgbClr val="28303C"/>
                </a:solidFill>
                <a:latin typeface="Aptos"/>
              </a:defRPr>
            </a:pPr>
            <a:r>
              <a:t>Evaluate failure cases, bias, privacy and robustness in addition to scores.</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208736"/>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Backpropagation uses the chain rule to calculate gradients through network layers. The optimizer uses those gradients to update weights.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Text classification mini-project</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NLP</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62</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777240" y="1508760"/>
            <a:ext cx="10607040" cy="4480560"/>
          </a:xfrm>
          <a:prstGeom prst="roundRect">
            <a:avLst/>
          </a:prstGeom>
          <a:solidFill>
            <a:srgbClr val="1B2536"/>
          </a:solidFill>
          <a:ln>
            <a:solidFill>
              <a:srgbClr val="1B2536"/>
            </a:solidFill>
          </a:ln>
        </p:spPr>
        <p:style>
          <a:lnRef idx="1">
            <a:schemeClr val="accent1"/>
          </a:lnRef>
          <a:fillRef idx="3">
            <a:schemeClr val="accent1"/>
          </a:fillRef>
          <a:effectRef idx="2">
            <a:schemeClr val="accent1"/>
          </a:effectRef>
          <a:fontRef idx="minor">
            <a:schemeClr val="lt1"/>
          </a:fontRef>
        </p:style>
        <p:txBody>
          <a:bodyPr wrap="square" lIns="201168" tIns="146304" rIns="164592" bIns="109728" rtlCol="0" anchor="ctr"/>
          <a:lstStyle/>
          <a:p>
            <a:pPr algn="ctr">
              <a:defRPr sz="1600">
                <a:solidFill>
                  <a:srgbClr val="E6EEF8"/>
                </a:solidFill>
                <a:latin typeface="Consolas"/>
              </a:defRPr>
            </a:pPr>
            <a:r>
              <a:t>from sklearn.pipeline import make_pipeline</a:t>
            </a:r>
            <a:br/>
            <a:r>
              <a:t>from sklearn.feature_extraction.text import TfidfVectorizer</a:t>
            </a:r>
            <a:br/>
            <a:r>
              <a:t>from sklearn.linear_model import LogisticRegression</a:t>
            </a:r>
            <a:br/>
            <a:br/>
            <a:r>
              <a:t>model = make_pipeline(</a:t>
            </a:r>
            <a:br/>
            <a:r>
              <a:t>    TfidfVectorizer(ngram_range=(1, 2), min_df=2),</a:t>
            </a:r>
            <a:br/>
            <a:r>
              <a:t>    LogisticRegression(max_iter=1000)</a:t>
            </a:r>
            <a:br/>
            <a:r>
              <a:t>)</a:t>
            </a:r>
            <a:br/>
            <a:r>
              <a:t>model.fit(train_texts, train_labels)</a:t>
            </a:r>
            <a:br/>
            <a:r>
              <a:t>predictions = model.predict(test_texts)</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865832" y="5444710"/>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CNN filters learn local image patterns. Early layers often detect edges and textures, while deeper layers combine them into features useful for classification.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NLP project checklist</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NLP</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63</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Define labels and split data before fitting any text transformations.</a:t>
            </a:r>
          </a:p>
          <a:p>
            <a:pPr>
              <a:spcAft>
                <a:spcPts val="1200"/>
              </a:spcAft>
              <a:defRPr sz="1900">
                <a:solidFill>
                  <a:srgbClr val="28303C"/>
                </a:solidFill>
                <a:latin typeface="Aptos"/>
              </a:defRPr>
            </a:pPr>
            <a:r>
              <a:t>Build a simple baseline before using a large pretrained model.</a:t>
            </a:r>
          </a:p>
          <a:p>
            <a:pPr>
              <a:spcAft>
                <a:spcPts val="1200"/>
              </a:spcAft>
              <a:defRPr sz="1900">
                <a:solidFill>
                  <a:srgbClr val="28303C"/>
                </a:solidFill>
                <a:latin typeface="Aptos"/>
              </a:defRPr>
            </a:pPr>
            <a:r>
              <a:t>Review confusion pairs, class imbalance and ambiguous labels.</a:t>
            </a:r>
          </a:p>
          <a:p>
            <a:pPr>
              <a:spcAft>
                <a:spcPts val="1200"/>
              </a:spcAft>
              <a:defRPr sz="1900">
                <a:solidFill>
                  <a:srgbClr val="28303C"/>
                </a:solidFill>
                <a:latin typeface="Aptos"/>
              </a:defRPr>
            </a:pPr>
            <a:r>
              <a:t>Record dataset version, preprocessing, model parameters and metrics.</a:t>
            </a:r>
          </a:p>
          <a:p>
            <a:pPr>
              <a:spcAft>
                <a:spcPts val="1200"/>
              </a:spcAft>
              <a:defRPr sz="1900">
                <a:solidFill>
                  <a:srgbClr val="28303C"/>
                </a:solidFill>
                <a:latin typeface="Aptos"/>
              </a:defRPr>
            </a:pPr>
            <a:r>
              <a:t>Plan inference latency, monitoring, privacy and safe handling of user text.</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444711"/>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RNNs process sequences step by step. LSTMs add gates that help preserve or discard information over longer sequences.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Reinforcement learning loop</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REINFORCEMENT LEARNING</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64</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685800" y="2286000"/>
            <a:ext cx="1991563"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Agent observes state</a:t>
            </a:r>
          </a:p>
        </p:txBody>
      </p:sp>
      <p:cxnSp>
        <p:nvCxnSpPr>
          <p:cNvPr id="8" name="Connector 7"/>
          <p:cNvCxnSpPr/>
          <p:nvPr/>
        </p:nvCxnSpPr>
        <p:spPr>
          <a:xfrm>
            <a:off x="2695651"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96819" y="2286000"/>
            <a:ext cx="1991563" cy="1097280"/>
          </a:xfrm>
          <a:prstGeom prst="roundRect">
            <a:avLst/>
          </a:prstGeom>
          <a:solidFill>
            <a:srgbClr val="DCF5F1"/>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Chooses action</a:t>
            </a:r>
          </a:p>
        </p:txBody>
      </p:sp>
      <p:cxnSp>
        <p:nvCxnSpPr>
          <p:cNvPr id="10" name="Connector 9"/>
          <p:cNvCxnSpPr/>
          <p:nvPr/>
        </p:nvCxnSpPr>
        <p:spPr>
          <a:xfrm>
            <a:off x="4906670"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107838" y="2286000"/>
            <a:ext cx="1991563" cy="1097280"/>
          </a:xfrm>
          <a:prstGeom prst="roundRect">
            <a:avLst/>
          </a:prstGeom>
          <a:solidFill>
            <a:srgbClr val="FFF4DA"/>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Environment responds</a:t>
            </a:r>
          </a:p>
        </p:txBody>
      </p:sp>
      <p:cxnSp>
        <p:nvCxnSpPr>
          <p:cNvPr id="12" name="Connector 11"/>
          <p:cNvCxnSpPr/>
          <p:nvPr/>
        </p:nvCxnSpPr>
        <p:spPr>
          <a:xfrm>
            <a:off x="7117689"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18857" y="2286000"/>
            <a:ext cx="1991563"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Reward + next state</a:t>
            </a:r>
          </a:p>
        </p:txBody>
      </p:sp>
      <p:cxnSp>
        <p:nvCxnSpPr>
          <p:cNvPr id="14" name="Connector 13"/>
          <p:cNvCxnSpPr/>
          <p:nvPr/>
        </p:nvCxnSpPr>
        <p:spPr>
          <a:xfrm>
            <a:off x="9328708"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529876" y="2286000"/>
            <a:ext cx="1991563" cy="1097280"/>
          </a:xfrm>
          <a:prstGeom prst="roundRect">
            <a:avLst/>
          </a:prstGeom>
          <a:solidFill>
            <a:srgbClr val="DCF5F1"/>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Update policy</a:t>
            </a:r>
          </a:p>
        </p:txBody>
      </p:sp>
      <p:sp>
        <p:nvSpPr>
          <p:cNvPr id="16" name="TextBox 15"/>
          <p:cNvSpPr txBox="1"/>
          <p:nvPr/>
        </p:nvSpPr>
        <p:spPr>
          <a:xfrm>
            <a:off x="868680" y="3886200"/>
            <a:ext cx="10424160" cy="1097280"/>
          </a:xfrm>
          <a:prstGeom prst="rect">
            <a:avLst/>
          </a:prstGeom>
          <a:noFill/>
        </p:spPr>
        <p:txBody>
          <a:bodyPr wrap="square" lIns="73152" tIns="73152" rIns="73152" bIns="73152">
            <a:spAutoFit/>
          </a:bodyPr>
          <a:lstStyle/>
          <a:p>
            <a:pPr algn="ctr">
              <a:defRPr sz="1700" b="0">
                <a:solidFill>
                  <a:srgbClr val="5F6C7D"/>
                </a:solidFill>
                <a:latin typeface="Aptos"/>
              </a:defRPr>
            </a:pPr>
            <a:r>
              <a:t>The agent aims to maximize cumulative reward; exploration and exploitation must be balanced.</a:t>
            </a:r>
          </a:p>
        </p:txBody>
      </p:sp>
      <p:sp>
        <p:nvSpPr>
          <p:cNvPr id="17" name="Rounded Rectangle 16"/>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9" name="Rounded Rectangle 18"/>
          <p:cNvSpPr/>
          <p:nvPr/>
        </p:nvSpPr>
        <p:spPr>
          <a:xfrm>
            <a:off x="384048" y="5208736"/>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Self-attention lets each token combine information from other tokens. Query, key, and value vectors determine which context is most useful.</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RL vocabulary and use cases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REINFORCEMENT LEARNING</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65</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rPr b="1"/>
              <a:t>State — Information available to the agent.</a:t>
            </a:r>
          </a:p>
          <a:p>
            <a:pPr>
              <a:spcAft>
                <a:spcPts val="1200"/>
              </a:spcAft>
              <a:defRPr sz="1900">
                <a:solidFill>
                  <a:srgbClr val="28303C"/>
                </a:solidFill>
                <a:latin typeface="Aptos"/>
              </a:defRPr>
            </a:pPr>
            <a:r>
              <a:rPr b="1"/>
              <a:t>Action — Choice made by the agent.</a:t>
            </a:r>
          </a:p>
          <a:p>
            <a:pPr>
              <a:spcAft>
                <a:spcPts val="1200"/>
              </a:spcAft>
              <a:defRPr sz="1900">
                <a:solidFill>
                  <a:srgbClr val="28303C"/>
                </a:solidFill>
                <a:latin typeface="Aptos"/>
              </a:defRPr>
            </a:pPr>
            <a:r>
              <a:rPr b="1"/>
              <a:t>Reward — Feedback signal for the outcome.</a:t>
            </a:r>
          </a:p>
          <a:p>
            <a:pPr>
              <a:spcAft>
                <a:spcPts val="1200"/>
              </a:spcAft>
              <a:defRPr sz="1900">
                <a:solidFill>
                  <a:srgbClr val="28303C"/>
                </a:solidFill>
                <a:latin typeface="Aptos"/>
              </a:defRPr>
            </a:pPr>
            <a:r>
              <a:rPr b="1"/>
              <a:t>Policy — Mapping from states to actions.</a:t>
            </a:r>
          </a:p>
          <a:p>
            <a:pPr>
              <a:spcAft>
                <a:spcPts val="1200"/>
              </a:spcAft>
              <a:defRPr sz="1900">
                <a:solidFill>
                  <a:srgbClr val="28303C"/>
                </a:solidFill>
                <a:latin typeface="Aptos"/>
              </a:defRPr>
            </a:pPr>
            <a:r>
              <a:t>Examples include robotics, resource allocation, game-playing and control; real-world use requires safe constraints.</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326724"/>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dirty="0">
                <a:solidFill>
                  <a:srgbClr val="1F3755"/>
                </a:solidFill>
              </a:rPr>
              <a:t>Explanation: </a:t>
            </a:r>
            <a:r>
              <a:rPr sz="900" dirty="0">
                <a:solidFill>
                  <a:srgbClr val="2D343C"/>
                </a:solidFill>
              </a:rPr>
              <a:t>Embeddings map items to vectors. Similarity can find semantically related text, but similarity alone does not prove that a result is correct.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From notebook to production</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DEPLOYMENT</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66</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685800" y="2286000"/>
            <a:ext cx="1991563"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Explore in notebook</a:t>
            </a:r>
          </a:p>
        </p:txBody>
      </p:sp>
      <p:cxnSp>
        <p:nvCxnSpPr>
          <p:cNvPr id="8" name="Connector 7"/>
          <p:cNvCxnSpPr/>
          <p:nvPr/>
        </p:nvCxnSpPr>
        <p:spPr>
          <a:xfrm>
            <a:off x="2695651"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96819" y="2286000"/>
            <a:ext cx="1991563" cy="1097280"/>
          </a:xfrm>
          <a:prstGeom prst="roundRect">
            <a:avLst/>
          </a:prstGeom>
          <a:solidFill>
            <a:srgbClr val="DCF5F1"/>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Refactor code</a:t>
            </a:r>
          </a:p>
        </p:txBody>
      </p:sp>
      <p:cxnSp>
        <p:nvCxnSpPr>
          <p:cNvPr id="10" name="Connector 9"/>
          <p:cNvCxnSpPr/>
          <p:nvPr/>
        </p:nvCxnSpPr>
        <p:spPr>
          <a:xfrm>
            <a:off x="4906670"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107838" y="2286000"/>
            <a:ext cx="1991563" cy="1097280"/>
          </a:xfrm>
          <a:prstGeom prst="roundRect">
            <a:avLst/>
          </a:prstGeom>
          <a:solidFill>
            <a:srgbClr val="FFF4DA"/>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Test &amp; package</a:t>
            </a:r>
          </a:p>
        </p:txBody>
      </p:sp>
      <p:cxnSp>
        <p:nvCxnSpPr>
          <p:cNvPr id="12" name="Connector 11"/>
          <p:cNvCxnSpPr/>
          <p:nvPr/>
        </p:nvCxnSpPr>
        <p:spPr>
          <a:xfrm>
            <a:off x="7117689"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18857" y="2286000"/>
            <a:ext cx="1991563"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Serve model</a:t>
            </a:r>
          </a:p>
        </p:txBody>
      </p:sp>
      <p:cxnSp>
        <p:nvCxnSpPr>
          <p:cNvPr id="14" name="Connector 13"/>
          <p:cNvCxnSpPr/>
          <p:nvPr/>
        </p:nvCxnSpPr>
        <p:spPr>
          <a:xfrm>
            <a:off x="9328708"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529876" y="2286000"/>
            <a:ext cx="1991563" cy="1097280"/>
          </a:xfrm>
          <a:prstGeom prst="roundRect">
            <a:avLst/>
          </a:prstGeom>
          <a:solidFill>
            <a:srgbClr val="DCF5F1"/>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Monitor</a:t>
            </a:r>
          </a:p>
        </p:txBody>
      </p:sp>
      <p:sp>
        <p:nvSpPr>
          <p:cNvPr id="16" name="TextBox 15"/>
          <p:cNvSpPr txBox="1"/>
          <p:nvPr/>
        </p:nvSpPr>
        <p:spPr>
          <a:xfrm>
            <a:off x="868680" y="3886200"/>
            <a:ext cx="10424160" cy="1097280"/>
          </a:xfrm>
          <a:prstGeom prst="rect">
            <a:avLst/>
          </a:prstGeom>
          <a:noFill/>
        </p:spPr>
        <p:txBody>
          <a:bodyPr wrap="square" lIns="73152" tIns="73152" rIns="73152" bIns="73152">
            <a:spAutoFit/>
          </a:bodyPr>
          <a:lstStyle/>
          <a:p>
            <a:pPr algn="ctr">
              <a:defRPr sz="1700" b="0">
                <a:solidFill>
                  <a:srgbClr val="5F6C7D"/>
                </a:solidFill>
                <a:latin typeface="Aptos"/>
              </a:defRPr>
            </a:pPr>
            <a:r>
              <a:t>Productionization adds reproducibility, validation, observability, security and an operational owner.</a:t>
            </a:r>
          </a:p>
        </p:txBody>
      </p:sp>
      <p:sp>
        <p:nvSpPr>
          <p:cNvPr id="17" name="Rounded Rectangle 16"/>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9" name="Rounded Rectangle 18"/>
          <p:cNvSpPr/>
          <p:nvPr/>
        </p:nvSpPr>
        <p:spPr>
          <a:xfrm>
            <a:off x="384048" y="5326724"/>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RAG retrieves source passages before generating an answer. Evaluate retrieval relevance and verify that the answer's claims are supported by the retrieved evidence.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Model serving patterns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DEPLOYMENT</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67</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rPr b="1"/>
              <a:t>Batch inference — Score many records on a schedule.</a:t>
            </a:r>
          </a:p>
          <a:p>
            <a:pPr>
              <a:spcAft>
                <a:spcPts val="1200"/>
              </a:spcAft>
              <a:defRPr sz="1900">
                <a:solidFill>
                  <a:srgbClr val="28303C"/>
                </a:solidFill>
                <a:latin typeface="Aptos"/>
              </a:defRPr>
            </a:pPr>
            <a:r>
              <a:rPr b="1"/>
              <a:t>Online API — Return a prediction for each request.</a:t>
            </a:r>
          </a:p>
          <a:p>
            <a:pPr>
              <a:spcAft>
                <a:spcPts val="1200"/>
              </a:spcAft>
              <a:defRPr sz="1900">
                <a:solidFill>
                  <a:srgbClr val="28303C"/>
                </a:solidFill>
                <a:latin typeface="Aptos"/>
              </a:defRPr>
            </a:pPr>
            <a:r>
              <a:rPr b="1"/>
              <a:t>Streaming — Score events as they arrive.</a:t>
            </a:r>
          </a:p>
          <a:p>
            <a:pPr>
              <a:spcAft>
                <a:spcPts val="1200"/>
              </a:spcAft>
              <a:defRPr sz="1900">
                <a:solidFill>
                  <a:srgbClr val="28303C"/>
                </a:solidFill>
                <a:latin typeface="Aptos"/>
              </a:defRPr>
            </a:pPr>
            <a:r>
              <a:rPr b="1"/>
              <a:t>Edge deployment — Run near the data source under compute constraints.</a:t>
            </a:r>
          </a:p>
          <a:p>
            <a:pPr>
              <a:spcAft>
                <a:spcPts val="1200"/>
              </a:spcAft>
              <a:defRPr sz="1900">
                <a:solidFill>
                  <a:srgbClr val="28303C"/>
                </a:solidFill>
                <a:latin typeface="Aptos"/>
              </a:defRPr>
            </a:pPr>
            <a:r>
              <a:t>Choose based on latency, throughput, freshness, cost and failure tolerance.</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326724"/>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An agent cycles through planning, tool use, observing results, and choosing the next step. Limit permissions and iterations, and require approval for consequential actions.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A minimal prediction API concept</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DEPLOYMENT</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68</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777240" y="1508760"/>
            <a:ext cx="10607040" cy="4480560"/>
          </a:xfrm>
          <a:prstGeom prst="roundRect">
            <a:avLst/>
          </a:prstGeom>
          <a:solidFill>
            <a:srgbClr val="1B2536"/>
          </a:solidFill>
          <a:ln>
            <a:solidFill>
              <a:srgbClr val="1B2536"/>
            </a:solidFill>
          </a:ln>
        </p:spPr>
        <p:style>
          <a:lnRef idx="1">
            <a:schemeClr val="accent1"/>
          </a:lnRef>
          <a:fillRef idx="3">
            <a:schemeClr val="accent1"/>
          </a:fillRef>
          <a:effectRef idx="2">
            <a:schemeClr val="accent1"/>
          </a:effectRef>
          <a:fontRef idx="minor">
            <a:schemeClr val="lt1"/>
          </a:fontRef>
        </p:style>
        <p:txBody>
          <a:bodyPr wrap="square" lIns="201168" tIns="146304" rIns="164592" bIns="109728" rtlCol="0" anchor="ctr"/>
          <a:lstStyle/>
          <a:p>
            <a:pPr algn="ctr">
              <a:defRPr sz="1600">
                <a:solidFill>
                  <a:srgbClr val="E6EEF8"/>
                </a:solidFill>
                <a:latin typeface="Consolas"/>
              </a:defRPr>
            </a:pPr>
            <a:r>
              <a:t># Conceptual FastAPI-style endpoint</a:t>
            </a:r>
            <a:br/>
            <a:r>
              <a:t>from fastapi import FastAPI</a:t>
            </a:r>
            <a:br/>
            <a:r>
              <a:t>from pydantic import BaseModel</a:t>
            </a:r>
            <a:br/>
            <a:br/>
            <a:r>
              <a:t>app = FastAPI()</a:t>
            </a:r>
            <a:br/>
            <a:br/>
            <a:r>
              <a:t>class Request(BaseModel):</a:t>
            </a:r>
            <a:br/>
            <a:r>
              <a:t>    age: float</a:t>
            </a:r>
            <a:br/>
            <a:r>
              <a:t>    monthly_spend: float</a:t>
            </a:r>
            <a:br/>
            <a:br/>
            <a:r>
              <a:t>@app.post("/predict")</a:t>
            </a:r>
            <a:br/>
            <a:r>
              <a:t>def predict(req: Request):</a:t>
            </a:r>
            <a:br/>
            <a:r>
              <a:t>    features = [[req.age, req.monthly_spend]]</a:t>
            </a:r>
            <a:br/>
            <a:r>
              <a:t>    prediction = model.predict(features)[0]</a:t>
            </a:r>
            <a:br/>
            <a:r>
              <a:t>    return {"prediction": float(prediction)}</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Testing an ML system</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DEPLOYMENT</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69</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rPr b="1"/>
              <a:t>Unit tests — Validate transformations, feature calculations and utility functions.</a:t>
            </a:r>
          </a:p>
          <a:p>
            <a:pPr>
              <a:spcAft>
                <a:spcPts val="1200"/>
              </a:spcAft>
              <a:defRPr sz="1900">
                <a:solidFill>
                  <a:srgbClr val="28303C"/>
                </a:solidFill>
                <a:latin typeface="Aptos"/>
              </a:defRPr>
            </a:pPr>
            <a:r>
              <a:rPr b="1"/>
              <a:t>Data tests — Check schema, ranges, missingness and unexpected category values.</a:t>
            </a:r>
          </a:p>
          <a:p>
            <a:pPr>
              <a:spcAft>
                <a:spcPts val="1200"/>
              </a:spcAft>
              <a:defRPr sz="1900">
                <a:solidFill>
                  <a:srgbClr val="28303C"/>
                </a:solidFill>
                <a:latin typeface="Aptos"/>
              </a:defRPr>
            </a:pPr>
            <a:r>
              <a:rPr b="1"/>
              <a:t>Model tests — Verify expected metrics and basic invariants.</a:t>
            </a:r>
          </a:p>
          <a:p>
            <a:pPr>
              <a:spcAft>
                <a:spcPts val="1200"/>
              </a:spcAft>
              <a:defRPr sz="1900">
                <a:solidFill>
                  <a:srgbClr val="28303C"/>
                </a:solidFill>
                <a:latin typeface="Aptos"/>
              </a:defRPr>
            </a:pPr>
            <a:r>
              <a:rPr b="1"/>
              <a:t>API tests — Validate request/response contracts, errors and timeouts.</a:t>
            </a:r>
          </a:p>
          <a:p>
            <a:pPr>
              <a:spcAft>
                <a:spcPts val="1200"/>
              </a:spcAft>
              <a:defRPr sz="1900">
                <a:solidFill>
                  <a:srgbClr val="28303C"/>
                </a:solidFill>
                <a:latin typeface="Aptos"/>
              </a:defRPr>
            </a:pPr>
            <a:r>
              <a:t>Test reproducibility and behavior on edge cases, not only happy paths.</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267730"/>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LLM outputs can sound convincing while being unsupported. Ground answers in trusted sources, check citations, and allow the model to abstain when evidence is missing.</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Containers and reproducible environments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DEPLOYMENT</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70</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Package code and runtime dependencies into an immutable image.</a:t>
            </a:r>
          </a:p>
          <a:p>
            <a:pPr>
              <a:spcAft>
                <a:spcPts val="1200"/>
              </a:spcAft>
              <a:defRPr sz="1900">
                <a:solidFill>
                  <a:srgbClr val="28303C"/>
                </a:solidFill>
                <a:latin typeface="Aptos"/>
              </a:defRPr>
            </a:pPr>
            <a:r>
              <a:t>Pin dependency versions and separate build-time from runtime configuration.</a:t>
            </a:r>
          </a:p>
          <a:p>
            <a:pPr>
              <a:spcAft>
                <a:spcPts val="1200"/>
              </a:spcAft>
              <a:defRPr sz="1900">
                <a:solidFill>
                  <a:srgbClr val="28303C"/>
                </a:solidFill>
                <a:latin typeface="Aptos"/>
              </a:defRPr>
            </a:pPr>
            <a:r>
              <a:t>Keep secrets outside the image; inject them securely at runtime.</a:t>
            </a:r>
          </a:p>
          <a:p>
            <a:pPr>
              <a:spcAft>
                <a:spcPts val="1200"/>
              </a:spcAft>
              <a:defRPr sz="1900">
                <a:solidFill>
                  <a:srgbClr val="28303C"/>
                </a:solidFill>
                <a:latin typeface="Aptos"/>
              </a:defRPr>
            </a:pPr>
            <a:r>
              <a:t>Use health checks, resource limits, logs and graceful shutdown.</a:t>
            </a:r>
          </a:p>
          <a:p>
            <a:pPr>
              <a:spcAft>
                <a:spcPts val="1200"/>
              </a:spcAft>
              <a:defRPr sz="1900">
                <a:solidFill>
                  <a:srgbClr val="28303C"/>
                </a:solidFill>
                <a:latin typeface="Aptos"/>
              </a:defRPr>
            </a:pPr>
            <a:r>
              <a:t>Scan images and minimize unnecessary packages.</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267730"/>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Prevent data leakage by splitting data before fitting preprocessing steps. Fit transformations on training data only; preserve chronology for time-series problems.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MLOps lifecycle</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MLOPS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71</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685800" y="2286000"/>
            <a:ext cx="1623060"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Data versioning</a:t>
            </a:r>
          </a:p>
        </p:txBody>
      </p:sp>
      <p:cxnSp>
        <p:nvCxnSpPr>
          <p:cNvPr id="8" name="Connector 7"/>
          <p:cNvCxnSpPr/>
          <p:nvPr/>
        </p:nvCxnSpPr>
        <p:spPr>
          <a:xfrm>
            <a:off x="2327148"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528316" y="2286000"/>
            <a:ext cx="1623060" cy="1097280"/>
          </a:xfrm>
          <a:prstGeom prst="roundRect">
            <a:avLst/>
          </a:prstGeom>
          <a:solidFill>
            <a:srgbClr val="DCF5F1"/>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Experiment tracking</a:t>
            </a:r>
          </a:p>
        </p:txBody>
      </p:sp>
      <p:cxnSp>
        <p:nvCxnSpPr>
          <p:cNvPr id="10" name="Connector 9"/>
          <p:cNvCxnSpPr/>
          <p:nvPr/>
        </p:nvCxnSpPr>
        <p:spPr>
          <a:xfrm>
            <a:off x="4169663" y="2834640"/>
            <a:ext cx="182881"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370832" y="2286000"/>
            <a:ext cx="1623060" cy="1097280"/>
          </a:xfrm>
          <a:prstGeom prst="roundRect">
            <a:avLst/>
          </a:prstGeom>
          <a:solidFill>
            <a:srgbClr val="FFF4DA"/>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Model registry</a:t>
            </a:r>
          </a:p>
        </p:txBody>
      </p:sp>
      <p:cxnSp>
        <p:nvCxnSpPr>
          <p:cNvPr id="12" name="Connector 11"/>
          <p:cNvCxnSpPr/>
          <p:nvPr/>
        </p:nvCxnSpPr>
        <p:spPr>
          <a:xfrm>
            <a:off x="6012180"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213348" y="2286000"/>
            <a:ext cx="1623060"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CI/CD</a:t>
            </a:r>
          </a:p>
        </p:txBody>
      </p:sp>
      <p:cxnSp>
        <p:nvCxnSpPr>
          <p:cNvPr id="14" name="Connector 13"/>
          <p:cNvCxnSpPr/>
          <p:nvPr/>
        </p:nvCxnSpPr>
        <p:spPr>
          <a:xfrm>
            <a:off x="7854696"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55864" y="2286000"/>
            <a:ext cx="1623060" cy="1097280"/>
          </a:xfrm>
          <a:prstGeom prst="roundRect">
            <a:avLst/>
          </a:prstGeom>
          <a:solidFill>
            <a:srgbClr val="DCF5F1"/>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Deploy</a:t>
            </a:r>
          </a:p>
        </p:txBody>
      </p:sp>
      <p:cxnSp>
        <p:nvCxnSpPr>
          <p:cNvPr id="16" name="Connector 15"/>
          <p:cNvCxnSpPr/>
          <p:nvPr/>
        </p:nvCxnSpPr>
        <p:spPr>
          <a:xfrm>
            <a:off x="9697212"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898380" y="2286000"/>
            <a:ext cx="1623060" cy="1097280"/>
          </a:xfrm>
          <a:prstGeom prst="roundRect">
            <a:avLst/>
          </a:prstGeom>
          <a:solidFill>
            <a:srgbClr val="FFF4DA"/>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Monitor &amp; retrain</a:t>
            </a:r>
          </a:p>
        </p:txBody>
      </p:sp>
      <p:sp>
        <p:nvSpPr>
          <p:cNvPr id="18" name="TextBox 17"/>
          <p:cNvSpPr txBox="1"/>
          <p:nvPr/>
        </p:nvSpPr>
        <p:spPr>
          <a:xfrm>
            <a:off x="868680" y="3886200"/>
            <a:ext cx="10424160" cy="1097280"/>
          </a:xfrm>
          <a:prstGeom prst="rect">
            <a:avLst/>
          </a:prstGeom>
          <a:noFill/>
        </p:spPr>
        <p:txBody>
          <a:bodyPr wrap="square" lIns="73152" tIns="73152" rIns="73152" bIns="73152">
            <a:spAutoFit/>
          </a:bodyPr>
          <a:lstStyle/>
          <a:p>
            <a:pPr algn="ctr">
              <a:defRPr sz="1700" b="0">
                <a:solidFill>
                  <a:srgbClr val="5F6C7D"/>
                </a:solidFill>
                <a:latin typeface="Aptos"/>
              </a:defRPr>
            </a:pPr>
            <a:r>
              <a:t>MLOps applies engineering discipline to data, experiments, models, deployment and continuous feedback.</a:t>
            </a:r>
          </a:p>
        </p:txBody>
      </p:sp>
      <p:sp>
        <p:nvSpPr>
          <p:cNvPr id="19" name="Rounded Rectangle 18"/>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21" name="Rounded Rectangle 20"/>
          <p:cNvSpPr/>
          <p:nvPr/>
        </p:nvSpPr>
        <p:spPr>
          <a:xfrm>
            <a:off x="384048" y="5267730"/>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Use validation data or cross-validation to compare models. Keep the final test set untouched until model choices are complete.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Experiment tracking with MLflow</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MLOPS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72</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Log parameters, metrics, artifacts and model files for each run.</a:t>
            </a:r>
          </a:p>
          <a:p>
            <a:pPr>
              <a:spcAft>
                <a:spcPts val="1200"/>
              </a:spcAft>
              <a:defRPr sz="1900">
                <a:solidFill>
                  <a:srgbClr val="28303C"/>
                </a:solidFill>
                <a:latin typeface="Aptos"/>
              </a:defRPr>
            </a:pPr>
            <a:r>
              <a:t>Compare experiments using consistent validation data and metrics.</a:t>
            </a:r>
          </a:p>
          <a:p>
            <a:pPr>
              <a:spcAft>
                <a:spcPts val="1200"/>
              </a:spcAft>
              <a:defRPr sz="1900">
                <a:solidFill>
                  <a:srgbClr val="28303C"/>
                </a:solidFill>
                <a:latin typeface="Aptos"/>
              </a:defRPr>
            </a:pPr>
            <a:r>
              <a:t>Register approved model versions and record their provenance.</a:t>
            </a:r>
          </a:p>
          <a:p>
            <a:pPr>
              <a:spcAft>
                <a:spcPts val="1200"/>
              </a:spcAft>
              <a:defRPr sz="1900">
                <a:solidFill>
                  <a:srgbClr val="28303C"/>
                </a:solidFill>
                <a:latin typeface="Aptos"/>
              </a:defRPr>
            </a:pPr>
            <a:r>
              <a:t>A model registry supports stage transitions, review and rollback.</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012090"/>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dirty="0">
                <a:solidFill>
                  <a:srgbClr val="1F3755"/>
                </a:solidFill>
              </a:rPr>
              <a:t>Explanation: </a:t>
            </a:r>
            <a:r>
              <a:rPr sz="900" dirty="0">
                <a:solidFill>
                  <a:srgbClr val="2D343C"/>
                </a:solidFill>
              </a:rPr>
              <a:t>Forecasting should use chronological splits so training data comes before validation data. Compare against simple baselines and respect the forecast horizon.</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Data and model versioning with DVC</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MLOPS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73</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Version dataset and model artifacts without committing large files directly to Git.</a:t>
            </a:r>
          </a:p>
          <a:p>
            <a:pPr>
              <a:spcAft>
                <a:spcPts val="1200"/>
              </a:spcAft>
              <a:defRPr sz="1900">
                <a:solidFill>
                  <a:srgbClr val="28303C"/>
                </a:solidFill>
                <a:latin typeface="Aptos"/>
              </a:defRPr>
            </a:pPr>
            <a:r>
              <a:t>Represent pipelines as stages with explicit dependencies.</a:t>
            </a:r>
          </a:p>
          <a:p>
            <a:pPr>
              <a:spcAft>
                <a:spcPts val="1200"/>
              </a:spcAft>
              <a:defRPr sz="1900">
                <a:solidFill>
                  <a:srgbClr val="28303C"/>
                </a:solidFill>
                <a:latin typeface="Aptos"/>
              </a:defRPr>
            </a:pPr>
            <a:r>
              <a:t>Reproduce experiments using code, data references, parameters and environment information.</a:t>
            </a:r>
          </a:p>
          <a:p>
            <a:pPr>
              <a:spcAft>
                <a:spcPts val="1200"/>
              </a:spcAft>
              <a:defRPr sz="1900">
                <a:solidFill>
                  <a:srgbClr val="28303C"/>
                </a:solidFill>
                <a:latin typeface="Aptos"/>
              </a:defRPr>
            </a:pPr>
            <a:r>
              <a:t>Ensure remote storage permissions and retention policies match organizational needs.</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779008"/>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Class weights or resampling can help with rare classes. Apply resampling only inside training folds and evaluate precision, recall, F1, or PR-AUC.</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Packaging models with BentoML</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MLOPS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74</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Package a model and its inference code into a deployable service.</a:t>
            </a:r>
          </a:p>
          <a:p>
            <a:pPr>
              <a:spcAft>
                <a:spcPts val="1200"/>
              </a:spcAft>
              <a:defRPr sz="1900">
                <a:solidFill>
                  <a:srgbClr val="28303C"/>
                </a:solidFill>
                <a:latin typeface="Aptos"/>
              </a:defRPr>
            </a:pPr>
            <a:r>
              <a:t>Define input/output schemas and validate requests.</a:t>
            </a:r>
          </a:p>
          <a:p>
            <a:pPr>
              <a:spcAft>
                <a:spcPts val="1200"/>
              </a:spcAft>
              <a:defRPr sz="1900">
                <a:solidFill>
                  <a:srgbClr val="28303C"/>
                </a:solidFill>
                <a:latin typeface="Aptos"/>
              </a:defRPr>
            </a:pPr>
            <a:r>
              <a:t>Build repeatable service artifacts for local testing and deployment.</a:t>
            </a:r>
          </a:p>
          <a:p>
            <a:pPr>
              <a:spcAft>
                <a:spcPts val="1200"/>
              </a:spcAft>
              <a:defRPr sz="1900">
                <a:solidFill>
                  <a:srgbClr val="28303C"/>
                </a:solidFill>
                <a:latin typeface="Aptos"/>
              </a:defRPr>
            </a:pPr>
            <a:r>
              <a:t>Measure latency, throughput, resource use and error rates before rollout.</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370182"/>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Scaling puts numeric features on comparable ranges. Fit scalers on training data only; distance-based and gradient-based models often benefit most.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Monitoring data and model drift</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MLOPS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75</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rPr b="1"/>
              <a:t>Data quality — Schema, missing values, range changes and unseen categories.</a:t>
            </a:r>
          </a:p>
          <a:p>
            <a:pPr>
              <a:spcAft>
                <a:spcPts val="1200"/>
              </a:spcAft>
              <a:defRPr sz="1900">
                <a:solidFill>
                  <a:srgbClr val="28303C"/>
                </a:solidFill>
                <a:latin typeface="Aptos"/>
              </a:defRPr>
            </a:pPr>
            <a:r>
              <a:rPr b="1"/>
              <a:t>Data drift — Input distributions change over time.</a:t>
            </a:r>
          </a:p>
          <a:p>
            <a:pPr>
              <a:spcAft>
                <a:spcPts val="1200"/>
              </a:spcAft>
              <a:defRPr sz="1900">
                <a:solidFill>
                  <a:srgbClr val="28303C"/>
                </a:solidFill>
                <a:latin typeface="Aptos"/>
              </a:defRPr>
            </a:pPr>
            <a:r>
              <a:rPr b="1"/>
              <a:t>Concept drift — The relationship between inputs and targets changes.</a:t>
            </a:r>
          </a:p>
          <a:p>
            <a:pPr>
              <a:spcAft>
                <a:spcPts val="1200"/>
              </a:spcAft>
              <a:defRPr sz="1900">
                <a:solidFill>
                  <a:srgbClr val="28303C"/>
                </a:solidFill>
                <a:latin typeface="Aptos"/>
              </a:defRPr>
            </a:pPr>
            <a:r>
              <a:rPr b="1"/>
              <a:t>Model quality — Track metrics when labels become available.</a:t>
            </a:r>
          </a:p>
          <a:p>
            <a:pPr>
              <a:spcAft>
                <a:spcPts val="1200"/>
              </a:spcAft>
              <a:defRPr sz="1900">
                <a:solidFill>
                  <a:srgbClr val="28303C"/>
                </a:solidFill>
                <a:latin typeface="Aptos"/>
              </a:defRPr>
            </a:pPr>
            <a:r>
              <a:t>Drift alerts should trigger investigation; retraining is not automatically the correct response.</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375885"/>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One-hot encoding represents each category with a binary column, avoiding a false numeric order. Learn category mappings from training data.</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CI/CD for ML systems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MLOPS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76</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Run linting, unit tests, data validation and model checks on each change.</a:t>
            </a:r>
          </a:p>
          <a:p>
            <a:pPr>
              <a:spcAft>
                <a:spcPts val="1200"/>
              </a:spcAft>
              <a:defRPr sz="1900">
                <a:solidFill>
                  <a:srgbClr val="28303C"/>
                </a:solidFill>
                <a:latin typeface="Aptos"/>
              </a:defRPr>
            </a:pPr>
            <a:r>
              <a:t>Build immutable artifacts and promote them through controlled environments.</a:t>
            </a:r>
          </a:p>
          <a:p>
            <a:pPr>
              <a:spcAft>
                <a:spcPts val="1200"/>
              </a:spcAft>
              <a:defRPr sz="1900">
                <a:solidFill>
                  <a:srgbClr val="28303C"/>
                </a:solidFill>
                <a:latin typeface="Aptos"/>
              </a:defRPr>
            </a:pPr>
            <a:r>
              <a:t>Use canary or shadow deployment to reduce rollout risk.</a:t>
            </a:r>
          </a:p>
          <a:p>
            <a:pPr>
              <a:spcAft>
                <a:spcPts val="1200"/>
              </a:spcAft>
              <a:defRPr sz="1900">
                <a:solidFill>
                  <a:srgbClr val="28303C"/>
                </a:solidFill>
                <a:latin typeface="Aptos"/>
              </a:defRPr>
            </a:pPr>
            <a:r>
              <a:t>Keep rollback paths and monitor business outcomes after release.</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267730"/>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Investigate why values are missing before imputing them. Fit imputation rules on training data and apply the same rules during inference.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Responsible AI and governance</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MLOPS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77</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Assess privacy, consent, data retention and access control.</a:t>
            </a:r>
          </a:p>
          <a:p>
            <a:pPr>
              <a:spcAft>
                <a:spcPts val="1200"/>
              </a:spcAft>
              <a:defRPr sz="1900">
                <a:solidFill>
                  <a:srgbClr val="28303C"/>
                </a:solidFill>
                <a:latin typeface="Aptos"/>
              </a:defRPr>
            </a:pPr>
            <a:r>
              <a:t>Evaluate subgroup performance and potential disparate impact.</a:t>
            </a:r>
          </a:p>
          <a:p>
            <a:pPr>
              <a:spcAft>
                <a:spcPts val="1200"/>
              </a:spcAft>
              <a:defRPr sz="1900">
                <a:solidFill>
                  <a:srgbClr val="28303C"/>
                </a:solidFill>
                <a:latin typeface="Aptos"/>
              </a:defRPr>
            </a:pPr>
            <a:r>
              <a:t>Document intended use, limitations, data lineage and model changes.</a:t>
            </a:r>
          </a:p>
          <a:p>
            <a:pPr>
              <a:spcAft>
                <a:spcPts val="1200"/>
              </a:spcAft>
              <a:defRPr sz="1900">
                <a:solidFill>
                  <a:srgbClr val="28303C"/>
                </a:solidFill>
                <a:latin typeface="Aptos"/>
              </a:defRPr>
            </a:pPr>
            <a:r>
              <a:t>Use human oversight and escalation paths for high-impact decisions.</a:t>
            </a:r>
          </a:p>
          <a:p>
            <a:pPr>
              <a:spcAft>
                <a:spcPts val="1200"/>
              </a:spcAft>
              <a:defRPr sz="1900">
                <a:solidFill>
                  <a:srgbClr val="28303C"/>
                </a:solidFill>
                <a:latin typeface="Aptos"/>
              </a:defRPr>
            </a:pPr>
            <a:r>
              <a:t>Secure model endpoints and treat user-provided inputs as untrusted.</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326724"/>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TF-IDF emphasizes distinctive words and is a strong lexical baseline. Embeddings represent semantic relationships and can improve meaning-based retrieval.</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Project 1: end-to-end tabular ML</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PROJECTS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78</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Problem: predict a numeric or categorical outcome from structured records.</a:t>
            </a:r>
          </a:p>
          <a:p>
            <a:pPr>
              <a:spcAft>
                <a:spcPts val="1200"/>
              </a:spcAft>
              <a:defRPr sz="1900">
                <a:solidFill>
                  <a:srgbClr val="28303C"/>
                </a:solidFill>
                <a:latin typeface="Aptos"/>
              </a:defRPr>
            </a:pPr>
            <a:r>
              <a:t>Prepare a data dictionary; inspect missingness, duplicates and target distribution.</a:t>
            </a:r>
          </a:p>
          <a:p>
            <a:pPr>
              <a:spcAft>
                <a:spcPts val="1200"/>
              </a:spcAft>
              <a:defRPr sz="1900">
                <a:solidFill>
                  <a:srgbClr val="28303C"/>
                </a:solidFill>
                <a:latin typeface="Aptos"/>
              </a:defRPr>
            </a:pPr>
            <a:r>
              <a:t>Build a preprocessing + baseline model pipeline.</a:t>
            </a:r>
          </a:p>
          <a:p>
            <a:pPr>
              <a:spcAft>
                <a:spcPts val="1200"/>
              </a:spcAft>
              <a:defRPr sz="1900">
                <a:solidFill>
                  <a:srgbClr val="28303C"/>
                </a:solidFill>
                <a:latin typeface="Aptos"/>
              </a:defRPr>
            </a:pPr>
            <a:r>
              <a:t>Compare candidates with cross-validation and report test metrics.</a:t>
            </a:r>
          </a:p>
          <a:p>
            <a:pPr>
              <a:spcAft>
                <a:spcPts val="1200"/>
              </a:spcAft>
              <a:defRPr sz="1900">
                <a:solidFill>
                  <a:srgbClr val="28303C"/>
                </a:solidFill>
                <a:latin typeface="Aptos"/>
              </a:defRPr>
            </a:pPr>
            <a:r>
              <a:t>Package the selected model with schema checks and a reproducible README.</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208736"/>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BLEU and ROUGE compare generated text with reference text. They are useful indicators but should be combined with factuality checks and human review.</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Project 2: NLP text classifier</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PROJECTS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79</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Problem: classify support tickets, reviews or messages into useful categories.</a:t>
            </a:r>
          </a:p>
          <a:p>
            <a:pPr>
              <a:spcAft>
                <a:spcPts val="1200"/>
              </a:spcAft>
              <a:defRPr sz="1900">
                <a:solidFill>
                  <a:srgbClr val="28303C"/>
                </a:solidFill>
                <a:latin typeface="Aptos"/>
              </a:defRPr>
            </a:pPr>
            <a:r>
              <a:t>Create a leakage-safe train/validation/test split.</a:t>
            </a:r>
          </a:p>
          <a:p>
            <a:pPr>
              <a:spcAft>
                <a:spcPts val="1200"/>
              </a:spcAft>
              <a:defRPr sz="1900">
                <a:solidFill>
                  <a:srgbClr val="28303C"/>
                </a:solidFill>
                <a:latin typeface="Aptos"/>
              </a:defRPr>
            </a:pPr>
            <a:r>
              <a:t>Compare TF-IDF + linear baseline with a pretrained transformer if justified.</a:t>
            </a:r>
          </a:p>
          <a:p>
            <a:pPr>
              <a:spcAft>
                <a:spcPts val="1200"/>
              </a:spcAft>
              <a:defRPr sz="1900">
                <a:solidFill>
                  <a:srgbClr val="28303C"/>
                </a:solidFill>
                <a:latin typeface="Aptos"/>
              </a:defRPr>
            </a:pPr>
            <a:r>
              <a:t>Analyze false positives/negatives and per-class precision/recall.</a:t>
            </a:r>
          </a:p>
          <a:p>
            <a:pPr>
              <a:spcAft>
                <a:spcPts val="1200"/>
              </a:spcAft>
              <a:defRPr sz="1900">
                <a:solidFill>
                  <a:srgbClr val="28303C"/>
                </a:solidFill>
                <a:latin typeface="Aptos"/>
              </a:defRPr>
            </a:pPr>
            <a:r>
              <a:t>Expose a small API and log predictions without storing unnecessary sensitive text.</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208736"/>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Text classification converts text into features, trains a classifier, and predicts labels such as sentiment or spam. Keep training and inference preprocessing consistent.</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Project 3: image classification</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PROJECTS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80</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Define classes and split by source or subject to avoid near-duplicate leakage.</a:t>
            </a:r>
          </a:p>
          <a:p>
            <a:pPr>
              <a:spcAft>
                <a:spcPts val="1200"/>
              </a:spcAft>
              <a:defRPr sz="1900">
                <a:solidFill>
                  <a:srgbClr val="28303C"/>
                </a:solidFill>
                <a:latin typeface="Aptos"/>
              </a:defRPr>
            </a:pPr>
            <a:r>
              <a:t>Normalize images and apply label-preserving augmentation.</a:t>
            </a:r>
          </a:p>
          <a:p>
            <a:pPr>
              <a:spcAft>
                <a:spcPts val="1200"/>
              </a:spcAft>
              <a:defRPr sz="1900">
                <a:solidFill>
                  <a:srgbClr val="28303C"/>
                </a:solidFill>
                <a:latin typeface="Aptos"/>
              </a:defRPr>
            </a:pPr>
            <a:r>
              <a:t>Train a small CNN or fine-tune a pretrained model.</a:t>
            </a:r>
          </a:p>
          <a:p>
            <a:pPr>
              <a:spcAft>
                <a:spcPts val="1200"/>
              </a:spcAft>
              <a:defRPr sz="1900">
                <a:solidFill>
                  <a:srgbClr val="28303C"/>
                </a:solidFill>
                <a:latin typeface="Aptos"/>
              </a:defRPr>
            </a:pPr>
            <a:r>
              <a:t>Inspect a confusion matrix and examples of incorrect predictions.</a:t>
            </a:r>
          </a:p>
          <a:p>
            <a:pPr>
              <a:spcAft>
                <a:spcPts val="1200"/>
              </a:spcAft>
              <a:defRPr sz="1900">
                <a:solidFill>
                  <a:srgbClr val="28303C"/>
                </a:solidFill>
                <a:latin typeface="Aptos"/>
              </a:defRPr>
            </a:pPr>
            <a:r>
              <a:t>Save model version, preprocessing configuration and class mapping together.</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326724"/>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NER identifies spans such as people, organizations, places, and dates. Evaluate entity-level precision, recall, and F1 on representative examples.</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Project 4: MLOps mini-pipeline</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PROJECTS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81</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Rounded Rectangle 6"/>
          <p:cNvSpPr/>
          <p:nvPr/>
        </p:nvSpPr>
        <p:spPr>
          <a:xfrm>
            <a:off x="685800" y="2286000"/>
            <a:ext cx="1623060"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Commit code</a:t>
            </a:r>
          </a:p>
        </p:txBody>
      </p:sp>
      <p:cxnSp>
        <p:nvCxnSpPr>
          <p:cNvPr id="8" name="Connector 7"/>
          <p:cNvCxnSpPr/>
          <p:nvPr/>
        </p:nvCxnSpPr>
        <p:spPr>
          <a:xfrm>
            <a:off x="2327148"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528316" y="2286000"/>
            <a:ext cx="1623060" cy="1097280"/>
          </a:xfrm>
          <a:prstGeom prst="roundRect">
            <a:avLst/>
          </a:prstGeom>
          <a:solidFill>
            <a:srgbClr val="DCF5F1"/>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Validate data</a:t>
            </a:r>
          </a:p>
        </p:txBody>
      </p:sp>
      <p:cxnSp>
        <p:nvCxnSpPr>
          <p:cNvPr id="10" name="Connector 9"/>
          <p:cNvCxnSpPr/>
          <p:nvPr/>
        </p:nvCxnSpPr>
        <p:spPr>
          <a:xfrm>
            <a:off x="4169663" y="2834640"/>
            <a:ext cx="182881"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370832" y="2286000"/>
            <a:ext cx="1623060" cy="1097280"/>
          </a:xfrm>
          <a:prstGeom prst="roundRect">
            <a:avLst/>
          </a:prstGeom>
          <a:solidFill>
            <a:srgbClr val="FFF4DA"/>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Train &amp; evaluate</a:t>
            </a:r>
          </a:p>
        </p:txBody>
      </p:sp>
      <p:cxnSp>
        <p:nvCxnSpPr>
          <p:cNvPr id="12" name="Connector 11"/>
          <p:cNvCxnSpPr/>
          <p:nvPr/>
        </p:nvCxnSpPr>
        <p:spPr>
          <a:xfrm>
            <a:off x="6012180"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213348" y="2286000"/>
            <a:ext cx="1623060" cy="1097280"/>
          </a:xfrm>
          <a:prstGeom prst="roundRect">
            <a:avLst/>
          </a:prstGeom>
          <a:solidFill>
            <a:srgbClr val="E0EDFC"/>
          </a:solidFill>
          <a:ln>
            <a:solidFill>
              <a:srgbClr val="2A69B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Register model</a:t>
            </a:r>
          </a:p>
        </p:txBody>
      </p:sp>
      <p:cxnSp>
        <p:nvCxnSpPr>
          <p:cNvPr id="14" name="Connector 13"/>
          <p:cNvCxnSpPr/>
          <p:nvPr/>
        </p:nvCxnSpPr>
        <p:spPr>
          <a:xfrm>
            <a:off x="7854696"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55864" y="2286000"/>
            <a:ext cx="1623060" cy="1097280"/>
          </a:xfrm>
          <a:prstGeom prst="roundRect">
            <a:avLst/>
          </a:prstGeom>
          <a:solidFill>
            <a:srgbClr val="DCF5F1"/>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Deploy</a:t>
            </a:r>
          </a:p>
        </p:txBody>
      </p:sp>
      <p:cxnSp>
        <p:nvCxnSpPr>
          <p:cNvPr id="16" name="Connector 15"/>
          <p:cNvCxnSpPr/>
          <p:nvPr/>
        </p:nvCxnSpPr>
        <p:spPr>
          <a:xfrm>
            <a:off x="9697212" y="2834640"/>
            <a:ext cx="18288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898380" y="2286000"/>
            <a:ext cx="1623060" cy="1097280"/>
          </a:xfrm>
          <a:prstGeom prst="roundRect">
            <a:avLst/>
          </a:prstGeom>
          <a:solidFill>
            <a:srgbClr val="FFF4DA"/>
          </a:solidFill>
          <a:ln>
            <a:solidFill>
              <a:srgbClr val="0096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600" b="1">
                <a:solidFill>
                  <a:srgbClr val="14223A"/>
                </a:solidFill>
                <a:latin typeface="Aptos"/>
              </a:defRPr>
            </a:pPr>
            <a:r>
              <a:t>Monitor</a:t>
            </a:r>
          </a:p>
        </p:txBody>
      </p:sp>
      <p:sp>
        <p:nvSpPr>
          <p:cNvPr id="18" name="TextBox 17"/>
          <p:cNvSpPr txBox="1"/>
          <p:nvPr/>
        </p:nvSpPr>
        <p:spPr>
          <a:xfrm>
            <a:off x="868680" y="3886200"/>
            <a:ext cx="10424160" cy="1097280"/>
          </a:xfrm>
          <a:prstGeom prst="rect">
            <a:avLst/>
          </a:prstGeom>
          <a:noFill/>
        </p:spPr>
        <p:txBody>
          <a:bodyPr wrap="square" lIns="73152" tIns="73152" rIns="73152" bIns="73152">
            <a:spAutoFit/>
          </a:bodyPr>
          <a:lstStyle/>
          <a:p>
            <a:pPr algn="ctr">
              <a:defRPr sz="1700" b="0">
                <a:solidFill>
                  <a:srgbClr val="5F6C7D"/>
                </a:solidFill>
                <a:latin typeface="Aptos"/>
              </a:defRPr>
            </a:pPr>
            <a:r>
              <a:t>Automate repeatable steps and require explicit approval before production promotion.</a:t>
            </a:r>
          </a:p>
        </p:txBody>
      </p:sp>
      <p:sp>
        <p:nvSpPr>
          <p:cNvPr id="19" name="Rounded Rectangle 18"/>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21" name="Rounded Rectangle 20"/>
          <p:cNvSpPr/>
          <p:nvPr/>
        </p:nvSpPr>
        <p:spPr>
          <a:xfrm>
            <a:off x="384048" y="5412854"/>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Extractive summarization selects existing sentences; abstractive summarization generates new wording. Check that key facts are covered and not invented.</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Project documentation template</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PROJECTS</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82</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Problem statement, user and business value.</a:t>
            </a:r>
          </a:p>
          <a:p>
            <a:pPr>
              <a:spcAft>
                <a:spcPts val="1200"/>
              </a:spcAft>
              <a:defRPr sz="1900">
                <a:solidFill>
                  <a:srgbClr val="28303C"/>
                </a:solidFill>
                <a:latin typeface="Aptos"/>
              </a:defRPr>
            </a:pPr>
            <a:r>
              <a:t>Dataset source, licensing, schema, limitations and split strategy.</a:t>
            </a:r>
          </a:p>
          <a:p>
            <a:pPr>
              <a:spcAft>
                <a:spcPts val="1200"/>
              </a:spcAft>
              <a:defRPr sz="1900">
                <a:solidFill>
                  <a:srgbClr val="28303C"/>
                </a:solidFill>
                <a:latin typeface="Aptos"/>
              </a:defRPr>
            </a:pPr>
            <a:r>
              <a:t>Baseline, experiment table, chosen metric and rationale.</a:t>
            </a:r>
          </a:p>
          <a:p>
            <a:pPr>
              <a:spcAft>
                <a:spcPts val="1200"/>
              </a:spcAft>
              <a:defRPr sz="1900">
                <a:solidFill>
                  <a:srgbClr val="28303C"/>
                </a:solidFill>
                <a:latin typeface="Aptos"/>
              </a:defRPr>
            </a:pPr>
            <a:r>
              <a:t>Reproduction steps, environment, tests and deployment instructions.</a:t>
            </a:r>
          </a:p>
          <a:p>
            <a:pPr>
              <a:spcAft>
                <a:spcPts val="1200"/>
              </a:spcAft>
              <a:defRPr sz="1900">
                <a:solidFill>
                  <a:srgbClr val="28303C"/>
                </a:solidFill>
                <a:latin typeface="Aptos"/>
              </a:defRPr>
            </a:pPr>
            <a:r>
              <a:t>Known failure modes, monitoring plan, owner and retraining criteria.</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267730"/>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Explainability helps describe model behavior globally or for one prediction. Feature attributions are approximations and need careful interpretation.</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Common mistakes to avoid</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REVIEW</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83</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Preprocessing the full dataset before splitting.</a:t>
            </a:r>
          </a:p>
          <a:p>
            <a:pPr>
              <a:spcAft>
                <a:spcPts val="1200"/>
              </a:spcAft>
              <a:defRPr sz="1900">
                <a:solidFill>
                  <a:srgbClr val="28303C"/>
                </a:solidFill>
                <a:latin typeface="Aptos"/>
              </a:defRPr>
            </a:pPr>
            <a:r>
              <a:t>Optimizing accuracy when the real objective is precision, recall, cost or ranking quality.</a:t>
            </a:r>
          </a:p>
          <a:p>
            <a:pPr>
              <a:spcAft>
                <a:spcPts val="1200"/>
              </a:spcAft>
              <a:defRPr sz="1900">
                <a:solidFill>
                  <a:srgbClr val="28303C"/>
                </a:solidFill>
                <a:latin typeface="Aptos"/>
              </a:defRPr>
            </a:pPr>
            <a:r>
              <a:t>Tuning repeatedly on the test set.</a:t>
            </a:r>
          </a:p>
          <a:p>
            <a:pPr>
              <a:spcAft>
                <a:spcPts val="1200"/>
              </a:spcAft>
              <a:defRPr sz="1900">
                <a:solidFill>
                  <a:srgbClr val="28303C"/>
                </a:solidFill>
                <a:latin typeface="Aptos"/>
              </a:defRPr>
            </a:pPr>
            <a:r>
              <a:t>Reporting a single score without uncertainty or error analysis.</a:t>
            </a:r>
          </a:p>
          <a:p>
            <a:pPr>
              <a:spcAft>
                <a:spcPts val="1200"/>
              </a:spcAft>
              <a:defRPr sz="1900">
                <a:solidFill>
                  <a:srgbClr val="28303C"/>
                </a:solidFill>
                <a:latin typeface="Aptos"/>
              </a:defRPr>
            </a:pPr>
            <a:r>
              <a:t>Shipping a model without schema validation, monitoring or rollback.</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267730"/>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Bias may enter through data, labels, or deployment. Compare error rates across relevant groups and continue monitoring after release.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Final review: explain these concepts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REVIEW</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84</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How do train, validation and test sets differ?</a:t>
            </a:r>
          </a:p>
          <a:p>
            <a:pPr>
              <a:spcAft>
                <a:spcPts val="1200"/>
              </a:spcAft>
              <a:defRPr sz="1900">
                <a:solidFill>
                  <a:srgbClr val="28303C"/>
                </a:solidFill>
                <a:latin typeface="Aptos"/>
              </a:defRPr>
            </a:pPr>
            <a:r>
              <a:t>When would you choose MAE instead of RMSE?</a:t>
            </a:r>
          </a:p>
          <a:p>
            <a:pPr>
              <a:spcAft>
                <a:spcPts val="1200"/>
              </a:spcAft>
              <a:defRPr sz="1900">
                <a:solidFill>
                  <a:srgbClr val="28303C"/>
                </a:solidFill>
                <a:latin typeface="Aptos"/>
              </a:defRPr>
            </a:pPr>
            <a:r>
              <a:t>How does regularization reduce overfitting?</a:t>
            </a:r>
          </a:p>
          <a:p>
            <a:pPr>
              <a:spcAft>
                <a:spcPts val="1200"/>
              </a:spcAft>
              <a:defRPr sz="1900">
                <a:solidFill>
                  <a:srgbClr val="28303C"/>
                </a:solidFill>
                <a:latin typeface="Aptos"/>
              </a:defRPr>
            </a:pPr>
            <a:r>
              <a:t>Why is TF-IDF a useful NLP baseline?</a:t>
            </a:r>
          </a:p>
          <a:p>
            <a:pPr>
              <a:spcAft>
                <a:spcPts val="1200"/>
              </a:spcAft>
              <a:defRPr sz="1900">
                <a:solidFill>
                  <a:srgbClr val="28303C"/>
                </a:solidFill>
                <a:latin typeface="Aptos"/>
              </a:defRPr>
            </a:pPr>
            <a:r>
              <a:t>What does attention add to transformer architectures?</a:t>
            </a:r>
          </a:p>
          <a:p>
            <a:pPr>
              <a:spcAft>
                <a:spcPts val="1200"/>
              </a:spcAft>
              <a:defRPr sz="1900">
                <a:solidFill>
                  <a:srgbClr val="28303C"/>
                </a:solidFill>
                <a:latin typeface="Aptos"/>
              </a:defRPr>
            </a:pPr>
            <a:r>
              <a:t>What should be monitored after a model is deployed?</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326724"/>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Protect ML systems with least-privilege access, input validation, secret management, safe logging, and testing for malicious or sensitive inputs.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Suggested next steps</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REVIEW</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85</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900">
                <a:solidFill>
                  <a:srgbClr val="28303C"/>
                </a:solidFill>
                <a:latin typeface="Aptos"/>
              </a:defRPr>
            </a:pPr>
            <a:r>
              <a:t>Follow the matching Udemy lectures in order and annotate this deck with lecture-specific notes.</a:t>
            </a:r>
          </a:p>
          <a:p>
            <a:pPr>
              <a:spcAft>
                <a:spcPts val="1200"/>
              </a:spcAft>
              <a:defRPr sz="1900">
                <a:solidFill>
                  <a:srgbClr val="28303C"/>
                </a:solidFill>
                <a:latin typeface="Aptos"/>
              </a:defRPr>
            </a:pPr>
            <a:r>
              <a:t>Run every code example in a clean Python environment.</a:t>
            </a:r>
          </a:p>
          <a:p>
            <a:pPr>
              <a:spcAft>
                <a:spcPts val="1200"/>
              </a:spcAft>
              <a:defRPr sz="1900">
                <a:solidFill>
                  <a:srgbClr val="28303C"/>
                </a:solidFill>
                <a:latin typeface="Aptos"/>
              </a:defRPr>
            </a:pPr>
            <a:r>
              <a:t>Complete at least one tabular ML, one NLP and one deployment project.</a:t>
            </a:r>
          </a:p>
          <a:p>
            <a:pPr>
              <a:spcAft>
                <a:spcPts val="1200"/>
              </a:spcAft>
              <a:defRPr sz="1900">
                <a:solidFill>
                  <a:srgbClr val="28303C"/>
                </a:solidFill>
                <a:latin typeface="Aptos"/>
              </a:defRPr>
            </a:pPr>
            <a:r>
              <a:t>Track experiments and version data/models from the beginning.</a:t>
            </a:r>
          </a:p>
          <a:p>
            <a:pPr>
              <a:spcAft>
                <a:spcPts val="1200"/>
              </a:spcAft>
              <a:defRPr sz="1900">
                <a:solidFill>
                  <a:srgbClr val="28303C"/>
                </a:solidFill>
                <a:latin typeface="Aptos"/>
              </a:defRPr>
            </a:pPr>
            <a:r>
              <a:t>Revisit weak areas using short practice questions and explain concepts aloud.</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267730"/>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Measure latency, throughput, memory, and cost per request. Benchmark realistic workloads before choosing caching, batching, quantization, or smaller models.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A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94360"/>
          </a:xfrm>
          <a:prstGeom prst="rect">
            <a:avLst/>
          </a:prstGeom>
          <a:noFill/>
        </p:spPr>
        <p:txBody>
          <a:bodyPr wrap="square" lIns="73152" tIns="73152" rIns="73152" bIns="73152">
            <a:spAutoFit/>
          </a:bodyPr>
          <a:lstStyle/>
          <a:p>
            <a:pPr>
              <a:defRPr sz="2800" b="1">
                <a:solidFill>
                  <a:srgbClr val="14223A"/>
                </a:solidFill>
                <a:latin typeface="Aptos"/>
              </a:defRPr>
            </a:pPr>
            <a:r>
              <a:t>Course alignment and scope</a:t>
            </a:r>
          </a:p>
        </p:txBody>
      </p:sp>
      <p:sp>
        <p:nvSpPr>
          <p:cNvPr id="4" name="TextBox 3"/>
          <p:cNvSpPr txBox="1"/>
          <p:nvPr/>
        </p:nvSpPr>
        <p:spPr>
          <a:xfrm>
            <a:off x="621792" y="960120"/>
            <a:ext cx="10789920" cy="228600"/>
          </a:xfrm>
          <a:prstGeom prst="rect">
            <a:avLst/>
          </a:prstGeom>
          <a:noFill/>
        </p:spPr>
        <p:txBody>
          <a:bodyPr wrap="square" lIns="73152" tIns="73152" rIns="73152" bIns="73152">
            <a:spAutoFit/>
          </a:bodyPr>
          <a:lstStyle/>
          <a:p>
            <a:pPr>
              <a:defRPr sz="900" b="1">
                <a:solidFill>
                  <a:srgbClr val="009688"/>
                </a:solidFill>
                <a:latin typeface="Aptos"/>
              </a:defRPr>
            </a:pPr>
            <a:r>
              <a:t>REFERENCE</a:t>
            </a:r>
          </a:p>
        </p:txBody>
      </p:sp>
      <p:sp>
        <p:nvSpPr>
          <p:cNvPr id="5" name="TextBox 4"/>
          <p:cNvSpPr txBox="1"/>
          <p:nvPr/>
        </p:nvSpPr>
        <p:spPr>
          <a:xfrm>
            <a:off x="11201400" y="6473952"/>
            <a:ext cx="411480" cy="182880"/>
          </a:xfrm>
          <a:prstGeom prst="rect">
            <a:avLst/>
          </a:prstGeom>
          <a:noFill/>
        </p:spPr>
        <p:txBody>
          <a:bodyPr wrap="square" lIns="73152" tIns="73152" rIns="73152" bIns="73152">
            <a:spAutoFit/>
          </a:bodyPr>
          <a:lstStyle/>
          <a:p>
            <a:pPr algn="r">
              <a:defRPr sz="900" b="0">
                <a:solidFill>
                  <a:srgbClr val="5F6C7D"/>
                </a:solidFill>
                <a:latin typeface="Aptos"/>
              </a:defRPr>
            </a:pPr>
            <a:r>
              <a:t>86</a:t>
            </a:r>
          </a:p>
        </p:txBody>
      </p:sp>
      <p:sp>
        <p:nvSpPr>
          <p:cNvPr id="6" name="TextBox 5"/>
          <p:cNvSpPr txBox="1"/>
          <p:nvPr/>
        </p:nvSpPr>
        <p:spPr>
          <a:xfrm>
            <a:off x="621792" y="6473952"/>
            <a:ext cx="6858000" cy="182880"/>
          </a:xfrm>
          <a:prstGeom prst="rect">
            <a:avLst/>
          </a:prstGeom>
          <a:noFill/>
        </p:spPr>
        <p:txBody>
          <a:bodyPr wrap="square" lIns="73152" tIns="73152" rIns="73152" bIns="73152">
            <a:spAutoFit/>
          </a:bodyPr>
          <a:lstStyle/>
          <a:p>
            <a:pPr>
              <a:defRPr sz="900" b="0">
                <a:solidFill>
                  <a:srgbClr val="5F6C7D"/>
                </a:solidFill>
                <a:latin typeface="Aptos"/>
              </a:defRPr>
            </a:pPr>
            <a:r>
              <a:t>ML • NLP • Deep Learning • MLOps</a:t>
            </a:r>
          </a:p>
        </p:txBody>
      </p:sp>
      <p:sp>
        <p:nvSpPr>
          <p:cNvPr id="7" name="TextBox 6"/>
          <p:cNvSpPr txBox="1"/>
          <p:nvPr/>
        </p:nvSpPr>
        <p:spPr>
          <a:xfrm>
            <a:off x="777240" y="1417320"/>
            <a:ext cx="10698480" cy="4663440"/>
          </a:xfrm>
          <a:prstGeom prst="rect">
            <a:avLst/>
          </a:prstGeom>
          <a:noFill/>
        </p:spPr>
        <p:txBody>
          <a:bodyPr wrap="square" lIns="73152" tIns="54864" rIns="73152" bIns="36576">
            <a:spAutoFit/>
          </a:bodyPr>
          <a:lstStyle/>
          <a:p>
            <a:pPr>
              <a:spcAft>
                <a:spcPts val="1200"/>
              </a:spcAft>
              <a:defRPr sz="1800">
                <a:solidFill>
                  <a:srgbClr val="28303C"/>
                </a:solidFill>
                <a:latin typeface="Aptos"/>
              </a:defRPr>
            </a:pPr>
            <a:r>
              <a:rPr b="1"/>
              <a:t>Primary source — Public Udemy course page and publicly visible curriculum outline.</a:t>
            </a:r>
          </a:p>
          <a:p>
            <a:pPr>
              <a:spcAft>
                <a:spcPts val="1200"/>
              </a:spcAft>
              <a:defRPr sz="1800">
                <a:solidFill>
                  <a:srgbClr val="28303C"/>
                </a:solidFill>
                <a:latin typeface="Aptos"/>
              </a:defRPr>
            </a:pPr>
            <a:r>
              <a:rPr b="1"/>
              <a:t>Coverage — Python, data structures, NumPy/Pandas, statistics and math, ML algorithms, deep learning/CNNs, NLP, RL overview, projects, deployment and MLOps.</a:t>
            </a:r>
          </a:p>
          <a:p>
            <a:pPr>
              <a:spcAft>
                <a:spcPts val="1200"/>
              </a:spcAft>
              <a:defRPr sz="1800">
                <a:solidFill>
                  <a:srgbClr val="28303C"/>
                </a:solidFill>
                <a:latin typeface="Aptos"/>
              </a:defRPr>
            </a:pPr>
            <a:r>
              <a:rPr b="1"/>
              <a:t>Study-note status — Original explanations, examples and diagrams created to support learning.</a:t>
            </a:r>
          </a:p>
          <a:p>
            <a:pPr>
              <a:spcAft>
                <a:spcPts val="1200"/>
              </a:spcAft>
              <a:defRPr sz="1800">
                <a:solidFill>
                  <a:srgbClr val="28303C"/>
                </a:solidFill>
                <a:latin typeface="Aptos"/>
              </a:defRPr>
            </a:pPr>
            <a:r>
              <a:rPr b="1"/>
              <a:t>Limitations — Private lecture transcripts, downloadable course resources and members-only details were not available from the public page.</a:t>
            </a:r>
          </a:p>
        </p:txBody>
      </p:sp>
      <p:sp>
        <p:nvSpPr>
          <p:cNvPr id="8" name="Rounded Rectangle 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0" name="Rounded Rectangle 9"/>
          <p:cNvSpPr/>
          <p:nvPr/>
        </p:nvSpPr>
        <p:spPr>
          <a:xfrm>
            <a:off x="384048" y="5326724"/>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A/B testing compares a new model with the current one under controlled traffic. Define success and safety metrics before starting the experiment.</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Python program execution</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PYTHON FOUNDATIONS</a:t>
            </a:r>
          </a:p>
        </p:txBody>
      </p:sp>
      <p:sp>
        <p:nvSpPr>
          <p:cNvPr id="5" name="Rounded Rectangle 4"/>
          <p:cNvSpPr/>
          <p:nvPr/>
        </p:nvSpPr>
        <p:spPr>
          <a:xfrm>
            <a:off x="594360" y="2057400"/>
            <a:ext cx="2619756"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Source code</a:t>
            </a:r>
          </a:p>
        </p:txBody>
      </p:sp>
      <p:cxnSp>
        <p:nvCxnSpPr>
          <p:cNvPr id="6" name="Connector 5"/>
          <p:cNvCxnSpPr/>
          <p:nvPr/>
        </p:nvCxnSpPr>
        <p:spPr>
          <a:xfrm>
            <a:off x="322326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8708" y="2057400"/>
            <a:ext cx="2619756"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Interpreter</a:t>
            </a:r>
          </a:p>
        </p:txBody>
      </p:sp>
      <p:cxnSp>
        <p:nvCxnSpPr>
          <p:cNvPr id="8" name="Connector 7"/>
          <p:cNvCxnSpPr/>
          <p:nvPr/>
        </p:nvCxnSpPr>
        <p:spPr>
          <a:xfrm>
            <a:off x="6007608"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63056" y="2057400"/>
            <a:ext cx="2619756"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Bytecode / runtime</a:t>
            </a:r>
          </a:p>
        </p:txBody>
      </p:sp>
      <p:cxnSp>
        <p:nvCxnSpPr>
          <p:cNvPr id="10" name="Connector 9"/>
          <p:cNvCxnSpPr/>
          <p:nvPr/>
        </p:nvCxnSpPr>
        <p:spPr>
          <a:xfrm>
            <a:off x="8791956"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47404" y="2057400"/>
            <a:ext cx="2619756" cy="105156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Output</a:t>
            </a:r>
          </a:p>
        </p:txBody>
      </p:sp>
      <p:sp>
        <p:nvSpPr>
          <p:cNvPr id="12" name="Rounded Rectangle 11"/>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Readability: names + indentation</a:t>
            </a:r>
          </a:p>
        </p:txBody>
      </p:sp>
      <p:sp>
        <p:nvSpPr>
          <p:cNvPr id="13" name="Rounded Rectangle 12"/>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Runtime: errors, imports and dependencies</a:t>
            </a:r>
          </a:p>
        </p:txBody>
      </p:sp>
      <p:sp>
        <p:nvSpPr>
          <p:cNvPr id="14" name="Rounded Rectangle 13"/>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Debug: inspect values and stack traces</a:t>
            </a:r>
          </a:p>
        </p:txBody>
      </p:sp>
      <p:sp>
        <p:nvSpPr>
          <p:cNvPr id="15" name="TextBox 14"/>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6" name="Rounded Rectangle 1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8" name="Rounded Rectangle 17"/>
          <p:cNvSpPr/>
          <p:nvPr/>
        </p:nvSpPr>
        <p:spPr>
          <a:xfrm>
            <a:off x="384048" y="5493872"/>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A canary sends a small share of traffic to a new model. Increase traffic only when health metrics are acceptable, and keep rollback ready.</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Data structures at a glance</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PYTHON FOUNDATIONS</a:t>
            </a:r>
          </a:p>
        </p:txBody>
      </p:sp>
      <p:sp>
        <p:nvSpPr>
          <p:cNvPr id="5" name="Rounded Rectangle 4"/>
          <p:cNvSpPr/>
          <p:nvPr/>
        </p:nvSpPr>
        <p:spPr>
          <a:xfrm>
            <a:off x="594360" y="2057400"/>
            <a:ext cx="2619756"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400" b="1">
                <a:solidFill>
                  <a:srgbClr val="14223A"/>
                </a:solidFill>
                <a:latin typeface="Aptos"/>
              </a:defRPr>
            </a:pPr>
            <a:r>
              <a:t>List</a:t>
            </a:r>
            <a:br/>
            <a:r>
              <a:t>ordered + mutable</a:t>
            </a:r>
          </a:p>
        </p:txBody>
      </p:sp>
      <p:cxnSp>
        <p:nvCxnSpPr>
          <p:cNvPr id="6" name="Connector 5"/>
          <p:cNvCxnSpPr/>
          <p:nvPr/>
        </p:nvCxnSpPr>
        <p:spPr>
          <a:xfrm>
            <a:off x="322326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8708" y="2057400"/>
            <a:ext cx="2619756"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400" b="1">
                <a:solidFill>
                  <a:srgbClr val="14223A"/>
                </a:solidFill>
                <a:latin typeface="Aptos"/>
              </a:defRPr>
            </a:pPr>
            <a:r>
              <a:t>Tuple</a:t>
            </a:r>
            <a:br/>
            <a:r>
              <a:t>ordered + immutable</a:t>
            </a:r>
          </a:p>
        </p:txBody>
      </p:sp>
      <p:cxnSp>
        <p:nvCxnSpPr>
          <p:cNvPr id="8" name="Connector 7"/>
          <p:cNvCxnSpPr/>
          <p:nvPr/>
        </p:nvCxnSpPr>
        <p:spPr>
          <a:xfrm>
            <a:off x="6007608"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63056" y="2057400"/>
            <a:ext cx="2619756"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Set</a:t>
            </a:r>
            <a:br/>
            <a:r>
              <a:t>unique values</a:t>
            </a:r>
          </a:p>
        </p:txBody>
      </p:sp>
      <p:cxnSp>
        <p:nvCxnSpPr>
          <p:cNvPr id="10" name="Connector 9"/>
          <p:cNvCxnSpPr/>
          <p:nvPr/>
        </p:nvCxnSpPr>
        <p:spPr>
          <a:xfrm>
            <a:off x="8791956"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47404" y="2057400"/>
            <a:ext cx="2619756" cy="105156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400" b="1">
                <a:solidFill>
                  <a:srgbClr val="14223A"/>
                </a:solidFill>
                <a:latin typeface="Aptos"/>
              </a:defRPr>
            </a:pPr>
            <a:r>
              <a:t>Dictionary</a:t>
            </a:r>
            <a:br/>
            <a:r>
              <a:t>key → value</a:t>
            </a:r>
          </a:p>
        </p:txBody>
      </p:sp>
      <p:sp>
        <p:nvSpPr>
          <p:cNvPr id="12" name="Rounded Rectangle 11"/>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Choose by required operations</a:t>
            </a:r>
          </a:p>
        </p:txBody>
      </p:sp>
      <p:sp>
        <p:nvSpPr>
          <p:cNvPr id="13" name="Rounded Rectangle 12"/>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Sets support fast membership tests</a:t>
            </a:r>
          </a:p>
        </p:txBody>
      </p:sp>
      <p:sp>
        <p:nvSpPr>
          <p:cNvPr id="14" name="Rounded Rectangle 13"/>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Dictionaries model records and lookups</a:t>
            </a:r>
          </a:p>
        </p:txBody>
      </p:sp>
      <p:sp>
        <p:nvSpPr>
          <p:cNvPr id="15" name="TextBox 14"/>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6" name="Rounded Rectangle 1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8" name="Rounded Rectangle 17"/>
          <p:cNvSpPr/>
          <p:nvPr/>
        </p:nvSpPr>
        <p:spPr>
          <a:xfrm>
            <a:off x="384048" y="5425046"/>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Active learning selects examples for labeling, often based on uncertainty or diversity. Compare it with random sampling to confirm it improves learning efficiency.</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Function call and return</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PYTHON FOUNDATIONS</a:t>
            </a:r>
          </a:p>
        </p:txBody>
      </p:sp>
      <p:sp>
        <p:nvSpPr>
          <p:cNvPr id="5" name="Rounded Rectangle 4"/>
          <p:cNvSpPr/>
          <p:nvPr/>
        </p:nvSpPr>
        <p:spPr>
          <a:xfrm>
            <a:off x="594360" y="2057400"/>
            <a:ext cx="2619756"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Arguments</a:t>
            </a:r>
          </a:p>
        </p:txBody>
      </p:sp>
      <p:cxnSp>
        <p:nvCxnSpPr>
          <p:cNvPr id="6" name="Connector 5"/>
          <p:cNvCxnSpPr/>
          <p:nvPr/>
        </p:nvCxnSpPr>
        <p:spPr>
          <a:xfrm>
            <a:off x="322326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8708" y="2057400"/>
            <a:ext cx="2619756"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Function body</a:t>
            </a:r>
          </a:p>
        </p:txBody>
      </p:sp>
      <p:cxnSp>
        <p:nvCxnSpPr>
          <p:cNvPr id="8" name="Connector 7"/>
          <p:cNvCxnSpPr/>
          <p:nvPr/>
        </p:nvCxnSpPr>
        <p:spPr>
          <a:xfrm>
            <a:off x="6007608"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63056" y="2057400"/>
            <a:ext cx="2619756"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Return value</a:t>
            </a:r>
          </a:p>
        </p:txBody>
      </p:sp>
      <p:cxnSp>
        <p:nvCxnSpPr>
          <p:cNvPr id="10" name="Connector 9"/>
          <p:cNvCxnSpPr/>
          <p:nvPr/>
        </p:nvCxnSpPr>
        <p:spPr>
          <a:xfrm>
            <a:off x="8791956"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47404" y="2057400"/>
            <a:ext cx="2619756" cy="105156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Caller continues</a:t>
            </a:r>
          </a:p>
        </p:txBody>
      </p:sp>
      <p:sp>
        <p:nvSpPr>
          <p:cNvPr id="12" name="Rounded Rectangle 11"/>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Inputs define the contract</a:t>
            </a:r>
          </a:p>
        </p:txBody>
      </p:sp>
      <p:sp>
        <p:nvSpPr>
          <p:cNvPr id="13" name="Rounded Rectangle 12"/>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Keep functions small and testable</a:t>
            </a:r>
          </a:p>
        </p:txBody>
      </p:sp>
      <p:sp>
        <p:nvSpPr>
          <p:cNvPr id="14" name="Rounded Rectangle 13"/>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Return values are easier to reuse than print-only output</a:t>
            </a:r>
          </a:p>
        </p:txBody>
      </p:sp>
      <p:sp>
        <p:nvSpPr>
          <p:cNvPr id="15" name="TextBox 14"/>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6" name="Rounded Rectangle 1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8" name="Rounded Rectangle 17"/>
          <p:cNvSpPr/>
          <p:nvPr/>
        </p:nvSpPr>
        <p:spPr>
          <a:xfrm>
            <a:off x="384048" y="5503707"/>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Reinforcement learning improves actions through rewards from an environment. Poorly designed rewards can cause unintended behavior, so test safely.</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NumPy vectorization</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DATA SCIENCE</a:t>
            </a:r>
          </a:p>
        </p:txBody>
      </p:sp>
      <p:sp>
        <p:nvSpPr>
          <p:cNvPr id="5" name="Rounded Rectangle 4"/>
          <p:cNvSpPr/>
          <p:nvPr/>
        </p:nvSpPr>
        <p:spPr>
          <a:xfrm>
            <a:off x="594360" y="2057400"/>
            <a:ext cx="2619756"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Array input</a:t>
            </a:r>
          </a:p>
        </p:txBody>
      </p:sp>
      <p:cxnSp>
        <p:nvCxnSpPr>
          <p:cNvPr id="6" name="Connector 5"/>
          <p:cNvCxnSpPr/>
          <p:nvPr/>
        </p:nvCxnSpPr>
        <p:spPr>
          <a:xfrm>
            <a:off x="322326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8708" y="2057400"/>
            <a:ext cx="2619756"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400" b="1">
                <a:solidFill>
                  <a:srgbClr val="14223A"/>
                </a:solidFill>
                <a:latin typeface="Aptos"/>
              </a:defRPr>
            </a:pPr>
            <a:r>
              <a:t>Vectorized operation</a:t>
            </a:r>
          </a:p>
        </p:txBody>
      </p:sp>
      <p:cxnSp>
        <p:nvCxnSpPr>
          <p:cNvPr id="8" name="Connector 7"/>
          <p:cNvCxnSpPr/>
          <p:nvPr/>
        </p:nvCxnSpPr>
        <p:spPr>
          <a:xfrm>
            <a:off x="6007608"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63056" y="2057400"/>
            <a:ext cx="2619756"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Broadcasting</a:t>
            </a:r>
          </a:p>
        </p:txBody>
      </p:sp>
      <p:cxnSp>
        <p:nvCxnSpPr>
          <p:cNvPr id="10" name="Connector 9"/>
          <p:cNvCxnSpPr/>
          <p:nvPr/>
        </p:nvCxnSpPr>
        <p:spPr>
          <a:xfrm>
            <a:off x="8791956"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47404" y="2057400"/>
            <a:ext cx="2619756" cy="105156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Array output</a:t>
            </a:r>
          </a:p>
        </p:txBody>
      </p:sp>
      <p:sp>
        <p:nvSpPr>
          <p:cNvPr id="12" name="Rounded Rectangle 11"/>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Less Python-loop overhead</a:t>
            </a:r>
          </a:p>
        </p:txBody>
      </p:sp>
      <p:sp>
        <p:nvSpPr>
          <p:cNvPr id="13" name="Rounded Rectangle 12"/>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Shapes must be compatible</a:t>
            </a:r>
          </a:p>
        </p:txBody>
      </p:sp>
      <p:sp>
        <p:nvSpPr>
          <p:cNvPr id="14" name="Rounded Rectangle 13"/>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Check dtype and missing/invalid values</a:t>
            </a:r>
          </a:p>
        </p:txBody>
      </p:sp>
      <p:sp>
        <p:nvSpPr>
          <p:cNvPr id="15" name="TextBox 14"/>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6" name="Rounded Rectangle 1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8" name="Rounded Rectangle 17"/>
          <p:cNvSpPr/>
          <p:nvPr/>
        </p:nvSpPr>
        <p:spPr>
          <a:xfrm>
            <a:off x="384048" y="5493873"/>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Validate clusters with metrics such as silhouette score and with domain usefulness, stability, and cluster-size checks.</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Pandas analysis workflow</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DATA SCIENCE</a:t>
            </a:r>
          </a:p>
        </p:txBody>
      </p:sp>
      <p:sp>
        <p:nvSpPr>
          <p:cNvPr id="5" name="Rounded Rectangle 4"/>
          <p:cNvSpPr/>
          <p:nvPr/>
        </p:nvSpPr>
        <p:spPr>
          <a:xfrm>
            <a:off x="594360" y="2057400"/>
            <a:ext cx="2062886"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Load</a:t>
            </a:r>
          </a:p>
        </p:txBody>
      </p:sp>
      <p:cxnSp>
        <p:nvCxnSpPr>
          <p:cNvPr id="6" name="Connector 5"/>
          <p:cNvCxnSpPr/>
          <p:nvPr/>
        </p:nvCxnSpPr>
        <p:spPr>
          <a:xfrm>
            <a:off x="266639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821838" y="2057400"/>
            <a:ext cx="2062886"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Inspect</a:t>
            </a:r>
          </a:p>
        </p:txBody>
      </p:sp>
      <p:cxnSp>
        <p:nvCxnSpPr>
          <p:cNvPr id="8" name="Connector 7"/>
          <p:cNvCxnSpPr/>
          <p:nvPr/>
        </p:nvCxnSpPr>
        <p:spPr>
          <a:xfrm>
            <a:off x="4893868"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49316" y="2057400"/>
            <a:ext cx="2062886"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Clean</a:t>
            </a:r>
          </a:p>
        </p:txBody>
      </p:sp>
      <p:cxnSp>
        <p:nvCxnSpPr>
          <p:cNvPr id="10" name="Connector 9"/>
          <p:cNvCxnSpPr/>
          <p:nvPr/>
        </p:nvCxnSpPr>
        <p:spPr>
          <a:xfrm>
            <a:off x="7121347"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276795" y="2057400"/>
            <a:ext cx="2062886" cy="105156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Transform</a:t>
            </a:r>
          </a:p>
        </p:txBody>
      </p:sp>
      <p:cxnSp>
        <p:nvCxnSpPr>
          <p:cNvPr id="12" name="Connector 11"/>
          <p:cNvCxnSpPr/>
          <p:nvPr/>
        </p:nvCxnSpPr>
        <p:spPr>
          <a:xfrm>
            <a:off x="9348825"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04273" y="2057400"/>
            <a:ext cx="2062886" cy="1051560"/>
          </a:xfrm>
          <a:prstGeom prst="roundRect">
            <a:avLst/>
          </a:prstGeom>
          <a:solidFill>
            <a:srgbClr val="FCE7EC"/>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Summarize</a:t>
            </a:r>
          </a:p>
        </p:txBody>
      </p:sp>
      <p:sp>
        <p:nvSpPr>
          <p:cNvPr id="14" name="Rounded Rectangle 13"/>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Schema + row counts</a:t>
            </a:r>
          </a:p>
        </p:txBody>
      </p:sp>
      <p:sp>
        <p:nvSpPr>
          <p:cNvPr id="15" name="Rounded Rectangle 14"/>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Missing values + duplicates</a:t>
            </a:r>
          </a:p>
        </p:txBody>
      </p:sp>
      <p:sp>
        <p:nvSpPr>
          <p:cNvPr id="16" name="Rounded Rectangle 15"/>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Group, aggregate and visualize</a:t>
            </a:r>
          </a:p>
        </p:txBody>
      </p:sp>
      <p:sp>
        <p:nvSpPr>
          <p:cNvPr id="17" name="TextBox 16"/>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8" name="Rounded Rectangle 1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20" name="Rounded Rectangle 19"/>
          <p:cNvSpPr/>
          <p:nvPr/>
        </p:nvSpPr>
        <p:spPr>
          <a:xfrm>
            <a:off x="384048" y="5493873"/>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An ML project moves from problem definition and data validation through training, evaluation, deployment, and monitoring. Keep data, code, and experiments reproducible.</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Statistics: spread and center</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MATHEMATICS FOR ML</a:t>
            </a:r>
          </a:p>
        </p:txBody>
      </p:sp>
      <p:sp>
        <p:nvSpPr>
          <p:cNvPr id="5" name="Rounded Rectangle 4"/>
          <p:cNvSpPr/>
          <p:nvPr/>
        </p:nvSpPr>
        <p:spPr>
          <a:xfrm>
            <a:off x="594360" y="2057400"/>
            <a:ext cx="2619756"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Raw observations</a:t>
            </a:r>
          </a:p>
        </p:txBody>
      </p:sp>
      <p:cxnSp>
        <p:nvCxnSpPr>
          <p:cNvPr id="6" name="Connector 5"/>
          <p:cNvCxnSpPr/>
          <p:nvPr/>
        </p:nvCxnSpPr>
        <p:spPr>
          <a:xfrm>
            <a:off x="322326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8708" y="2057400"/>
            <a:ext cx="2619756"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400" b="1">
                <a:solidFill>
                  <a:srgbClr val="14223A"/>
                </a:solidFill>
                <a:latin typeface="Aptos"/>
              </a:defRPr>
            </a:pPr>
            <a:r>
              <a:t>Center</a:t>
            </a:r>
            <a:br/>
            <a:r>
              <a:t>mean / median</a:t>
            </a:r>
          </a:p>
        </p:txBody>
      </p:sp>
      <p:cxnSp>
        <p:nvCxnSpPr>
          <p:cNvPr id="8" name="Connector 7"/>
          <p:cNvCxnSpPr/>
          <p:nvPr/>
        </p:nvCxnSpPr>
        <p:spPr>
          <a:xfrm>
            <a:off x="6007608"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63056" y="2057400"/>
            <a:ext cx="2619756"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Spread</a:t>
            </a:r>
            <a:br/>
            <a:r>
              <a:t>SD / IQR</a:t>
            </a:r>
          </a:p>
        </p:txBody>
      </p:sp>
      <p:cxnSp>
        <p:nvCxnSpPr>
          <p:cNvPr id="10" name="Connector 9"/>
          <p:cNvCxnSpPr/>
          <p:nvPr/>
        </p:nvCxnSpPr>
        <p:spPr>
          <a:xfrm>
            <a:off x="8791956"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47404" y="2057400"/>
            <a:ext cx="2619756" cy="105156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Interpretation</a:t>
            </a:r>
          </a:p>
        </p:txBody>
      </p:sp>
      <p:sp>
        <p:nvSpPr>
          <p:cNvPr id="12" name="Rounded Rectangle 11"/>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Outliers move the mean more than the median</a:t>
            </a:r>
          </a:p>
        </p:txBody>
      </p:sp>
      <p:sp>
        <p:nvSpPr>
          <p:cNvPr id="13" name="Rounded Rectangle 12"/>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Standard deviation is scale-sensitive</a:t>
            </a:r>
          </a:p>
        </p:txBody>
      </p:sp>
      <p:sp>
        <p:nvSpPr>
          <p:cNvPr id="14" name="Rounded Rectangle 13"/>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Use plots with summary statistics</a:t>
            </a:r>
          </a:p>
        </p:txBody>
      </p:sp>
      <p:sp>
        <p:nvSpPr>
          <p:cNvPr id="15" name="TextBox 14"/>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6" name="Rounded Rectangle 1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8" name="Rounded Rectangle 17"/>
          <p:cNvSpPr/>
          <p:nvPr/>
        </p:nvSpPr>
        <p:spPr>
          <a:xfrm>
            <a:off x="384048" y="5474207"/>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RAG ingests and chunks documents, embeds them, retrieves relevant passages for a query, and generates an answer grounded in those passages.</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Bayes theorem concept</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MATHEMATICS FOR ML</a:t>
            </a:r>
          </a:p>
        </p:txBody>
      </p:sp>
      <p:sp>
        <p:nvSpPr>
          <p:cNvPr id="5" name="Rounded Rectangle 4"/>
          <p:cNvSpPr/>
          <p:nvPr/>
        </p:nvSpPr>
        <p:spPr>
          <a:xfrm>
            <a:off x="594360" y="2057400"/>
            <a:ext cx="2619756"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Prior belief</a:t>
            </a:r>
          </a:p>
        </p:txBody>
      </p:sp>
      <p:cxnSp>
        <p:nvCxnSpPr>
          <p:cNvPr id="6" name="Connector 5"/>
          <p:cNvCxnSpPr/>
          <p:nvPr/>
        </p:nvCxnSpPr>
        <p:spPr>
          <a:xfrm>
            <a:off x="322326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8708" y="2057400"/>
            <a:ext cx="2619756"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Evidence</a:t>
            </a:r>
          </a:p>
        </p:txBody>
      </p:sp>
      <p:cxnSp>
        <p:nvCxnSpPr>
          <p:cNvPr id="8" name="Connector 7"/>
          <p:cNvCxnSpPr/>
          <p:nvPr/>
        </p:nvCxnSpPr>
        <p:spPr>
          <a:xfrm>
            <a:off x="6007608"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63056" y="2057400"/>
            <a:ext cx="2619756"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Likelihood</a:t>
            </a:r>
          </a:p>
        </p:txBody>
      </p:sp>
      <p:cxnSp>
        <p:nvCxnSpPr>
          <p:cNvPr id="10" name="Connector 9"/>
          <p:cNvCxnSpPr/>
          <p:nvPr/>
        </p:nvCxnSpPr>
        <p:spPr>
          <a:xfrm>
            <a:off x="8791956"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47404" y="2057400"/>
            <a:ext cx="2619756" cy="105156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Posterior belief</a:t>
            </a:r>
          </a:p>
        </p:txBody>
      </p:sp>
      <p:sp>
        <p:nvSpPr>
          <p:cNvPr id="12" name="Rounded Rectangle 11"/>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Prior: what was believed before</a:t>
            </a:r>
          </a:p>
        </p:txBody>
      </p:sp>
      <p:sp>
        <p:nvSpPr>
          <p:cNvPr id="13" name="Rounded Rectangle 12"/>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Likelihood: evidence under a hypothesis</a:t>
            </a:r>
          </a:p>
        </p:txBody>
      </p:sp>
      <p:sp>
        <p:nvSpPr>
          <p:cNvPr id="14" name="Rounded Rectangle 13"/>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Posterior: updated belief after evidence</a:t>
            </a:r>
          </a:p>
        </p:txBody>
      </p:sp>
      <p:sp>
        <p:nvSpPr>
          <p:cNvPr id="15" name="TextBox 14"/>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6" name="Rounded Rectangle 1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8" name="Rounded Rectangle 17"/>
          <p:cNvSpPr/>
          <p:nvPr/>
        </p:nvSpPr>
        <p:spPr>
          <a:xfrm>
            <a:off x="384048" y="5425046"/>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Validate schemas, duplicates, missing values, ranges, and label consistency. Clear annotation guidelines and reviewer agreement improve training data quality.</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Gradient descent update</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MATHEMATICS FOR ML</a:t>
            </a:r>
          </a:p>
        </p:txBody>
      </p:sp>
      <p:sp>
        <p:nvSpPr>
          <p:cNvPr id="5" name="Rounded Rectangle 4"/>
          <p:cNvSpPr/>
          <p:nvPr/>
        </p:nvSpPr>
        <p:spPr>
          <a:xfrm>
            <a:off x="731520" y="1828800"/>
            <a:ext cx="3017520" cy="96012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Initialize parameters</a:t>
            </a:r>
          </a:p>
        </p:txBody>
      </p:sp>
      <p:sp>
        <p:nvSpPr>
          <p:cNvPr id="6" name="Rounded Rectangle 5"/>
          <p:cNvSpPr/>
          <p:nvPr/>
        </p:nvSpPr>
        <p:spPr>
          <a:xfrm>
            <a:off x="8138160" y="1828800"/>
            <a:ext cx="3017520" cy="96012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Compute loss</a:t>
            </a:r>
          </a:p>
        </p:txBody>
      </p:sp>
      <p:sp>
        <p:nvSpPr>
          <p:cNvPr id="7" name="Rounded Rectangle 6"/>
          <p:cNvSpPr/>
          <p:nvPr/>
        </p:nvSpPr>
        <p:spPr>
          <a:xfrm>
            <a:off x="8138160" y="4069080"/>
            <a:ext cx="3017520" cy="96012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Compute gradient</a:t>
            </a:r>
          </a:p>
        </p:txBody>
      </p:sp>
      <p:sp>
        <p:nvSpPr>
          <p:cNvPr id="8" name="Rounded Rectangle 7"/>
          <p:cNvSpPr/>
          <p:nvPr/>
        </p:nvSpPr>
        <p:spPr>
          <a:xfrm>
            <a:off x="731520" y="4069080"/>
            <a:ext cx="3017520" cy="96012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Update weights</a:t>
            </a:r>
          </a:p>
        </p:txBody>
      </p:sp>
      <p:cxnSp>
        <p:nvCxnSpPr>
          <p:cNvPr id="9" name="Connector 8"/>
          <p:cNvCxnSpPr/>
          <p:nvPr/>
        </p:nvCxnSpPr>
        <p:spPr>
          <a:xfrm>
            <a:off x="3794760" y="2286000"/>
            <a:ext cx="420624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646920" y="2834640"/>
            <a:ext cx="0" cy="109728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3840480" y="4526280"/>
            <a:ext cx="416052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240280" y="2880360"/>
            <a:ext cx="0" cy="105156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14400" y="5220929"/>
            <a:ext cx="10332720" cy="411480"/>
          </a:xfrm>
          <a:prstGeom prst="rect">
            <a:avLst/>
          </a:prstGeom>
          <a:noFill/>
        </p:spPr>
        <p:txBody>
          <a:bodyPr wrap="square" lIns="73152" rIns="73152" bIns="36576">
            <a:spAutoFit/>
          </a:bodyPr>
          <a:lstStyle/>
          <a:p>
            <a:pPr algn="ctr">
              <a:defRPr sz="1500" b="0">
                <a:solidFill>
                  <a:srgbClr val="5F6C7D"/>
                </a:solidFill>
                <a:latin typeface="Aptos"/>
              </a:defRPr>
            </a:pPr>
            <a:r>
              <a:rPr dirty="0"/>
              <a:t>Iterative loop: use results and monitoring to decide the next action.</a:t>
            </a:r>
          </a:p>
        </p:txBody>
      </p:sp>
      <p:sp>
        <p:nvSpPr>
          <p:cNvPr id="14" name="Rounded Rectangle 1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6" name="Rounded Rectangle 15"/>
          <p:cNvSpPr/>
          <p:nvPr/>
        </p:nvSpPr>
        <p:spPr>
          <a:xfrm>
            <a:off x="384048" y="5513537"/>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Data versioning records which snapshot and transformations produced a model, supporting reproducibility, audits, and rollback.</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Leakage-safe data split</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DATA SCIENCE</a:t>
            </a:r>
          </a:p>
        </p:txBody>
      </p:sp>
      <p:sp>
        <p:nvSpPr>
          <p:cNvPr id="5" name="Rounded Rectangle 4"/>
          <p:cNvSpPr/>
          <p:nvPr/>
        </p:nvSpPr>
        <p:spPr>
          <a:xfrm>
            <a:off x="594360" y="2057400"/>
            <a:ext cx="2619756"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Split records</a:t>
            </a:r>
          </a:p>
        </p:txBody>
      </p:sp>
      <p:cxnSp>
        <p:nvCxnSpPr>
          <p:cNvPr id="6" name="Connector 5"/>
          <p:cNvCxnSpPr/>
          <p:nvPr/>
        </p:nvCxnSpPr>
        <p:spPr>
          <a:xfrm>
            <a:off x="322326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8708" y="2057400"/>
            <a:ext cx="2619756"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400" b="1">
                <a:solidFill>
                  <a:srgbClr val="14223A"/>
                </a:solidFill>
                <a:latin typeface="Aptos"/>
              </a:defRPr>
            </a:pPr>
            <a:r>
              <a:t>Fit transforms on train</a:t>
            </a:r>
          </a:p>
        </p:txBody>
      </p:sp>
      <p:cxnSp>
        <p:nvCxnSpPr>
          <p:cNvPr id="8" name="Connector 7"/>
          <p:cNvCxnSpPr/>
          <p:nvPr/>
        </p:nvCxnSpPr>
        <p:spPr>
          <a:xfrm>
            <a:off x="6007608"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63056" y="2057400"/>
            <a:ext cx="2619756"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Tune on validation</a:t>
            </a:r>
          </a:p>
        </p:txBody>
      </p:sp>
      <p:cxnSp>
        <p:nvCxnSpPr>
          <p:cNvPr id="10" name="Connector 9"/>
          <p:cNvCxnSpPr/>
          <p:nvPr/>
        </p:nvCxnSpPr>
        <p:spPr>
          <a:xfrm>
            <a:off x="8791956"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47404" y="2057400"/>
            <a:ext cx="2619756" cy="105156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Final test once</a:t>
            </a:r>
          </a:p>
        </p:txBody>
      </p:sp>
      <p:sp>
        <p:nvSpPr>
          <p:cNvPr id="12" name="Rounded Rectangle 11"/>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Never learn imputation/scaling from all rows</a:t>
            </a:r>
          </a:p>
        </p:txBody>
      </p:sp>
      <p:sp>
        <p:nvSpPr>
          <p:cNvPr id="13" name="Rounded Rectangle 12"/>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Respect time or entity boundaries</a:t>
            </a:r>
          </a:p>
        </p:txBody>
      </p:sp>
      <p:sp>
        <p:nvSpPr>
          <p:cNvPr id="14" name="Rounded Rectangle 13"/>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Keep test set out of tuning</a:t>
            </a:r>
          </a:p>
        </p:txBody>
      </p:sp>
      <p:sp>
        <p:nvSpPr>
          <p:cNvPr id="15" name="TextBox 14"/>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6" name="Rounded Rectangle 1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8" name="Rounded Rectangle 17"/>
          <p:cNvSpPr/>
          <p:nvPr/>
        </p:nvSpPr>
        <p:spPr>
          <a:xfrm>
            <a:off x="384048" y="5533201"/>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A model card documents intended use, evaluation, limitations, and known risks so users can judge whether a model fits their situation.</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Supervised learning map</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CLASSICAL ML</a:t>
            </a:r>
          </a:p>
        </p:txBody>
      </p:sp>
      <p:sp>
        <p:nvSpPr>
          <p:cNvPr id="5" name="Rounded Rectangle 4"/>
          <p:cNvSpPr/>
          <p:nvPr/>
        </p:nvSpPr>
        <p:spPr>
          <a:xfrm>
            <a:off x="594360" y="2057400"/>
            <a:ext cx="2619756"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Labeled examples</a:t>
            </a:r>
          </a:p>
        </p:txBody>
      </p:sp>
      <p:cxnSp>
        <p:nvCxnSpPr>
          <p:cNvPr id="6" name="Connector 5"/>
          <p:cNvCxnSpPr/>
          <p:nvPr/>
        </p:nvCxnSpPr>
        <p:spPr>
          <a:xfrm>
            <a:off x="322326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8708" y="2057400"/>
            <a:ext cx="2619756"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Feature matrix X</a:t>
            </a:r>
          </a:p>
        </p:txBody>
      </p:sp>
      <p:cxnSp>
        <p:nvCxnSpPr>
          <p:cNvPr id="8" name="Connector 7"/>
          <p:cNvCxnSpPr/>
          <p:nvPr/>
        </p:nvCxnSpPr>
        <p:spPr>
          <a:xfrm>
            <a:off x="6007608"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63056" y="2057400"/>
            <a:ext cx="2619756"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Train model</a:t>
            </a:r>
          </a:p>
        </p:txBody>
      </p:sp>
      <p:cxnSp>
        <p:nvCxnSpPr>
          <p:cNvPr id="10" name="Connector 9"/>
          <p:cNvCxnSpPr/>
          <p:nvPr/>
        </p:nvCxnSpPr>
        <p:spPr>
          <a:xfrm>
            <a:off x="8791956"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47404" y="2057400"/>
            <a:ext cx="2619756" cy="105156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Predict target y</a:t>
            </a:r>
          </a:p>
        </p:txBody>
      </p:sp>
      <p:sp>
        <p:nvSpPr>
          <p:cNvPr id="12" name="Rounded Rectangle 11"/>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Regression → numeric values</a:t>
            </a:r>
          </a:p>
        </p:txBody>
      </p:sp>
      <p:sp>
        <p:nvSpPr>
          <p:cNvPr id="13" name="Rounded Rectangle 12"/>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Classification → class / probability</a:t>
            </a:r>
          </a:p>
        </p:txBody>
      </p:sp>
      <p:sp>
        <p:nvSpPr>
          <p:cNvPr id="14" name="Rounded Rectangle 13"/>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Measure on unseen examples</a:t>
            </a:r>
          </a:p>
        </p:txBody>
      </p:sp>
      <p:sp>
        <p:nvSpPr>
          <p:cNvPr id="15" name="TextBox 14"/>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6" name="Rounded Rectangle 1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8" name="Rounded Rectangle 17"/>
          <p:cNvSpPr/>
          <p:nvPr/>
        </p:nvSpPr>
        <p:spPr>
          <a:xfrm>
            <a:off x="384048" y="5503704"/>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Orchestration coordinates data checks, training, evaluation, and deployment. Use retries, timeouts, notifications, and quality gates before promotion.</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Bias–variance trade-off</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CLASSICAL ML</a:t>
            </a:r>
          </a:p>
        </p:txBody>
      </p:sp>
      <p:sp>
        <p:nvSpPr>
          <p:cNvPr id="5" name="Rounded Rectangle 4"/>
          <p:cNvSpPr/>
          <p:nvPr/>
        </p:nvSpPr>
        <p:spPr>
          <a:xfrm>
            <a:off x="594360" y="2057400"/>
            <a:ext cx="3547872"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Too simple</a:t>
            </a:r>
            <a:br/>
            <a:r>
              <a:t>underfit</a:t>
            </a:r>
          </a:p>
        </p:txBody>
      </p:sp>
      <p:cxnSp>
        <p:nvCxnSpPr>
          <p:cNvPr id="6" name="Connector 5"/>
          <p:cNvCxnSpPr/>
          <p:nvPr/>
        </p:nvCxnSpPr>
        <p:spPr>
          <a:xfrm>
            <a:off x="4151376"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306824" y="2057400"/>
            <a:ext cx="3547872"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Balanced model</a:t>
            </a:r>
          </a:p>
        </p:txBody>
      </p:sp>
      <p:cxnSp>
        <p:nvCxnSpPr>
          <p:cNvPr id="8" name="Connector 7"/>
          <p:cNvCxnSpPr/>
          <p:nvPr/>
        </p:nvCxnSpPr>
        <p:spPr>
          <a:xfrm>
            <a:off x="786384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019288" y="2057400"/>
            <a:ext cx="3547872"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Too complex</a:t>
            </a:r>
            <a:br/>
            <a:r>
              <a:t>overfit</a:t>
            </a:r>
          </a:p>
        </p:txBody>
      </p:sp>
      <p:sp>
        <p:nvSpPr>
          <p:cNvPr id="10" name="Rounded Rectangle 9"/>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Training and validation both poor: underfit</a:t>
            </a:r>
          </a:p>
        </p:txBody>
      </p:sp>
      <p:sp>
        <p:nvSpPr>
          <p:cNvPr id="11" name="Rounded Rectangle 10"/>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Validation improves then worsens: overfit</a:t>
            </a:r>
          </a:p>
        </p:txBody>
      </p:sp>
      <p:sp>
        <p:nvSpPr>
          <p:cNvPr id="12" name="Rounded Rectangle 11"/>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Use CV, regularization and more representative data</a:t>
            </a:r>
          </a:p>
        </p:txBody>
      </p:sp>
      <p:sp>
        <p:nvSpPr>
          <p:cNvPr id="13" name="TextBox 12"/>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4" name="Rounded Rectangle 1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6" name="Rounded Rectangle 15"/>
          <p:cNvSpPr/>
          <p:nvPr/>
        </p:nvSpPr>
        <p:spPr>
          <a:xfrm>
            <a:off x="384048" y="5425046"/>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Batch scoring generates predictions for many records on a schedule. Track counts, failures, model version, and completion status.</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Regression model workflow</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CLASSICAL ML</a:t>
            </a:r>
          </a:p>
        </p:txBody>
      </p:sp>
      <p:sp>
        <p:nvSpPr>
          <p:cNvPr id="5" name="Rounded Rectangle 4"/>
          <p:cNvSpPr/>
          <p:nvPr/>
        </p:nvSpPr>
        <p:spPr>
          <a:xfrm>
            <a:off x="594360" y="2057400"/>
            <a:ext cx="2619756"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Features</a:t>
            </a:r>
          </a:p>
        </p:txBody>
      </p:sp>
      <p:cxnSp>
        <p:nvCxnSpPr>
          <p:cNvPr id="6" name="Connector 5"/>
          <p:cNvCxnSpPr/>
          <p:nvPr/>
        </p:nvCxnSpPr>
        <p:spPr>
          <a:xfrm>
            <a:off x="322326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8708" y="2057400"/>
            <a:ext cx="2619756"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400" b="1">
                <a:solidFill>
                  <a:srgbClr val="14223A"/>
                </a:solidFill>
                <a:latin typeface="Aptos"/>
              </a:defRPr>
            </a:pPr>
            <a:r>
              <a:t>Linear / polynomial model</a:t>
            </a:r>
          </a:p>
        </p:txBody>
      </p:sp>
      <p:cxnSp>
        <p:nvCxnSpPr>
          <p:cNvPr id="8" name="Connector 7"/>
          <p:cNvCxnSpPr/>
          <p:nvPr/>
        </p:nvCxnSpPr>
        <p:spPr>
          <a:xfrm>
            <a:off x="6007608"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63056" y="2057400"/>
            <a:ext cx="2619756"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Predictions</a:t>
            </a:r>
          </a:p>
        </p:txBody>
      </p:sp>
      <p:cxnSp>
        <p:nvCxnSpPr>
          <p:cNvPr id="10" name="Connector 9"/>
          <p:cNvCxnSpPr/>
          <p:nvPr/>
        </p:nvCxnSpPr>
        <p:spPr>
          <a:xfrm>
            <a:off x="8791956"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47404" y="2057400"/>
            <a:ext cx="2619756" cy="105156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Residual analysis</a:t>
            </a:r>
          </a:p>
        </p:txBody>
      </p:sp>
      <p:sp>
        <p:nvSpPr>
          <p:cNvPr id="12" name="Rounded Rectangle 11"/>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MAE: average absolute error</a:t>
            </a:r>
          </a:p>
        </p:txBody>
      </p:sp>
      <p:sp>
        <p:nvSpPr>
          <p:cNvPr id="13" name="Rounded Rectangle 12"/>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RMSE: penalizes large errors</a:t>
            </a:r>
          </a:p>
        </p:txBody>
      </p:sp>
      <p:sp>
        <p:nvSpPr>
          <p:cNvPr id="14" name="Rounded Rectangle 13"/>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Residual patterns can reveal misspecification</a:t>
            </a:r>
          </a:p>
        </p:txBody>
      </p:sp>
      <p:sp>
        <p:nvSpPr>
          <p:cNvPr id="15" name="TextBox 14"/>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6" name="Rounded Rectangle 1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8" name="Rounded Rectangle 17"/>
          <p:cNvSpPr/>
          <p:nvPr/>
        </p:nvSpPr>
        <p:spPr>
          <a:xfrm>
            <a:off x="384048" y="5493872"/>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Online inference responds to live requests, so latency, concurrency, timeouts, and fallback behavior must be tested under realistic load.</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Classification decision process</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CLASSICAL ML</a:t>
            </a:r>
          </a:p>
        </p:txBody>
      </p:sp>
      <p:sp>
        <p:nvSpPr>
          <p:cNvPr id="5" name="Rounded Rectangle 4"/>
          <p:cNvSpPr/>
          <p:nvPr/>
        </p:nvSpPr>
        <p:spPr>
          <a:xfrm>
            <a:off x="594360" y="2057400"/>
            <a:ext cx="2619756"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Features</a:t>
            </a:r>
          </a:p>
        </p:txBody>
      </p:sp>
      <p:cxnSp>
        <p:nvCxnSpPr>
          <p:cNvPr id="6" name="Connector 5"/>
          <p:cNvCxnSpPr/>
          <p:nvPr/>
        </p:nvCxnSpPr>
        <p:spPr>
          <a:xfrm>
            <a:off x="322326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8708" y="2057400"/>
            <a:ext cx="2619756"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Class probability</a:t>
            </a:r>
          </a:p>
        </p:txBody>
      </p:sp>
      <p:cxnSp>
        <p:nvCxnSpPr>
          <p:cNvPr id="8" name="Connector 7"/>
          <p:cNvCxnSpPr/>
          <p:nvPr/>
        </p:nvCxnSpPr>
        <p:spPr>
          <a:xfrm>
            <a:off x="6007608"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63056" y="2057400"/>
            <a:ext cx="2619756"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Threshold</a:t>
            </a:r>
          </a:p>
        </p:txBody>
      </p:sp>
      <p:cxnSp>
        <p:nvCxnSpPr>
          <p:cNvPr id="10" name="Connector 9"/>
          <p:cNvCxnSpPr/>
          <p:nvPr/>
        </p:nvCxnSpPr>
        <p:spPr>
          <a:xfrm>
            <a:off x="8791956"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47404" y="2057400"/>
            <a:ext cx="2619756" cy="105156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Predicted class</a:t>
            </a:r>
          </a:p>
        </p:txBody>
      </p:sp>
      <p:sp>
        <p:nvSpPr>
          <p:cNvPr id="12" name="Rounded Rectangle 11"/>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Threshold is a business choice</a:t>
            </a:r>
          </a:p>
        </p:txBody>
      </p:sp>
      <p:sp>
        <p:nvSpPr>
          <p:cNvPr id="13" name="Rounded Rectangle 12"/>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Lower threshold often raises recall and false positives</a:t>
            </a:r>
          </a:p>
        </p:txBody>
      </p:sp>
      <p:sp>
        <p:nvSpPr>
          <p:cNvPr id="14" name="Rounded Rectangle 13"/>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Calibrate probabilities when decisions depend on risk</a:t>
            </a:r>
          </a:p>
        </p:txBody>
      </p:sp>
      <p:sp>
        <p:nvSpPr>
          <p:cNvPr id="15" name="TextBox 14"/>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6" name="Rounded Rectangle 1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8" name="Rounded Rectangle 17"/>
          <p:cNvSpPr/>
          <p:nvPr/>
        </p:nvSpPr>
        <p:spPr>
          <a:xfrm>
            <a:off x="384048" y="5336556"/>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Experiment tracking records code, data version, parameters, metrics, and artifacts so results can be compared and reproduced.</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Confusion matrix anatomy</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CLASSICAL ML</a:t>
            </a:r>
          </a:p>
        </p:txBody>
      </p:sp>
      <p:sp>
        <p:nvSpPr>
          <p:cNvPr id="5" name="Rounded Rectangle 4"/>
          <p:cNvSpPr/>
          <p:nvPr/>
        </p:nvSpPr>
        <p:spPr>
          <a:xfrm>
            <a:off x="594360" y="2057400"/>
            <a:ext cx="3547872"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Actual positive</a:t>
            </a:r>
          </a:p>
        </p:txBody>
      </p:sp>
      <p:cxnSp>
        <p:nvCxnSpPr>
          <p:cNvPr id="6" name="Connector 5"/>
          <p:cNvCxnSpPr/>
          <p:nvPr/>
        </p:nvCxnSpPr>
        <p:spPr>
          <a:xfrm>
            <a:off x="4151376"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306824" y="2057400"/>
            <a:ext cx="3547872"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400" b="1">
                <a:solidFill>
                  <a:srgbClr val="14223A"/>
                </a:solidFill>
                <a:latin typeface="Aptos"/>
              </a:defRPr>
            </a:pPr>
            <a:r>
              <a:t>Predicted positive → TP</a:t>
            </a:r>
          </a:p>
        </p:txBody>
      </p:sp>
      <p:cxnSp>
        <p:nvCxnSpPr>
          <p:cNvPr id="8" name="Connector 7"/>
          <p:cNvCxnSpPr/>
          <p:nvPr/>
        </p:nvCxnSpPr>
        <p:spPr>
          <a:xfrm>
            <a:off x="786384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019288" y="2057400"/>
            <a:ext cx="3547872"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400" b="1">
                <a:solidFill>
                  <a:srgbClr val="14223A"/>
                </a:solidFill>
                <a:latin typeface="Aptos"/>
              </a:defRPr>
            </a:pPr>
            <a:r>
              <a:t>Predicted negative → FN</a:t>
            </a:r>
          </a:p>
        </p:txBody>
      </p:sp>
      <p:sp>
        <p:nvSpPr>
          <p:cNvPr id="10" name="Rounded Rectangle 9"/>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Precision = TP / (TP + FP)</a:t>
            </a:r>
          </a:p>
        </p:txBody>
      </p:sp>
      <p:sp>
        <p:nvSpPr>
          <p:cNvPr id="11" name="Rounded Rectangle 10"/>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Recall = TP / (TP + FN)</a:t>
            </a:r>
          </a:p>
        </p:txBody>
      </p:sp>
      <p:sp>
        <p:nvSpPr>
          <p:cNvPr id="12" name="Rounded Rectangle 11"/>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Inspect errors by class and subgroup</a:t>
            </a:r>
          </a:p>
        </p:txBody>
      </p:sp>
      <p:sp>
        <p:nvSpPr>
          <p:cNvPr id="13" name="TextBox 12"/>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4" name="Rounded Rectangle 1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6" name="Rounded Rectangle 15"/>
          <p:cNvSpPr/>
          <p:nvPr/>
        </p:nvSpPr>
        <p:spPr>
          <a:xfrm>
            <a:off x="384048" y="5474211"/>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A model registry stores model versions, lineage, metrics, and approval status. Link each deployment to an exact artifact to support audits and rollback.</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Tree ensembles comparison</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CLASSICAL ML</a:t>
            </a:r>
          </a:p>
        </p:txBody>
      </p:sp>
      <p:sp>
        <p:nvSpPr>
          <p:cNvPr id="5" name="Rounded Rectangle 4"/>
          <p:cNvSpPr/>
          <p:nvPr/>
        </p:nvSpPr>
        <p:spPr>
          <a:xfrm>
            <a:off x="594360" y="2057400"/>
            <a:ext cx="3547872"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Single tree</a:t>
            </a:r>
          </a:p>
        </p:txBody>
      </p:sp>
      <p:cxnSp>
        <p:nvCxnSpPr>
          <p:cNvPr id="6" name="Connector 5"/>
          <p:cNvCxnSpPr/>
          <p:nvPr/>
        </p:nvCxnSpPr>
        <p:spPr>
          <a:xfrm>
            <a:off x="4151376"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306824" y="2057400"/>
            <a:ext cx="3547872"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Random forest</a:t>
            </a:r>
          </a:p>
        </p:txBody>
      </p:sp>
      <p:cxnSp>
        <p:nvCxnSpPr>
          <p:cNvPr id="8" name="Connector 7"/>
          <p:cNvCxnSpPr/>
          <p:nvPr/>
        </p:nvCxnSpPr>
        <p:spPr>
          <a:xfrm>
            <a:off x="786384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019288" y="2057400"/>
            <a:ext cx="3547872"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Gradient boosting</a:t>
            </a:r>
          </a:p>
        </p:txBody>
      </p:sp>
      <p:sp>
        <p:nvSpPr>
          <p:cNvPr id="10" name="Rounded Rectangle 9"/>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Single tree: interpretable but unstable</a:t>
            </a:r>
          </a:p>
        </p:txBody>
      </p:sp>
      <p:sp>
        <p:nvSpPr>
          <p:cNvPr id="11" name="Rounded Rectangle 10"/>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Forest: averages randomized trees</a:t>
            </a:r>
          </a:p>
        </p:txBody>
      </p:sp>
      <p:sp>
        <p:nvSpPr>
          <p:cNvPr id="12" name="Rounded Rectangle 11"/>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Boosting: sequentially corrects errors</a:t>
            </a:r>
          </a:p>
        </p:txBody>
      </p:sp>
      <p:sp>
        <p:nvSpPr>
          <p:cNvPr id="13" name="TextBox 12"/>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4" name="Rounded Rectangle 1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6" name="Rounded Rectangle 15"/>
          <p:cNvSpPr/>
          <p:nvPr/>
        </p:nvSpPr>
        <p:spPr>
          <a:xfrm>
            <a:off x="384048" y="5474207"/>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K-means clustering cycle</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CLASSICAL ML</a:t>
            </a:r>
          </a:p>
        </p:txBody>
      </p:sp>
      <p:sp>
        <p:nvSpPr>
          <p:cNvPr id="5" name="Rounded Rectangle 4"/>
          <p:cNvSpPr/>
          <p:nvPr/>
        </p:nvSpPr>
        <p:spPr>
          <a:xfrm>
            <a:off x="731520" y="1828800"/>
            <a:ext cx="3017520" cy="96012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Initialize centroids</a:t>
            </a:r>
          </a:p>
        </p:txBody>
      </p:sp>
      <p:sp>
        <p:nvSpPr>
          <p:cNvPr id="6" name="Rounded Rectangle 5"/>
          <p:cNvSpPr/>
          <p:nvPr/>
        </p:nvSpPr>
        <p:spPr>
          <a:xfrm>
            <a:off x="8138160" y="1828800"/>
            <a:ext cx="3017520" cy="96012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Assign points</a:t>
            </a:r>
          </a:p>
        </p:txBody>
      </p:sp>
      <p:sp>
        <p:nvSpPr>
          <p:cNvPr id="7" name="Rounded Rectangle 6"/>
          <p:cNvSpPr/>
          <p:nvPr/>
        </p:nvSpPr>
        <p:spPr>
          <a:xfrm>
            <a:off x="8138160" y="4069080"/>
            <a:ext cx="3017520" cy="96012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Recompute centers</a:t>
            </a:r>
          </a:p>
        </p:txBody>
      </p:sp>
      <p:sp>
        <p:nvSpPr>
          <p:cNvPr id="8" name="Rounded Rectangle 7"/>
          <p:cNvSpPr/>
          <p:nvPr/>
        </p:nvSpPr>
        <p:spPr>
          <a:xfrm>
            <a:off x="731520" y="4069080"/>
            <a:ext cx="3017520" cy="96012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Converge</a:t>
            </a:r>
          </a:p>
        </p:txBody>
      </p:sp>
      <p:cxnSp>
        <p:nvCxnSpPr>
          <p:cNvPr id="9" name="Connector 8"/>
          <p:cNvCxnSpPr/>
          <p:nvPr/>
        </p:nvCxnSpPr>
        <p:spPr>
          <a:xfrm>
            <a:off x="3794760" y="2286000"/>
            <a:ext cx="420624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646920" y="2834640"/>
            <a:ext cx="0" cy="109728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3840480" y="4526280"/>
            <a:ext cx="416052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240280" y="2880360"/>
            <a:ext cx="0" cy="105156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14400" y="5220930"/>
            <a:ext cx="10332720" cy="411480"/>
          </a:xfrm>
          <a:prstGeom prst="rect">
            <a:avLst/>
          </a:prstGeom>
          <a:noFill/>
        </p:spPr>
        <p:txBody>
          <a:bodyPr wrap="square" lIns="73152" rIns="73152" bIns="36576">
            <a:spAutoFit/>
          </a:bodyPr>
          <a:lstStyle/>
          <a:p>
            <a:pPr algn="ctr">
              <a:defRPr sz="1500" b="0">
                <a:solidFill>
                  <a:srgbClr val="5F6C7D"/>
                </a:solidFill>
                <a:latin typeface="Aptos"/>
              </a:defRPr>
            </a:pPr>
            <a:r>
              <a:t>Iterative loop: use results and monitoring to decide the next action.</a:t>
            </a:r>
          </a:p>
        </p:txBody>
      </p:sp>
      <p:sp>
        <p:nvSpPr>
          <p:cNvPr id="14" name="Rounded Rectangle 1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6" name="Rounded Rectangle 15"/>
          <p:cNvSpPr/>
          <p:nvPr/>
        </p:nvSpPr>
        <p:spPr>
          <a:xfrm>
            <a:off x="384048" y="5513538"/>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PCA dimensionality reduction</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CLASSICAL ML</a:t>
            </a:r>
          </a:p>
        </p:txBody>
      </p:sp>
      <p:sp>
        <p:nvSpPr>
          <p:cNvPr id="5" name="Rounded Rectangle 4"/>
          <p:cNvSpPr/>
          <p:nvPr/>
        </p:nvSpPr>
        <p:spPr>
          <a:xfrm>
            <a:off x="594360" y="2057400"/>
            <a:ext cx="2619756"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Feature matrix</a:t>
            </a:r>
          </a:p>
        </p:txBody>
      </p:sp>
      <p:cxnSp>
        <p:nvCxnSpPr>
          <p:cNvPr id="6" name="Connector 5"/>
          <p:cNvCxnSpPr/>
          <p:nvPr/>
        </p:nvCxnSpPr>
        <p:spPr>
          <a:xfrm>
            <a:off x="322326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8708" y="2057400"/>
            <a:ext cx="2619756"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Center / scale</a:t>
            </a:r>
          </a:p>
        </p:txBody>
      </p:sp>
      <p:cxnSp>
        <p:nvCxnSpPr>
          <p:cNvPr id="8" name="Connector 7"/>
          <p:cNvCxnSpPr/>
          <p:nvPr/>
        </p:nvCxnSpPr>
        <p:spPr>
          <a:xfrm>
            <a:off x="6007608"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63056" y="2057400"/>
            <a:ext cx="2619756"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400" b="1">
                <a:solidFill>
                  <a:srgbClr val="14223A"/>
                </a:solidFill>
                <a:latin typeface="Aptos"/>
              </a:defRPr>
            </a:pPr>
            <a:r>
              <a:t>Principal components</a:t>
            </a:r>
          </a:p>
        </p:txBody>
      </p:sp>
      <p:cxnSp>
        <p:nvCxnSpPr>
          <p:cNvPr id="10" name="Connector 9"/>
          <p:cNvCxnSpPr/>
          <p:nvPr/>
        </p:nvCxnSpPr>
        <p:spPr>
          <a:xfrm>
            <a:off x="8791956"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47404" y="2057400"/>
            <a:ext cx="2619756" cy="105156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400" b="1">
                <a:solidFill>
                  <a:srgbClr val="14223A"/>
                </a:solidFill>
                <a:latin typeface="Aptos"/>
              </a:defRPr>
            </a:pPr>
            <a:r>
              <a:t>Lower-dimensional view</a:t>
            </a:r>
          </a:p>
        </p:txBody>
      </p:sp>
      <p:sp>
        <p:nvSpPr>
          <p:cNvPr id="12" name="Rounded Rectangle 11"/>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Components capture decreasing variance</a:t>
            </a:r>
          </a:p>
        </p:txBody>
      </p:sp>
      <p:sp>
        <p:nvSpPr>
          <p:cNvPr id="13" name="Rounded Rectangle 12"/>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PCA is unsupervised</a:t>
            </a:r>
          </a:p>
        </p:txBody>
      </p:sp>
      <p:sp>
        <p:nvSpPr>
          <p:cNvPr id="14" name="Rounded Rectangle 13"/>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Interpret components carefully</a:t>
            </a:r>
          </a:p>
        </p:txBody>
      </p:sp>
      <p:sp>
        <p:nvSpPr>
          <p:cNvPr id="15" name="TextBox 14"/>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6" name="Rounded Rectangle 1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8" name="Rounded Rectangle 17"/>
          <p:cNvSpPr/>
          <p:nvPr/>
        </p:nvSpPr>
        <p:spPr>
          <a:xfrm>
            <a:off x="384048" y="5474207"/>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Cross-validation and tuning</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CLASSICAL ML</a:t>
            </a:r>
          </a:p>
        </p:txBody>
      </p:sp>
      <p:sp>
        <p:nvSpPr>
          <p:cNvPr id="5" name="Rounded Rectangle 4"/>
          <p:cNvSpPr/>
          <p:nvPr/>
        </p:nvSpPr>
        <p:spPr>
          <a:xfrm>
            <a:off x="594360" y="2057400"/>
            <a:ext cx="2619756"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Training folds</a:t>
            </a:r>
          </a:p>
        </p:txBody>
      </p:sp>
      <p:cxnSp>
        <p:nvCxnSpPr>
          <p:cNvPr id="6" name="Connector 5"/>
          <p:cNvCxnSpPr/>
          <p:nvPr/>
        </p:nvCxnSpPr>
        <p:spPr>
          <a:xfrm>
            <a:off x="322326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8708" y="2057400"/>
            <a:ext cx="2619756"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Fit candidates</a:t>
            </a:r>
          </a:p>
        </p:txBody>
      </p:sp>
      <p:cxnSp>
        <p:nvCxnSpPr>
          <p:cNvPr id="8" name="Connector 7"/>
          <p:cNvCxnSpPr/>
          <p:nvPr/>
        </p:nvCxnSpPr>
        <p:spPr>
          <a:xfrm>
            <a:off x="6007608"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63056" y="2057400"/>
            <a:ext cx="2619756"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400" b="1">
                <a:solidFill>
                  <a:srgbClr val="14223A"/>
                </a:solidFill>
                <a:latin typeface="Aptos"/>
              </a:defRPr>
            </a:pPr>
            <a:r>
              <a:t>Compare validation scores</a:t>
            </a:r>
          </a:p>
        </p:txBody>
      </p:sp>
      <p:cxnSp>
        <p:nvCxnSpPr>
          <p:cNvPr id="10" name="Connector 9"/>
          <p:cNvCxnSpPr/>
          <p:nvPr/>
        </p:nvCxnSpPr>
        <p:spPr>
          <a:xfrm>
            <a:off x="8791956"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47404" y="2057400"/>
            <a:ext cx="2619756" cy="105156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Select parameters</a:t>
            </a:r>
          </a:p>
        </p:txBody>
      </p:sp>
      <p:sp>
        <p:nvSpPr>
          <p:cNvPr id="12" name="Rounded Rectangle 11"/>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Use the same evaluation protocol for candidates</a:t>
            </a:r>
          </a:p>
        </p:txBody>
      </p:sp>
      <p:sp>
        <p:nvSpPr>
          <p:cNvPr id="13" name="Rounded Rectangle 12"/>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Avoid tuning against the test set</a:t>
            </a:r>
          </a:p>
        </p:txBody>
      </p:sp>
      <p:sp>
        <p:nvSpPr>
          <p:cNvPr id="14" name="Rounded Rectangle 13"/>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Track variability across folds</a:t>
            </a:r>
          </a:p>
        </p:txBody>
      </p:sp>
      <p:sp>
        <p:nvSpPr>
          <p:cNvPr id="15" name="TextBox 14"/>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6" name="Rounded Rectangle 1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Neural network training loop</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DEEP LEARNING</a:t>
            </a:r>
          </a:p>
        </p:txBody>
      </p:sp>
      <p:sp>
        <p:nvSpPr>
          <p:cNvPr id="5" name="Rounded Rectangle 4"/>
          <p:cNvSpPr/>
          <p:nvPr/>
        </p:nvSpPr>
        <p:spPr>
          <a:xfrm>
            <a:off x="731520" y="1828800"/>
            <a:ext cx="3017520" cy="96012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Forward pass</a:t>
            </a:r>
          </a:p>
        </p:txBody>
      </p:sp>
      <p:sp>
        <p:nvSpPr>
          <p:cNvPr id="6" name="Rounded Rectangle 5"/>
          <p:cNvSpPr/>
          <p:nvPr/>
        </p:nvSpPr>
        <p:spPr>
          <a:xfrm>
            <a:off x="8138160" y="1828800"/>
            <a:ext cx="3017520" cy="96012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Loss</a:t>
            </a:r>
          </a:p>
        </p:txBody>
      </p:sp>
      <p:sp>
        <p:nvSpPr>
          <p:cNvPr id="7" name="Rounded Rectangle 6"/>
          <p:cNvSpPr/>
          <p:nvPr/>
        </p:nvSpPr>
        <p:spPr>
          <a:xfrm>
            <a:off x="8138160" y="4069080"/>
            <a:ext cx="3017520" cy="96012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Backpropagation</a:t>
            </a:r>
          </a:p>
        </p:txBody>
      </p:sp>
      <p:sp>
        <p:nvSpPr>
          <p:cNvPr id="8" name="Rounded Rectangle 7"/>
          <p:cNvSpPr/>
          <p:nvPr/>
        </p:nvSpPr>
        <p:spPr>
          <a:xfrm>
            <a:off x="731520" y="4069080"/>
            <a:ext cx="3017520" cy="96012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Optimizer update</a:t>
            </a:r>
          </a:p>
        </p:txBody>
      </p:sp>
      <p:cxnSp>
        <p:nvCxnSpPr>
          <p:cNvPr id="9" name="Connector 8"/>
          <p:cNvCxnSpPr/>
          <p:nvPr/>
        </p:nvCxnSpPr>
        <p:spPr>
          <a:xfrm>
            <a:off x="3794760" y="2286000"/>
            <a:ext cx="420624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646920" y="2834640"/>
            <a:ext cx="0" cy="109728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3840480" y="4526280"/>
            <a:ext cx="416052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240280" y="2880360"/>
            <a:ext cx="0" cy="105156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14400" y="5073444"/>
            <a:ext cx="10332720" cy="411480"/>
          </a:xfrm>
          <a:prstGeom prst="rect">
            <a:avLst/>
          </a:prstGeom>
          <a:noFill/>
        </p:spPr>
        <p:txBody>
          <a:bodyPr wrap="square" lIns="73152" rIns="73152" bIns="36576">
            <a:spAutoFit/>
          </a:bodyPr>
          <a:lstStyle/>
          <a:p>
            <a:pPr algn="ctr">
              <a:defRPr sz="1500" b="0">
                <a:solidFill>
                  <a:srgbClr val="5F6C7D"/>
                </a:solidFill>
                <a:latin typeface="Aptos"/>
              </a:defRPr>
            </a:pPr>
            <a:r>
              <a:t>Iterative loop: use results and monitoring to decide the next action.</a:t>
            </a:r>
          </a:p>
        </p:txBody>
      </p:sp>
      <p:sp>
        <p:nvSpPr>
          <p:cNvPr id="14" name="Rounded Rectangle 1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6" name="Rounded Rectangle 15"/>
          <p:cNvSpPr/>
          <p:nvPr/>
        </p:nvSpPr>
        <p:spPr>
          <a:xfrm>
            <a:off x="384048" y="5366052"/>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Activation functions map</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DEEP LEARNING</a:t>
            </a:r>
          </a:p>
        </p:txBody>
      </p:sp>
      <p:sp>
        <p:nvSpPr>
          <p:cNvPr id="5" name="Rounded Rectangle 4"/>
          <p:cNvSpPr/>
          <p:nvPr/>
        </p:nvSpPr>
        <p:spPr>
          <a:xfrm>
            <a:off x="594360" y="2057400"/>
            <a:ext cx="3547872"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ReLU</a:t>
            </a:r>
            <a:br/>
            <a:r>
              <a:t>hidden layers</a:t>
            </a:r>
          </a:p>
        </p:txBody>
      </p:sp>
      <p:cxnSp>
        <p:nvCxnSpPr>
          <p:cNvPr id="6" name="Connector 5"/>
          <p:cNvCxnSpPr/>
          <p:nvPr/>
        </p:nvCxnSpPr>
        <p:spPr>
          <a:xfrm>
            <a:off x="4151376"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306824" y="2057400"/>
            <a:ext cx="3547872"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400" b="1">
                <a:solidFill>
                  <a:srgbClr val="14223A"/>
                </a:solidFill>
                <a:latin typeface="Aptos"/>
              </a:defRPr>
            </a:pPr>
            <a:r>
              <a:t>Sigmoid</a:t>
            </a:r>
            <a:br/>
            <a:r>
              <a:t>binary output</a:t>
            </a:r>
          </a:p>
        </p:txBody>
      </p:sp>
      <p:cxnSp>
        <p:nvCxnSpPr>
          <p:cNvPr id="8" name="Connector 7"/>
          <p:cNvCxnSpPr/>
          <p:nvPr/>
        </p:nvCxnSpPr>
        <p:spPr>
          <a:xfrm>
            <a:off x="786384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019288" y="2057400"/>
            <a:ext cx="3547872"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400" b="1">
                <a:solidFill>
                  <a:srgbClr val="14223A"/>
                </a:solidFill>
                <a:latin typeface="Aptos"/>
              </a:defRPr>
            </a:pPr>
            <a:r>
              <a:t>Softmax</a:t>
            </a:r>
            <a:br/>
            <a:r>
              <a:t>multiclass output</a:t>
            </a:r>
          </a:p>
        </p:txBody>
      </p:sp>
      <p:sp>
        <p:nvSpPr>
          <p:cNvPr id="10" name="Rounded Rectangle 9"/>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ReLU supports nonlinear hidden representations</a:t>
            </a:r>
          </a:p>
        </p:txBody>
      </p:sp>
      <p:sp>
        <p:nvSpPr>
          <p:cNvPr id="11" name="Rounded Rectangle 10"/>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Sigmoid maps a score to (0,1)</a:t>
            </a:r>
          </a:p>
        </p:txBody>
      </p:sp>
      <p:sp>
        <p:nvSpPr>
          <p:cNvPr id="12" name="Rounded Rectangle 11"/>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Softmax probabilities sum to 1</a:t>
            </a:r>
          </a:p>
        </p:txBody>
      </p:sp>
      <p:sp>
        <p:nvSpPr>
          <p:cNvPr id="13" name="TextBox 12"/>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4" name="Rounded Rectangle 1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CNN feature hierarchy</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DEEP LEARNING</a:t>
            </a:r>
          </a:p>
        </p:txBody>
      </p:sp>
      <p:sp>
        <p:nvSpPr>
          <p:cNvPr id="5" name="Rounded Rectangle 4"/>
          <p:cNvSpPr/>
          <p:nvPr/>
        </p:nvSpPr>
        <p:spPr>
          <a:xfrm>
            <a:off x="2209647" y="1645920"/>
            <a:ext cx="7772400" cy="566928"/>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Image pixels</a:t>
            </a:r>
          </a:p>
        </p:txBody>
      </p:sp>
      <p:sp>
        <p:nvSpPr>
          <p:cNvPr id="6" name="Rounded Rectangle 5"/>
          <p:cNvSpPr/>
          <p:nvPr/>
        </p:nvSpPr>
        <p:spPr>
          <a:xfrm>
            <a:off x="2529687" y="2395728"/>
            <a:ext cx="7132320" cy="566928"/>
          </a:xfrm>
          <a:prstGeom prst="roundRect">
            <a:avLst/>
          </a:prstGeom>
          <a:solidFill>
            <a:srgbClr val="DCF5F1"/>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Edges / textures</a:t>
            </a:r>
          </a:p>
        </p:txBody>
      </p:sp>
      <p:sp>
        <p:nvSpPr>
          <p:cNvPr id="7" name="Rounded Rectangle 6"/>
          <p:cNvSpPr/>
          <p:nvPr/>
        </p:nvSpPr>
        <p:spPr>
          <a:xfrm>
            <a:off x="2849727" y="3145536"/>
            <a:ext cx="6492240" cy="566928"/>
          </a:xfrm>
          <a:prstGeom prst="roundRect">
            <a:avLst/>
          </a:prstGeom>
          <a:solidFill>
            <a:srgbClr val="FFF4D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Shapes / parts</a:t>
            </a:r>
          </a:p>
        </p:txBody>
      </p:sp>
      <p:sp>
        <p:nvSpPr>
          <p:cNvPr id="8" name="Rounded Rectangle 7"/>
          <p:cNvSpPr/>
          <p:nvPr/>
        </p:nvSpPr>
        <p:spPr>
          <a:xfrm>
            <a:off x="3169767" y="3895344"/>
            <a:ext cx="5852160" cy="566928"/>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Class prediction</a:t>
            </a:r>
          </a:p>
        </p:txBody>
      </p:sp>
      <p:sp>
        <p:nvSpPr>
          <p:cNvPr id="9" name="TextBox 8"/>
          <p:cNvSpPr txBox="1"/>
          <p:nvPr/>
        </p:nvSpPr>
        <p:spPr>
          <a:xfrm>
            <a:off x="914400" y="5852160"/>
            <a:ext cx="10332720" cy="320040"/>
          </a:xfrm>
          <a:prstGeom prst="rect">
            <a:avLst/>
          </a:prstGeom>
          <a:noFill/>
        </p:spPr>
        <p:txBody>
          <a:bodyPr wrap="square" lIns="73152" rIns="73152" bIns="36576">
            <a:spAutoFit/>
          </a:bodyPr>
          <a:lstStyle/>
          <a:p>
            <a:pPr algn="ctr">
              <a:defRPr sz="1400" b="0">
                <a:solidFill>
                  <a:srgbClr val="5F6C7D"/>
                </a:solidFill>
                <a:latin typeface="Aptos"/>
              </a:defRPr>
            </a:pPr>
            <a:r>
              <a:t>Layers transform information into progressively more useful representations.</a:t>
            </a:r>
          </a:p>
        </p:txBody>
      </p:sp>
      <p:sp>
        <p:nvSpPr>
          <p:cNvPr id="10" name="Rounded Rectangle 9"/>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2" name="Rounded Rectangle 11"/>
          <p:cNvSpPr/>
          <p:nvPr/>
        </p:nvSpPr>
        <p:spPr>
          <a:xfrm>
            <a:off x="384048" y="5326724"/>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Sequence modeling overview</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DEEP LEARNING</a:t>
            </a:r>
          </a:p>
        </p:txBody>
      </p:sp>
      <p:sp>
        <p:nvSpPr>
          <p:cNvPr id="5" name="Rounded Rectangle 4"/>
          <p:cNvSpPr/>
          <p:nvPr/>
        </p:nvSpPr>
        <p:spPr>
          <a:xfrm>
            <a:off x="594360" y="2057400"/>
            <a:ext cx="2619756"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Token sequence</a:t>
            </a:r>
          </a:p>
        </p:txBody>
      </p:sp>
      <p:cxnSp>
        <p:nvCxnSpPr>
          <p:cNvPr id="6" name="Connector 5"/>
          <p:cNvCxnSpPr/>
          <p:nvPr/>
        </p:nvCxnSpPr>
        <p:spPr>
          <a:xfrm>
            <a:off x="322326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8708" y="2057400"/>
            <a:ext cx="2619756"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Embedding vectors</a:t>
            </a:r>
          </a:p>
        </p:txBody>
      </p:sp>
      <p:cxnSp>
        <p:nvCxnSpPr>
          <p:cNvPr id="8" name="Connector 7"/>
          <p:cNvCxnSpPr/>
          <p:nvPr/>
        </p:nvCxnSpPr>
        <p:spPr>
          <a:xfrm>
            <a:off x="6007608"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63056" y="2057400"/>
            <a:ext cx="2619756"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Sequence model</a:t>
            </a:r>
          </a:p>
        </p:txBody>
      </p:sp>
      <p:cxnSp>
        <p:nvCxnSpPr>
          <p:cNvPr id="10" name="Connector 9"/>
          <p:cNvCxnSpPr/>
          <p:nvPr/>
        </p:nvCxnSpPr>
        <p:spPr>
          <a:xfrm>
            <a:off x="8791956"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47404" y="2057400"/>
            <a:ext cx="2619756" cy="105156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Task output</a:t>
            </a:r>
          </a:p>
        </p:txBody>
      </p:sp>
      <p:sp>
        <p:nvSpPr>
          <p:cNvPr id="12" name="Rounded Rectangle 11"/>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RNN/LSTM/GRU process sequential state</a:t>
            </a:r>
          </a:p>
        </p:txBody>
      </p:sp>
      <p:sp>
        <p:nvSpPr>
          <p:cNvPr id="13" name="Rounded Rectangle 12"/>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Transformers use attention</a:t>
            </a:r>
          </a:p>
        </p:txBody>
      </p:sp>
      <p:sp>
        <p:nvSpPr>
          <p:cNvPr id="14" name="Rounded Rectangle 13"/>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Padding and masks matter for batches</a:t>
            </a:r>
          </a:p>
        </p:txBody>
      </p:sp>
      <p:sp>
        <p:nvSpPr>
          <p:cNvPr id="15" name="TextBox 14"/>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6" name="Rounded Rectangle 1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8" name="Rounded Rectangle 17"/>
          <p:cNvSpPr/>
          <p:nvPr/>
        </p:nvSpPr>
        <p:spPr>
          <a:xfrm>
            <a:off x="384048" y="5385722"/>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Transformer attention flow</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NLP</a:t>
            </a:r>
          </a:p>
        </p:txBody>
      </p:sp>
      <p:sp>
        <p:nvSpPr>
          <p:cNvPr id="5" name="Rounded Rectangle 4"/>
          <p:cNvSpPr/>
          <p:nvPr/>
        </p:nvSpPr>
        <p:spPr>
          <a:xfrm>
            <a:off x="2209647" y="1645920"/>
            <a:ext cx="7772400" cy="566928"/>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Tokens</a:t>
            </a:r>
          </a:p>
        </p:txBody>
      </p:sp>
      <p:sp>
        <p:nvSpPr>
          <p:cNvPr id="6" name="Rounded Rectangle 5"/>
          <p:cNvSpPr/>
          <p:nvPr/>
        </p:nvSpPr>
        <p:spPr>
          <a:xfrm>
            <a:off x="2529687" y="2395728"/>
            <a:ext cx="7132320" cy="566928"/>
          </a:xfrm>
          <a:prstGeom prst="roundRect">
            <a:avLst/>
          </a:prstGeom>
          <a:solidFill>
            <a:srgbClr val="DCF5F1"/>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Query / key / value</a:t>
            </a:r>
          </a:p>
        </p:txBody>
      </p:sp>
      <p:sp>
        <p:nvSpPr>
          <p:cNvPr id="7" name="Rounded Rectangle 6"/>
          <p:cNvSpPr/>
          <p:nvPr/>
        </p:nvSpPr>
        <p:spPr>
          <a:xfrm>
            <a:off x="2849727" y="3145536"/>
            <a:ext cx="6492240" cy="566928"/>
          </a:xfrm>
          <a:prstGeom prst="roundRect">
            <a:avLst/>
          </a:prstGeom>
          <a:solidFill>
            <a:srgbClr val="FFF4D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Attention weights</a:t>
            </a:r>
          </a:p>
        </p:txBody>
      </p:sp>
      <p:sp>
        <p:nvSpPr>
          <p:cNvPr id="8" name="Rounded Rectangle 7"/>
          <p:cNvSpPr/>
          <p:nvPr/>
        </p:nvSpPr>
        <p:spPr>
          <a:xfrm>
            <a:off x="3169767" y="3895344"/>
            <a:ext cx="5852160" cy="566928"/>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Contextual tokens</a:t>
            </a:r>
          </a:p>
        </p:txBody>
      </p:sp>
      <p:sp>
        <p:nvSpPr>
          <p:cNvPr id="9" name="TextBox 8"/>
          <p:cNvSpPr txBox="1"/>
          <p:nvPr/>
        </p:nvSpPr>
        <p:spPr>
          <a:xfrm>
            <a:off x="914400" y="5852160"/>
            <a:ext cx="10332720" cy="320040"/>
          </a:xfrm>
          <a:prstGeom prst="rect">
            <a:avLst/>
          </a:prstGeom>
          <a:noFill/>
        </p:spPr>
        <p:txBody>
          <a:bodyPr wrap="square" lIns="73152" rIns="73152" bIns="36576">
            <a:spAutoFit/>
          </a:bodyPr>
          <a:lstStyle/>
          <a:p>
            <a:pPr algn="ctr">
              <a:defRPr sz="1400" b="0">
                <a:solidFill>
                  <a:srgbClr val="5F6C7D"/>
                </a:solidFill>
                <a:latin typeface="Aptos"/>
              </a:defRPr>
            </a:pPr>
            <a:r>
              <a:t>Layers transform information into progressively more useful representations.</a:t>
            </a:r>
          </a:p>
        </p:txBody>
      </p:sp>
      <p:sp>
        <p:nvSpPr>
          <p:cNvPr id="10" name="Rounded Rectangle 9"/>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2" name="Rounded Rectangle 11"/>
          <p:cNvSpPr/>
          <p:nvPr/>
        </p:nvSpPr>
        <p:spPr>
          <a:xfrm>
            <a:off x="384048" y="5080916"/>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Text vectorization choices</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NLP</a:t>
            </a:r>
          </a:p>
        </p:txBody>
      </p:sp>
      <p:sp>
        <p:nvSpPr>
          <p:cNvPr id="5" name="Rounded Rectangle 4"/>
          <p:cNvSpPr/>
          <p:nvPr/>
        </p:nvSpPr>
        <p:spPr>
          <a:xfrm>
            <a:off x="594360" y="2057400"/>
            <a:ext cx="2619756"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Raw documents</a:t>
            </a:r>
          </a:p>
        </p:txBody>
      </p:sp>
      <p:cxnSp>
        <p:nvCxnSpPr>
          <p:cNvPr id="6" name="Connector 5"/>
          <p:cNvCxnSpPr/>
          <p:nvPr/>
        </p:nvCxnSpPr>
        <p:spPr>
          <a:xfrm>
            <a:off x="322326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8708" y="2057400"/>
            <a:ext cx="2619756"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Counts / TF-IDF</a:t>
            </a:r>
          </a:p>
        </p:txBody>
      </p:sp>
      <p:cxnSp>
        <p:nvCxnSpPr>
          <p:cNvPr id="8" name="Connector 7"/>
          <p:cNvCxnSpPr/>
          <p:nvPr/>
        </p:nvCxnSpPr>
        <p:spPr>
          <a:xfrm>
            <a:off x="6007608"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63056" y="2057400"/>
            <a:ext cx="2619756"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Static embeddings</a:t>
            </a:r>
          </a:p>
        </p:txBody>
      </p:sp>
      <p:cxnSp>
        <p:nvCxnSpPr>
          <p:cNvPr id="10" name="Connector 9"/>
          <p:cNvCxnSpPr/>
          <p:nvPr/>
        </p:nvCxnSpPr>
        <p:spPr>
          <a:xfrm>
            <a:off x="8791956"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47404" y="2057400"/>
            <a:ext cx="2619756" cy="105156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400" b="1">
                <a:solidFill>
                  <a:srgbClr val="14223A"/>
                </a:solidFill>
                <a:latin typeface="Aptos"/>
              </a:defRPr>
            </a:pPr>
            <a:r>
              <a:t>Contextual embeddings</a:t>
            </a:r>
          </a:p>
        </p:txBody>
      </p:sp>
      <p:sp>
        <p:nvSpPr>
          <p:cNvPr id="12" name="Rounded Rectangle 11"/>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Sparse baselines are fast and interpretable</a:t>
            </a:r>
          </a:p>
        </p:txBody>
      </p:sp>
      <p:sp>
        <p:nvSpPr>
          <p:cNvPr id="13" name="Rounded Rectangle 12"/>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Embeddings encode semantic relationships</a:t>
            </a:r>
          </a:p>
        </p:txBody>
      </p:sp>
      <p:sp>
        <p:nvSpPr>
          <p:cNvPr id="14" name="Rounded Rectangle 13"/>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Choose complexity to match data and task</a:t>
            </a:r>
          </a:p>
        </p:txBody>
      </p:sp>
      <p:sp>
        <p:nvSpPr>
          <p:cNvPr id="15" name="TextBox 14"/>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6" name="Rounded Rectangle 1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NLP text classification</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NLP</a:t>
            </a:r>
          </a:p>
        </p:txBody>
      </p:sp>
      <p:sp>
        <p:nvSpPr>
          <p:cNvPr id="5" name="Rounded Rectangle 4"/>
          <p:cNvSpPr/>
          <p:nvPr/>
        </p:nvSpPr>
        <p:spPr>
          <a:xfrm>
            <a:off x="594360" y="2057400"/>
            <a:ext cx="2619756"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Text + labels</a:t>
            </a:r>
          </a:p>
        </p:txBody>
      </p:sp>
      <p:cxnSp>
        <p:nvCxnSpPr>
          <p:cNvPr id="6" name="Connector 5"/>
          <p:cNvCxnSpPr/>
          <p:nvPr/>
        </p:nvCxnSpPr>
        <p:spPr>
          <a:xfrm>
            <a:off x="322326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8708" y="2057400"/>
            <a:ext cx="2619756"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400" b="1">
                <a:solidFill>
                  <a:srgbClr val="14223A"/>
                </a:solidFill>
                <a:latin typeface="Aptos"/>
              </a:defRPr>
            </a:pPr>
            <a:r>
              <a:t>Tokenize / vectorize</a:t>
            </a:r>
          </a:p>
        </p:txBody>
      </p:sp>
      <p:cxnSp>
        <p:nvCxnSpPr>
          <p:cNvPr id="8" name="Connector 7"/>
          <p:cNvCxnSpPr/>
          <p:nvPr/>
        </p:nvCxnSpPr>
        <p:spPr>
          <a:xfrm>
            <a:off x="6007608"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63056" y="2057400"/>
            <a:ext cx="2619756"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Train classifier</a:t>
            </a:r>
          </a:p>
        </p:txBody>
      </p:sp>
      <p:cxnSp>
        <p:nvCxnSpPr>
          <p:cNvPr id="10" name="Connector 9"/>
          <p:cNvCxnSpPr/>
          <p:nvPr/>
        </p:nvCxnSpPr>
        <p:spPr>
          <a:xfrm>
            <a:off x="8791956"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47404" y="2057400"/>
            <a:ext cx="2619756" cy="105156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400" b="1">
                <a:solidFill>
                  <a:srgbClr val="14223A"/>
                </a:solidFill>
                <a:latin typeface="Aptos"/>
              </a:defRPr>
            </a:pPr>
            <a:r>
              <a:t>Evaluate F1 + errors</a:t>
            </a:r>
          </a:p>
        </p:txBody>
      </p:sp>
      <p:sp>
        <p:nvSpPr>
          <p:cNvPr id="12" name="Rounded Rectangle 11"/>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Fit vocabulary only on training text</a:t>
            </a:r>
          </a:p>
        </p:txBody>
      </p:sp>
      <p:sp>
        <p:nvSpPr>
          <p:cNvPr id="13" name="Rounded Rectangle 12"/>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Check class imbalance</a:t>
            </a:r>
          </a:p>
        </p:txBody>
      </p:sp>
      <p:sp>
        <p:nvSpPr>
          <p:cNvPr id="14" name="Rounded Rectangle 13"/>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Review confusing examples</a:t>
            </a:r>
          </a:p>
        </p:txBody>
      </p:sp>
      <p:sp>
        <p:nvSpPr>
          <p:cNvPr id="15" name="TextBox 14"/>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6" name="Rounded Rectangle 1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8" name="Rounded Rectangle 17"/>
          <p:cNvSpPr/>
          <p:nvPr/>
        </p:nvSpPr>
        <p:spPr>
          <a:xfrm>
            <a:off x="384048" y="5425049"/>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Reinforcement learning interaction</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REINFORCEMENT LEARNING</a:t>
            </a:r>
          </a:p>
        </p:txBody>
      </p:sp>
      <p:sp>
        <p:nvSpPr>
          <p:cNvPr id="5" name="Rounded Rectangle 4"/>
          <p:cNvSpPr/>
          <p:nvPr/>
        </p:nvSpPr>
        <p:spPr>
          <a:xfrm>
            <a:off x="731520" y="1828800"/>
            <a:ext cx="3017520" cy="96012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Observe state</a:t>
            </a:r>
          </a:p>
        </p:txBody>
      </p:sp>
      <p:sp>
        <p:nvSpPr>
          <p:cNvPr id="6" name="Rounded Rectangle 5"/>
          <p:cNvSpPr/>
          <p:nvPr/>
        </p:nvSpPr>
        <p:spPr>
          <a:xfrm>
            <a:off x="8138160" y="1828800"/>
            <a:ext cx="3017520" cy="96012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Choose action</a:t>
            </a:r>
          </a:p>
        </p:txBody>
      </p:sp>
      <p:sp>
        <p:nvSpPr>
          <p:cNvPr id="7" name="Rounded Rectangle 6"/>
          <p:cNvSpPr/>
          <p:nvPr/>
        </p:nvSpPr>
        <p:spPr>
          <a:xfrm>
            <a:off x="8138160" y="4069080"/>
            <a:ext cx="3017520" cy="96012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Receive reward</a:t>
            </a:r>
          </a:p>
        </p:txBody>
      </p:sp>
      <p:sp>
        <p:nvSpPr>
          <p:cNvPr id="8" name="Rounded Rectangle 7"/>
          <p:cNvSpPr/>
          <p:nvPr/>
        </p:nvSpPr>
        <p:spPr>
          <a:xfrm>
            <a:off x="731520" y="4069080"/>
            <a:ext cx="3017520" cy="96012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Update policy</a:t>
            </a:r>
          </a:p>
        </p:txBody>
      </p:sp>
      <p:cxnSp>
        <p:nvCxnSpPr>
          <p:cNvPr id="9" name="Connector 8"/>
          <p:cNvCxnSpPr/>
          <p:nvPr/>
        </p:nvCxnSpPr>
        <p:spPr>
          <a:xfrm>
            <a:off x="3794760" y="2286000"/>
            <a:ext cx="420624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646920" y="2834640"/>
            <a:ext cx="0" cy="109728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3840480" y="4526280"/>
            <a:ext cx="416052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240280" y="2880360"/>
            <a:ext cx="0" cy="105156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14400" y="5083277"/>
            <a:ext cx="10332720" cy="411480"/>
          </a:xfrm>
          <a:prstGeom prst="rect">
            <a:avLst/>
          </a:prstGeom>
          <a:noFill/>
        </p:spPr>
        <p:txBody>
          <a:bodyPr wrap="square" lIns="73152" rIns="73152" bIns="36576">
            <a:spAutoFit/>
          </a:bodyPr>
          <a:lstStyle/>
          <a:p>
            <a:pPr algn="ctr">
              <a:defRPr sz="1500" b="0">
                <a:solidFill>
                  <a:srgbClr val="5F6C7D"/>
                </a:solidFill>
                <a:latin typeface="Aptos"/>
              </a:defRPr>
            </a:pPr>
            <a:r>
              <a:t>Iterative loop: use results and monitoring to decide the next action.</a:t>
            </a:r>
          </a:p>
        </p:txBody>
      </p:sp>
      <p:sp>
        <p:nvSpPr>
          <p:cNvPr id="14" name="Rounded Rectangle 1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6" name="Rounded Rectangle 15"/>
          <p:cNvSpPr/>
          <p:nvPr/>
        </p:nvSpPr>
        <p:spPr>
          <a:xfrm>
            <a:off x="384048" y="5375885"/>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Model serving request lifecycle</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DEPLOYMENT</a:t>
            </a:r>
          </a:p>
        </p:txBody>
      </p:sp>
      <p:sp>
        <p:nvSpPr>
          <p:cNvPr id="5" name="Rounded Rectangle 4"/>
          <p:cNvSpPr/>
          <p:nvPr/>
        </p:nvSpPr>
        <p:spPr>
          <a:xfrm>
            <a:off x="594360" y="2057400"/>
            <a:ext cx="2619756"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Request validation</a:t>
            </a:r>
          </a:p>
        </p:txBody>
      </p:sp>
      <p:cxnSp>
        <p:nvCxnSpPr>
          <p:cNvPr id="6" name="Connector 5"/>
          <p:cNvCxnSpPr/>
          <p:nvPr/>
        </p:nvCxnSpPr>
        <p:spPr>
          <a:xfrm>
            <a:off x="322326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8708" y="2057400"/>
            <a:ext cx="2619756"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Feature transform</a:t>
            </a:r>
          </a:p>
        </p:txBody>
      </p:sp>
      <p:cxnSp>
        <p:nvCxnSpPr>
          <p:cNvPr id="8" name="Connector 7"/>
          <p:cNvCxnSpPr/>
          <p:nvPr/>
        </p:nvCxnSpPr>
        <p:spPr>
          <a:xfrm>
            <a:off x="6007608"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63056" y="2057400"/>
            <a:ext cx="2619756"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Model inference</a:t>
            </a:r>
          </a:p>
        </p:txBody>
      </p:sp>
      <p:cxnSp>
        <p:nvCxnSpPr>
          <p:cNvPr id="10" name="Connector 9"/>
          <p:cNvCxnSpPr/>
          <p:nvPr/>
        </p:nvCxnSpPr>
        <p:spPr>
          <a:xfrm>
            <a:off x="8791956"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47404" y="2057400"/>
            <a:ext cx="2619756" cy="105156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Response + logs</a:t>
            </a:r>
          </a:p>
        </p:txBody>
      </p:sp>
      <p:sp>
        <p:nvSpPr>
          <p:cNvPr id="12" name="Rounded Rectangle 11"/>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Validate schema and ranges</a:t>
            </a:r>
          </a:p>
        </p:txBody>
      </p:sp>
      <p:sp>
        <p:nvSpPr>
          <p:cNvPr id="13" name="Rounded Rectangle 12"/>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Keep preprocessing aligned with training</a:t>
            </a:r>
          </a:p>
        </p:txBody>
      </p:sp>
      <p:sp>
        <p:nvSpPr>
          <p:cNvPr id="14" name="Rounded Rectangle 13"/>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Log safely without leaking sensitive data</a:t>
            </a:r>
          </a:p>
        </p:txBody>
      </p:sp>
      <p:sp>
        <p:nvSpPr>
          <p:cNvPr id="15" name="TextBox 14"/>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6" name="Rounded Rectangle 1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8" name="Rounded Rectangle 17"/>
          <p:cNvSpPr/>
          <p:nvPr/>
        </p:nvSpPr>
        <p:spPr>
          <a:xfrm>
            <a:off x="384048" y="5444713"/>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Container deployment path</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DEPLOYMENT</a:t>
            </a:r>
          </a:p>
        </p:txBody>
      </p:sp>
      <p:sp>
        <p:nvSpPr>
          <p:cNvPr id="5" name="Rounded Rectangle 4"/>
          <p:cNvSpPr/>
          <p:nvPr/>
        </p:nvSpPr>
        <p:spPr>
          <a:xfrm>
            <a:off x="594360" y="2057400"/>
            <a:ext cx="2619756"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Source + tests</a:t>
            </a:r>
          </a:p>
        </p:txBody>
      </p:sp>
      <p:cxnSp>
        <p:nvCxnSpPr>
          <p:cNvPr id="6" name="Connector 5"/>
          <p:cNvCxnSpPr/>
          <p:nvPr/>
        </p:nvCxnSpPr>
        <p:spPr>
          <a:xfrm>
            <a:off x="322326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8708" y="2057400"/>
            <a:ext cx="2619756"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Build image</a:t>
            </a:r>
          </a:p>
        </p:txBody>
      </p:sp>
      <p:cxnSp>
        <p:nvCxnSpPr>
          <p:cNvPr id="8" name="Connector 7"/>
          <p:cNvCxnSpPr/>
          <p:nvPr/>
        </p:nvCxnSpPr>
        <p:spPr>
          <a:xfrm>
            <a:off x="6007608"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63056" y="2057400"/>
            <a:ext cx="2619756"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Registry</a:t>
            </a:r>
          </a:p>
        </p:txBody>
      </p:sp>
      <p:cxnSp>
        <p:nvCxnSpPr>
          <p:cNvPr id="10" name="Connector 9"/>
          <p:cNvCxnSpPr/>
          <p:nvPr/>
        </p:nvCxnSpPr>
        <p:spPr>
          <a:xfrm>
            <a:off x="8791956"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47404" y="2057400"/>
            <a:ext cx="2619756" cy="105156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Runtime environment</a:t>
            </a:r>
          </a:p>
        </p:txBody>
      </p:sp>
      <p:sp>
        <p:nvSpPr>
          <p:cNvPr id="12" name="Rounded Rectangle 11"/>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Pin dependencies</a:t>
            </a:r>
          </a:p>
        </p:txBody>
      </p:sp>
      <p:sp>
        <p:nvSpPr>
          <p:cNvPr id="13" name="Rounded Rectangle 12"/>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Scan image and limit permissions</a:t>
            </a:r>
          </a:p>
        </p:txBody>
      </p:sp>
      <p:sp>
        <p:nvSpPr>
          <p:cNvPr id="14" name="Rounded Rectangle 13"/>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Keep secrets outside the image</a:t>
            </a:r>
          </a:p>
        </p:txBody>
      </p:sp>
      <p:sp>
        <p:nvSpPr>
          <p:cNvPr id="15" name="TextBox 14"/>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6" name="Rounded Rectangle 1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8" name="Rounded Rectangle 17"/>
          <p:cNvSpPr/>
          <p:nvPr/>
        </p:nvSpPr>
        <p:spPr>
          <a:xfrm>
            <a:off x="384048" y="5336556"/>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MLflow experiment tracking</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MLOPS</a:t>
            </a:r>
          </a:p>
        </p:txBody>
      </p:sp>
      <p:sp>
        <p:nvSpPr>
          <p:cNvPr id="5" name="Rounded Rectangle 4"/>
          <p:cNvSpPr/>
          <p:nvPr/>
        </p:nvSpPr>
        <p:spPr>
          <a:xfrm>
            <a:off x="594360" y="2057400"/>
            <a:ext cx="2619756"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Run</a:t>
            </a:r>
          </a:p>
        </p:txBody>
      </p:sp>
      <p:cxnSp>
        <p:nvCxnSpPr>
          <p:cNvPr id="6" name="Connector 5"/>
          <p:cNvCxnSpPr/>
          <p:nvPr/>
        </p:nvCxnSpPr>
        <p:spPr>
          <a:xfrm>
            <a:off x="322326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8708" y="2057400"/>
            <a:ext cx="2619756"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400" b="1">
                <a:solidFill>
                  <a:srgbClr val="14223A"/>
                </a:solidFill>
                <a:latin typeface="Aptos"/>
              </a:defRPr>
            </a:pPr>
            <a:r>
              <a:t>Parameters + metrics</a:t>
            </a:r>
          </a:p>
        </p:txBody>
      </p:sp>
      <p:cxnSp>
        <p:nvCxnSpPr>
          <p:cNvPr id="8" name="Connector 7"/>
          <p:cNvCxnSpPr/>
          <p:nvPr/>
        </p:nvCxnSpPr>
        <p:spPr>
          <a:xfrm>
            <a:off x="6007608"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63056" y="2057400"/>
            <a:ext cx="2619756"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Artifacts</a:t>
            </a:r>
          </a:p>
        </p:txBody>
      </p:sp>
      <p:cxnSp>
        <p:nvCxnSpPr>
          <p:cNvPr id="10" name="Connector 9"/>
          <p:cNvCxnSpPr/>
          <p:nvPr/>
        </p:nvCxnSpPr>
        <p:spPr>
          <a:xfrm>
            <a:off x="8791956"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47404" y="2057400"/>
            <a:ext cx="2619756" cy="105156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Compare / register</a:t>
            </a:r>
          </a:p>
        </p:txBody>
      </p:sp>
      <p:sp>
        <p:nvSpPr>
          <p:cNvPr id="12" name="Rounded Rectangle 11"/>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Track code, data and environment references</a:t>
            </a:r>
          </a:p>
        </p:txBody>
      </p:sp>
      <p:sp>
        <p:nvSpPr>
          <p:cNvPr id="13" name="Rounded Rectangle 12"/>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Use consistent validation data</a:t>
            </a:r>
          </a:p>
        </p:txBody>
      </p:sp>
      <p:sp>
        <p:nvSpPr>
          <p:cNvPr id="14" name="Rounded Rectangle 13"/>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Promote only reviewed model versions</a:t>
            </a:r>
          </a:p>
        </p:txBody>
      </p:sp>
      <p:sp>
        <p:nvSpPr>
          <p:cNvPr id="15" name="TextBox 14"/>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6" name="Rounded Rectangle 1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8" name="Rounded Rectangle 17"/>
          <p:cNvSpPr/>
          <p:nvPr/>
        </p:nvSpPr>
        <p:spPr>
          <a:xfrm>
            <a:off x="384048" y="5464376"/>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DVC reproducible pipeline</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MLOPS</a:t>
            </a:r>
          </a:p>
        </p:txBody>
      </p:sp>
      <p:sp>
        <p:nvSpPr>
          <p:cNvPr id="5" name="Rounded Rectangle 4"/>
          <p:cNvSpPr/>
          <p:nvPr/>
        </p:nvSpPr>
        <p:spPr>
          <a:xfrm>
            <a:off x="594360" y="2057400"/>
            <a:ext cx="2619756"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Version data</a:t>
            </a:r>
          </a:p>
        </p:txBody>
      </p:sp>
      <p:cxnSp>
        <p:nvCxnSpPr>
          <p:cNvPr id="6" name="Connector 5"/>
          <p:cNvCxnSpPr/>
          <p:nvPr/>
        </p:nvCxnSpPr>
        <p:spPr>
          <a:xfrm>
            <a:off x="322326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8708" y="2057400"/>
            <a:ext cx="2619756"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Run pipeline</a:t>
            </a:r>
          </a:p>
        </p:txBody>
      </p:sp>
      <p:cxnSp>
        <p:nvCxnSpPr>
          <p:cNvPr id="8" name="Connector 7"/>
          <p:cNvCxnSpPr/>
          <p:nvPr/>
        </p:nvCxnSpPr>
        <p:spPr>
          <a:xfrm>
            <a:off x="6007608"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63056" y="2057400"/>
            <a:ext cx="2619756"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Track outputs</a:t>
            </a:r>
          </a:p>
        </p:txBody>
      </p:sp>
      <p:cxnSp>
        <p:nvCxnSpPr>
          <p:cNvPr id="10" name="Connector 9"/>
          <p:cNvCxnSpPr/>
          <p:nvPr/>
        </p:nvCxnSpPr>
        <p:spPr>
          <a:xfrm>
            <a:off x="8791956"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47404" y="2057400"/>
            <a:ext cx="2619756" cy="105156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400" b="1">
                <a:solidFill>
                  <a:srgbClr val="14223A"/>
                </a:solidFill>
                <a:latin typeface="Aptos"/>
              </a:defRPr>
            </a:pPr>
            <a:r>
              <a:t>Reproduce experiment</a:t>
            </a:r>
          </a:p>
        </p:txBody>
      </p:sp>
      <p:sp>
        <p:nvSpPr>
          <p:cNvPr id="12" name="Rounded Rectangle 11"/>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Keep large artifacts in configured remote storage</a:t>
            </a:r>
          </a:p>
        </p:txBody>
      </p:sp>
      <p:sp>
        <p:nvSpPr>
          <p:cNvPr id="13" name="Rounded Rectangle 12"/>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Model stages as explicit dependencies</a:t>
            </a:r>
          </a:p>
        </p:txBody>
      </p:sp>
      <p:sp>
        <p:nvSpPr>
          <p:cNvPr id="14" name="Rounded Rectangle 13"/>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Commit metadata and pipeline definitions</a:t>
            </a:r>
          </a:p>
        </p:txBody>
      </p:sp>
      <p:sp>
        <p:nvSpPr>
          <p:cNvPr id="15" name="TextBox 14"/>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6" name="Rounded Rectangle 1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8" name="Rounded Rectangle 17"/>
          <p:cNvSpPr/>
          <p:nvPr/>
        </p:nvSpPr>
        <p:spPr>
          <a:xfrm>
            <a:off x="384048" y="5474207"/>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Model monitoring feedback loop</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MLOPS</a:t>
            </a:r>
          </a:p>
        </p:txBody>
      </p:sp>
      <p:sp>
        <p:nvSpPr>
          <p:cNvPr id="5" name="Rounded Rectangle 4"/>
          <p:cNvSpPr/>
          <p:nvPr/>
        </p:nvSpPr>
        <p:spPr>
          <a:xfrm>
            <a:off x="731520" y="1828800"/>
            <a:ext cx="3017520" cy="96012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Production inputs</a:t>
            </a:r>
          </a:p>
        </p:txBody>
      </p:sp>
      <p:sp>
        <p:nvSpPr>
          <p:cNvPr id="6" name="Rounded Rectangle 5"/>
          <p:cNvSpPr/>
          <p:nvPr/>
        </p:nvSpPr>
        <p:spPr>
          <a:xfrm>
            <a:off x="8138160" y="1828800"/>
            <a:ext cx="3017520" cy="96012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Quality / drift checks</a:t>
            </a:r>
          </a:p>
        </p:txBody>
      </p:sp>
      <p:sp>
        <p:nvSpPr>
          <p:cNvPr id="7" name="Rounded Rectangle 6"/>
          <p:cNvSpPr/>
          <p:nvPr/>
        </p:nvSpPr>
        <p:spPr>
          <a:xfrm>
            <a:off x="8138160" y="4069080"/>
            <a:ext cx="3017520" cy="96012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Alert + investigate</a:t>
            </a:r>
          </a:p>
        </p:txBody>
      </p:sp>
      <p:sp>
        <p:nvSpPr>
          <p:cNvPr id="8" name="Rounded Rectangle 7"/>
          <p:cNvSpPr/>
          <p:nvPr/>
        </p:nvSpPr>
        <p:spPr>
          <a:xfrm>
            <a:off x="731520" y="4069080"/>
            <a:ext cx="3017520" cy="96012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500" b="1">
                <a:solidFill>
                  <a:srgbClr val="14223A"/>
                </a:solidFill>
                <a:latin typeface="Aptos"/>
              </a:defRPr>
            </a:pPr>
            <a:r>
              <a:t>Retrain or rollback</a:t>
            </a:r>
          </a:p>
        </p:txBody>
      </p:sp>
      <p:cxnSp>
        <p:nvCxnSpPr>
          <p:cNvPr id="9" name="Connector 8"/>
          <p:cNvCxnSpPr/>
          <p:nvPr/>
        </p:nvCxnSpPr>
        <p:spPr>
          <a:xfrm>
            <a:off x="3794760" y="2286000"/>
            <a:ext cx="420624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646920" y="2834640"/>
            <a:ext cx="0" cy="109728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3840480" y="4526280"/>
            <a:ext cx="416052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240280" y="2880360"/>
            <a:ext cx="0" cy="105156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14400" y="5083276"/>
            <a:ext cx="10332720" cy="411480"/>
          </a:xfrm>
          <a:prstGeom prst="rect">
            <a:avLst/>
          </a:prstGeom>
          <a:noFill/>
        </p:spPr>
        <p:txBody>
          <a:bodyPr wrap="square" lIns="73152" rIns="73152" bIns="36576">
            <a:spAutoFit/>
          </a:bodyPr>
          <a:lstStyle/>
          <a:p>
            <a:pPr algn="ctr">
              <a:defRPr sz="1500" b="0">
                <a:solidFill>
                  <a:srgbClr val="5F6C7D"/>
                </a:solidFill>
                <a:latin typeface="Aptos"/>
              </a:defRPr>
            </a:pPr>
            <a:r>
              <a:rPr dirty="0"/>
              <a:t>Iterative loop: use results and monitoring to decide the next action.</a:t>
            </a:r>
          </a:p>
        </p:txBody>
      </p:sp>
      <p:sp>
        <p:nvSpPr>
          <p:cNvPr id="14" name="Rounded Rectangle 1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6" name="Rounded Rectangle 15"/>
          <p:cNvSpPr/>
          <p:nvPr/>
        </p:nvSpPr>
        <p:spPr>
          <a:xfrm>
            <a:off x="384048" y="5375884"/>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dirty="0">
                <a:solidFill>
                  <a:srgbClr val="1F3755"/>
                </a:solidFill>
              </a:rPr>
              <a:t>Explanation: </a:t>
            </a:r>
            <a:r>
              <a:rPr sz="900" dirty="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Responsible AI review</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MLOPS</a:t>
            </a:r>
          </a:p>
        </p:txBody>
      </p:sp>
      <p:sp>
        <p:nvSpPr>
          <p:cNvPr id="5" name="Rounded Rectangle 4"/>
          <p:cNvSpPr/>
          <p:nvPr/>
        </p:nvSpPr>
        <p:spPr>
          <a:xfrm>
            <a:off x="594360" y="2057400"/>
            <a:ext cx="2619756"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Privacy &amp; security</a:t>
            </a:r>
          </a:p>
        </p:txBody>
      </p:sp>
      <p:cxnSp>
        <p:nvCxnSpPr>
          <p:cNvPr id="6" name="Connector 5"/>
          <p:cNvCxnSpPr/>
          <p:nvPr/>
        </p:nvCxnSpPr>
        <p:spPr>
          <a:xfrm>
            <a:off x="322326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8708" y="2057400"/>
            <a:ext cx="2619756"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Fairness checks</a:t>
            </a:r>
          </a:p>
        </p:txBody>
      </p:sp>
      <p:cxnSp>
        <p:nvCxnSpPr>
          <p:cNvPr id="8" name="Connector 7"/>
          <p:cNvCxnSpPr/>
          <p:nvPr/>
        </p:nvCxnSpPr>
        <p:spPr>
          <a:xfrm>
            <a:off x="6007608"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63056" y="2057400"/>
            <a:ext cx="2619756"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Robustness tests</a:t>
            </a:r>
          </a:p>
        </p:txBody>
      </p:sp>
      <p:cxnSp>
        <p:nvCxnSpPr>
          <p:cNvPr id="10" name="Connector 9"/>
          <p:cNvCxnSpPr/>
          <p:nvPr/>
        </p:nvCxnSpPr>
        <p:spPr>
          <a:xfrm>
            <a:off x="8791956"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47404" y="2057400"/>
            <a:ext cx="2619756" cy="105156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Human oversight</a:t>
            </a:r>
          </a:p>
        </p:txBody>
      </p:sp>
      <p:sp>
        <p:nvSpPr>
          <p:cNvPr id="12" name="Rounded Rectangle 11"/>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Limit data access and retention</a:t>
            </a:r>
          </a:p>
        </p:txBody>
      </p:sp>
      <p:sp>
        <p:nvSpPr>
          <p:cNvPr id="13" name="Rounded Rectangle 12"/>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Evaluate relevant subgroups</a:t>
            </a:r>
          </a:p>
        </p:txBody>
      </p:sp>
      <p:sp>
        <p:nvSpPr>
          <p:cNvPr id="14" name="Rounded Rectangle 13"/>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Document intended use and known limitations</a:t>
            </a:r>
          </a:p>
        </p:txBody>
      </p:sp>
      <p:sp>
        <p:nvSpPr>
          <p:cNvPr id="15" name="TextBox 14"/>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6" name="Rounded Rectangle 1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8" name="Rounded Rectangle 17"/>
          <p:cNvSpPr/>
          <p:nvPr/>
        </p:nvSpPr>
        <p:spPr>
          <a:xfrm>
            <a:off x="384048" y="5434877"/>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73152" rIns="73152" bIns="36576">
            <a:spAutoFit/>
          </a:bodyPr>
          <a:lstStyle/>
          <a:p>
            <a:pPr>
              <a:defRPr sz="2700" b="1">
                <a:solidFill>
                  <a:srgbClr val="14223A"/>
                </a:solidFill>
                <a:latin typeface="Aptos"/>
              </a:defRPr>
            </a:pPr>
            <a:r>
              <a:t>End-to-end project lifecycle</a:t>
            </a:r>
          </a:p>
        </p:txBody>
      </p:sp>
      <p:sp>
        <p:nvSpPr>
          <p:cNvPr id="4" name="TextBox 3"/>
          <p:cNvSpPr txBox="1"/>
          <p:nvPr/>
        </p:nvSpPr>
        <p:spPr>
          <a:xfrm>
            <a:off x="640080" y="868680"/>
            <a:ext cx="10789920" cy="228600"/>
          </a:xfrm>
          <a:prstGeom prst="rect">
            <a:avLst/>
          </a:prstGeom>
          <a:noFill/>
        </p:spPr>
        <p:txBody>
          <a:bodyPr wrap="square" lIns="73152" rIns="73152" bIns="36576">
            <a:spAutoFit/>
          </a:bodyPr>
          <a:lstStyle/>
          <a:p>
            <a:pPr>
              <a:defRPr sz="900" b="1">
                <a:solidFill>
                  <a:srgbClr val="009688"/>
                </a:solidFill>
                <a:latin typeface="Aptos"/>
              </a:defRPr>
            </a:pPr>
            <a:r>
              <a:t>PROJECTS</a:t>
            </a:r>
          </a:p>
        </p:txBody>
      </p:sp>
      <p:sp>
        <p:nvSpPr>
          <p:cNvPr id="5" name="Rounded Rectangle 4"/>
          <p:cNvSpPr/>
          <p:nvPr/>
        </p:nvSpPr>
        <p:spPr>
          <a:xfrm>
            <a:off x="594360" y="2057400"/>
            <a:ext cx="2062886" cy="10515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Problem framing</a:t>
            </a:r>
          </a:p>
        </p:txBody>
      </p:sp>
      <p:cxnSp>
        <p:nvCxnSpPr>
          <p:cNvPr id="6" name="Connector 5"/>
          <p:cNvCxnSpPr/>
          <p:nvPr/>
        </p:nvCxnSpPr>
        <p:spPr>
          <a:xfrm>
            <a:off x="2666390"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821838" y="2057400"/>
            <a:ext cx="2062886" cy="10515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Data + baseline</a:t>
            </a:r>
          </a:p>
        </p:txBody>
      </p:sp>
      <p:cxnSp>
        <p:nvCxnSpPr>
          <p:cNvPr id="8" name="Connector 7"/>
          <p:cNvCxnSpPr/>
          <p:nvPr/>
        </p:nvCxnSpPr>
        <p:spPr>
          <a:xfrm>
            <a:off x="4893868"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49316" y="2057400"/>
            <a:ext cx="2062886" cy="10515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Model experiments</a:t>
            </a:r>
          </a:p>
        </p:txBody>
      </p:sp>
      <p:cxnSp>
        <p:nvCxnSpPr>
          <p:cNvPr id="10" name="Connector 9"/>
          <p:cNvCxnSpPr/>
          <p:nvPr/>
        </p:nvCxnSpPr>
        <p:spPr>
          <a:xfrm>
            <a:off x="7121347"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276795" y="2057400"/>
            <a:ext cx="2062886" cy="1051560"/>
          </a:xfrm>
          <a:prstGeom prst="roundRect">
            <a:avLst/>
          </a:prstGeom>
          <a:solidFill>
            <a:srgbClr val="EDE6FA"/>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Deploy</a:t>
            </a:r>
          </a:p>
        </p:txBody>
      </p:sp>
      <p:cxnSp>
        <p:nvCxnSpPr>
          <p:cNvPr id="12" name="Connector 11"/>
          <p:cNvCxnSpPr/>
          <p:nvPr/>
        </p:nvCxnSpPr>
        <p:spPr>
          <a:xfrm>
            <a:off x="9348825" y="2583180"/>
            <a:ext cx="13716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04273" y="2057400"/>
            <a:ext cx="2062886" cy="1051560"/>
          </a:xfrm>
          <a:prstGeom prst="roundRect">
            <a:avLst/>
          </a:prstGeom>
          <a:solidFill>
            <a:srgbClr val="FCE7EC"/>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600" b="1">
                <a:solidFill>
                  <a:srgbClr val="14223A"/>
                </a:solidFill>
                <a:latin typeface="Aptos"/>
              </a:defRPr>
            </a:pPr>
            <a:r>
              <a:t>Monitor</a:t>
            </a:r>
          </a:p>
        </p:txBody>
      </p:sp>
      <p:sp>
        <p:nvSpPr>
          <p:cNvPr id="14" name="Rounded Rectangle 13"/>
          <p:cNvSpPr/>
          <p:nvPr/>
        </p:nvSpPr>
        <p:spPr>
          <a:xfrm>
            <a:off x="640080"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Define success before training</a:t>
            </a:r>
          </a:p>
        </p:txBody>
      </p:sp>
      <p:sp>
        <p:nvSpPr>
          <p:cNvPr id="15" name="Rounded Rectangle 14"/>
          <p:cNvSpPr/>
          <p:nvPr/>
        </p:nvSpPr>
        <p:spPr>
          <a:xfrm>
            <a:off x="4349496"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Compare against a simple baseline</a:t>
            </a:r>
          </a:p>
        </p:txBody>
      </p:sp>
      <p:sp>
        <p:nvSpPr>
          <p:cNvPr id="16" name="Rounded Rectangle 15"/>
          <p:cNvSpPr/>
          <p:nvPr/>
        </p:nvSpPr>
        <p:spPr>
          <a:xfrm>
            <a:off x="8058911" y="3977639"/>
            <a:ext cx="3508248" cy="1234440"/>
          </a:xfrm>
          <a:prstGeom prst="roundRect">
            <a:avLst/>
          </a:prstGeom>
          <a:solidFill>
            <a:srgbClr val="F2F6FB"/>
          </a:solidFill>
          <a:ln w="19050">
            <a:solidFill>
              <a:srgbClr val="D2DCE8"/>
            </a:solidFill>
          </a:ln>
        </p:spPr>
        <p:style>
          <a:lnRef idx="1">
            <a:schemeClr val="accent1"/>
          </a:lnRef>
          <a:fillRef idx="3">
            <a:schemeClr val="accent1"/>
          </a:fillRef>
          <a:effectRef idx="2">
            <a:schemeClr val="accent1"/>
          </a:effectRef>
          <a:fontRef idx="minor">
            <a:schemeClr val="lt1"/>
          </a:fontRef>
        </p:style>
        <p:txBody>
          <a:bodyPr wrap="square" lIns="64008" rIns="64008" rtlCol="0" anchor="ctr"/>
          <a:lstStyle/>
          <a:p>
            <a:pPr algn="ctr">
              <a:defRPr sz="1300" b="1">
                <a:solidFill>
                  <a:srgbClr val="14223A"/>
                </a:solidFill>
                <a:latin typeface="Aptos"/>
              </a:defRPr>
            </a:pPr>
            <a:r>
              <a:t>Include ownership and maintenance</a:t>
            </a:r>
          </a:p>
        </p:txBody>
      </p:sp>
      <p:sp>
        <p:nvSpPr>
          <p:cNvPr id="17" name="TextBox 16"/>
          <p:cNvSpPr txBox="1"/>
          <p:nvPr/>
        </p:nvSpPr>
        <p:spPr>
          <a:xfrm>
            <a:off x="685800" y="5715000"/>
            <a:ext cx="10789920" cy="274320"/>
          </a:xfrm>
          <a:prstGeom prst="rect">
            <a:avLst/>
          </a:prstGeom>
          <a:noFill/>
        </p:spPr>
        <p:txBody>
          <a:bodyPr wrap="square" lIns="73152" rIns="73152" bIns="36576">
            <a:spAutoFit/>
          </a:bodyPr>
          <a:lstStyle/>
          <a:p>
            <a:pPr algn="ctr">
              <a:defRPr sz="1100" b="0">
                <a:solidFill>
                  <a:srgbClr val="5F6C7D"/>
                </a:solidFill>
                <a:latin typeface="Aptos"/>
              </a:defRPr>
            </a:pPr>
            <a:r>
              <a:t>Concept map • Editable PowerPoint shapes and arrows</a:t>
            </a:r>
          </a:p>
        </p:txBody>
      </p:sp>
      <p:sp>
        <p:nvSpPr>
          <p:cNvPr id="18" name="Rounded Rectangle 1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20" name="Rounded Rectangle 19"/>
          <p:cNvSpPr/>
          <p:nvPr/>
        </p:nvSpPr>
        <p:spPr>
          <a:xfrm>
            <a:off x="384048" y="5425046"/>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54864" tIns="36576" rIns="54864" bIns="36576">
            <a:spAutoFit/>
          </a:bodyPr>
          <a:lstStyle/>
          <a:p>
            <a:pPr>
              <a:defRPr sz="2600" b="1">
                <a:solidFill>
                  <a:srgbClr val="14223A"/>
                </a:solidFill>
                <a:latin typeface="Aptos"/>
              </a:defRPr>
            </a:pPr>
            <a:r>
              <a:t>Machine Learning Paradigms — Visual Map</a:t>
            </a:r>
          </a:p>
        </p:txBody>
      </p:sp>
      <p:sp>
        <p:nvSpPr>
          <p:cNvPr id="4" name="TextBox 3"/>
          <p:cNvSpPr txBox="1"/>
          <p:nvPr/>
        </p:nvSpPr>
        <p:spPr>
          <a:xfrm>
            <a:off x="640080" y="868680"/>
            <a:ext cx="10789920" cy="228600"/>
          </a:xfrm>
          <a:prstGeom prst="rect">
            <a:avLst/>
          </a:prstGeom>
          <a:noFill/>
        </p:spPr>
        <p:txBody>
          <a:bodyPr wrap="square" lIns="54864" tIns="36576" rIns="54864" bIns="36576">
            <a:spAutoFit/>
          </a:bodyPr>
          <a:lstStyle/>
          <a:p>
            <a:pPr>
              <a:defRPr sz="900" b="1">
                <a:solidFill>
                  <a:srgbClr val="009688"/>
                </a:solidFill>
                <a:latin typeface="Aptos"/>
              </a:defRPr>
            </a:pPr>
            <a:r>
              <a:t>REFERENCE THEME: MACHINE-LEARNING PARADIGMS OVERVIEW</a:t>
            </a:r>
          </a:p>
        </p:txBody>
      </p:sp>
      <p:sp>
        <p:nvSpPr>
          <p:cNvPr id="5" name="TextBox 4"/>
          <p:cNvSpPr txBox="1"/>
          <p:nvPr/>
        </p:nvSpPr>
        <p:spPr>
          <a:xfrm>
            <a:off x="640080" y="6455664"/>
            <a:ext cx="10972800" cy="164592"/>
          </a:xfrm>
          <a:prstGeom prst="rect">
            <a:avLst/>
          </a:prstGeom>
          <a:noFill/>
        </p:spPr>
        <p:txBody>
          <a:bodyPr wrap="square" lIns="54864" tIns="36576" rIns="54864" bIns="36576">
            <a:spAutoFit/>
          </a:bodyPr>
          <a:lstStyle/>
          <a:p>
            <a:pPr>
              <a:defRPr sz="800" b="0">
                <a:solidFill>
                  <a:srgbClr val="5F6C7D"/>
                </a:solidFill>
                <a:latin typeface="Aptos"/>
              </a:defRPr>
            </a:pPr>
            <a:r>
              <a:t>Original editable diagram inspired by themes in the user's Google Images search</a:t>
            </a:r>
          </a:p>
        </p:txBody>
      </p:sp>
      <p:sp>
        <p:nvSpPr>
          <p:cNvPr id="6" name="Rounded Rectangle 5"/>
          <p:cNvSpPr/>
          <p:nvPr/>
        </p:nvSpPr>
        <p:spPr>
          <a:xfrm>
            <a:off x="685800" y="1508760"/>
            <a:ext cx="3429000" cy="64008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500" b="1">
                <a:solidFill>
                  <a:srgbClr val="14223A"/>
                </a:solidFill>
                <a:latin typeface="Aptos"/>
              </a:defRPr>
            </a:pPr>
            <a:r>
              <a:t>SUPERVISED LEARNING</a:t>
            </a:r>
          </a:p>
        </p:txBody>
      </p:sp>
      <p:sp>
        <p:nvSpPr>
          <p:cNvPr id="7" name="Rounded Rectangle 6"/>
          <p:cNvSpPr/>
          <p:nvPr/>
        </p:nvSpPr>
        <p:spPr>
          <a:xfrm>
            <a:off x="685800" y="2331720"/>
            <a:ext cx="3429000" cy="1051560"/>
          </a:xfrm>
          <a:prstGeom prst="roundRect">
            <a:avLst/>
          </a:prstGeom>
          <a:solidFill>
            <a:srgbClr val="FFFFFF"/>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500" b="1">
                <a:solidFill>
                  <a:srgbClr val="14223A"/>
                </a:solidFill>
                <a:latin typeface="Aptos"/>
              </a:defRPr>
            </a:pPr>
            <a:r>
              <a:t>Labeled examples</a:t>
            </a:r>
            <a:br/>
            <a:r>
              <a:t>Regression • Classification</a:t>
            </a:r>
          </a:p>
        </p:txBody>
      </p:sp>
      <p:sp>
        <p:nvSpPr>
          <p:cNvPr id="8" name="Rounded Rectangle 7"/>
          <p:cNvSpPr/>
          <p:nvPr/>
        </p:nvSpPr>
        <p:spPr>
          <a:xfrm>
            <a:off x="685800" y="3611880"/>
            <a:ext cx="3429000" cy="77724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300" b="1">
                <a:solidFill>
                  <a:srgbClr val="14223A"/>
                </a:solidFill>
                <a:latin typeface="Aptos"/>
              </a:defRPr>
            </a:pPr>
            <a:r>
              <a:t>Decision trees • SVM • Linear models</a:t>
            </a:r>
          </a:p>
        </p:txBody>
      </p:sp>
      <p:sp>
        <p:nvSpPr>
          <p:cNvPr id="9" name="Rounded Rectangle 8"/>
          <p:cNvSpPr/>
          <p:nvPr/>
        </p:nvSpPr>
        <p:spPr>
          <a:xfrm>
            <a:off x="4526280" y="1508760"/>
            <a:ext cx="3429000" cy="64008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500" b="1">
                <a:solidFill>
                  <a:srgbClr val="14223A"/>
                </a:solidFill>
                <a:latin typeface="Aptos"/>
              </a:defRPr>
            </a:pPr>
            <a:r>
              <a:t>UNSUPERVISED LEARNING</a:t>
            </a:r>
          </a:p>
        </p:txBody>
      </p:sp>
      <p:sp>
        <p:nvSpPr>
          <p:cNvPr id="10" name="Rounded Rectangle 9"/>
          <p:cNvSpPr/>
          <p:nvPr/>
        </p:nvSpPr>
        <p:spPr>
          <a:xfrm>
            <a:off x="4526280" y="2331720"/>
            <a:ext cx="3429000" cy="1051560"/>
          </a:xfrm>
          <a:prstGeom prst="roundRect">
            <a:avLst/>
          </a:prstGeom>
          <a:solidFill>
            <a:srgbClr val="FFFFFF"/>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500" b="1">
                <a:solidFill>
                  <a:srgbClr val="14223A"/>
                </a:solidFill>
                <a:latin typeface="Aptos"/>
              </a:defRPr>
            </a:pPr>
            <a:r>
              <a:t>Unlabeled data</a:t>
            </a:r>
            <a:br/>
            <a:r>
              <a:t>Clustering • PCA</a:t>
            </a:r>
          </a:p>
        </p:txBody>
      </p:sp>
      <p:sp>
        <p:nvSpPr>
          <p:cNvPr id="11" name="Rounded Rectangle 10"/>
          <p:cNvSpPr/>
          <p:nvPr/>
        </p:nvSpPr>
        <p:spPr>
          <a:xfrm>
            <a:off x="4526280" y="3611880"/>
            <a:ext cx="3429000" cy="77724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300" b="1">
                <a:solidFill>
                  <a:srgbClr val="14223A"/>
                </a:solidFill>
                <a:latin typeface="Aptos"/>
              </a:defRPr>
            </a:pPr>
            <a:r>
              <a:t>K-means • Dimensionality reduction</a:t>
            </a:r>
          </a:p>
        </p:txBody>
      </p:sp>
      <p:sp>
        <p:nvSpPr>
          <p:cNvPr id="12" name="Rounded Rectangle 11"/>
          <p:cNvSpPr/>
          <p:nvPr/>
        </p:nvSpPr>
        <p:spPr>
          <a:xfrm>
            <a:off x="8366760" y="1508760"/>
            <a:ext cx="3429000" cy="64008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500" b="1">
                <a:solidFill>
                  <a:srgbClr val="14223A"/>
                </a:solidFill>
                <a:latin typeface="Aptos"/>
              </a:defRPr>
            </a:pPr>
            <a:r>
              <a:t>REINFORCEMENT LEARNING</a:t>
            </a:r>
          </a:p>
        </p:txBody>
      </p:sp>
      <p:sp>
        <p:nvSpPr>
          <p:cNvPr id="13" name="Rounded Rectangle 12"/>
          <p:cNvSpPr/>
          <p:nvPr/>
        </p:nvSpPr>
        <p:spPr>
          <a:xfrm>
            <a:off x="8366760" y="2331720"/>
            <a:ext cx="3429000" cy="1051560"/>
          </a:xfrm>
          <a:prstGeom prst="roundRect">
            <a:avLst/>
          </a:prstGeom>
          <a:solidFill>
            <a:srgbClr val="FFFFFF"/>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500" b="1">
                <a:solidFill>
                  <a:srgbClr val="14223A"/>
                </a:solidFill>
                <a:latin typeface="Aptos"/>
              </a:defRPr>
            </a:pPr>
            <a:r>
              <a:t>Actions + rewards</a:t>
            </a:r>
            <a:br/>
            <a:r>
              <a:t>Policy learning</a:t>
            </a:r>
          </a:p>
        </p:txBody>
      </p:sp>
      <p:sp>
        <p:nvSpPr>
          <p:cNvPr id="14" name="Rounded Rectangle 13"/>
          <p:cNvSpPr/>
          <p:nvPr/>
        </p:nvSpPr>
        <p:spPr>
          <a:xfrm>
            <a:off x="8366760" y="3611880"/>
            <a:ext cx="3429000" cy="77724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300" b="1">
                <a:solidFill>
                  <a:srgbClr val="14223A"/>
                </a:solidFill>
                <a:latin typeface="Aptos"/>
              </a:defRPr>
            </a:pPr>
            <a:r>
              <a:t>Agent • Environment • Reward</a:t>
            </a:r>
          </a:p>
        </p:txBody>
      </p:sp>
      <p:sp>
        <p:nvSpPr>
          <p:cNvPr id="15" name="TextBox 14"/>
          <p:cNvSpPr txBox="1"/>
          <p:nvPr/>
        </p:nvSpPr>
        <p:spPr>
          <a:xfrm>
            <a:off x="914400" y="4892040"/>
            <a:ext cx="10332720" cy="502920"/>
          </a:xfrm>
          <a:prstGeom prst="rect">
            <a:avLst/>
          </a:prstGeom>
          <a:noFill/>
        </p:spPr>
        <p:txBody>
          <a:bodyPr wrap="square" lIns="54864" tIns="36576" rIns="54864" bIns="36576">
            <a:spAutoFit/>
          </a:bodyPr>
          <a:lstStyle/>
          <a:p>
            <a:pPr algn="ctr">
              <a:defRPr sz="1700" b="0">
                <a:solidFill>
                  <a:srgbClr val="28303C"/>
                </a:solidFill>
                <a:latin typeface="Aptos"/>
              </a:defRPr>
            </a:pPr>
            <a:r>
              <a:t>Choose the learning paradigm from the type of feedback available and the goal of the task.</a:t>
            </a:r>
          </a:p>
        </p:txBody>
      </p:sp>
      <p:sp>
        <p:nvSpPr>
          <p:cNvPr id="16" name="Rounded Rectangle 1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54864" tIns="36576" rIns="54864" bIns="36576">
            <a:spAutoFit/>
          </a:bodyPr>
          <a:lstStyle/>
          <a:p>
            <a:pPr>
              <a:defRPr sz="2600" b="1">
                <a:solidFill>
                  <a:srgbClr val="14223A"/>
                </a:solidFill>
                <a:latin typeface="Aptos"/>
              </a:defRPr>
            </a:pPr>
            <a:r>
              <a:t>NLP Classification Pipeline</a:t>
            </a:r>
          </a:p>
        </p:txBody>
      </p:sp>
      <p:sp>
        <p:nvSpPr>
          <p:cNvPr id="4" name="TextBox 3"/>
          <p:cNvSpPr txBox="1"/>
          <p:nvPr/>
        </p:nvSpPr>
        <p:spPr>
          <a:xfrm>
            <a:off x="640080" y="868680"/>
            <a:ext cx="10789920" cy="228600"/>
          </a:xfrm>
          <a:prstGeom prst="rect">
            <a:avLst/>
          </a:prstGeom>
          <a:noFill/>
        </p:spPr>
        <p:txBody>
          <a:bodyPr wrap="square" lIns="54864" tIns="36576" rIns="54864" bIns="36576">
            <a:spAutoFit/>
          </a:bodyPr>
          <a:lstStyle/>
          <a:p>
            <a:pPr>
              <a:defRPr sz="900" b="1">
                <a:solidFill>
                  <a:srgbClr val="009688"/>
                </a:solidFill>
                <a:latin typeface="Aptos"/>
              </a:defRPr>
            </a:pPr>
            <a:r>
              <a:t>REFERENCE THEME: TEXT PREPROCESSING, MODELS, VALIDATION AND EXPLAINABILITY</a:t>
            </a:r>
          </a:p>
        </p:txBody>
      </p:sp>
      <p:sp>
        <p:nvSpPr>
          <p:cNvPr id="5" name="TextBox 4"/>
          <p:cNvSpPr txBox="1"/>
          <p:nvPr/>
        </p:nvSpPr>
        <p:spPr>
          <a:xfrm>
            <a:off x="640080" y="6455664"/>
            <a:ext cx="10972800" cy="164592"/>
          </a:xfrm>
          <a:prstGeom prst="rect">
            <a:avLst/>
          </a:prstGeom>
          <a:noFill/>
        </p:spPr>
        <p:txBody>
          <a:bodyPr wrap="square" lIns="54864" tIns="36576" rIns="54864" bIns="36576">
            <a:spAutoFit/>
          </a:bodyPr>
          <a:lstStyle/>
          <a:p>
            <a:pPr>
              <a:defRPr sz="800" b="0">
                <a:solidFill>
                  <a:srgbClr val="5F6C7D"/>
                </a:solidFill>
                <a:latin typeface="Aptos"/>
              </a:defRPr>
            </a:pPr>
            <a:r>
              <a:t>Original editable diagram inspired by themes in the user's Google Images search</a:t>
            </a:r>
          </a:p>
        </p:txBody>
      </p:sp>
      <p:sp>
        <p:nvSpPr>
          <p:cNvPr id="6" name="Rounded Rectangle 5"/>
          <p:cNvSpPr/>
          <p:nvPr/>
        </p:nvSpPr>
        <p:spPr>
          <a:xfrm>
            <a:off x="502920" y="1874519"/>
            <a:ext cx="2148840" cy="658368"/>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400" b="1">
                <a:solidFill>
                  <a:srgbClr val="14223A"/>
                </a:solidFill>
                <a:latin typeface="Aptos"/>
              </a:defRPr>
            </a:pPr>
            <a:r>
              <a:t>Raw text</a:t>
            </a:r>
          </a:p>
        </p:txBody>
      </p:sp>
      <p:sp>
        <p:nvSpPr>
          <p:cNvPr id="7" name="Rounded Rectangle 6"/>
          <p:cNvSpPr/>
          <p:nvPr/>
        </p:nvSpPr>
        <p:spPr>
          <a:xfrm>
            <a:off x="502920" y="2697479"/>
            <a:ext cx="2148840" cy="822960"/>
          </a:xfrm>
          <a:prstGeom prst="roundRect">
            <a:avLst/>
          </a:prstGeom>
          <a:solidFill>
            <a:srgbClr val="FFFFFF"/>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200" b="1">
                <a:solidFill>
                  <a:srgbClr val="14223A"/>
                </a:solidFill>
                <a:latin typeface="Aptos"/>
              </a:defRPr>
            </a:pPr>
            <a:r>
              <a:t>Documents / labels</a:t>
            </a:r>
          </a:p>
        </p:txBody>
      </p:sp>
      <p:cxnSp>
        <p:nvCxnSpPr>
          <p:cNvPr id="8" name="Connector 7"/>
          <p:cNvCxnSpPr/>
          <p:nvPr/>
        </p:nvCxnSpPr>
        <p:spPr>
          <a:xfrm>
            <a:off x="2670048" y="2606039"/>
            <a:ext cx="201168"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98648" y="1874519"/>
            <a:ext cx="2148840" cy="658368"/>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400" b="1">
                <a:solidFill>
                  <a:srgbClr val="14223A"/>
                </a:solidFill>
                <a:latin typeface="Aptos"/>
              </a:defRPr>
            </a:pPr>
            <a:r>
              <a:t>Preprocess</a:t>
            </a:r>
          </a:p>
        </p:txBody>
      </p:sp>
      <p:sp>
        <p:nvSpPr>
          <p:cNvPr id="10" name="Rounded Rectangle 9"/>
          <p:cNvSpPr/>
          <p:nvPr/>
        </p:nvSpPr>
        <p:spPr>
          <a:xfrm>
            <a:off x="2898648" y="2697479"/>
            <a:ext cx="2148840" cy="822960"/>
          </a:xfrm>
          <a:prstGeom prst="roundRect">
            <a:avLst/>
          </a:prstGeom>
          <a:solidFill>
            <a:srgbClr val="FFFFFF"/>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200" b="1">
                <a:solidFill>
                  <a:srgbClr val="14223A"/>
                </a:solidFill>
                <a:latin typeface="Aptos"/>
              </a:defRPr>
            </a:pPr>
            <a:r>
              <a:t>Normalize • tokenize</a:t>
            </a:r>
          </a:p>
        </p:txBody>
      </p:sp>
      <p:cxnSp>
        <p:nvCxnSpPr>
          <p:cNvPr id="11" name="Connector 10"/>
          <p:cNvCxnSpPr/>
          <p:nvPr/>
        </p:nvCxnSpPr>
        <p:spPr>
          <a:xfrm>
            <a:off x="5065775" y="2606039"/>
            <a:ext cx="201168"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294376" y="1874519"/>
            <a:ext cx="2148840" cy="658368"/>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400" b="1">
                <a:solidFill>
                  <a:srgbClr val="14223A"/>
                </a:solidFill>
                <a:latin typeface="Aptos"/>
              </a:defRPr>
            </a:pPr>
            <a:r>
              <a:t>Represent</a:t>
            </a:r>
          </a:p>
        </p:txBody>
      </p:sp>
      <p:sp>
        <p:nvSpPr>
          <p:cNvPr id="13" name="Rounded Rectangle 12"/>
          <p:cNvSpPr/>
          <p:nvPr/>
        </p:nvSpPr>
        <p:spPr>
          <a:xfrm>
            <a:off x="5294376" y="2697479"/>
            <a:ext cx="2148840" cy="822960"/>
          </a:xfrm>
          <a:prstGeom prst="roundRect">
            <a:avLst/>
          </a:prstGeom>
          <a:solidFill>
            <a:srgbClr val="FFFFFF"/>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200" b="1">
                <a:solidFill>
                  <a:srgbClr val="14223A"/>
                </a:solidFill>
                <a:latin typeface="Aptos"/>
              </a:defRPr>
            </a:pPr>
            <a:r>
              <a:t>TF-IDF / embeddings</a:t>
            </a:r>
          </a:p>
        </p:txBody>
      </p:sp>
      <p:cxnSp>
        <p:nvCxnSpPr>
          <p:cNvPr id="14" name="Connector 13"/>
          <p:cNvCxnSpPr/>
          <p:nvPr/>
        </p:nvCxnSpPr>
        <p:spPr>
          <a:xfrm>
            <a:off x="7461504" y="2606039"/>
            <a:ext cx="201168"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690104" y="1874519"/>
            <a:ext cx="2148840" cy="658368"/>
          </a:xfrm>
          <a:prstGeom prst="roundRect">
            <a:avLst/>
          </a:prstGeom>
          <a:solidFill>
            <a:srgbClr val="EDE6FA"/>
          </a:solidFill>
          <a:ln w="19050">
            <a:solidFill>
              <a:srgbClr val="7557B4"/>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400" b="1">
                <a:solidFill>
                  <a:srgbClr val="14223A"/>
                </a:solidFill>
                <a:latin typeface="Aptos"/>
              </a:defRPr>
            </a:pPr>
            <a:r>
              <a:t>Train models</a:t>
            </a:r>
          </a:p>
        </p:txBody>
      </p:sp>
      <p:sp>
        <p:nvSpPr>
          <p:cNvPr id="16" name="Rounded Rectangle 15"/>
          <p:cNvSpPr/>
          <p:nvPr/>
        </p:nvSpPr>
        <p:spPr>
          <a:xfrm>
            <a:off x="7690104" y="2697479"/>
            <a:ext cx="2148840" cy="822960"/>
          </a:xfrm>
          <a:prstGeom prst="roundRect">
            <a:avLst/>
          </a:prstGeom>
          <a:solidFill>
            <a:srgbClr val="FFFFFF"/>
          </a:solidFill>
          <a:ln w="19050">
            <a:solidFill>
              <a:srgbClr val="7557B4"/>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200" b="1">
                <a:solidFill>
                  <a:srgbClr val="14223A"/>
                </a:solidFill>
                <a:latin typeface="Aptos"/>
              </a:defRPr>
            </a:pPr>
            <a:r>
              <a:t>ML / RNN / transformer</a:t>
            </a:r>
          </a:p>
        </p:txBody>
      </p:sp>
      <p:cxnSp>
        <p:nvCxnSpPr>
          <p:cNvPr id="17" name="Connector 16"/>
          <p:cNvCxnSpPr/>
          <p:nvPr/>
        </p:nvCxnSpPr>
        <p:spPr>
          <a:xfrm>
            <a:off x="9857232" y="2606039"/>
            <a:ext cx="201168"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0085832" y="1874519"/>
            <a:ext cx="2148840" cy="658368"/>
          </a:xfrm>
          <a:prstGeom prst="roundRect">
            <a:avLst/>
          </a:prstGeom>
          <a:solidFill>
            <a:srgbClr val="FCE7EC"/>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400" b="1">
                <a:solidFill>
                  <a:srgbClr val="14223A"/>
                </a:solidFill>
                <a:latin typeface="Aptos"/>
              </a:defRPr>
            </a:pPr>
            <a:r>
              <a:t>Evaluate</a:t>
            </a:r>
          </a:p>
        </p:txBody>
      </p:sp>
      <p:sp>
        <p:nvSpPr>
          <p:cNvPr id="19" name="Rounded Rectangle 18"/>
          <p:cNvSpPr/>
          <p:nvPr/>
        </p:nvSpPr>
        <p:spPr>
          <a:xfrm>
            <a:off x="10085832" y="2697479"/>
            <a:ext cx="2148840" cy="822960"/>
          </a:xfrm>
          <a:prstGeom prst="roundRect">
            <a:avLst/>
          </a:prstGeom>
          <a:solidFill>
            <a:srgbClr val="FFFFFF"/>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200" b="1">
                <a:solidFill>
                  <a:srgbClr val="14223A"/>
                </a:solidFill>
                <a:latin typeface="Aptos"/>
              </a:defRPr>
            </a:pPr>
            <a:r>
              <a:t>F1 • confusion matrix</a:t>
            </a:r>
          </a:p>
        </p:txBody>
      </p:sp>
      <p:sp>
        <p:nvSpPr>
          <p:cNvPr id="20" name="Rounded Rectangle 19"/>
          <p:cNvSpPr/>
          <p:nvPr/>
        </p:nvSpPr>
        <p:spPr>
          <a:xfrm>
            <a:off x="3383280" y="4297680"/>
            <a:ext cx="5394960" cy="77724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500" b="1">
                <a:solidFill>
                  <a:srgbClr val="14223A"/>
                </a:solidFill>
                <a:latin typeface="Aptos"/>
              </a:defRPr>
            </a:pPr>
            <a:r>
              <a:t>Explain errors</a:t>
            </a:r>
            <a:br/>
            <a:r>
              <a:t>LIME / SHAP / manual review</a:t>
            </a:r>
          </a:p>
        </p:txBody>
      </p:sp>
      <p:cxnSp>
        <p:nvCxnSpPr>
          <p:cNvPr id="21" name="Connector 20"/>
          <p:cNvCxnSpPr/>
          <p:nvPr/>
        </p:nvCxnSpPr>
        <p:spPr>
          <a:xfrm flipH="1">
            <a:off x="8138160" y="2743200"/>
            <a:ext cx="1280160" cy="1508760"/>
          </a:xfrm>
          <a:prstGeom prst="line">
            <a:avLst/>
          </a:prstGeom>
          <a:ln w="25400">
            <a:solidFill>
              <a:srgbClr val="00968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31520" y="5532120"/>
            <a:ext cx="10698480" cy="411480"/>
          </a:xfrm>
          <a:prstGeom prst="rect">
            <a:avLst/>
          </a:prstGeom>
          <a:noFill/>
        </p:spPr>
        <p:txBody>
          <a:bodyPr wrap="square" lIns="54864" tIns="36576" rIns="54864" bIns="36576">
            <a:spAutoFit/>
          </a:bodyPr>
          <a:lstStyle/>
          <a:p>
            <a:pPr algn="ctr">
              <a:defRPr sz="1400" b="0">
                <a:solidFill>
                  <a:srgbClr val="5F6C7D"/>
                </a:solidFill>
                <a:latin typeface="Aptos"/>
              </a:defRPr>
            </a:pPr>
            <a:r>
              <a:t>Fit vocabulary and preprocessing on training data only; tune on validation data and keep the test set for final evaluation.</a:t>
            </a:r>
          </a:p>
        </p:txBody>
      </p:sp>
      <p:sp>
        <p:nvSpPr>
          <p:cNvPr id="23" name="Rounded Rectangle 22"/>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54864" tIns="36576" rIns="54864" bIns="36576">
            <a:spAutoFit/>
          </a:bodyPr>
          <a:lstStyle/>
          <a:p>
            <a:pPr>
              <a:defRPr sz="2600" b="1">
                <a:solidFill>
                  <a:srgbClr val="14223A"/>
                </a:solidFill>
                <a:latin typeface="Aptos"/>
              </a:defRPr>
            </a:pPr>
            <a:r>
              <a:t>End-to-End Neural Network Project Lifecycle</a:t>
            </a:r>
          </a:p>
        </p:txBody>
      </p:sp>
      <p:sp>
        <p:nvSpPr>
          <p:cNvPr id="4" name="TextBox 3"/>
          <p:cNvSpPr txBox="1"/>
          <p:nvPr/>
        </p:nvSpPr>
        <p:spPr>
          <a:xfrm>
            <a:off x="640080" y="868680"/>
            <a:ext cx="10789920" cy="228600"/>
          </a:xfrm>
          <a:prstGeom prst="rect">
            <a:avLst/>
          </a:prstGeom>
          <a:noFill/>
        </p:spPr>
        <p:txBody>
          <a:bodyPr wrap="square" lIns="54864" tIns="36576" rIns="54864" bIns="36576">
            <a:spAutoFit/>
          </a:bodyPr>
          <a:lstStyle/>
          <a:p>
            <a:pPr>
              <a:defRPr sz="900" b="1">
                <a:solidFill>
                  <a:srgbClr val="009688"/>
                </a:solidFill>
                <a:latin typeface="Aptos"/>
              </a:defRPr>
            </a:pPr>
            <a:r>
              <a:t>REFERENCE THEME: DATA SCIENCE PROJECT LIFE CYCLE</a:t>
            </a:r>
          </a:p>
        </p:txBody>
      </p:sp>
      <p:sp>
        <p:nvSpPr>
          <p:cNvPr id="5" name="TextBox 4"/>
          <p:cNvSpPr txBox="1"/>
          <p:nvPr/>
        </p:nvSpPr>
        <p:spPr>
          <a:xfrm>
            <a:off x="640080" y="6455664"/>
            <a:ext cx="10972800" cy="164592"/>
          </a:xfrm>
          <a:prstGeom prst="rect">
            <a:avLst/>
          </a:prstGeom>
          <a:noFill/>
        </p:spPr>
        <p:txBody>
          <a:bodyPr wrap="square" lIns="54864" tIns="36576" rIns="54864" bIns="36576">
            <a:spAutoFit/>
          </a:bodyPr>
          <a:lstStyle/>
          <a:p>
            <a:pPr>
              <a:defRPr sz="800" b="0">
                <a:solidFill>
                  <a:srgbClr val="5F6C7D"/>
                </a:solidFill>
                <a:latin typeface="Aptos"/>
              </a:defRPr>
            </a:pPr>
            <a:r>
              <a:t>Original editable diagram inspired by themes in the user's Google Images search</a:t>
            </a:r>
          </a:p>
        </p:txBody>
      </p:sp>
      <p:sp>
        <p:nvSpPr>
          <p:cNvPr id="6" name="Rounded Rectangle 5"/>
          <p:cNvSpPr/>
          <p:nvPr/>
        </p:nvSpPr>
        <p:spPr>
          <a:xfrm>
            <a:off x="640080" y="1554480"/>
            <a:ext cx="3429000" cy="59436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400" b="1">
                <a:solidFill>
                  <a:srgbClr val="14223A"/>
                </a:solidFill>
                <a:latin typeface="Aptos"/>
              </a:defRPr>
            </a:pPr>
            <a:r>
              <a:t>1. Frame problem</a:t>
            </a:r>
          </a:p>
        </p:txBody>
      </p:sp>
      <p:sp>
        <p:nvSpPr>
          <p:cNvPr id="7" name="Rounded Rectangle 6"/>
          <p:cNvSpPr/>
          <p:nvPr/>
        </p:nvSpPr>
        <p:spPr>
          <a:xfrm>
            <a:off x="640080" y="2267712"/>
            <a:ext cx="3429000" cy="658368"/>
          </a:xfrm>
          <a:prstGeom prst="roundRect">
            <a:avLst/>
          </a:prstGeom>
          <a:solidFill>
            <a:srgbClr val="FFFFFF"/>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200" b="1">
                <a:solidFill>
                  <a:srgbClr val="14223A"/>
                </a:solidFill>
                <a:latin typeface="Aptos"/>
              </a:defRPr>
            </a:pPr>
            <a:r>
              <a:t>Goal • metric • constraints</a:t>
            </a:r>
          </a:p>
        </p:txBody>
      </p:sp>
      <p:sp>
        <p:nvSpPr>
          <p:cNvPr id="8" name="Rounded Rectangle 7"/>
          <p:cNvSpPr/>
          <p:nvPr/>
        </p:nvSpPr>
        <p:spPr>
          <a:xfrm>
            <a:off x="4526280" y="1554480"/>
            <a:ext cx="3429000" cy="59436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400" b="1">
                <a:solidFill>
                  <a:srgbClr val="14223A"/>
                </a:solidFill>
                <a:latin typeface="Aptos"/>
              </a:defRPr>
            </a:pPr>
            <a:r>
              <a:t>2. Collect data</a:t>
            </a:r>
          </a:p>
        </p:txBody>
      </p:sp>
      <p:sp>
        <p:nvSpPr>
          <p:cNvPr id="9" name="Rounded Rectangle 8"/>
          <p:cNvSpPr/>
          <p:nvPr/>
        </p:nvSpPr>
        <p:spPr>
          <a:xfrm>
            <a:off x="4526280" y="2267712"/>
            <a:ext cx="3429000" cy="658368"/>
          </a:xfrm>
          <a:prstGeom prst="roundRect">
            <a:avLst/>
          </a:prstGeom>
          <a:solidFill>
            <a:srgbClr val="FFFFFF"/>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200" b="1">
                <a:solidFill>
                  <a:srgbClr val="14223A"/>
                </a:solidFill>
                <a:latin typeface="Aptos"/>
              </a:defRPr>
            </a:pPr>
            <a:r>
              <a:t>Sources • labels • permissions</a:t>
            </a:r>
          </a:p>
        </p:txBody>
      </p:sp>
      <p:sp>
        <p:nvSpPr>
          <p:cNvPr id="10" name="Rounded Rectangle 9"/>
          <p:cNvSpPr/>
          <p:nvPr/>
        </p:nvSpPr>
        <p:spPr>
          <a:xfrm>
            <a:off x="8412480" y="1554480"/>
            <a:ext cx="3429000" cy="5943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400" b="1">
                <a:solidFill>
                  <a:srgbClr val="14223A"/>
                </a:solidFill>
                <a:latin typeface="Aptos"/>
              </a:defRPr>
            </a:pPr>
            <a:r>
              <a:t>3. Prepare data</a:t>
            </a:r>
          </a:p>
        </p:txBody>
      </p:sp>
      <p:sp>
        <p:nvSpPr>
          <p:cNvPr id="11" name="Rounded Rectangle 10"/>
          <p:cNvSpPr/>
          <p:nvPr/>
        </p:nvSpPr>
        <p:spPr>
          <a:xfrm>
            <a:off x="8412480" y="2267712"/>
            <a:ext cx="3429000" cy="658368"/>
          </a:xfrm>
          <a:prstGeom prst="roundRect">
            <a:avLst/>
          </a:prstGeom>
          <a:solidFill>
            <a:srgbClr val="FFFFFF"/>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200" b="1">
                <a:solidFill>
                  <a:srgbClr val="14223A"/>
                </a:solidFill>
                <a:latin typeface="Aptos"/>
              </a:defRPr>
            </a:pPr>
            <a:r>
              <a:t>Clean • split • transform</a:t>
            </a:r>
          </a:p>
        </p:txBody>
      </p:sp>
      <p:sp>
        <p:nvSpPr>
          <p:cNvPr id="12" name="Rounded Rectangle 11"/>
          <p:cNvSpPr/>
          <p:nvPr/>
        </p:nvSpPr>
        <p:spPr>
          <a:xfrm>
            <a:off x="640080" y="3611880"/>
            <a:ext cx="3429000" cy="594360"/>
          </a:xfrm>
          <a:prstGeom prst="roundRect">
            <a:avLst/>
          </a:prstGeom>
          <a:solidFill>
            <a:srgbClr val="EDE6FA"/>
          </a:solidFill>
          <a:ln w="19050">
            <a:solidFill>
              <a:srgbClr val="7557B4"/>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400" b="1">
                <a:solidFill>
                  <a:srgbClr val="14223A"/>
                </a:solidFill>
                <a:latin typeface="Aptos"/>
              </a:defRPr>
            </a:pPr>
            <a:r>
              <a:t>4. Train model</a:t>
            </a:r>
          </a:p>
        </p:txBody>
      </p:sp>
      <p:sp>
        <p:nvSpPr>
          <p:cNvPr id="13" name="Rounded Rectangle 12"/>
          <p:cNvSpPr/>
          <p:nvPr/>
        </p:nvSpPr>
        <p:spPr>
          <a:xfrm>
            <a:off x="640080" y="4325112"/>
            <a:ext cx="3429000" cy="658368"/>
          </a:xfrm>
          <a:prstGeom prst="roundRect">
            <a:avLst/>
          </a:prstGeom>
          <a:solidFill>
            <a:srgbClr val="FFFFFF"/>
          </a:solidFill>
          <a:ln w="19050">
            <a:solidFill>
              <a:srgbClr val="7557B4"/>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200" b="1">
                <a:solidFill>
                  <a:srgbClr val="14223A"/>
                </a:solidFill>
                <a:latin typeface="Aptos"/>
              </a:defRPr>
            </a:pPr>
            <a:r>
              <a:t>Baseline • architecture</a:t>
            </a:r>
          </a:p>
        </p:txBody>
      </p:sp>
      <p:sp>
        <p:nvSpPr>
          <p:cNvPr id="14" name="Rounded Rectangle 13"/>
          <p:cNvSpPr/>
          <p:nvPr/>
        </p:nvSpPr>
        <p:spPr>
          <a:xfrm>
            <a:off x="4526280" y="3611880"/>
            <a:ext cx="3429000" cy="594360"/>
          </a:xfrm>
          <a:prstGeom prst="roundRect">
            <a:avLst/>
          </a:prstGeom>
          <a:solidFill>
            <a:srgbClr val="FCE7EC"/>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400" b="1">
                <a:solidFill>
                  <a:srgbClr val="14223A"/>
                </a:solidFill>
                <a:latin typeface="Aptos"/>
              </a:defRPr>
            </a:pPr>
            <a:r>
              <a:t>5. Tune &amp; evaluate</a:t>
            </a:r>
          </a:p>
        </p:txBody>
      </p:sp>
      <p:sp>
        <p:nvSpPr>
          <p:cNvPr id="15" name="Rounded Rectangle 14"/>
          <p:cNvSpPr/>
          <p:nvPr/>
        </p:nvSpPr>
        <p:spPr>
          <a:xfrm>
            <a:off x="4526280" y="4325112"/>
            <a:ext cx="3429000" cy="658368"/>
          </a:xfrm>
          <a:prstGeom prst="roundRect">
            <a:avLst/>
          </a:prstGeom>
          <a:solidFill>
            <a:srgbClr val="FFFFFF"/>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200" b="1">
                <a:solidFill>
                  <a:srgbClr val="14223A"/>
                </a:solidFill>
                <a:latin typeface="Aptos"/>
              </a:defRPr>
            </a:pPr>
            <a:r>
              <a:t>Validation • error analysis</a:t>
            </a:r>
          </a:p>
        </p:txBody>
      </p:sp>
      <p:sp>
        <p:nvSpPr>
          <p:cNvPr id="16" name="Rounded Rectangle 15"/>
          <p:cNvSpPr/>
          <p:nvPr/>
        </p:nvSpPr>
        <p:spPr>
          <a:xfrm>
            <a:off x="8412480" y="3611880"/>
            <a:ext cx="3429000" cy="594360"/>
          </a:xfrm>
          <a:prstGeom prst="roundRect">
            <a:avLst/>
          </a:prstGeom>
          <a:solidFill>
            <a:srgbClr val="F2F6FB"/>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400" b="1">
                <a:solidFill>
                  <a:srgbClr val="14223A"/>
                </a:solidFill>
                <a:latin typeface="Aptos"/>
              </a:defRPr>
            </a:pPr>
            <a:r>
              <a:t>6. Deploy &amp; monitor</a:t>
            </a:r>
          </a:p>
        </p:txBody>
      </p:sp>
      <p:sp>
        <p:nvSpPr>
          <p:cNvPr id="17" name="Rounded Rectangle 16"/>
          <p:cNvSpPr/>
          <p:nvPr/>
        </p:nvSpPr>
        <p:spPr>
          <a:xfrm>
            <a:off x="8412480" y="4325112"/>
            <a:ext cx="3429000" cy="658368"/>
          </a:xfrm>
          <a:prstGeom prst="roundRect">
            <a:avLst/>
          </a:prstGeom>
          <a:solidFill>
            <a:srgbClr val="FFFFFF"/>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200" b="1">
                <a:solidFill>
                  <a:srgbClr val="14223A"/>
                </a:solidFill>
                <a:latin typeface="Aptos"/>
              </a:defRPr>
            </a:pPr>
            <a:r>
              <a:t>Serve • measure • improve</a:t>
            </a:r>
          </a:p>
        </p:txBody>
      </p:sp>
      <p:cxnSp>
        <p:nvCxnSpPr>
          <p:cNvPr id="18" name="Connector 17"/>
          <p:cNvCxnSpPr/>
          <p:nvPr/>
        </p:nvCxnSpPr>
        <p:spPr>
          <a:xfrm>
            <a:off x="4160520" y="1856231"/>
            <a:ext cx="320039"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046720" y="1856231"/>
            <a:ext cx="320040"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738360" y="2971800"/>
            <a:ext cx="0" cy="429768"/>
          </a:xfrm>
          <a:prstGeom prst="line">
            <a:avLst/>
          </a:prstGeom>
          <a:ln w="25400">
            <a:solidFill>
              <a:srgbClr val="00968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7726679" y="4526280"/>
            <a:ext cx="320041" cy="0"/>
          </a:xfrm>
          <a:prstGeom prst="line">
            <a:avLst/>
          </a:prstGeom>
          <a:ln w="25400">
            <a:solidFill>
              <a:srgbClr val="00968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3840480" y="4526280"/>
            <a:ext cx="320040" cy="0"/>
          </a:xfrm>
          <a:prstGeom prst="line">
            <a:avLst/>
          </a:prstGeom>
          <a:ln w="25400">
            <a:solidFill>
              <a:srgbClr val="00968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14400" y="5852160"/>
            <a:ext cx="10332720" cy="320040"/>
          </a:xfrm>
          <a:prstGeom prst="rect">
            <a:avLst/>
          </a:prstGeom>
          <a:noFill/>
        </p:spPr>
        <p:txBody>
          <a:bodyPr wrap="square" lIns="54864" tIns="36576" rIns="54864" bIns="36576">
            <a:spAutoFit/>
          </a:bodyPr>
          <a:lstStyle/>
          <a:p>
            <a:pPr algn="ctr">
              <a:defRPr sz="1400" b="0">
                <a:solidFill>
                  <a:srgbClr val="5F6C7D"/>
                </a:solidFill>
                <a:latin typeface="Aptos"/>
              </a:defRPr>
            </a:pPr>
            <a:r>
              <a:t>Feedback from production can trigger investigation, data fixes, retraining, or rollback.</a:t>
            </a:r>
          </a:p>
        </p:txBody>
      </p:sp>
      <p:sp>
        <p:nvSpPr>
          <p:cNvPr id="24" name="Rounded Rectangle 2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54864" tIns="36576" rIns="54864" bIns="36576">
            <a:spAutoFit/>
          </a:bodyPr>
          <a:lstStyle/>
          <a:p>
            <a:pPr>
              <a:defRPr sz="2600" b="1">
                <a:solidFill>
                  <a:srgbClr val="14223A"/>
                </a:solidFill>
                <a:latin typeface="Aptos"/>
              </a:defRPr>
            </a:pPr>
            <a:r>
              <a:t>Transformer Attention — Conceptual Flow</a:t>
            </a:r>
          </a:p>
        </p:txBody>
      </p:sp>
      <p:sp>
        <p:nvSpPr>
          <p:cNvPr id="4" name="TextBox 3"/>
          <p:cNvSpPr txBox="1"/>
          <p:nvPr/>
        </p:nvSpPr>
        <p:spPr>
          <a:xfrm>
            <a:off x="640080" y="868680"/>
            <a:ext cx="10789920" cy="228600"/>
          </a:xfrm>
          <a:prstGeom prst="rect">
            <a:avLst/>
          </a:prstGeom>
          <a:noFill/>
        </p:spPr>
        <p:txBody>
          <a:bodyPr wrap="square" lIns="54864" tIns="36576" rIns="54864" bIns="36576">
            <a:spAutoFit/>
          </a:bodyPr>
          <a:lstStyle/>
          <a:p>
            <a:pPr>
              <a:defRPr sz="900" b="1">
                <a:solidFill>
                  <a:srgbClr val="009688"/>
                </a:solidFill>
                <a:latin typeface="Aptos"/>
              </a:defRPr>
            </a:pPr>
            <a:r>
              <a:t>REFERENCE THEME: QUERY/KEY/VALUE ATTENTION AND WEIGHTED REPRESENTATIONS</a:t>
            </a:r>
          </a:p>
        </p:txBody>
      </p:sp>
      <p:sp>
        <p:nvSpPr>
          <p:cNvPr id="5" name="TextBox 4"/>
          <p:cNvSpPr txBox="1"/>
          <p:nvPr/>
        </p:nvSpPr>
        <p:spPr>
          <a:xfrm>
            <a:off x="640080" y="6455664"/>
            <a:ext cx="10972800" cy="164592"/>
          </a:xfrm>
          <a:prstGeom prst="rect">
            <a:avLst/>
          </a:prstGeom>
          <a:noFill/>
        </p:spPr>
        <p:txBody>
          <a:bodyPr wrap="square" lIns="54864" tIns="36576" rIns="54864" bIns="36576">
            <a:spAutoFit/>
          </a:bodyPr>
          <a:lstStyle/>
          <a:p>
            <a:pPr>
              <a:defRPr sz="800" b="0">
                <a:solidFill>
                  <a:srgbClr val="5F6C7D"/>
                </a:solidFill>
                <a:latin typeface="Aptos"/>
              </a:defRPr>
            </a:pPr>
            <a:r>
              <a:t>Original editable diagram inspired by themes in the user's Google Images search</a:t>
            </a:r>
          </a:p>
        </p:txBody>
      </p:sp>
      <p:sp>
        <p:nvSpPr>
          <p:cNvPr id="6" name="Rounded Rectangle 5"/>
          <p:cNvSpPr/>
          <p:nvPr/>
        </p:nvSpPr>
        <p:spPr>
          <a:xfrm>
            <a:off x="777240" y="1508760"/>
            <a:ext cx="10652760" cy="640080"/>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600" b="1">
                <a:solidFill>
                  <a:srgbClr val="14223A"/>
                </a:solidFill>
                <a:latin typeface="Aptos"/>
              </a:defRPr>
            </a:pPr>
            <a:r>
              <a:t>Input tokens + positional information</a:t>
            </a:r>
          </a:p>
        </p:txBody>
      </p:sp>
      <p:sp>
        <p:nvSpPr>
          <p:cNvPr id="7" name="Rounded Rectangle 6"/>
          <p:cNvSpPr/>
          <p:nvPr/>
        </p:nvSpPr>
        <p:spPr>
          <a:xfrm>
            <a:off x="914400" y="2560320"/>
            <a:ext cx="2926080" cy="658368"/>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500" b="1">
                <a:solidFill>
                  <a:srgbClr val="14223A"/>
                </a:solidFill>
                <a:latin typeface="Aptos"/>
              </a:defRPr>
            </a:pPr>
            <a:r>
              <a:t>Query vectors</a:t>
            </a:r>
          </a:p>
        </p:txBody>
      </p:sp>
      <p:cxnSp>
        <p:nvCxnSpPr>
          <p:cNvPr id="8" name="Connector 7"/>
          <p:cNvCxnSpPr/>
          <p:nvPr/>
        </p:nvCxnSpPr>
        <p:spPr>
          <a:xfrm flipH="1">
            <a:off x="2377440" y="2167128"/>
            <a:ext cx="3703320" cy="347472"/>
          </a:xfrm>
          <a:prstGeom prst="line">
            <a:avLst/>
          </a:prstGeom>
          <a:ln w="25400">
            <a:solidFill>
              <a:srgbClr val="009688"/>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617720" y="2560320"/>
            <a:ext cx="2926080" cy="658368"/>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500" b="1">
                <a:solidFill>
                  <a:srgbClr val="14223A"/>
                </a:solidFill>
                <a:latin typeface="Aptos"/>
              </a:defRPr>
            </a:pPr>
            <a:r>
              <a:t>Key vectors</a:t>
            </a:r>
          </a:p>
        </p:txBody>
      </p:sp>
      <p:cxnSp>
        <p:nvCxnSpPr>
          <p:cNvPr id="10" name="Connector 9"/>
          <p:cNvCxnSpPr/>
          <p:nvPr/>
        </p:nvCxnSpPr>
        <p:spPr>
          <a:xfrm>
            <a:off x="6080760" y="2167128"/>
            <a:ext cx="0" cy="347472"/>
          </a:xfrm>
          <a:prstGeom prst="line">
            <a:avLst/>
          </a:prstGeom>
          <a:ln w="25400">
            <a:solidFill>
              <a:srgbClr val="EEAD38"/>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321040" y="2560320"/>
            <a:ext cx="2926080" cy="658368"/>
          </a:xfrm>
          <a:prstGeom prst="roundRect">
            <a:avLst/>
          </a:prstGeom>
          <a:solidFill>
            <a:srgbClr val="EDE6FA"/>
          </a:solidFill>
          <a:ln w="19050">
            <a:solidFill>
              <a:srgbClr val="7557B4"/>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500" b="1">
                <a:solidFill>
                  <a:srgbClr val="14223A"/>
                </a:solidFill>
                <a:latin typeface="Aptos"/>
              </a:defRPr>
            </a:pPr>
            <a:r>
              <a:t>Value vectors</a:t>
            </a:r>
          </a:p>
        </p:txBody>
      </p:sp>
      <p:cxnSp>
        <p:nvCxnSpPr>
          <p:cNvPr id="12" name="Connector 11"/>
          <p:cNvCxnSpPr/>
          <p:nvPr/>
        </p:nvCxnSpPr>
        <p:spPr>
          <a:xfrm>
            <a:off x="6080760" y="2167128"/>
            <a:ext cx="3703320" cy="347472"/>
          </a:xfrm>
          <a:prstGeom prst="line">
            <a:avLst/>
          </a:prstGeom>
          <a:ln w="25400">
            <a:solidFill>
              <a:srgbClr val="7557B4"/>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051560" y="3657600"/>
            <a:ext cx="2880360" cy="731520"/>
          </a:xfrm>
          <a:prstGeom prst="roundRect">
            <a:avLst/>
          </a:prstGeom>
          <a:solidFill>
            <a:srgbClr val="FFFFFF"/>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400" b="1">
                <a:solidFill>
                  <a:srgbClr val="14223A"/>
                </a:solidFill>
                <a:latin typeface="Aptos"/>
              </a:defRPr>
            </a:pPr>
            <a:r>
              <a:t>Similarity scores</a:t>
            </a:r>
            <a:br/>
            <a:r>
              <a:t>(Q × Kᵀ)</a:t>
            </a:r>
          </a:p>
        </p:txBody>
      </p:sp>
      <p:sp>
        <p:nvSpPr>
          <p:cNvPr id="14" name="Rounded Rectangle 13"/>
          <p:cNvSpPr/>
          <p:nvPr/>
        </p:nvSpPr>
        <p:spPr>
          <a:xfrm>
            <a:off x="4663440" y="3657600"/>
            <a:ext cx="2880360" cy="731520"/>
          </a:xfrm>
          <a:prstGeom prst="roundRect">
            <a:avLst/>
          </a:prstGeom>
          <a:solidFill>
            <a:srgbClr val="FFFFFF"/>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400" b="1">
                <a:solidFill>
                  <a:srgbClr val="14223A"/>
                </a:solidFill>
                <a:latin typeface="Aptos"/>
              </a:defRPr>
            </a:pPr>
            <a:r>
              <a:t>Softmax</a:t>
            </a:r>
            <a:br/>
            <a:r>
              <a:t>attention weights</a:t>
            </a:r>
          </a:p>
        </p:txBody>
      </p:sp>
      <p:sp>
        <p:nvSpPr>
          <p:cNvPr id="15" name="Rounded Rectangle 14"/>
          <p:cNvSpPr/>
          <p:nvPr/>
        </p:nvSpPr>
        <p:spPr>
          <a:xfrm>
            <a:off x="8275320" y="3657600"/>
            <a:ext cx="2880360" cy="731520"/>
          </a:xfrm>
          <a:prstGeom prst="roundRect">
            <a:avLst/>
          </a:prstGeom>
          <a:solidFill>
            <a:srgbClr val="FFFFFF"/>
          </a:solidFill>
          <a:ln w="19050">
            <a:solidFill>
              <a:srgbClr val="7557B4"/>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400" b="1">
                <a:solidFill>
                  <a:srgbClr val="14223A"/>
                </a:solidFill>
                <a:latin typeface="Aptos"/>
              </a:defRPr>
            </a:pPr>
            <a:r>
              <a:t>Weighted sum of V</a:t>
            </a:r>
            <a:br/>
            <a:r>
              <a:t>(context vectors)</a:t>
            </a:r>
          </a:p>
        </p:txBody>
      </p:sp>
      <p:cxnSp>
        <p:nvCxnSpPr>
          <p:cNvPr id="16" name="Connector 15"/>
          <p:cNvCxnSpPr/>
          <p:nvPr/>
        </p:nvCxnSpPr>
        <p:spPr>
          <a:xfrm>
            <a:off x="3977639" y="4023360"/>
            <a:ext cx="594361"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589520" y="4023360"/>
            <a:ext cx="594359" cy="0"/>
          </a:xfrm>
          <a:prstGeom prst="line">
            <a:avLst/>
          </a:prstGeom>
          <a:ln w="25400">
            <a:solidFill>
              <a:srgbClr val="00968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738360" y="4434840"/>
            <a:ext cx="0" cy="548640"/>
          </a:xfrm>
          <a:prstGeom prst="line">
            <a:avLst/>
          </a:prstGeom>
          <a:ln w="25400">
            <a:solidFill>
              <a:srgbClr val="7557B4"/>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828800" y="5029200"/>
            <a:ext cx="8549640" cy="731520"/>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400" b="1">
                <a:solidFill>
                  <a:srgbClr val="14223A"/>
                </a:solidFill>
                <a:latin typeface="Aptos"/>
              </a:defRPr>
            </a:pPr>
            <a:r>
              <a:t>Contextual token representations → feed-forward layers → next-token prediction or task output</a:t>
            </a:r>
          </a:p>
        </p:txBody>
      </p:sp>
      <p:sp>
        <p:nvSpPr>
          <p:cNvPr id="20" name="TextBox 19"/>
          <p:cNvSpPr txBox="1"/>
          <p:nvPr/>
        </p:nvSpPr>
        <p:spPr>
          <a:xfrm>
            <a:off x="914400" y="5989320"/>
            <a:ext cx="10332720" cy="274320"/>
          </a:xfrm>
          <a:prstGeom prst="rect">
            <a:avLst/>
          </a:prstGeom>
          <a:noFill/>
        </p:spPr>
        <p:txBody>
          <a:bodyPr wrap="square" lIns="54864" tIns="36576" rIns="54864" bIns="36576">
            <a:spAutoFit/>
          </a:bodyPr>
          <a:lstStyle/>
          <a:p>
            <a:pPr algn="ctr">
              <a:defRPr sz="1300" b="0">
                <a:solidFill>
                  <a:srgbClr val="5F6C7D"/>
                </a:solidFill>
                <a:latin typeface="Aptos"/>
              </a:defRPr>
            </a:pPr>
            <a:r>
              <a:t>Attention weights determine how information from other tokens contributes to each token's representation.</a:t>
            </a:r>
          </a:p>
        </p:txBody>
      </p:sp>
      <p:sp>
        <p:nvSpPr>
          <p:cNvPr id="21" name="Rounded Rectangle 20"/>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54864" tIns="36576" rIns="54864" bIns="36576">
            <a:spAutoFit/>
          </a:bodyPr>
          <a:lstStyle/>
          <a:p>
            <a:pPr>
              <a:defRPr sz="2600" b="1">
                <a:solidFill>
                  <a:srgbClr val="14223A"/>
                </a:solidFill>
                <a:latin typeface="Aptos"/>
              </a:defRPr>
            </a:pPr>
            <a:r>
              <a:t>Model Validation, Explainability and Production Feedback</a:t>
            </a:r>
          </a:p>
        </p:txBody>
      </p:sp>
      <p:sp>
        <p:nvSpPr>
          <p:cNvPr id="4" name="TextBox 3"/>
          <p:cNvSpPr txBox="1"/>
          <p:nvPr/>
        </p:nvSpPr>
        <p:spPr>
          <a:xfrm>
            <a:off x="640080" y="868680"/>
            <a:ext cx="10789920" cy="228600"/>
          </a:xfrm>
          <a:prstGeom prst="rect">
            <a:avLst/>
          </a:prstGeom>
          <a:noFill/>
        </p:spPr>
        <p:txBody>
          <a:bodyPr wrap="square" lIns="54864" tIns="36576" rIns="54864" bIns="36576">
            <a:spAutoFit/>
          </a:bodyPr>
          <a:lstStyle/>
          <a:p>
            <a:pPr>
              <a:defRPr sz="900" b="1">
                <a:solidFill>
                  <a:srgbClr val="009688"/>
                </a:solidFill>
                <a:latin typeface="Aptos"/>
              </a:defRPr>
            </a:pPr>
            <a:r>
              <a:t>REFERENCE THEME: EVALUATION, EXPLAINABILITY AND MONITORING</a:t>
            </a:r>
          </a:p>
        </p:txBody>
      </p:sp>
      <p:sp>
        <p:nvSpPr>
          <p:cNvPr id="5" name="TextBox 4"/>
          <p:cNvSpPr txBox="1"/>
          <p:nvPr/>
        </p:nvSpPr>
        <p:spPr>
          <a:xfrm>
            <a:off x="640080" y="6455664"/>
            <a:ext cx="10972800" cy="164592"/>
          </a:xfrm>
          <a:prstGeom prst="rect">
            <a:avLst/>
          </a:prstGeom>
          <a:noFill/>
        </p:spPr>
        <p:txBody>
          <a:bodyPr wrap="square" lIns="54864" tIns="36576" rIns="54864" bIns="36576">
            <a:spAutoFit/>
          </a:bodyPr>
          <a:lstStyle/>
          <a:p>
            <a:pPr>
              <a:defRPr sz="800" b="0">
                <a:solidFill>
                  <a:srgbClr val="5F6C7D"/>
                </a:solidFill>
                <a:latin typeface="Aptos"/>
              </a:defRPr>
            </a:pPr>
            <a:r>
              <a:t>Original editable diagram inspired by themes in the user's Google Images search</a:t>
            </a:r>
          </a:p>
        </p:txBody>
      </p:sp>
      <p:sp>
        <p:nvSpPr>
          <p:cNvPr id="6" name="Rounded Rectangle 5"/>
          <p:cNvSpPr/>
          <p:nvPr/>
        </p:nvSpPr>
        <p:spPr>
          <a:xfrm>
            <a:off x="548640" y="1828800"/>
            <a:ext cx="2084831" cy="658368"/>
          </a:xfrm>
          <a:prstGeom prst="roundRect">
            <a:avLst/>
          </a:prstGeom>
          <a:solidFill>
            <a:srgbClr val="E0EDFC"/>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300" b="1">
                <a:solidFill>
                  <a:srgbClr val="14223A"/>
                </a:solidFill>
                <a:latin typeface="Aptos"/>
              </a:defRPr>
            </a:pPr>
            <a:r>
              <a:t>Validation</a:t>
            </a:r>
          </a:p>
        </p:txBody>
      </p:sp>
      <p:sp>
        <p:nvSpPr>
          <p:cNvPr id="7" name="Rounded Rectangle 6"/>
          <p:cNvSpPr/>
          <p:nvPr/>
        </p:nvSpPr>
        <p:spPr>
          <a:xfrm>
            <a:off x="548640" y="2651760"/>
            <a:ext cx="2084831" cy="914400"/>
          </a:xfrm>
          <a:prstGeom prst="roundRect">
            <a:avLst/>
          </a:prstGeom>
          <a:solidFill>
            <a:srgbClr val="FFFFFF"/>
          </a:solidFill>
          <a:ln w="19050">
            <a:solidFill>
              <a:srgbClr val="2A69BE"/>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200" b="1">
                <a:solidFill>
                  <a:srgbClr val="14223A"/>
                </a:solidFill>
                <a:latin typeface="Aptos"/>
              </a:defRPr>
            </a:pPr>
            <a:r>
              <a:t>Metrics + calibration</a:t>
            </a:r>
          </a:p>
        </p:txBody>
      </p:sp>
      <p:cxnSp>
        <p:nvCxnSpPr>
          <p:cNvPr id="8" name="Connector 7"/>
          <p:cNvCxnSpPr/>
          <p:nvPr/>
        </p:nvCxnSpPr>
        <p:spPr>
          <a:xfrm>
            <a:off x="2642616" y="2157984"/>
            <a:ext cx="237744"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907792" y="1828800"/>
            <a:ext cx="2084831" cy="658368"/>
          </a:xfrm>
          <a:prstGeom prst="roundRect">
            <a:avLst/>
          </a:prstGeom>
          <a:solidFill>
            <a:srgbClr val="DCF5F1"/>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300" b="1">
                <a:solidFill>
                  <a:srgbClr val="14223A"/>
                </a:solidFill>
                <a:latin typeface="Aptos"/>
              </a:defRPr>
            </a:pPr>
            <a:r>
              <a:t>Error analysis</a:t>
            </a:r>
          </a:p>
        </p:txBody>
      </p:sp>
      <p:sp>
        <p:nvSpPr>
          <p:cNvPr id="10" name="Rounded Rectangle 9"/>
          <p:cNvSpPr/>
          <p:nvPr/>
        </p:nvSpPr>
        <p:spPr>
          <a:xfrm>
            <a:off x="2907792" y="2651760"/>
            <a:ext cx="2084831" cy="914400"/>
          </a:xfrm>
          <a:prstGeom prst="roundRect">
            <a:avLst/>
          </a:prstGeom>
          <a:solidFill>
            <a:srgbClr val="FFFFFF"/>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200" b="1">
                <a:solidFill>
                  <a:srgbClr val="14223A"/>
                </a:solidFill>
                <a:latin typeface="Aptos"/>
              </a:defRPr>
            </a:pPr>
            <a:r>
              <a:t>False positives / negatives</a:t>
            </a:r>
          </a:p>
        </p:txBody>
      </p:sp>
      <p:cxnSp>
        <p:nvCxnSpPr>
          <p:cNvPr id="11" name="Connector 10"/>
          <p:cNvCxnSpPr/>
          <p:nvPr/>
        </p:nvCxnSpPr>
        <p:spPr>
          <a:xfrm>
            <a:off x="5001768" y="2157984"/>
            <a:ext cx="237744"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266944" y="1828800"/>
            <a:ext cx="2084831" cy="658368"/>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300" b="1">
                <a:solidFill>
                  <a:srgbClr val="14223A"/>
                </a:solidFill>
                <a:latin typeface="Aptos"/>
              </a:defRPr>
            </a:pPr>
            <a:r>
              <a:t>Explainability</a:t>
            </a:r>
          </a:p>
        </p:txBody>
      </p:sp>
      <p:sp>
        <p:nvSpPr>
          <p:cNvPr id="13" name="Rounded Rectangle 12"/>
          <p:cNvSpPr/>
          <p:nvPr/>
        </p:nvSpPr>
        <p:spPr>
          <a:xfrm>
            <a:off x="5266944" y="2651760"/>
            <a:ext cx="2084831" cy="914400"/>
          </a:xfrm>
          <a:prstGeom prst="roundRect">
            <a:avLst/>
          </a:prstGeom>
          <a:solidFill>
            <a:srgbClr val="FFFFFF"/>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200" b="1">
                <a:solidFill>
                  <a:srgbClr val="14223A"/>
                </a:solidFill>
                <a:latin typeface="Aptos"/>
              </a:defRPr>
            </a:pPr>
            <a:r>
              <a:t>Feature / token influence</a:t>
            </a:r>
          </a:p>
        </p:txBody>
      </p:sp>
      <p:cxnSp>
        <p:nvCxnSpPr>
          <p:cNvPr id="14" name="Connector 13"/>
          <p:cNvCxnSpPr/>
          <p:nvPr/>
        </p:nvCxnSpPr>
        <p:spPr>
          <a:xfrm>
            <a:off x="7360920" y="2157984"/>
            <a:ext cx="237743"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626096" y="1828800"/>
            <a:ext cx="2084831" cy="658368"/>
          </a:xfrm>
          <a:prstGeom prst="roundRect">
            <a:avLst/>
          </a:prstGeom>
          <a:solidFill>
            <a:srgbClr val="EDE6FA"/>
          </a:solidFill>
          <a:ln w="19050">
            <a:solidFill>
              <a:srgbClr val="7557B4"/>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300" b="1">
                <a:solidFill>
                  <a:srgbClr val="14223A"/>
                </a:solidFill>
                <a:latin typeface="Aptos"/>
              </a:defRPr>
            </a:pPr>
            <a:r>
              <a:t>Release decision</a:t>
            </a:r>
          </a:p>
        </p:txBody>
      </p:sp>
      <p:sp>
        <p:nvSpPr>
          <p:cNvPr id="16" name="Rounded Rectangle 15"/>
          <p:cNvSpPr/>
          <p:nvPr/>
        </p:nvSpPr>
        <p:spPr>
          <a:xfrm>
            <a:off x="7626096" y="2651760"/>
            <a:ext cx="2084831" cy="914400"/>
          </a:xfrm>
          <a:prstGeom prst="roundRect">
            <a:avLst/>
          </a:prstGeom>
          <a:solidFill>
            <a:srgbClr val="FFFFFF"/>
          </a:solidFill>
          <a:ln w="19050">
            <a:solidFill>
              <a:srgbClr val="7557B4"/>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200" b="1">
                <a:solidFill>
                  <a:srgbClr val="14223A"/>
                </a:solidFill>
                <a:latin typeface="Aptos"/>
              </a:defRPr>
            </a:pPr>
            <a:r>
              <a:t>Approval + rollback plan</a:t>
            </a:r>
          </a:p>
        </p:txBody>
      </p:sp>
      <p:cxnSp>
        <p:nvCxnSpPr>
          <p:cNvPr id="17" name="Connector 16"/>
          <p:cNvCxnSpPr/>
          <p:nvPr/>
        </p:nvCxnSpPr>
        <p:spPr>
          <a:xfrm>
            <a:off x="9720072" y="2157984"/>
            <a:ext cx="237744" cy="0"/>
          </a:xfrm>
          <a:prstGeom prst="line">
            <a:avLst/>
          </a:prstGeom>
          <a:ln w="25400">
            <a:solidFill>
              <a:srgbClr val="2A69BE"/>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985248" y="1828800"/>
            <a:ext cx="2084831" cy="658368"/>
          </a:xfrm>
          <a:prstGeom prst="roundRect">
            <a:avLst/>
          </a:prstGeom>
          <a:solidFill>
            <a:srgbClr val="FCE7EC"/>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300" b="1">
                <a:solidFill>
                  <a:srgbClr val="14223A"/>
                </a:solidFill>
                <a:latin typeface="Aptos"/>
              </a:defRPr>
            </a:pPr>
            <a:r>
              <a:t>Monitoring</a:t>
            </a:r>
          </a:p>
        </p:txBody>
      </p:sp>
      <p:sp>
        <p:nvSpPr>
          <p:cNvPr id="19" name="Rounded Rectangle 18"/>
          <p:cNvSpPr/>
          <p:nvPr/>
        </p:nvSpPr>
        <p:spPr>
          <a:xfrm>
            <a:off x="9985248" y="2651760"/>
            <a:ext cx="2084831" cy="914400"/>
          </a:xfrm>
          <a:prstGeom prst="roundRect">
            <a:avLst/>
          </a:prstGeom>
          <a:solidFill>
            <a:srgbClr val="FFFFFF"/>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200" b="1">
                <a:solidFill>
                  <a:srgbClr val="14223A"/>
                </a:solidFill>
                <a:latin typeface="Aptos"/>
              </a:defRPr>
            </a:pPr>
            <a:r>
              <a:t>Drift + live quality</a:t>
            </a:r>
          </a:p>
        </p:txBody>
      </p:sp>
      <p:sp>
        <p:nvSpPr>
          <p:cNvPr id="20" name="Rounded Rectangle 19"/>
          <p:cNvSpPr/>
          <p:nvPr/>
        </p:nvSpPr>
        <p:spPr>
          <a:xfrm>
            <a:off x="1188720" y="4389120"/>
            <a:ext cx="9784080" cy="822960"/>
          </a:xfrm>
          <a:prstGeom prst="roundRect">
            <a:avLst/>
          </a:prstGeom>
          <a:solidFill>
            <a:srgbClr val="FFF4DA"/>
          </a:solidFill>
          <a:ln w="19050">
            <a:solidFill>
              <a:srgbClr val="EEAD38"/>
            </a:solid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defRPr sz="1500" b="1">
                <a:solidFill>
                  <a:srgbClr val="14223A"/>
                </a:solidFill>
                <a:latin typeface="Aptos"/>
              </a:defRPr>
            </a:pPr>
            <a:r>
              <a:t>If quality degrades: investigate → correct data/model/system → validate → redeploy or roll back</a:t>
            </a:r>
          </a:p>
        </p:txBody>
      </p:sp>
      <p:sp>
        <p:nvSpPr>
          <p:cNvPr id="21" name="TextBox 20"/>
          <p:cNvSpPr txBox="1"/>
          <p:nvPr/>
        </p:nvSpPr>
        <p:spPr>
          <a:xfrm>
            <a:off x="914400" y="5669280"/>
            <a:ext cx="10332720" cy="320040"/>
          </a:xfrm>
          <a:prstGeom prst="rect">
            <a:avLst/>
          </a:prstGeom>
          <a:noFill/>
        </p:spPr>
        <p:txBody>
          <a:bodyPr wrap="square" lIns="54864" tIns="36576" rIns="54864" bIns="36576">
            <a:spAutoFit/>
          </a:bodyPr>
          <a:lstStyle/>
          <a:p>
            <a:pPr algn="ctr">
              <a:defRPr sz="1400" b="0">
                <a:solidFill>
                  <a:srgbClr val="5F6C7D"/>
                </a:solidFill>
                <a:latin typeface="Aptos"/>
              </a:defRPr>
            </a:pPr>
            <a:r>
              <a:t>Monitor both technical metrics (latency, errors, drift) and task/business outcomes.</a:t>
            </a:r>
          </a:p>
        </p:txBody>
      </p:sp>
      <p:sp>
        <p:nvSpPr>
          <p:cNvPr id="22" name="Rounded Rectangle 21"/>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11430000" cy="457200"/>
          </a:xfrm>
          <a:prstGeom prst="rect">
            <a:avLst/>
          </a:prstGeom>
          <a:noFill/>
        </p:spPr>
        <p:txBody>
          <a:bodyPr wrap="square" lIns="45720" tIns="18288" rIns="45720" bIns="18288">
            <a:spAutoFit/>
          </a:bodyPr>
          <a:lstStyle/>
          <a:p>
            <a:pPr algn="ctr">
              <a:defRPr sz="2600" b="1">
                <a:solidFill>
                  <a:srgbClr val="234069"/>
                </a:solidFill>
              </a:defRPr>
            </a:pPr>
            <a:r>
              <a:t>Classical NLP vs Deep Learning NLP</a:t>
            </a:r>
          </a:p>
        </p:txBody>
      </p:sp>
      <p:sp>
        <p:nvSpPr>
          <p:cNvPr id="3" name="TextBox 2"/>
          <p:cNvSpPr txBox="1"/>
          <p:nvPr/>
        </p:nvSpPr>
        <p:spPr>
          <a:xfrm>
            <a:off x="457200" y="621792"/>
            <a:ext cx="11155680" cy="320040"/>
          </a:xfrm>
          <a:prstGeom prst="rect">
            <a:avLst/>
          </a:prstGeom>
          <a:noFill/>
        </p:spPr>
        <p:txBody>
          <a:bodyPr wrap="square" lIns="45720" tIns="18288" rIns="45720" bIns="18288">
            <a:spAutoFit/>
          </a:bodyPr>
          <a:lstStyle/>
          <a:p>
            <a:pPr algn="ctr">
              <a:defRPr sz="1100" b="0">
                <a:solidFill>
                  <a:srgbClr val="666666"/>
                </a:solidFill>
              </a:defRPr>
            </a:pPr>
            <a:r>
              <a:t>Two common approaches for turning raw text into useful predictions and language tasks</a:t>
            </a:r>
          </a:p>
        </p:txBody>
      </p:sp>
      <p:sp>
        <p:nvSpPr>
          <p:cNvPr id="4" name="TextBox 3"/>
          <p:cNvSpPr txBox="1"/>
          <p:nvPr/>
        </p:nvSpPr>
        <p:spPr>
          <a:xfrm>
            <a:off x="320040" y="1005840"/>
            <a:ext cx="1645920" cy="320040"/>
          </a:xfrm>
          <a:prstGeom prst="rect">
            <a:avLst/>
          </a:prstGeom>
          <a:noFill/>
        </p:spPr>
        <p:txBody>
          <a:bodyPr wrap="square" lIns="45720" tIns="18288" rIns="45720" bIns="18288">
            <a:spAutoFit/>
          </a:bodyPr>
          <a:lstStyle/>
          <a:p>
            <a:pPr algn="ctr">
              <a:defRPr sz="1600" b="1">
                <a:solidFill>
                  <a:srgbClr val="F1C232"/>
                </a:solidFill>
              </a:defRPr>
            </a:pPr>
            <a:r>
              <a:t>CLASSICAL NLP</a:t>
            </a:r>
          </a:p>
        </p:txBody>
      </p:sp>
      <p:sp>
        <p:nvSpPr>
          <p:cNvPr id="5" name="Rounded Rectangle 4"/>
          <p:cNvSpPr/>
          <p:nvPr/>
        </p:nvSpPr>
        <p:spPr>
          <a:xfrm>
            <a:off x="228600" y="1508760"/>
            <a:ext cx="914400" cy="594360"/>
          </a:xfrm>
          <a:prstGeom prst="roundRect">
            <a:avLst/>
          </a:prstGeom>
          <a:solidFill>
            <a:srgbClr val="F2F2F2"/>
          </a:solidFill>
          <a:ln w="15875">
            <a:solidFill>
              <a:srgbClr val="66666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200" b="1">
                <a:solidFill>
                  <a:srgbClr val="282828"/>
                </a:solidFill>
              </a:defRPr>
            </a:pPr>
            <a:r>
              <a:t>Raw text</a:t>
            </a:r>
          </a:p>
        </p:txBody>
      </p:sp>
      <p:sp>
        <p:nvSpPr>
          <p:cNvPr id="6" name="Rounded Rectangle 5"/>
          <p:cNvSpPr/>
          <p:nvPr/>
        </p:nvSpPr>
        <p:spPr>
          <a:xfrm>
            <a:off x="1417320" y="1508760"/>
            <a:ext cx="1234440" cy="594360"/>
          </a:xfrm>
          <a:prstGeom prst="roundRect">
            <a:avLst/>
          </a:prstGeom>
          <a:solidFill>
            <a:srgbClr val="D9EAD3"/>
          </a:solidFill>
          <a:ln w="15875">
            <a:solidFill>
              <a:srgbClr val="6AA84F"/>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100" b="1">
                <a:solidFill>
                  <a:srgbClr val="282828"/>
                </a:solidFill>
              </a:defRPr>
            </a:pPr>
            <a:r>
              <a:t>Language</a:t>
            </a:r>
            <a:br/>
            <a:r>
              <a:t>detection</a:t>
            </a:r>
          </a:p>
        </p:txBody>
      </p:sp>
      <p:cxnSp>
        <p:nvCxnSpPr>
          <p:cNvPr id="7" name="Connector 6"/>
          <p:cNvCxnSpPr/>
          <p:nvPr/>
        </p:nvCxnSpPr>
        <p:spPr>
          <a:xfrm>
            <a:off x="1143000" y="1810512"/>
            <a:ext cx="274320"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788920" y="1508760"/>
            <a:ext cx="987552" cy="594360"/>
          </a:xfrm>
          <a:prstGeom prst="roundRect">
            <a:avLst/>
          </a:prstGeom>
          <a:solidFill>
            <a:srgbClr val="FFF2CC"/>
          </a:solidFill>
          <a:ln w="15875">
            <a:solidFill>
              <a:srgbClr val="F1C232"/>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000" b="1">
                <a:solidFill>
                  <a:srgbClr val="282828"/>
                </a:solidFill>
              </a:defRPr>
            </a:pPr>
            <a:r>
              <a:t>Tokenize</a:t>
            </a:r>
          </a:p>
        </p:txBody>
      </p:sp>
      <p:cxnSp>
        <p:nvCxnSpPr>
          <p:cNvPr id="9" name="Connector 8"/>
          <p:cNvCxnSpPr/>
          <p:nvPr/>
        </p:nvCxnSpPr>
        <p:spPr>
          <a:xfrm>
            <a:off x="2651760" y="1810512"/>
            <a:ext cx="137160"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995928" y="1508760"/>
            <a:ext cx="987552" cy="594360"/>
          </a:xfrm>
          <a:prstGeom prst="roundRect">
            <a:avLst/>
          </a:prstGeom>
          <a:solidFill>
            <a:srgbClr val="FFF2CC"/>
          </a:solidFill>
          <a:ln w="15875">
            <a:solidFill>
              <a:srgbClr val="F1C232"/>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000" b="1">
                <a:solidFill>
                  <a:srgbClr val="282828"/>
                </a:solidFill>
              </a:defRPr>
            </a:pPr>
            <a:r>
              <a:t>Normalize</a:t>
            </a:r>
          </a:p>
        </p:txBody>
      </p:sp>
      <p:cxnSp>
        <p:nvCxnSpPr>
          <p:cNvPr id="11" name="Connector 10"/>
          <p:cNvCxnSpPr/>
          <p:nvPr/>
        </p:nvCxnSpPr>
        <p:spPr>
          <a:xfrm>
            <a:off x="3776472" y="1810512"/>
            <a:ext cx="219456"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202936" y="1508760"/>
            <a:ext cx="987552" cy="594360"/>
          </a:xfrm>
          <a:prstGeom prst="roundRect">
            <a:avLst/>
          </a:prstGeom>
          <a:solidFill>
            <a:srgbClr val="FFF2CC"/>
          </a:solidFill>
          <a:ln w="15875">
            <a:solidFill>
              <a:srgbClr val="F1C232"/>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000" b="1">
                <a:solidFill>
                  <a:srgbClr val="282828"/>
                </a:solidFill>
              </a:defRPr>
            </a:pPr>
            <a:r>
              <a:t>Stop words</a:t>
            </a:r>
          </a:p>
        </p:txBody>
      </p:sp>
      <p:cxnSp>
        <p:nvCxnSpPr>
          <p:cNvPr id="13" name="Connector 12"/>
          <p:cNvCxnSpPr/>
          <p:nvPr/>
        </p:nvCxnSpPr>
        <p:spPr>
          <a:xfrm>
            <a:off x="4983479" y="1810512"/>
            <a:ext cx="219457"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409944" y="1508760"/>
            <a:ext cx="987552" cy="594360"/>
          </a:xfrm>
          <a:prstGeom prst="roundRect">
            <a:avLst/>
          </a:prstGeom>
          <a:solidFill>
            <a:srgbClr val="FFF2CC"/>
          </a:solidFill>
          <a:ln w="15875">
            <a:solidFill>
              <a:srgbClr val="F1C232"/>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000" b="1">
                <a:solidFill>
                  <a:srgbClr val="282828"/>
                </a:solidFill>
              </a:defRPr>
            </a:pPr>
            <a:r>
              <a:t>Stem /</a:t>
            </a:r>
            <a:br/>
            <a:r>
              <a:t>Lemma</a:t>
            </a:r>
          </a:p>
        </p:txBody>
      </p:sp>
      <p:cxnSp>
        <p:nvCxnSpPr>
          <p:cNvPr id="15" name="Connector 14"/>
          <p:cNvCxnSpPr/>
          <p:nvPr/>
        </p:nvCxnSpPr>
        <p:spPr>
          <a:xfrm>
            <a:off x="6190488" y="1810512"/>
            <a:ext cx="219456"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616952" y="1508760"/>
            <a:ext cx="987552" cy="594360"/>
          </a:xfrm>
          <a:prstGeom prst="roundRect">
            <a:avLst/>
          </a:prstGeom>
          <a:solidFill>
            <a:srgbClr val="CFE2F3"/>
          </a:solidFill>
          <a:ln w="15875">
            <a:solidFill>
              <a:srgbClr val="3D85C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000" b="1">
                <a:solidFill>
                  <a:srgbClr val="282828"/>
                </a:solidFill>
              </a:defRPr>
            </a:pPr>
            <a:r>
              <a:t>Vectorize</a:t>
            </a:r>
            <a:br/>
            <a:r>
              <a:t>(TF-IDF)</a:t>
            </a:r>
          </a:p>
        </p:txBody>
      </p:sp>
      <p:cxnSp>
        <p:nvCxnSpPr>
          <p:cNvPr id="17" name="Connector 16"/>
          <p:cNvCxnSpPr/>
          <p:nvPr/>
        </p:nvCxnSpPr>
        <p:spPr>
          <a:xfrm>
            <a:off x="7397496" y="1810512"/>
            <a:ext cx="219456"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823960" y="1508760"/>
            <a:ext cx="987552" cy="594360"/>
          </a:xfrm>
          <a:prstGeom prst="roundRect">
            <a:avLst/>
          </a:prstGeom>
          <a:solidFill>
            <a:srgbClr val="CFE2F3"/>
          </a:solidFill>
          <a:ln w="15875">
            <a:solidFill>
              <a:srgbClr val="3D85C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000" b="1">
                <a:solidFill>
                  <a:srgbClr val="282828"/>
                </a:solidFill>
              </a:defRPr>
            </a:pPr>
            <a:r>
              <a:t>Classifier</a:t>
            </a:r>
          </a:p>
        </p:txBody>
      </p:sp>
      <p:cxnSp>
        <p:nvCxnSpPr>
          <p:cNvPr id="19" name="Connector 18"/>
          <p:cNvCxnSpPr/>
          <p:nvPr/>
        </p:nvCxnSpPr>
        <p:spPr>
          <a:xfrm>
            <a:off x="8604504" y="1810512"/>
            <a:ext cx="219456"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0030967" y="1508760"/>
            <a:ext cx="987552" cy="594360"/>
          </a:xfrm>
          <a:prstGeom prst="roundRect">
            <a:avLst/>
          </a:prstGeom>
          <a:solidFill>
            <a:srgbClr val="CFE2F3"/>
          </a:solidFill>
          <a:ln w="15875">
            <a:solidFill>
              <a:srgbClr val="3D85C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000" b="1">
                <a:solidFill>
                  <a:srgbClr val="282828"/>
                </a:solidFill>
              </a:defRPr>
            </a:pPr>
            <a:r>
              <a:t>Score /</a:t>
            </a:r>
            <a:br/>
            <a:r>
              <a:t>label</a:t>
            </a:r>
          </a:p>
        </p:txBody>
      </p:sp>
      <p:cxnSp>
        <p:nvCxnSpPr>
          <p:cNvPr id="21" name="Connector 20"/>
          <p:cNvCxnSpPr/>
          <p:nvPr/>
        </p:nvCxnSpPr>
        <p:spPr>
          <a:xfrm>
            <a:off x="9811511" y="1810512"/>
            <a:ext cx="219456"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697480" y="2212848"/>
            <a:ext cx="4480560" cy="274320"/>
          </a:xfrm>
          <a:prstGeom prst="rect">
            <a:avLst/>
          </a:prstGeom>
          <a:noFill/>
        </p:spPr>
        <p:txBody>
          <a:bodyPr wrap="square" lIns="45720" tIns="18288" rIns="45720" bIns="18288">
            <a:spAutoFit/>
          </a:bodyPr>
          <a:lstStyle/>
          <a:p>
            <a:pPr algn="ctr">
              <a:defRPr sz="1000" b="0">
                <a:solidFill>
                  <a:srgbClr val="666666"/>
                </a:solidFill>
              </a:defRPr>
            </a:pPr>
            <a:r>
              <a:t>Pre-processing + hand-crafted features</a:t>
            </a:r>
          </a:p>
        </p:txBody>
      </p:sp>
      <p:sp>
        <p:nvSpPr>
          <p:cNvPr id="23" name="TextBox 22"/>
          <p:cNvSpPr txBox="1"/>
          <p:nvPr/>
        </p:nvSpPr>
        <p:spPr>
          <a:xfrm>
            <a:off x="320040" y="2880360"/>
            <a:ext cx="1645920" cy="320040"/>
          </a:xfrm>
          <a:prstGeom prst="rect">
            <a:avLst/>
          </a:prstGeom>
          <a:noFill/>
        </p:spPr>
        <p:txBody>
          <a:bodyPr wrap="square" lIns="45720" tIns="18288" rIns="45720" bIns="18288">
            <a:spAutoFit/>
          </a:bodyPr>
          <a:lstStyle/>
          <a:p>
            <a:pPr algn="ctr">
              <a:defRPr sz="1600" b="1">
                <a:solidFill>
                  <a:srgbClr val="6AA84F"/>
                </a:solidFill>
              </a:defRPr>
            </a:pPr>
            <a:r>
              <a:t>DEEP LEARNING</a:t>
            </a:r>
          </a:p>
        </p:txBody>
      </p:sp>
      <p:sp>
        <p:nvSpPr>
          <p:cNvPr id="24" name="Rounded Rectangle 23"/>
          <p:cNvSpPr/>
          <p:nvPr/>
        </p:nvSpPr>
        <p:spPr>
          <a:xfrm>
            <a:off x="228600" y="3429000"/>
            <a:ext cx="914400" cy="594360"/>
          </a:xfrm>
          <a:prstGeom prst="roundRect">
            <a:avLst/>
          </a:prstGeom>
          <a:solidFill>
            <a:srgbClr val="F2F2F2"/>
          </a:solidFill>
          <a:ln w="15875">
            <a:solidFill>
              <a:srgbClr val="66666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200" b="1">
                <a:solidFill>
                  <a:srgbClr val="282828"/>
                </a:solidFill>
              </a:defRPr>
            </a:pPr>
            <a:r>
              <a:t>Raw text</a:t>
            </a:r>
          </a:p>
        </p:txBody>
      </p:sp>
      <p:sp>
        <p:nvSpPr>
          <p:cNvPr id="25" name="Rounded Rectangle 24"/>
          <p:cNvSpPr/>
          <p:nvPr/>
        </p:nvSpPr>
        <p:spPr>
          <a:xfrm>
            <a:off x="1417320" y="3429000"/>
            <a:ext cx="1234440" cy="594360"/>
          </a:xfrm>
          <a:prstGeom prst="roundRect">
            <a:avLst/>
          </a:prstGeom>
          <a:solidFill>
            <a:srgbClr val="D9EAD3"/>
          </a:solidFill>
          <a:ln w="15875">
            <a:solidFill>
              <a:srgbClr val="6AA84F"/>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100" b="1">
                <a:solidFill>
                  <a:srgbClr val="282828"/>
                </a:solidFill>
              </a:defRPr>
            </a:pPr>
            <a:r>
              <a:t>Tokenize +</a:t>
            </a:r>
            <a:br/>
            <a:r>
              <a:t>subword IDs</a:t>
            </a:r>
          </a:p>
        </p:txBody>
      </p:sp>
      <p:cxnSp>
        <p:nvCxnSpPr>
          <p:cNvPr id="26" name="Connector 25"/>
          <p:cNvCxnSpPr/>
          <p:nvPr/>
        </p:nvCxnSpPr>
        <p:spPr>
          <a:xfrm>
            <a:off x="1143000" y="3730752"/>
            <a:ext cx="274320"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2971800" y="3246120"/>
            <a:ext cx="1005840" cy="960120"/>
          </a:xfrm>
          <a:prstGeom prst="roundRect">
            <a:avLst/>
          </a:prstGeom>
          <a:solidFill>
            <a:srgbClr val="D9D2E9"/>
          </a:solidFill>
          <a:ln w="15875">
            <a:solidFill>
              <a:srgbClr val="8E7CC3"/>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100" b="1">
                <a:solidFill>
                  <a:srgbClr val="282828"/>
                </a:solidFill>
              </a:defRPr>
            </a:pPr>
            <a:r>
              <a:t>Embedding</a:t>
            </a:r>
            <a:br/>
            <a:r>
              <a:t>layer</a:t>
            </a:r>
          </a:p>
        </p:txBody>
      </p:sp>
      <p:cxnSp>
        <p:nvCxnSpPr>
          <p:cNvPr id="28" name="Connector 27"/>
          <p:cNvCxnSpPr/>
          <p:nvPr/>
        </p:nvCxnSpPr>
        <p:spPr>
          <a:xfrm>
            <a:off x="2651760" y="3730752"/>
            <a:ext cx="320040"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4663440" y="3364992"/>
            <a:ext cx="256032" cy="256032"/>
          </a:xfrm>
          <a:prstGeom prst="ellipse">
            <a:avLst/>
          </a:prstGeom>
          <a:solidFill>
            <a:srgbClr val="6AA84F"/>
          </a:solidFill>
          <a:ln>
            <a:solidFill>
              <a:srgbClr val="6AA8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4663440" y="3730752"/>
            <a:ext cx="256032" cy="256032"/>
          </a:xfrm>
          <a:prstGeom prst="ellipse">
            <a:avLst/>
          </a:prstGeom>
          <a:solidFill>
            <a:srgbClr val="6AA84F"/>
          </a:solidFill>
          <a:ln>
            <a:solidFill>
              <a:srgbClr val="6AA8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4663440" y="4096512"/>
            <a:ext cx="256032" cy="256032"/>
          </a:xfrm>
          <a:prstGeom prst="ellipse">
            <a:avLst/>
          </a:prstGeom>
          <a:solidFill>
            <a:srgbClr val="6AA84F"/>
          </a:solidFill>
          <a:ln>
            <a:solidFill>
              <a:srgbClr val="6AA8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6080760" y="3364992"/>
            <a:ext cx="256032" cy="256032"/>
          </a:xfrm>
          <a:prstGeom prst="ellipse">
            <a:avLst/>
          </a:prstGeom>
          <a:solidFill>
            <a:srgbClr val="6AA84F"/>
          </a:solidFill>
          <a:ln>
            <a:solidFill>
              <a:srgbClr val="6AA8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6080760" y="3730752"/>
            <a:ext cx="256032" cy="256032"/>
          </a:xfrm>
          <a:prstGeom prst="ellipse">
            <a:avLst/>
          </a:prstGeom>
          <a:solidFill>
            <a:srgbClr val="6AA84F"/>
          </a:solidFill>
          <a:ln>
            <a:solidFill>
              <a:srgbClr val="6AA8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6080760" y="4096512"/>
            <a:ext cx="256032" cy="256032"/>
          </a:xfrm>
          <a:prstGeom prst="ellipse">
            <a:avLst/>
          </a:prstGeom>
          <a:solidFill>
            <a:srgbClr val="6AA84F"/>
          </a:solidFill>
          <a:ln>
            <a:solidFill>
              <a:srgbClr val="6AA8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7498079" y="3364992"/>
            <a:ext cx="256032" cy="256032"/>
          </a:xfrm>
          <a:prstGeom prst="ellipse">
            <a:avLst/>
          </a:prstGeom>
          <a:solidFill>
            <a:srgbClr val="6AA84F"/>
          </a:solidFill>
          <a:ln>
            <a:solidFill>
              <a:srgbClr val="6AA8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7498079" y="3730752"/>
            <a:ext cx="256032" cy="256032"/>
          </a:xfrm>
          <a:prstGeom prst="ellipse">
            <a:avLst/>
          </a:prstGeom>
          <a:solidFill>
            <a:srgbClr val="6AA84F"/>
          </a:solidFill>
          <a:ln>
            <a:solidFill>
              <a:srgbClr val="6AA8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7498079" y="4096512"/>
            <a:ext cx="256032" cy="256032"/>
          </a:xfrm>
          <a:prstGeom prst="ellipse">
            <a:avLst/>
          </a:prstGeom>
          <a:solidFill>
            <a:srgbClr val="6AA84F"/>
          </a:solidFill>
          <a:ln>
            <a:solidFill>
              <a:srgbClr val="6AA8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 name="Connector 37"/>
          <p:cNvCxnSpPr/>
          <p:nvPr/>
        </p:nvCxnSpPr>
        <p:spPr>
          <a:xfrm>
            <a:off x="4919472" y="3493008"/>
            <a:ext cx="1161288" cy="0"/>
          </a:xfrm>
          <a:prstGeom prst="line">
            <a:avLst/>
          </a:prstGeom>
          <a:ln w="8255">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919472" y="3493008"/>
            <a:ext cx="1161288" cy="365760"/>
          </a:xfrm>
          <a:prstGeom prst="line">
            <a:avLst/>
          </a:prstGeom>
          <a:ln w="8255">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919472" y="3493008"/>
            <a:ext cx="1161288" cy="731520"/>
          </a:xfrm>
          <a:prstGeom prst="line">
            <a:avLst/>
          </a:prstGeom>
          <a:ln w="8255">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4919472" y="3493008"/>
            <a:ext cx="1161288" cy="365760"/>
          </a:xfrm>
          <a:prstGeom prst="line">
            <a:avLst/>
          </a:prstGeom>
          <a:ln w="8255">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919472" y="3858768"/>
            <a:ext cx="1161288" cy="0"/>
          </a:xfrm>
          <a:prstGeom prst="line">
            <a:avLst/>
          </a:prstGeom>
          <a:ln w="8255">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919472" y="3858768"/>
            <a:ext cx="1161288" cy="365760"/>
          </a:xfrm>
          <a:prstGeom prst="line">
            <a:avLst/>
          </a:prstGeom>
          <a:ln w="8255">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919472" y="3493008"/>
            <a:ext cx="1161288" cy="731520"/>
          </a:xfrm>
          <a:prstGeom prst="line">
            <a:avLst/>
          </a:prstGeom>
          <a:ln w="8255">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919472" y="3858768"/>
            <a:ext cx="1161288" cy="365760"/>
          </a:xfrm>
          <a:prstGeom prst="line">
            <a:avLst/>
          </a:prstGeom>
          <a:ln w="8255">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919472" y="4224528"/>
            <a:ext cx="1161288" cy="0"/>
          </a:xfrm>
          <a:prstGeom prst="line">
            <a:avLst/>
          </a:prstGeom>
          <a:ln w="8255">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336792" y="3493008"/>
            <a:ext cx="1161287" cy="0"/>
          </a:xfrm>
          <a:prstGeom prst="line">
            <a:avLst/>
          </a:prstGeom>
          <a:ln w="8255">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336792" y="3493008"/>
            <a:ext cx="1161287" cy="365760"/>
          </a:xfrm>
          <a:prstGeom prst="line">
            <a:avLst/>
          </a:prstGeom>
          <a:ln w="8255">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336792" y="3493008"/>
            <a:ext cx="1161287" cy="731520"/>
          </a:xfrm>
          <a:prstGeom prst="line">
            <a:avLst/>
          </a:prstGeom>
          <a:ln w="8255">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6336792" y="3493008"/>
            <a:ext cx="1161287" cy="365760"/>
          </a:xfrm>
          <a:prstGeom prst="line">
            <a:avLst/>
          </a:prstGeom>
          <a:ln w="8255">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336792" y="3858768"/>
            <a:ext cx="1161287" cy="0"/>
          </a:xfrm>
          <a:prstGeom prst="line">
            <a:avLst/>
          </a:prstGeom>
          <a:ln w="8255">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336792" y="3858768"/>
            <a:ext cx="1161287" cy="365760"/>
          </a:xfrm>
          <a:prstGeom prst="line">
            <a:avLst/>
          </a:prstGeom>
          <a:ln w="8255">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6336792" y="3493008"/>
            <a:ext cx="1161287" cy="731520"/>
          </a:xfrm>
          <a:prstGeom prst="line">
            <a:avLst/>
          </a:prstGeom>
          <a:ln w="8255">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6336792" y="3858768"/>
            <a:ext cx="1161287" cy="365760"/>
          </a:xfrm>
          <a:prstGeom prst="line">
            <a:avLst/>
          </a:prstGeom>
          <a:ln w="8255">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336792" y="4224528"/>
            <a:ext cx="1161287" cy="0"/>
          </a:xfrm>
          <a:prstGeom prst="line">
            <a:avLst/>
          </a:prstGeom>
          <a:ln w="8255">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3977639" y="3730752"/>
            <a:ext cx="685801"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8458200" y="3429000"/>
            <a:ext cx="1143000" cy="594360"/>
          </a:xfrm>
          <a:prstGeom prst="roundRect">
            <a:avLst/>
          </a:prstGeom>
          <a:solidFill>
            <a:srgbClr val="CFE2F3"/>
          </a:solidFill>
          <a:ln w="15875">
            <a:solidFill>
              <a:srgbClr val="3D85C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100" b="1">
                <a:solidFill>
                  <a:srgbClr val="282828"/>
                </a:solidFill>
              </a:defRPr>
            </a:pPr>
            <a:r>
              <a:t>Output head</a:t>
            </a:r>
          </a:p>
        </p:txBody>
      </p:sp>
      <p:cxnSp>
        <p:nvCxnSpPr>
          <p:cNvPr id="58" name="Connector 57"/>
          <p:cNvCxnSpPr/>
          <p:nvPr/>
        </p:nvCxnSpPr>
        <p:spPr>
          <a:xfrm>
            <a:off x="7754112" y="3730752"/>
            <a:ext cx="704088"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10012680" y="3246120"/>
            <a:ext cx="1691640" cy="960120"/>
          </a:xfrm>
          <a:prstGeom prst="roundRect">
            <a:avLst/>
          </a:prstGeom>
          <a:solidFill>
            <a:srgbClr val="F4CCCC"/>
          </a:solidFill>
          <a:ln w="15875">
            <a:solidFill>
              <a:srgbClr val="CC4125"/>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100" b="1">
                <a:solidFill>
                  <a:srgbClr val="282828"/>
                </a:solidFill>
              </a:defRPr>
            </a:pPr>
            <a:r>
              <a:t>Classification</a:t>
            </a:r>
            <a:br/>
            <a:r>
              <a:t>Sentiment</a:t>
            </a:r>
            <a:br/>
            <a:r>
              <a:t>Entity extraction</a:t>
            </a:r>
          </a:p>
        </p:txBody>
      </p:sp>
      <p:cxnSp>
        <p:nvCxnSpPr>
          <p:cNvPr id="60" name="Connector 59"/>
          <p:cNvCxnSpPr/>
          <p:nvPr/>
        </p:nvCxnSpPr>
        <p:spPr>
          <a:xfrm>
            <a:off x="9601200" y="3730752"/>
            <a:ext cx="411480"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297680" y="4370832"/>
            <a:ext cx="4114800" cy="256032"/>
          </a:xfrm>
          <a:prstGeom prst="rect">
            <a:avLst/>
          </a:prstGeom>
          <a:noFill/>
        </p:spPr>
        <p:txBody>
          <a:bodyPr wrap="square" lIns="45720" tIns="18288" rIns="45720" bIns="18288">
            <a:spAutoFit/>
          </a:bodyPr>
          <a:lstStyle/>
          <a:p>
            <a:pPr algn="ctr">
              <a:defRPr sz="1000" b="0">
                <a:solidFill>
                  <a:srgbClr val="666666"/>
                </a:solidFill>
              </a:defRPr>
            </a:pPr>
            <a:r>
              <a:t>Learned representations + neural network</a:t>
            </a:r>
          </a:p>
        </p:txBody>
      </p:sp>
      <p:sp>
        <p:nvSpPr>
          <p:cNvPr id="62" name="TextBox 61"/>
          <p:cNvSpPr txBox="1"/>
          <p:nvPr/>
        </p:nvSpPr>
        <p:spPr>
          <a:xfrm>
            <a:off x="365760" y="5074920"/>
            <a:ext cx="11338560" cy="502920"/>
          </a:xfrm>
          <a:prstGeom prst="rect">
            <a:avLst/>
          </a:prstGeom>
          <a:noFill/>
        </p:spPr>
        <p:txBody>
          <a:bodyPr wrap="square" lIns="45720" tIns="18288" rIns="45720" bIns="18288">
            <a:spAutoFit/>
          </a:bodyPr>
          <a:lstStyle/>
          <a:p>
            <a:pPr algn="ctr">
              <a:defRPr sz="1400" b="1">
                <a:solidFill>
                  <a:srgbClr val="234069"/>
                </a:solidFill>
              </a:defRPr>
            </a:pPr>
            <a:r>
              <a:t>Key idea: classical pipelines rely more on engineered features; deep learning learns useful representations from data.</a:t>
            </a:r>
          </a:p>
        </p:txBody>
      </p:sp>
      <p:sp>
        <p:nvSpPr>
          <p:cNvPr id="63" name="Rounded Rectangle 62"/>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4" name="Picture 63"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11430000" cy="457200"/>
          </a:xfrm>
          <a:prstGeom prst="rect">
            <a:avLst/>
          </a:prstGeom>
          <a:noFill/>
        </p:spPr>
        <p:txBody>
          <a:bodyPr wrap="square" lIns="45720" tIns="18288" rIns="45720" bIns="18288">
            <a:spAutoFit/>
          </a:bodyPr>
          <a:lstStyle/>
          <a:p>
            <a:pPr algn="ctr">
              <a:defRPr sz="2600" b="1">
                <a:solidFill>
                  <a:srgbClr val="234069"/>
                </a:solidFill>
              </a:defRPr>
            </a:pPr>
            <a:r>
              <a:t>NLP Text Classification Pipeline</a:t>
            </a:r>
          </a:p>
        </p:txBody>
      </p:sp>
      <p:sp>
        <p:nvSpPr>
          <p:cNvPr id="3" name="TextBox 2"/>
          <p:cNvSpPr txBox="1"/>
          <p:nvPr/>
        </p:nvSpPr>
        <p:spPr>
          <a:xfrm>
            <a:off x="457200" y="621792"/>
            <a:ext cx="11155680" cy="320040"/>
          </a:xfrm>
          <a:prstGeom prst="rect">
            <a:avLst/>
          </a:prstGeom>
          <a:noFill/>
        </p:spPr>
        <p:txBody>
          <a:bodyPr wrap="square" lIns="45720" tIns="18288" rIns="45720" bIns="18288">
            <a:spAutoFit/>
          </a:bodyPr>
          <a:lstStyle/>
          <a:p>
            <a:pPr algn="ctr">
              <a:defRPr sz="1100" b="0">
                <a:solidFill>
                  <a:srgbClr val="666666"/>
                </a:solidFill>
              </a:defRPr>
            </a:pPr>
            <a:r>
              <a:t>Example: classify a customer review as positive, neutral, or negative</a:t>
            </a:r>
          </a:p>
        </p:txBody>
      </p:sp>
      <p:sp>
        <p:nvSpPr>
          <p:cNvPr id="4" name="Rounded Rectangle 3"/>
          <p:cNvSpPr/>
          <p:nvPr/>
        </p:nvSpPr>
        <p:spPr>
          <a:xfrm>
            <a:off x="320040" y="1874519"/>
            <a:ext cx="1645920" cy="658368"/>
          </a:xfrm>
          <a:prstGeom prst="roundRect">
            <a:avLst/>
          </a:prstGeom>
          <a:solidFill>
            <a:srgbClr val="F2F2F2"/>
          </a:solidFill>
          <a:ln w="15875">
            <a:solidFill>
              <a:srgbClr val="66666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200" b="1">
                <a:solidFill>
                  <a:srgbClr val="282828"/>
                </a:solidFill>
              </a:defRPr>
            </a:pPr>
            <a:r>
              <a:t>1. Text input</a:t>
            </a:r>
          </a:p>
        </p:txBody>
      </p:sp>
      <p:sp>
        <p:nvSpPr>
          <p:cNvPr id="5" name="TextBox 4"/>
          <p:cNvSpPr txBox="1"/>
          <p:nvPr/>
        </p:nvSpPr>
        <p:spPr>
          <a:xfrm>
            <a:off x="320040" y="2615184"/>
            <a:ext cx="1645920" cy="594360"/>
          </a:xfrm>
          <a:prstGeom prst="rect">
            <a:avLst/>
          </a:prstGeom>
          <a:noFill/>
        </p:spPr>
        <p:txBody>
          <a:bodyPr wrap="square" lIns="45720" tIns="18288" rIns="45720" bIns="18288">
            <a:spAutoFit/>
          </a:bodyPr>
          <a:lstStyle/>
          <a:p>
            <a:pPr algn="ctr">
              <a:defRPr sz="1000" b="0">
                <a:solidFill>
                  <a:srgbClr val="666666"/>
                </a:solidFill>
              </a:defRPr>
            </a:pPr>
            <a:r>
              <a:t>“The delivery was fast and great”</a:t>
            </a:r>
          </a:p>
        </p:txBody>
      </p:sp>
      <p:cxnSp>
        <p:nvCxnSpPr>
          <p:cNvPr id="6" name="Connector 5"/>
          <p:cNvCxnSpPr/>
          <p:nvPr/>
        </p:nvCxnSpPr>
        <p:spPr>
          <a:xfrm>
            <a:off x="1965960" y="2203704"/>
            <a:ext cx="292608"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286000" y="1874519"/>
            <a:ext cx="1645920" cy="658368"/>
          </a:xfrm>
          <a:prstGeom prst="roundRect">
            <a:avLst/>
          </a:prstGeom>
          <a:solidFill>
            <a:srgbClr val="FFF2CC"/>
          </a:solidFill>
          <a:ln w="15875">
            <a:solidFill>
              <a:srgbClr val="F1C232"/>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200" b="1">
                <a:solidFill>
                  <a:srgbClr val="282828"/>
                </a:solidFill>
              </a:defRPr>
            </a:pPr>
            <a:r>
              <a:t>2. Clean</a:t>
            </a:r>
          </a:p>
        </p:txBody>
      </p:sp>
      <p:sp>
        <p:nvSpPr>
          <p:cNvPr id="8" name="TextBox 7"/>
          <p:cNvSpPr txBox="1"/>
          <p:nvPr/>
        </p:nvSpPr>
        <p:spPr>
          <a:xfrm>
            <a:off x="2286000" y="2615184"/>
            <a:ext cx="1645920" cy="594360"/>
          </a:xfrm>
          <a:prstGeom prst="rect">
            <a:avLst/>
          </a:prstGeom>
          <a:noFill/>
        </p:spPr>
        <p:txBody>
          <a:bodyPr wrap="square" lIns="45720" tIns="18288" rIns="45720" bIns="18288">
            <a:spAutoFit/>
          </a:bodyPr>
          <a:lstStyle/>
          <a:p>
            <a:pPr algn="ctr">
              <a:defRPr sz="1000" b="0">
                <a:solidFill>
                  <a:srgbClr val="666666"/>
                </a:solidFill>
              </a:defRPr>
            </a:pPr>
            <a:r>
              <a:t>Lowercase, remove noise</a:t>
            </a:r>
          </a:p>
        </p:txBody>
      </p:sp>
      <p:cxnSp>
        <p:nvCxnSpPr>
          <p:cNvPr id="9" name="Connector 8"/>
          <p:cNvCxnSpPr/>
          <p:nvPr/>
        </p:nvCxnSpPr>
        <p:spPr>
          <a:xfrm>
            <a:off x="3931920" y="2203704"/>
            <a:ext cx="292608"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251959" y="1874519"/>
            <a:ext cx="1645920" cy="658368"/>
          </a:xfrm>
          <a:prstGeom prst="roundRect">
            <a:avLst/>
          </a:prstGeom>
          <a:solidFill>
            <a:srgbClr val="FFF2CC"/>
          </a:solidFill>
          <a:ln w="15875">
            <a:solidFill>
              <a:srgbClr val="F1C232"/>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200" b="1">
                <a:solidFill>
                  <a:srgbClr val="282828"/>
                </a:solidFill>
              </a:defRPr>
            </a:pPr>
            <a:r>
              <a:t>3. Tokenize</a:t>
            </a:r>
          </a:p>
        </p:txBody>
      </p:sp>
      <p:sp>
        <p:nvSpPr>
          <p:cNvPr id="11" name="TextBox 10"/>
          <p:cNvSpPr txBox="1"/>
          <p:nvPr/>
        </p:nvSpPr>
        <p:spPr>
          <a:xfrm>
            <a:off x="4251959" y="2615184"/>
            <a:ext cx="1645920" cy="594360"/>
          </a:xfrm>
          <a:prstGeom prst="rect">
            <a:avLst/>
          </a:prstGeom>
          <a:noFill/>
        </p:spPr>
        <p:txBody>
          <a:bodyPr wrap="square" lIns="45720" tIns="18288" rIns="45720" bIns="18288">
            <a:spAutoFit/>
          </a:bodyPr>
          <a:lstStyle/>
          <a:p>
            <a:pPr algn="ctr">
              <a:defRPr sz="1000" b="0">
                <a:solidFill>
                  <a:srgbClr val="666666"/>
                </a:solidFill>
              </a:defRPr>
            </a:pPr>
            <a:r>
              <a:t>[delivery, fast, great]</a:t>
            </a:r>
          </a:p>
        </p:txBody>
      </p:sp>
      <p:cxnSp>
        <p:nvCxnSpPr>
          <p:cNvPr id="12" name="Connector 11"/>
          <p:cNvCxnSpPr/>
          <p:nvPr/>
        </p:nvCxnSpPr>
        <p:spPr>
          <a:xfrm>
            <a:off x="5897879" y="2203704"/>
            <a:ext cx="292609"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217919" y="1874519"/>
            <a:ext cx="1645920" cy="658368"/>
          </a:xfrm>
          <a:prstGeom prst="roundRect">
            <a:avLst/>
          </a:prstGeom>
          <a:solidFill>
            <a:srgbClr val="D9D2E9"/>
          </a:solidFill>
          <a:ln w="15875">
            <a:solidFill>
              <a:srgbClr val="8E7CC3"/>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200" b="1">
                <a:solidFill>
                  <a:srgbClr val="282828"/>
                </a:solidFill>
              </a:defRPr>
            </a:pPr>
            <a:r>
              <a:t>4. Represent</a:t>
            </a:r>
          </a:p>
        </p:txBody>
      </p:sp>
      <p:sp>
        <p:nvSpPr>
          <p:cNvPr id="14" name="TextBox 13"/>
          <p:cNvSpPr txBox="1"/>
          <p:nvPr/>
        </p:nvSpPr>
        <p:spPr>
          <a:xfrm>
            <a:off x="6217919" y="2615184"/>
            <a:ext cx="1645920" cy="594360"/>
          </a:xfrm>
          <a:prstGeom prst="rect">
            <a:avLst/>
          </a:prstGeom>
          <a:noFill/>
        </p:spPr>
        <p:txBody>
          <a:bodyPr wrap="square" lIns="45720" tIns="18288" rIns="45720" bIns="18288">
            <a:spAutoFit/>
          </a:bodyPr>
          <a:lstStyle/>
          <a:p>
            <a:pPr algn="ctr">
              <a:defRPr sz="1000" b="0">
                <a:solidFill>
                  <a:srgbClr val="666666"/>
                </a:solidFill>
              </a:defRPr>
            </a:pPr>
            <a:r>
              <a:t>TF-IDF or embeddings</a:t>
            </a:r>
          </a:p>
        </p:txBody>
      </p:sp>
      <p:cxnSp>
        <p:nvCxnSpPr>
          <p:cNvPr id="15" name="Connector 14"/>
          <p:cNvCxnSpPr/>
          <p:nvPr/>
        </p:nvCxnSpPr>
        <p:spPr>
          <a:xfrm>
            <a:off x="7863840" y="2203704"/>
            <a:ext cx="292607"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183879" y="1874519"/>
            <a:ext cx="1645920" cy="658368"/>
          </a:xfrm>
          <a:prstGeom prst="roundRect">
            <a:avLst/>
          </a:prstGeom>
          <a:solidFill>
            <a:srgbClr val="CFE2F3"/>
          </a:solidFill>
          <a:ln w="15875">
            <a:solidFill>
              <a:srgbClr val="3D85C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200" b="1">
                <a:solidFill>
                  <a:srgbClr val="282828"/>
                </a:solidFill>
              </a:defRPr>
            </a:pPr>
            <a:r>
              <a:t>5. Model</a:t>
            </a:r>
          </a:p>
        </p:txBody>
      </p:sp>
      <p:sp>
        <p:nvSpPr>
          <p:cNvPr id="17" name="TextBox 16"/>
          <p:cNvSpPr txBox="1"/>
          <p:nvPr/>
        </p:nvSpPr>
        <p:spPr>
          <a:xfrm>
            <a:off x="8183879" y="2615184"/>
            <a:ext cx="1645920" cy="594360"/>
          </a:xfrm>
          <a:prstGeom prst="rect">
            <a:avLst/>
          </a:prstGeom>
          <a:noFill/>
        </p:spPr>
        <p:txBody>
          <a:bodyPr wrap="square" lIns="45720" tIns="18288" rIns="45720" bIns="18288">
            <a:spAutoFit/>
          </a:bodyPr>
          <a:lstStyle/>
          <a:p>
            <a:pPr algn="ctr">
              <a:defRPr sz="1000" b="0">
                <a:solidFill>
                  <a:srgbClr val="666666"/>
                </a:solidFill>
              </a:defRPr>
            </a:pPr>
            <a:r>
              <a:t>Naive Bayes / SVM / BERT</a:t>
            </a:r>
          </a:p>
        </p:txBody>
      </p:sp>
      <p:cxnSp>
        <p:nvCxnSpPr>
          <p:cNvPr id="18" name="Connector 17"/>
          <p:cNvCxnSpPr/>
          <p:nvPr/>
        </p:nvCxnSpPr>
        <p:spPr>
          <a:xfrm>
            <a:off x="9829800" y="2203704"/>
            <a:ext cx="292608"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0149840" y="1874519"/>
            <a:ext cx="1645920" cy="658368"/>
          </a:xfrm>
          <a:prstGeom prst="roundRect">
            <a:avLst/>
          </a:prstGeom>
          <a:solidFill>
            <a:srgbClr val="D9EAD3"/>
          </a:solidFill>
          <a:ln w="15875">
            <a:solidFill>
              <a:srgbClr val="6AA84F"/>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200" b="1">
                <a:solidFill>
                  <a:srgbClr val="282828"/>
                </a:solidFill>
              </a:defRPr>
            </a:pPr>
            <a:r>
              <a:t>6. Predict</a:t>
            </a:r>
          </a:p>
        </p:txBody>
      </p:sp>
      <p:sp>
        <p:nvSpPr>
          <p:cNvPr id="20" name="TextBox 19"/>
          <p:cNvSpPr txBox="1"/>
          <p:nvPr/>
        </p:nvSpPr>
        <p:spPr>
          <a:xfrm>
            <a:off x="10149840" y="2615184"/>
            <a:ext cx="1645920" cy="594360"/>
          </a:xfrm>
          <a:prstGeom prst="rect">
            <a:avLst/>
          </a:prstGeom>
          <a:noFill/>
        </p:spPr>
        <p:txBody>
          <a:bodyPr wrap="square" lIns="45720" tIns="18288" rIns="45720" bIns="18288">
            <a:spAutoFit/>
          </a:bodyPr>
          <a:lstStyle/>
          <a:p>
            <a:pPr algn="ctr">
              <a:defRPr sz="1000" b="0">
                <a:solidFill>
                  <a:srgbClr val="666666"/>
                </a:solidFill>
              </a:defRPr>
            </a:pPr>
            <a:r>
              <a:t>Positive · 0.94 confidence</a:t>
            </a:r>
          </a:p>
        </p:txBody>
      </p:sp>
      <p:sp>
        <p:nvSpPr>
          <p:cNvPr id="21" name="Rounded Rectangle 20"/>
          <p:cNvSpPr/>
          <p:nvPr/>
        </p:nvSpPr>
        <p:spPr>
          <a:xfrm>
            <a:off x="960120" y="3794760"/>
            <a:ext cx="2834640" cy="731520"/>
          </a:xfrm>
          <a:prstGeom prst="roundRect">
            <a:avLst/>
          </a:prstGeom>
          <a:solidFill>
            <a:srgbClr val="CFE2F3"/>
          </a:solidFill>
          <a:ln w="15875">
            <a:solidFill>
              <a:srgbClr val="3D85C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300" b="1">
                <a:solidFill>
                  <a:srgbClr val="282828"/>
                </a:solidFill>
              </a:defRPr>
            </a:pPr>
            <a:r>
              <a:t>Training data + labels</a:t>
            </a:r>
          </a:p>
        </p:txBody>
      </p:sp>
      <p:sp>
        <p:nvSpPr>
          <p:cNvPr id="22" name="Rounded Rectangle 21"/>
          <p:cNvSpPr/>
          <p:nvPr/>
        </p:nvSpPr>
        <p:spPr>
          <a:xfrm>
            <a:off x="4663440" y="3794760"/>
            <a:ext cx="2834640" cy="731520"/>
          </a:xfrm>
          <a:prstGeom prst="roundRect">
            <a:avLst/>
          </a:prstGeom>
          <a:solidFill>
            <a:srgbClr val="FFF2CC"/>
          </a:solidFill>
          <a:ln w="15875">
            <a:solidFill>
              <a:srgbClr val="F1C232"/>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300" b="1">
                <a:solidFill>
                  <a:srgbClr val="282828"/>
                </a:solidFill>
              </a:defRPr>
            </a:pPr>
            <a:r>
              <a:t>Train / validate / tune</a:t>
            </a:r>
          </a:p>
        </p:txBody>
      </p:sp>
      <p:sp>
        <p:nvSpPr>
          <p:cNvPr id="23" name="Rounded Rectangle 22"/>
          <p:cNvSpPr/>
          <p:nvPr/>
        </p:nvSpPr>
        <p:spPr>
          <a:xfrm>
            <a:off x="8366760" y="3794760"/>
            <a:ext cx="2834640" cy="731520"/>
          </a:xfrm>
          <a:prstGeom prst="roundRect">
            <a:avLst/>
          </a:prstGeom>
          <a:solidFill>
            <a:srgbClr val="D9EAD3"/>
          </a:solidFill>
          <a:ln w="15875">
            <a:solidFill>
              <a:srgbClr val="6AA84F"/>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300" b="1">
                <a:solidFill>
                  <a:srgbClr val="282828"/>
                </a:solidFill>
              </a:defRPr>
            </a:pPr>
            <a:r>
              <a:t>Evaluate: F1, precision, recall</a:t>
            </a:r>
          </a:p>
        </p:txBody>
      </p:sp>
      <p:cxnSp>
        <p:nvCxnSpPr>
          <p:cNvPr id="24" name="Connector 23"/>
          <p:cNvCxnSpPr/>
          <p:nvPr/>
        </p:nvCxnSpPr>
        <p:spPr>
          <a:xfrm>
            <a:off x="3794760" y="4160520"/>
            <a:ext cx="868680"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98079" y="4160520"/>
            <a:ext cx="868681"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14400" y="4983480"/>
            <a:ext cx="10332720" cy="411480"/>
          </a:xfrm>
          <a:prstGeom prst="rect">
            <a:avLst/>
          </a:prstGeom>
          <a:noFill/>
        </p:spPr>
        <p:txBody>
          <a:bodyPr wrap="square" lIns="45720" tIns="18288" rIns="45720" bIns="18288">
            <a:spAutoFit/>
          </a:bodyPr>
          <a:lstStyle/>
          <a:p>
            <a:pPr algn="ctr">
              <a:defRPr sz="1400" b="1">
                <a:solidFill>
                  <a:srgbClr val="234069"/>
                </a:solidFill>
              </a:defRPr>
            </a:pPr>
            <a:r>
              <a:t>Watch for data leakage, class imbalance, and changes in language after deployment.</a:t>
            </a:r>
          </a:p>
        </p:txBody>
      </p:sp>
      <p:sp>
        <p:nvSpPr>
          <p:cNvPr id="27" name="Rounded Rectangle 26"/>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11430000" cy="457200"/>
          </a:xfrm>
          <a:prstGeom prst="rect">
            <a:avLst/>
          </a:prstGeom>
          <a:noFill/>
        </p:spPr>
        <p:txBody>
          <a:bodyPr wrap="square" lIns="45720" tIns="18288" rIns="45720" bIns="18288">
            <a:spAutoFit/>
          </a:bodyPr>
          <a:lstStyle/>
          <a:p>
            <a:pPr algn="ctr">
              <a:defRPr sz="2600" b="1">
                <a:solidFill>
                  <a:srgbClr val="234069"/>
                </a:solidFill>
              </a:defRPr>
            </a:pPr>
            <a:r>
              <a:t>Transformer: From Tokens to Contextual Meaning</a:t>
            </a:r>
          </a:p>
        </p:txBody>
      </p:sp>
      <p:sp>
        <p:nvSpPr>
          <p:cNvPr id="3" name="TextBox 2"/>
          <p:cNvSpPr txBox="1"/>
          <p:nvPr/>
        </p:nvSpPr>
        <p:spPr>
          <a:xfrm>
            <a:off x="457200" y="621792"/>
            <a:ext cx="11155680" cy="320040"/>
          </a:xfrm>
          <a:prstGeom prst="rect">
            <a:avLst/>
          </a:prstGeom>
          <a:noFill/>
        </p:spPr>
        <p:txBody>
          <a:bodyPr wrap="square" lIns="45720" tIns="18288" rIns="45720" bIns="18288">
            <a:spAutoFit/>
          </a:bodyPr>
          <a:lstStyle/>
          <a:p>
            <a:pPr algn="ctr">
              <a:defRPr sz="1100" b="0">
                <a:solidFill>
                  <a:srgbClr val="666666"/>
                </a:solidFill>
              </a:defRPr>
            </a:pPr>
            <a:r>
              <a:t>Simplified encoder-style flow; decoder-based models add autoregressive generation steps</a:t>
            </a:r>
          </a:p>
        </p:txBody>
      </p:sp>
      <p:sp>
        <p:nvSpPr>
          <p:cNvPr id="4" name="Rounded Rectangle 3"/>
          <p:cNvSpPr/>
          <p:nvPr/>
        </p:nvSpPr>
        <p:spPr>
          <a:xfrm>
            <a:off x="228600" y="1828800"/>
            <a:ext cx="1417320" cy="713232"/>
          </a:xfrm>
          <a:prstGeom prst="roundRect">
            <a:avLst/>
          </a:prstGeom>
          <a:solidFill>
            <a:srgbClr val="F2F2F2"/>
          </a:solidFill>
          <a:ln w="15875">
            <a:solidFill>
              <a:srgbClr val="66666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100" b="1">
                <a:solidFill>
                  <a:srgbClr val="282828"/>
                </a:solidFill>
              </a:defRPr>
            </a:pPr>
            <a:r>
              <a:t>Input text</a:t>
            </a:r>
          </a:p>
        </p:txBody>
      </p:sp>
      <p:sp>
        <p:nvSpPr>
          <p:cNvPr id="5" name="TextBox 4"/>
          <p:cNvSpPr txBox="1"/>
          <p:nvPr/>
        </p:nvSpPr>
        <p:spPr>
          <a:xfrm>
            <a:off x="228600" y="2615184"/>
            <a:ext cx="1417320" cy="566928"/>
          </a:xfrm>
          <a:prstGeom prst="rect">
            <a:avLst/>
          </a:prstGeom>
          <a:noFill/>
        </p:spPr>
        <p:txBody>
          <a:bodyPr wrap="square" lIns="45720" tIns="18288" rIns="45720" bIns="18288">
            <a:spAutoFit/>
          </a:bodyPr>
          <a:lstStyle/>
          <a:p>
            <a:pPr algn="ctr">
              <a:defRPr sz="900" b="0">
                <a:solidFill>
                  <a:srgbClr val="666666"/>
                </a:solidFill>
              </a:defRPr>
            </a:pPr>
            <a:r>
              <a:t>“AI helps people”</a:t>
            </a:r>
          </a:p>
        </p:txBody>
      </p:sp>
      <p:cxnSp>
        <p:nvCxnSpPr>
          <p:cNvPr id="6" name="Connector 5"/>
          <p:cNvCxnSpPr/>
          <p:nvPr/>
        </p:nvCxnSpPr>
        <p:spPr>
          <a:xfrm>
            <a:off x="1645920" y="2185416"/>
            <a:ext cx="246888"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929384" y="1828800"/>
            <a:ext cx="1417320" cy="713232"/>
          </a:xfrm>
          <a:prstGeom prst="roundRect">
            <a:avLst/>
          </a:prstGeom>
          <a:solidFill>
            <a:srgbClr val="FFF2CC"/>
          </a:solidFill>
          <a:ln w="15875">
            <a:solidFill>
              <a:srgbClr val="F1C232"/>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100" b="1">
                <a:solidFill>
                  <a:srgbClr val="282828"/>
                </a:solidFill>
              </a:defRPr>
            </a:pPr>
            <a:r>
              <a:t>Token IDs</a:t>
            </a:r>
          </a:p>
        </p:txBody>
      </p:sp>
      <p:sp>
        <p:nvSpPr>
          <p:cNvPr id="8" name="TextBox 7"/>
          <p:cNvSpPr txBox="1"/>
          <p:nvPr/>
        </p:nvSpPr>
        <p:spPr>
          <a:xfrm>
            <a:off x="1929384" y="2615184"/>
            <a:ext cx="1417320" cy="566928"/>
          </a:xfrm>
          <a:prstGeom prst="rect">
            <a:avLst/>
          </a:prstGeom>
          <a:noFill/>
        </p:spPr>
        <p:txBody>
          <a:bodyPr wrap="square" lIns="45720" tIns="18288" rIns="45720" bIns="18288">
            <a:spAutoFit/>
          </a:bodyPr>
          <a:lstStyle/>
          <a:p>
            <a:pPr algn="ctr">
              <a:defRPr sz="900" b="0">
                <a:solidFill>
                  <a:srgbClr val="666666"/>
                </a:solidFill>
              </a:defRPr>
            </a:pPr>
            <a:r>
              <a:t>[101, AI, helps…]</a:t>
            </a:r>
          </a:p>
        </p:txBody>
      </p:sp>
      <p:cxnSp>
        <p:nvCxnSpPr>
          <p:cNvPr id="9" name="Connector 8"/>
          <p:cNvCxnSpPr/>
          <p:nvPr/>
        </p:nvCxnSpPr>
        <p:spPr>
          <a:xfrm>
            <a:off x="3346704" y="2185416"/>
            <a:ext cx="246888"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630168" y="1828800"/>
            <a:ext cx="1417320" cy="713232"/>
          </a:xfrm>
          <a:prstGeom prst="roundRect">
            <a:avLst/>
          </a:prstGeom>
          <a:solidFill>
            <a:srgbClr val="D9D2E9"/>
          </a:solidFill>
          <a:ln w="15875">
            <a:solidFill>
              <a:srgbClr val="8E7CC3"/>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100" b="1">
                <a:solidFill>
                  <a:srgbClr val="282828"/>
                </a:solidFill>
              </a:defRPr>
            </a:pPr>
            <a:r>
              <a:t>Embeddings +</a:t>
            </a:r>
            <a:br/>
            <a:r>
              <a:t>position</a:t>
            </a:r>
          </a:p>
        </p:txBody>
      </p:sp>
      <p:sp>
        <p:nvSpPr>
          <p:cNvPr id="11" name="TextBox 10"/>
          <p:cNvSpPr txBox="1"/>
          <p:nvPr/>
        </p:nvSpPr>
        <p:spPr>
          <a:xfrm>
            <a:off x="3630168" y="2615184"/>
            <a:ext cx="1417320" cy="566928"/>
          </a:xfrm>
          <a:prstGeom prst="rect">
            <a:avLst/>
          </a:prstGeom>
          <a:noFill/>
        </p:spPr>
        <p:txBody>
          <a:bodyPr wrap="square" lIns="45720" tIns="18288" rIns="45720" bIns="18288">
            <a:spAutoFit/>
          </a:bodyPr>
          <a:lstStyle/>
          <a:p>
            <a:pPr algn="ctr">
              <a:defRPr sz="900" b="0">
                <a:solidFill>
                  <a:srgbClr val="666666"/>
                </a:solidFill>
              </a:defRPr>
            </a:pPr>
            <a:r>
              <a:t>Vector + position</a:t>
            </a:r>
          </a:p>
        </p:txBody>
      </p:sp>
      <p:cxnSp>
        <p:nvCxnSpPr>
          <p:cNvPr id="12" name="Connector 11"/>
          <p:cNvCxnSpPr/>
          <p:nvPr/>
        </p:nvCxnSpPr>
        <p:spPr>
          <a:xfrm>
            <a:off x="5047488" y="2185416"/>
            <a:ext cx="246888"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330952" y="1828800"/>
            <a:ext cx="1417320" cy="713232"/>
          </a:xfrm>
          <a:prstGeom prst="roundRect">
            <a:avLst/>
          </a:prstGeom>
          <a:solidFill>
            <a:srgbClr val="CFE2F3"/>
          </a:solidFill>
          <a:ln w="15875">
            <a:solidFill>
              <a:srgbClr val="3D85C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100" b="1">
                <a:solidFill>
                  <a:srgbClr val="282828"/>
                </a:solidFill>
              </a:defRPr>
            </a:pPr>
            <a:r>
              <a:t>Self-attention</a:t>
            </a:r>
          </a:p>
        </p:txBody>
      </p:sp>
      <p:sp>
        <p:nvSpPr>
          <p:cNvPr id="14" name="TextBox 13"/>
          <p:cNvSpPr txBox="1"/>
          <p:nvPr/>
        </p:nvSpPr>
        <p:spPr>
          <a:xfrm>
            <a:off x="5330952" y="2615184"/>
            <a:ext cx="1417320" cy="566928"/>
          </a:xfrm>
          <a:prstGeom prst="rect">
            <a:avLst/>
          </a:prstGeom>
          <a:noFill/>
        </p:spPr>
        <p:txBody>
          <a:bodyPr wrap="square" lIns="45720" tIns="18288" rIns="45720" bIns="18288">
            <a:spAutoFit/>
          </a:bodyPr>
          <a:lstStyle/>
          <a:p>
            <a:pPr algn="ctr">
              <a:defRPr sz="900" b="0">
                <a:solidFill>
                  <a:srgbClr val="666666"/>
                </a:solidFill>
              </a:defRPr>
            </a:pPr>
            <a:r>
              <a:t>Tokens exchange context</a:t>
            </a:r>
          </a:p>
        </p:txBody>
      </p:sp>
      <p:cxnSp>
        <p:nvCxnSpPr>
          <p:cNvPr id="15" name="Connector 14"/>
          <p:cNvCxnSpPr/>
          <p:nvPr/>
        </p:nvCxnSpPr>
        <p:spPr>
          <a:xfrm>
            <a:off x="6748272" y="2185416"/>
            <a:ext cx="246888"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031736" y="1828800"/>
            <a:ext cx="1417320" cy="713232"/>
          </a:xfrm>
          <a:prstGeom prst="roundRect">
            <a:avLst/>
          </a:prstGeom>
          <a:solidFill>
            <a:srgbClr val="CFE2F3"/>
          </a:solidFill>
          <a:ln w="15875">
            <a:solidFill>
              <a:srgbClr val="3D85C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100" b="1">
                <a:solidFill>
                  <a:srgbClr val="282828"/>
                </a:solidFill>
              </a:defRPr>
            </a:pPr>
            <a:r>
              <a:t>Feed-forward</a:t>
            </a:r>
            <a:br/>
            <a:r>
              <a:t>network</a:t>
            </a:r>
          </a:p>
        </p:txBody>
      </p:sp>
      <p:sp>
        <p:nvSpPr>
          <p:cNvPr id="17" name="TextBox 16"/>
          <p:cNvSpPr txBox="1"/>
          <p:nvPr/>
        </p:nvSpPr>
        <p:spPr>
          <a:xfrm>
            <a:off x="7031736" y="2615184"/>
            <a:ext cx="1417320" cy="566928"/>
          </a:xfrm>
          <a:prstGeom prst="rect">
            <a:avLst/>
          </a:prstGeom>
          <a:noFill/>
        </p:spPr>
        <p:txBody>
          <a:bodyPr wrap="square" lIns="45720" tIns="18288" rIns="45720" bIns="18288">
            <a:spAutoFit/>
          </a:bodyPr>
          <a:lstStyle/>
          <a:p>
            <a:pPr algn="ctr">
              <a:defRPr sz="900" b="0">
                <a:solidFill>
                  <a:srgbClr val="666666"/>
                </a:solidFill>
              </a:defRPr>
            </a:pPr>
            <a:r>
              <a:t>Non-linear transform</a:t>
            </a:r>
          </a:p>
        </p:txBody>
      </p:sp>
      <p:cxnSp>
        <p:nvCxnSpPr>
          <p:cNvPr id="18" name="Connector 17"/>
          <p:cNvCxnSpPr/>
          <p:nvPr/>
        </p:nvCxnSpPr>
        <p:spPr>
          <a:xfrm>
            <a:off x="8449056" y="2185416"/>
            <a:ext cx="246888"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732520" y="1828800"/>
            <a:ext cx="1417320" cy="713232"/>
          </a:xfrm>
          <a:prstGeom prst="roundRect">
            <a:avLst/>
          </a:prstGeom>
          <a:solidFill>
            <a:srgbClr val="D9EAD3"/>
          </a:solidFill>
          <a:ln w="15875">
            <a:solidFill>
              <a:srgbClr val="6AA84F"/>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100" b="1">
                <a:solidFill>
                  <a:srgbClr val="282828"/>
                </a:solidFill>
              </a:defRPr>
            </a:pPr>
            <a:r>
              <a:t>Context vectors</a:t>
            </a:r>
          </a:p>
        </p:txBody>
      </p:sp>
      <p:sp>
        <p:nvSpPr>
          <p:cNvPr id="20" name="TextBox 19"/>
          <p:cNvSpPr txBox="1"/>
          <p:nvPr/>
        </p:nvSpPr>
        <p:spPr>
          <a:xfrm>
            <a:off x="8732520" y="2615184"/>
            <a:ext cx="1417320" cy="566928"/>
          </a:xfrm>
          <a:prstGeom prst="rect">
            <a:avLst/>
          </a:prstGeom>
          <a:noFill/>
        </p:spPr>
        <p:txBody>
          <a:bodyPr wrap="square" lIns="45720" tIns="18288" rIns="45720" bIns="18288">
            <a:spAutoFit/>
          </a:bodyPr>
          <a:lstStyle/>
          <a:p>
            <a:pPr algn="ctr">
              <a:defRPr sz="900" b="0">
                <a:solidFill>
                  <a:srgbClr val="666666"/>
                </a:solidFill>
              </a:defRPr>
            </a:pPr>
            <a:r>
              <a:t>Meaning-aware tokens</a:t>
            </a:r>
          </a:p>
        </p:txBody>
      </p:sp>
      <p:cxnSp>
        <p:nvCxnSpPr>
          <p:cNvPr id="21" name="Connector 20"/>
          <p:cNvCxnSpPr/>
          <p:nvPr/>
        </p:nvCxnSpPr>
        <p:spPr>
          <a:xfrm>
            <a:off x="10149840" y="2185416"/>
            <a:ext cx="246888"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0433304" y="1828800"/>
            <a:ext cx="1417320" cy="713232"/>
          </a:xfrm>
          <a:prstGeom prst="roundRect">
            <a:avLst/>
          </a:prstGeom>
          <a:solidFill>
            <a:srgbClr val="F4CCCC"/>
          </a:solidFill>
          <a:ln w="15875">
            <a:solidFill>
              <a:srgbClr val="CC4125"/>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100" b="1">
                <a:solidFill>
                  <a:srgbClr val="282828"/>
                </a:solidFill>
              </a:defRPr>
            </a:pPr>
            <a:r>
              <a:t>Task head</a:t>
            </a:r>
          </a:p>
        </p:txBody>
      </p:sp>
      <p:sp>
        <p:nvSpPr>
          <p:cNvPr id="23" name="TextBox 22"/>
          <p:cNvSpPr txBox="1"/>
          <p:nvPr/>
        </p:nvSpPr>
        <p:spPr>
          <a:xfrm>
            <a:off x="10433304" y="2615184"/>
            <a:ext cx="1417320" cy="566928"/>
          </a:xfrm>
          <a:prstGeom prst="rect">
            <a:avLst/>
          </a:prstGeom>
          <a:noFill/>
        </p:spPr>
        <p:txBody>
          <a:bodyPr wrap="square" lIns="45720" tIns="18288" rIns="45720" bIns="18288">
            <a:spAutoFit/>
          </a:bodyPr>
          <a:lstStyle/>
          <a:p>
            <a:pPr algn="ctr">
              <a:defRPr sz="900" b="0">
                <a:solidFill>
                  <a:srgbClr val="666666"/>
                </a:solidFill>
              </a:defRPr>
            </a:pPr>
            <a:r>
              <a:t>Classify / extract</a:t>
            </a:r>
          </a:p>
        </p:txBody>
      </p:sp>
      <p:sp>
        <p:nvSpPr>
          <p:cNvPr id="24" name="Rounded Rectangle 23"/>
          <p:cNvSpPr/>
          <p:nvPr/>
        </p:nvSpPr>
        <p:spPr>
          <a:xfrm>
            <a:off x="1005840" y="3886200"/>
            <a:ext cx="2743200" cy="640080"/>
          </a:xfrm>
          <a:prstGeom prst="roundRect">
            <a:avLst/>
          </a:prstGeom>
          <a:solidFill>
            <a:srgbClr val="CFE2F3"/>
          </a:solidFill>
          <a:ln w="15875">
            <a:solidFill>
              <a:srgbClr val="3D85C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200" b="1">
                <a:solidFill>
                  <a:srgbClr val="282828"/>
                </a:solidFill>
              </a:defRPr>
            </a:pPr>
            <a:r>
              <a:t>Query (Q)</a:t>
            </a:r>
          </a:p>
        </p:txBody>
      </p:sp>
      <p:sp>
        <p:nvSpPr>
          <p:cNvPr id="25" name="Rounded Rectangle 24"/>
          <p:cNvSpPr/>
          <p:nvPr/>
        </p:nvSpPr>
        <p:spPr>
          <a:xfrm>
            <a:off x="4709160" y="3886200"/>
            <a:ext cx="2743200" cy="640080"/>
          </a:xfrm>
          <a:prstGeom prst="roundRect">
            <a:avLst/>
          </a:prstGeom>
          <a:solidFill>
            <a:srgbClr val="D9D2E9"/>
          </a:solidFill>
          <a:ln w="15875">
            <a:solidFill>
              <a:srgbClr val="8E7CC3"/>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200" b="1">
                <a:solidFill>
                  <a:srgbClr val="282828"/>
                </a:solidFill>
              </a:defRPr>
            </a:pPr>
            <a:r>
              <a:t>Key (K) + Value (V)</a:t>
            </a:r>
          </a:p>
        </p:txBody>
      </p:sp>
      <p:sp>
        <p:nvSpPr>
          <p:cNvPr id="26" name="Rounded Rectangle 25"/>
          <p:cNvSpPr/>
          <p:nvPr/>
        </p:nvSpPr>
        <p:spPr>
          <a:xfrm>
            <a:off x="8412480" y="3886200"/>
            <a:ext cx="2743200" cy="640080"/>
          </a:xfrm>
          <a:prstGeom prst="roundRect">
            <a:avLst/>
          </a:prstGeom>
          <a:solidFill>
            <a:srgbClr val="D9EAD3"/>
          </a:solidFill>
          <a:ln w="15875">
            <a:solidFill>
              <a:srgbClr val="6AA84F"/>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200" b="1">
                <a:solidFill>
                  <a:srgbClr val="282828"/>
                </a:solidFill>
              </a:defRPr>
            </a:pPr>
            <a:r>
              <a:t>Attention weights × values</a:t>
            </a:r>
          </a:p>
        </p:txBody>
      </p:sp>
      <p:cxnSp>
        <p:nvCxnSpPr>
          <p:cNvPr id="27" name="Connector 26"/>
          <p:cNvCxnSpPr/>
          <p:nvPr/>
        </p:nvCxnSpPr>
        <p:spPr>
          <a:xfrm>
            <a:off x="3749039" y="4206240"/>
            <a:ext cx="960121"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52360" y="4206240"/>
            <a:ext cx="960120"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14400" y="4892040"/>
            <a:ext cx="10332720" cy="502920"/>
          </a:xfrm>
          <a:prstGeom prst="rect">
            <a:avLst/>
          </a:prstGeom>
          <a:noFill/>
        </p:spPr>
        <p:txBody>
          <a:bodyPr wrap="square" lIns="45720" tIns="18288" rIns="45720" bIns="18288">
            <a:spAutoFit/>
          </a:bodyPr>
          <a:lstStyle/>
          <a:p>
            <a:pPr algn="ctr">
              <a:defRPr sz="1300" b="1">
                <a:solidFill>
                  <a:srgbClr val="234069"/>
                </a:solidFill>
              </a:defRPr>
            </a:pPr>
            <a:r>
              <a:t>Self-attention lets each token use information from other tokens; positional information helps preserve order.</a:t>
            </a:r>
          </a:p>
        </p:txBody>
      </p:sp>
      <p:sp>
        <p:nvSpPr>
          <p:cNvPr id="30" name="Rounded Rectangle 29"/>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11430000" cy="457200"/>
          </a:xfrm>
          <a:prstGeom prst="rect">
            <a:avLst/>
          </a:prstGeom>
          <a:noFill/>
        </p:spPr>
        <p:txBody>
          <a:bodyPr wrap="square" lIns="45720" tIns="18288" rIns="45720" bIns="18288">
            <a:spAutoFit/>
          </a:bodyPr>
          <a:lstStyle/>
          <a:p>
            <a:pPr algn="ctr">
              <a:defRPr sz="2600" b="1">
                <a:solidFill>
                  <a:srgbClr val="234069"/>
                </a:solidFill>
              </a:defRPr>
            </a:pPr>
            <a:r>
              <a:t>End-to-End Machine Learning Lifecycle</a:t>
            </a:r>
          </a:p>
        </p:txBody>
      </p:sp>
      <p:sp>
        <p:nvSpPr>
          <p:cNvPr id="3" name="TextBox 2"/>
          <p:cNvSpPr txBox="1"/>
          <p:nvPr/>
        </p:nvSpPr>
        <p:spPr>
          <a:xfrm>
            <a:off x="457200" y="621792"/>
            <a:ext cx="11155680" cy="320040"/>
          </a:xfrm>
          <a:prstGeom prst="rect">
            <a:avLst/>
          </a:prstGeom>
          <a:noFill/>
        </p:spPr>
        <p:txBody>
          <a:bodyPr wrap="square" lIns="45720" tIns="18288" rIns="45720" bIns="18288">
            <a:spAutoFit/>
          </a:bodyPr>
          <a:lstStyle/>
          <a:p>
            <a:pPr algn="ctr">
              <a:defRPr sz="1100" b="0">
                <a:solidFill>
                  <a:srgbClr val="666666"/>
                </a:solidFill>
              </a:defRPr>
            </a:pPr>
            <a:r>
              <a:t>A production ML system is a loop, not a one-time model-training exercise</a:t>
            </a:r>
          </a:p>
        </p:txBody>
      </p:sp>
      <p:sp>
        <p:nvSpPr>
          <p:cNvPr id="4" name="Rounded Rectangle 3"/>
          <p:cNvSpPr/>
          <p:nvPr/>
        </p:nvSpPr>
        <p:spPr>
          <a:xfrm>
            <a:off x="320040" y="2011680"/>
            <a:ext cx="1353312" cy="731520"/>
          </a:xfrm>
          <a:prstGeom prst="roundRect">
            <a:avLst/>
          </a:prstGeom>
          <a:solidFill>
            <a:srgbClr val="F2F2F2"/>
          </a:solidFill>
          <a:ln w="15875">
            <a:solidFill>
              <a:srgbClr val="66666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300" b="1">
                <a:solidFill>
                  <a:srgbClr val="282828"/>
                </a:solidFill>
              </a:defRPr>
            </a:pPr>
            <a:r>
              <a:t>Collect</a:t>
            </a:r>
          </a:p>
        </p:txBody>
      </p:sp>
      <p:sp>
        <p:nvSpPr>
          <p:cNvPr id="5" name="TextBox 4"/>
          <p:cNvSpPr txBox="1"/>
          <p:nvPr/>
        </p:nvSpPr>
        <p:spPr>
          <a:xfrm>
            <a:off x="320040" y="2816352"/>
            <a:ext cx="1353312" cy="320040"/>
          </a:xfrm>
          <a:prstGeom prst="rect">
            <a:avLst/>
          </a:prstGeom>
          <a:noFill/>
        </p:spPr>
        <p:txBody>
          <a:bodyPr wrap="square" lIns="45720" tIns="18288" rIns="45720" bIns="18288">
            <a:spAutoFit/>
          </a:bodyPr>
          <a:lstStyle/>
          <a:p>
            <a:pPr algn="ctr">
              <a:defRPr sz="1000" b="0">
                <a:solidFill>
                  <a:srgbClr val="666666"/>
                </a:solidFill>
              </a:defRPr>
            </a:pPr>
            <a:r>
              <a:t>Data sources</a:t>
            </a:r>
          </a:p>
        </p:txBody>
      </p:sp>
      <p:cxnSp>
        <p:nvCxnSpPr>
          <p:cNvPr id="6" name="Connector 5"/>
          <p:cNvCxnSpPr/>
          <p:nvPr/>
        </p:nvCxnSpPr>
        <p:spPr>
          <a:xfrm>
            <a:off x="1673352" y="2377440"/>
            <a:ext cx="292608"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011680" y="2011680"/>
            <a:ext cx="1353312" cy="731520"/>
          </a:xfrm>
          <a:prstGeom prst="roundRect">
            <a:avLst/>
          </a:prstGeom>
          <a:solidFill>
            <a:srgbClr val="FFF2CC"/>
          </a:solidFill>
          <a:ln w="15875">
            <a:solidFill>
              <a:srgbClr val="F1C232"/>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300" b="1">
                <a:solidFill>
                  <a:srgbClr val="282828"/>
                </a:solidFill>
              </a:defRPr>
            </a:pPr>
            <a:r>
              <a:t>Prepare</a:t>
            </a:r>
          </a:p>
        </p:txBody>
      </p:sp>
      <p:sp>
        <p:nvSpPr>
          <p:cNvPr id="8" name="TextBox 7"/>
          <p:cNvSpPr txBox="1"/>
          <p:nvPr/>
        </p:nvSpPr>
        <p:spPr>
          <a:xfrm>
            <a:off x="2011680" y="2816352"/>
            <a:ext cx="1353312" cy="320040"/>
          </a:xfrm>
          <a:prstGeom prst="rect">
            <a:avLst/>
          </a:prstGeom>
          <a:noFill/>
        </p:spPr>
        <p:txBody>
          <a:bodyPr wrap="square" lIns="45720" tIns="18288" rIns="45720" bIns="18288">
            <a:spAutoFit/>
          </a:bodyPr>
          <a:lstStyle/>
          <a:p>
            <a:pPr algn="ctr">
              <a:defRPr sz="1000" b="0">
                <a:solidFill>
                  <a:srgbClr val="666666"/>
                </a:solidFill>
              </a:defRPr>
            </a:pPr>
            <a:r>
              <a:t>Clean + split</a:t>
            </a:r>
          </a:p>
        </p:txBody>
      </p:sp>
      <p:cxnSp>
        <p:nvCxnSpPr>
          <p:cNvPr id="9" name="Connector 8"/>
          <p:cNvCxnSpPr/>
          <p:nvPr/>
        </p:nvCxnSpPr>
        <p:spPr>
          <a:xfrm>
            <a:off x="3364992" y="2377440"/>
            <a:ext cx="292608"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703320" y="2011680"/>
            <a:ext cx="1353312" cy="731520"/>
          </a:xfrm>
          <a:prstGeom prst="roundRect">
            <a:avLst/>
          </a:prstGeom>
          <a:solidFill>
            <a:srgbClr val="D9D2E9"/>
          </a:solidFill>
          <a:ln w="15875">
            <a:solidFill>
              <a:srgbClr val="8E7CC3"/>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300" b="1">
                <a:solidFill>
                  <a:srgbClr val="282828"/>
                </a:solidFill>
              </a:defRPr>
            </a:pPr>
            <a:r>
              <a:t>Explore</a:t>
            </a:r>
          </a:p>
        </p:txBody>
      </p:sp>
      <p:sp>
        <p:nvSpPr>
          <p:cNvPr id="11" name="TextBox 10"/>
          <p:cNvSpPr txBox="1"/>
          <p:nvPr/>
        </p:nvSpPr>
        <p:spPr>
          <a:xfrm>
            <a:off x="3703320" y="2816352"/>
            <a:ext cx="1353312" cy="320040"/>
          </a:xfrm>
          <a:prstGeom prst="rect">
            <a:avLst/>
          </a:prstGeom>
          <a:noFill/>
        </p:spPr>
        <p:txBody>
          <a:bodyPr wrap="square" lIns="45720" tIns="18288" rIns="45720" bIns="18288">
            <a:spAutoFit/>
          </a:bodyPr>
          <a:lstStyle/>
          <a:p>
            <a:pPr algn="ctr">
              <a:defRPr sz="1000" b="0">
                <a:solidFill>
                  <a:srgbClr val="666666"/>
                </a:solidFill>
              </a:defRPr>
            </a:pPr>
            <a:r>
              <a:t>EDA + features</a:t>
            </a:r>
          </a:p>
        </p:txBody>
      </p:sp>
      <p:cxnSp>
        <p:nvCxnSpPr>
          <p:cNvPr id="12" name="Connector 11"/>
          <p:cNvCxnSpPr/>
          <p:nvPr/>
        </p:nvCxnSpPr>
        <p:spPr>
          <a:xfrm>
            <a:off x="5056631" y="2377440"/>
            <a:ext cx="292609"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394960" y="2011680"/>
            <a:ext cx="1353312" cy="731520"/>
          </a:xfrm>
          <a:prstGeom prst="roundRect">
            <a:avLst/>
          </a:prstGeom>
          <a:solidFill>
            <a:srgbClr val="CFE2F3"/>
          </a:solidFill>
          <a:ln w="15875">
            <a:solidFill>
              <a:srgbClr val="3D85C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300" b="1">
                <a:solidFill>
                  <a:srgbClr val="282828"/>
                </a:solidFill>
              </a:defRPr>
            </a:pPr>
            <a:r>
              <a:t>Train</a:t>
            </a:r>
          </a:p>
        </p:txBody>
      </p:sp>
      <p:sp>
        <p:nvSpPr>
          <p:cNvPr id="14" name="TextBox 13"/>
          <p:cNvSpPr txBox="1"/>
          <p:nvPr/>
        </p:nvSpPr>
        <p:spPr>
          <a:xfrm>
            <a:off x="5394960" y="2816352"/>
            <a:ext cx="1353312" cy="320040"/>
          </a:xfrm>
          <a:prstGeom prst="rect">
            <a:avLst/>
          </a:prstGeom>
          <a:noFill/>
        </p:spPr>
        <p:txBody>
          <a:bodyPr wrap="square" lIns="45720" tIns="18288" rIns="45720" bIns="18288">
            <a:spAutoFit/>
          </a:bodyPr>
          <a:lstStyle/>
          <a:p>
            <a:pPr algn="ctr">
              <a:defRPr sz="1000" b="0">
                <a:solidFill>
                  <a:srgbClr val="666666"/>
                </a:solidFill>
              </a:defRPr>
            </a:pPr>
            <a:r>
              <a:t>Fit candidates</a:t>
            </a:r>
          </a:p>
        </p:txBody>
      </p:sp>
      <p:cxnSp>
        <p:nvCxnSpPr>
          <p:cNvPr id="15" name="Connector 14"/>
          <p:cNvCxnSpPr/>
          <p:nvPr/>
        </p:nvCxnSpPr>
        <p:spPr>
          <a:xfrm>
            <a:off x="6748272" y="2377440"/>
            <a:ext cx="292608"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086600" y="2011680"/>
            <a:ext cx="1353312" cy="731520"/>
          </a:xfrm>
          <a:prstGeom prst="roundRect">
            <a:avLst/>
          </a:prstGeom>
          <a:solidFill>
            <a:srgbClr val="D9EAD3"/>
          </a:solidFill>
          <a:ln w="15875">
            <a:solidFill>
              <a:srgbClr val="6AA84F"/>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300" b="1">
                <a:solidFill>
                  <a:srgbClr val="282828"/>
                </a:solidFill>
              </a:defRPr>
            </a:pPr>
            <a:r>
              <a:t>Evaluate</a:t>
            </a:r>
          </a:p>
        </p:txBody>
      </p:sp>
      <p:sp>
        <p:nvSpPr>
          <p:cNvPr id="17" name="TextBox 16"/>
          <p:cNvSpPr txBox="1"/>
          <p:nvPr/>
        </p:nvSpPr>
        <p:spPr>
          <a:xfrm>
            <a:off x="7086600" y="2816352"/>
            <a:ext cx="1353312" cy="320040"/>
          </a:xfrm>
          <a:prstGeom prst="rect">
            <a:avLst/>
          </a:prstGeom>
          <a:noFill/>
        </p:spPr>
        <p:txBody>
          <a:bodyPr wrap="square" lIns="45720" tIns="18288" rIns="45720" bIns="18288">
            <a:spAutoFit/>
          </a:bodyPr>
          <a:lstStyle/>
          <a:p>
            <a:pPr algn="ctr">
              <a:defRPr sz="1000" b="0">
                <a:solidFill>
                  <a:srgbClr val="666666"/>
                </a:solidFill>
              </a:defRPr>
            </a:pPr>
            <a:r>
              <a:t>Metrics + tests</a:t>
            </a:r>
          </a:p>
        </p:txBody>
      </p:sp>
      <p:cxnSp>
        <p:nvCxnSpPr>
          <p:cNvPr id="18" name="Connector 17"/>
          <p:cNvCxnSpPr/>
          <p:nvPr/>
        </p:nvCxnSpPr>
        <p:spPr>
          <a:xfrm>
            <a:off x="8439912" y="2377440"/>
            <a:ext cx="292608"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778240" y="2011680"/>
            <a:ext cx="1353312" cy="731520"/>
          </a:xfrm>
          <a:prstGeom prst="roundRect">
            <a:avLst/>
          </a:prstGeom>
          <a:solidFill>
            <a:srgbClr val="F4CCCC"/>
          </a:solidFill>
          <a:ln w="15875">
            <a:solidFill>
              <a:srgbClr val="CC4125"/>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300" b="1">
                <a:solidFill>
                  <a:srgbClr val="282828"/>
                </a:solidFill>
              </a:defRPr>
            </a:pPr>
            <a:r>
              <a:t>Deploy</a:t>
            </a:r>
          </a:p>
        </p:txBody>
      </p:sp>
      <p:sp>
        <p:nvSpPr>
          <p:cNvPr id="20" name="TextBox 19"/>
          <p:cNvSpPr txBox="1"/>
          <p:nvPr/>
        </p:nvSpPr>
        <p:spPr>
          <a:xfrm>
            <a:off x="8778240" y="2816352"/>
            <a:ext cx="1353312" cy="320040"/>
          </a:xfrm>
          <a:prstGeom prst="rect">
            <a:avLst/>
          </a:prstGeom>
          <a:noFill/>
        </p:spPr>
        <p:txBody>
          <a:bodyPr wrap="square" lIns="45720" tIns="18288" rIns="45720" bIns="18288">
            <a:spAutoFit/>
          </a:bodyPr>
          <a:lstStyle/>
          <a:p>
            <a:pPr algn="ctr">
              <a:defRPr sz="1000" b="0">
                <a:solidFill>
                  <a:srgbClr val="666666"/>
                </a:solidFill>
              </a:defRPr>
            </a:pPr>
            <a:r>
              <a:t>API / batch</a:t>
            </a:r>
          </a:p>
        </p:txBody>
      </p:sp>
      <p:cxnSp>
        <p:nvCxnSpPr>
          <p:cNvPr id="21" name="Connector 20"/>
          <p:cNvCxnSpPr/>
          <p:nvPr/>
        </p:nvCxnSpPr>
        <p:spPr>
          <a:xfrm>
            <a:off x="10131552" y="2377440"/>
            <a:ext cx="292608"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0469880" y="2011680"/>
            <a:ext cx="1353312" cy="731520"/>
          </a:xfrm>
          <a:prstGeom prst="roundRect">
            <a:avLst/>
          </a:prstGeom>
          <a:solidFill>
            <a:srgbClr val="F2F2F2"/>
          </a:solidFill>
          <a:ln w="15875">
            <a:solidFill>
              <a:srgbClr val="66666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300" b="1">
                <a:solidFill>
                  <a:srgbClr val="282828"/>
                </a:solidFill>
              </a:defRPr>
            </a:pPr>
            <a:r>
              <a:t>Monitor</a:t>
            </a:r>
          </a:p>
        </p:txBody>
      </p:sp>
      <p:sp>
        <p:nvSpPr>
          <p:cNvPr id="23" name="TextBox 22"/>
          <p:cNvSpPr txBox="1"/>
          <p:nvPr/>
        </p:nvSpPr>
        <p:spPr>
          <a:xfrm>
            <a:off x="10469880" y="2816352"/>
            <a:ext cx="1353312" cy="320040"/>
          </a:xfrm>
          <a:prstGeom prst="rect">
            <a:avLst/>
          </a:prstGeom>
          <a:noFill/>
        </p:spPr>
        <p:txBody>
          <a:bodyPr wrap="square" lIns="45720" tIns="18288" rIns="45720" bIns="18288">
            <a:spAutoFit/>
          </a:bodyPr>
          <a:lstStyle/>
          <a:p>
            <a:pPr algn="ctr">
              <a:defRPr sz="1000" b="0">
                <a:solidFill>
                  <a:srgbClr val="666666"/>
                </a:solidFill>
              </a:defRPr>
            </a:pPr>
            <a:r>
              <a:t>Drift + quality</a:t>
            </a:r>
          </a:p>
        </p:txBody>
      </p:sp>
      <p:cxnSp>
        <p:nvCxnSpPr>
          <p:cNvPr id="24" name="Connector 23"/>
          <p:cNvCxnSpPr/>
          <p:nvPr/>
        </p:nvCxnSpPr>
        <p:spPr>
          <a:xfrm flipH="1">
            <a:off x="914400" y="3429000"/>
            <a:ext cx="9692640" cy="0"/>
          </a:xfrm>
          <a:prstGeom prst="line">
            <a:avLst/>
          </a:prstGeom>
          <a:ln w="22860">
            <a:solidFill>
              <a:srgbClr val="CC4125"/>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566160" y="3520440"/>
            <a:ext cx="4663440" cy="320040"/>
          </a:xfrm>
          <a:prstGeom prst="rect">
            <a:avLst/>
          </a:prstGeom>
          <a:noFill/>
        </p:spPr>
        <p:txBody>
          <a:bodyPr wrap="square" lIns="45720" tIns="18288" rIns="45720" bIns="18288">
            <a:spAutoFit/>
          </a:bodyPr>
          <a:lstStyle/>
          <a:p>
            <a:pPr algn="ctr">
              <a:defRPr sz="1100" b="1">
                <a:solidFill>
                  <a:srgbClr val="CC4125"/>
                </a:solidFill>
              </a:defRPr>
            </a:pPr>
            <a:r>
              <a:t>Monitoring feedback informs new data, features, and retraining</a:t>
            </a:r>
          </a:p>
        </p:txBody>
      </p:sp>
      <p:sp>
        <p:nvSpPr>
          <p:cNvPr id="26" name="Rounded Rectangle 25"/>
          <p:cNvSpPr/>
          <p:nvPr/>
        </p:nvSpPr>
        <p:spPr>
          <a:xfrm>
            <a:off x="1828800" y="4297680"/>
            <a:ext cx="2286000" cy="640080"/>
          </a:xfrm>
          <a:prstGeom prst="roundRect">
            <a:avLst/>
          </a:prstGeom>
          <a:solidFill>
            <a:srgbClr val="CFE2F3"/>
          </a:solidFill>
          <a:ln w="15875">
            <a:solidFill>
              <a:srgbClr val="3D85C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200" b="1">
                <a:solidFill>
                  <a:srgbClr val="282828"/>
                </a:solidFill>
              </a:defRPr>
            </a:pPr>
            <a:r>
              <a:t>Version data + code</a:t>
            </a:r>
          </a:p>
        </p:txBody>
      </p:sp>
      <p:sp>
        <p:nvSpPr>
          <p:cNvPr id="27" name="Rounded Rectangle 26"/>
          <p:cNvSpPr/>
          <p:nvPr/>
        </p:nvSpPr>
        <p:spPr>
          <a:xfrm>
            <a:off x="4892040" y="4297680"/>
            <a:ext cx="2286000" cy="640080"/>
          </a:xfrm>
          <a:prstGeom prst="roundRect">
            <a:avLst/>
          </a:prstGeom>
          <a:solidFill>
            <a:srgbClr val="CFE2F3"/>
          </a:solidFill>
          <a:ln w="15875">
            <a:solidFill>
              <a:srgbClr val="3D85C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200" b="1">
                <a:solidFill>
                  <a:srgbClr val="282828"/>
                </a:solidFill>
              </a:defRPr>
            </a:pPr>
            <a:r>
              <a:t>Reproducible runs</a:t>
            </a:r>
          </a:p>
        </p:txBody>
      </p:sp>
      <p:sp>
        <p:nvSpPr>
          <p:cNvPr id="28" name="Rounded Rectangle 27"/>
          <p:cNvSpPr/>
          <p:nvPr/>
        </p:nvSpPr>
        <p:spPr>
          <a:xfrm>
            <a:off x="7955279" y="4297680"/>
            <a:ext cx="2286000" cy="640080"/>
          </a:xfrm>
          <a:prstGeom prst="roundRect">
            <a:avLst/>
          </a:prstGeom>
          <a:solidFill>
            <a:srgbClr val="CFE2F3"/>
          </a:solidFill>
          <a:ln w="15875">
            <a:solidFill>
              <a:srgbClr val="3D85C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200" b="1">
                <a:solidFill>
                  <a:srgbClr val="282828"/>
                </a:solidFill>
              </a:defRPr>
            </a:pPr>
            <a:r>
              <a:t>Rollback safely</a:t>
            </a:r>
          </a:p>
        </p:txBody>
      </p:sp>
      <p:cxnSp>
        <p:nvCxnSpPr>
          <p:cNvPr id="29" name="Connector 28"/>
          <p:cNvCxnSpPr/>
          <p:nvPr/>
        </p:nvCxnSpPr>
        <p:spPr>
          <a:xfrm>
            <a:off x="4114800" y="4617720"/>
            <a:ext cx="777240"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178040" y="4617720"/>
            <a:ext cx="777239"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33" name="Rounded Rectangle 32"/>
          <p:cNvSpPr/>
          <p:nvPr/>
        </p:nvSpPr>
        <p:spPr>
          <a:xfrm>
            <a:off x="384048" y="5326724"/>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11430000" cy="457200"/>
          </a:xfrm>
          <a:prstGeom prst="rect">
            <a:avLst/>
          </a:prstGeom>
          <a:noFill/>
        </p:spPr>
        <p:txBody>
          <a:bodyPr wrap="square" lIns="45720" tIns="18288" rIns="45720" bIns="18288">
            <a:spAutoFit/>
          </a:bodyPr>
          <a:lstStyle/>
          <a:p>
            <a:pPr algn="ctr">
              <a:defRPr sz="2600" b="1">
                <a:solidFill>
                  <a:srgbClr val="234069"/>
                </a:solidFill>
              </a:defRPr>
            </a:pPr>
            <a:r>
              <a:t>Choosing the Right Model</a:t>
            </a:r>
          </a:p>
        </p:txBody>
      </p:sp>
      <p:sp>
        <p:nvSpPr>
          <p:cNvPr id="3" name="TextBox 2"/>
          <p:cNvSpPr txBox="1"/>
          <p:nvPr/>
        </p:nvSpPr>
        <p:spPr>
          <a:xfrm>
            <a:off x="457200" y="621792"/>
            <a:ext cx="11155680" cy="320040"/>
          </a:xfrm>
          <a:prstGeom prst="rect">
            <a:avLst/>
          </a:prstGeom>
          <a:noFill/>
        </p:spPr>
        <p:txBody>
          <a:bodyPr wrap="square" lIns="45720" tIns="18288" rIns="45720" bIns="18288">
            <a:spAutoFit/>
          </a:bodyPr>
          <a:lstStyle/>
          <a:p>
            <a:pPr algn="ctr">
              <a:defRPr sz="1100" b="0">
                <a:solidFill>
                  <a:srgbClr val="666666"/>
                </a:solidFill>
              </a:defRPr>
            </a:pPr>
            <a:r>
              <a:t>Start with a baseline, then increase complexity only when evidence supports it</a:t>
            </a:r>
          </a:p>
        </p:txBody>
      </p:sp>
      <p:sp>
        <p:nvSpPr>
          <p:cNvPr id="4" name="Rounded Rectangle 3"/>
          <p:cNvSpPr/>
          <p:nvPr/>
        </p:nvSpPr>
        <p:spPr>
          <a:xfrm>
            <a:off x="548640" y="1508760"/>
            <a:ext cx="3200400" cy="777240"/>
          </a:xfrm>
          <a:prstGeom prst="roundRect">
            <a:avLst/>
          </a:prstGeom>
          <a:solidFill>
            <a:srgbClr val="CFE2F3"/>
          </a:solidFill>
          <a:ln w="15875">
            <a:solidFill>
              <a:srgbClr val="3D85C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500" b="1">
                <a:solidFill>
                  <a:srgbClr val="282828"/>
                </a:solidFill>
              </a:defRPr>
            </a:pPr>
            <a:r>
              <a:t>Structured / tabular data</a:t>
            </a:r>
          </a:p>
        </p:txBody>
      </p:sp>
      <p:sp>
        <p:nvSpPr>
          <p:cNvPr id="5" name="Rounded Rectangle 4"/>
          <p:cNvSpPr/>
          <p:nvPr/>
        </p:nvSpPr>
        <p:spPr>
          <a:xfrm>
            <a:off x="4480560" y="1508760"/>
            <a:ext cx="3200400" cy="777240"/>
          </a:xfrm>
          <a:prstGeom prst="roundRect">
            <a:avLst/>
          </a:prstGeom>
          <a:solidFill>
            <a:srgbClr val="D9D2E9"/>
          </a:solidFill>
          <a:ln w="15875">
            <a:solidFill>
              <a:srgbClr val="8E7CC3"/>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500" b="1">
                <a:solidFill>
                  <a:srgbClr val="282828"/>
                </a:solidFill>
              </a:defRPr>
            </a:pPr>
            <a:r>
              <a:t>Text / sequences</a:t>
            </a:r>
          </a:p>
        </p:txBody>
      </p:sp>
      <p:sp>
        <p:nvSpPr>
          <p:cNvPr id="6" name="Rounded Rectangle 5"/>
          <p:cNvSpPr/>
          <p:nvPr/>
        </p:nvSpPr>
        <p:spPr>
          <a:xfrm>
            <a:off x="8412480" y="1508760"/>
            <a:ext cx="3200400" cy="777240"/>
          </a:xfrm>
          <a:prstGeom prst="roundRect">
            <a:avLst/>
          </a:prstGeom>
          <a:solidFill>
            <a:srgbClr val="D9EAD3"/>
          </a:solidFill>
          <a:ln w="15875">
            <a:solidFill>
              <a:srgbClr val="6AA84F"/>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500" b="1">
                <a:solidFill>
                  <a:srgbClr val="282828"/>
                </a:solidFill>
              </a:defRPr>
            </a:pPr>
            <a:r>
              <a:t>Images / spatial data</a:t>
            </a:r>
          </a:p>
        </p:txBody>
      </p:sp>
      <p:sp>
        <p:nvSpPr>
          <p:cNvPr id="7" name="Rounded Rectangle 6"/>
          <p:cNvSpPr/>
          <p:nvPr/>
        </p:nvSpPr>
        <p:spPr>
          <a:xfrm>
            <a:off x="731520" y="2651760"/>
            <a:ext cx="1234440" cy="502920"/>
          </a:xfrm>
          <a:prstGeom prst="roundRect">
            <a:avLst/>
          </a:prstGeom>
          <a:solidFill>
            <a:srgbClr val="CFE2F3"/>
          </a:solidFill>
          <a:ln w="15875">
            <a:solidFill>
              <a:srgbClr val="3D85C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100" b="1">
                <a:solidFill>
                  <a:srgbClr val="282828"/>
                </a:solidFill>
              </a:defRPr>
            </a:pPr>
            <a:r>
              <a:t>Baseline</a:t>
            </a:r>
          </a:p>
        </p:txBody>
      </p:sp>
      <p:sp>
        <p:nvSpPr>
          <p:cNvPr id="8" name="Rounded Rectangle 7"/>
          <p:cNvSpPr/>
          <p:nvPr/>
        </p:nvSpPr>
        <p:spPr>
          <a:xfrm>
            <a:off x="2103120" y="2651760"/>
            <a:ext cx="1554480" cy="502920"/>
          </a:xfrm>
          <a:prstGeom prst="roundRect">
            <a:avLst/>
          </a:prstGeom>
          <a:solidFill>
            <a:srgbClr val="F2F2F2"/>
          </a:solidFill>
          <a:ln w="15875">
            <a:solidFill>
              <a:srgbClr val="66666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000" b="0">
                <a:solidFill>
                  <a:srgbClr val="282828"/>
                </a:solidFill>
              </a:defRPr>
            </a:pPr>
            <a:r>
              <a:t>Linear / logistic</a:t>
            </a:r>
          </a:p>
        </p:txBody>
      </p:sp>
      <p:cxnSp>
        <p:nvCxnSpPr>
          <p:cNvPr id="9" name="Connector 8"/>
          <p:cNvCxnSpPr/>
          <p:nvPr/>
        </p:nvCxnSpPr>
        <p:spPr>
          <a:xfrm>
            <a:off x="1965960" y="2907791"/>
            <a:ext cx="137160"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31520" y="3401568"/>
            <a:ext cx="1234440" cy="502920"/>
          </a:xfrm>
          <a:prstGeom prst="roundRect">
            <a:avLst/>
          </a:prstGeom>
          <a:solidFill>
            <a:srgbClr val="CFE2F3"/>
          </a:solidFill>
          <a:ln w="15875">
            <a:solidFill>
              <a:srgbClr val="3D85C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100" b="1">
                <a:solidFill>
                  <a:srgbClr val="282828"/>
                </a:solidFill>
              </a:defRPr>
            </a:pPr>
            <a:r>
              <a:t>Non-linear</a:t>
            </a:r>
          </a:p>
        </p:txBody>
      </p:sp>
      <p:sp>
        <p:nvSpPr>
          <p:cNvPr id="11" name="Rounded Rectangle 10"/>
          <p:cNvSpPr/>
          <p:nvPr/>
        </p:nvSpPr>
        <p:spPr>
          <a:xfrm>
            <a:off x="2103120" y="3401568"/>
            <a:ext cx="1554480" cy="502920"/>
          </a:xfrm>
          <a:prstGeom prst="roundRect">
            <a:avLst/>
          </a:prstGeom>
          <a:solidFill>
            <a:srgbClr val="F2F2F2"/>
          </a:solidFill>
          <a:ln w="15875">
            <a:solidFill>
              <a:srgbClr val="66666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000" b="0">
                <a:solidFill>
                  <a:srgbClr val="282828"/>
                </a:solidFill>
              </a:defRPr>
            </a:pPr>
            <a:r>
              <a:t>Tree / random forest</a:t>
            </a:r>
          </a:p>
        </p:txBody>
      </p:sp>
      <p:cxnSp>
        <p:nvCxnSpPr>
          <p:cNvPr id="12" name="Connector 11"/>
          <p:cNvCxnSpPr/>
          <p:nvPr/>
        </p:nvCxnSpPr>
        <p:spPr>
          <a:xfrm>
            <a:off x="1965960" y="3657600"/>
            <a:ext cx="137160"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1520" y="4151376"/>
            <a:ext cx="1234440" cy="502920"/>
          </a:xfrm>
          <a:prstGeom prst="roundRect">
            <a:avLst/>
          </a:prstGeom>
          <a:solidFill>
            <a:srgbClr val="CFE2F3"/>
          </a:solidFill>
          <a:ln w="15875">
            <a:solidFill>
              <a:srgbClr val="3D85C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100" b="1">
                <a:solidFill>
                  <a:srgbClr val="282828"/>
                </a:solidFill>
              </a:defRPr>
            </a:pPr>
            <a:r>
              <a:t>Boosting</a:t>
            </a:r>
          </a:p>
        </p:txBody>
      </p:sp>
      <p:sp>
        <p:nvSpPr>
          <p:cNvPr id="14" name="Rounded Rectangle 13"/>
          <p:cNvSpPr/>
          <p:nvPr/>
        </p:nvSpPr>
        <p:spPr>
          <a:xfrm>
            <a:off x="2103120" y="4151376"/>
            <a:ext cx="1554480" cy="502920"/>
          </a:xfrm>
          <a:prstGeom prst="roundRect">
            <a:avLst/>
          </a:prstGeom>
          <a:solidFill>
            <a:srgbClr val="F2F2F2"/>
          </a:solidFill>
          <a:ln w="15875">
            <a:solidFill>
              <a:srgbClr val="66666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000" b="0">
                <a:solidFill>
                  <a:srgbClr val="282828"/>
                </a:solidFill>
              </a:defRPr>
            </a:pPr>
            <a:r>
              <a:t>XGBoost / LightGBM</a:t>
            </a:r>
          </a:p>
        </p:txBody>
      </p:sp>
      <p:cxnSp>
        <p:nvCxnSpPr>
          <p:cNvPr id="15" name="Connector 14"/>
          <p:cNvCxnSpPr/>
          <p:nvPr/>
        </p:nvCxnSpPr>
        <p:spPr>
          <a:xfrm>
            <a:off x="1965960" y="4407408"/>
            <a:ext cx="137160"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663440" y="2651760"/>
            <a:ext cx="1234440" cy="502920"/>
          </a:xfrm>
          <a:prstGeom prst="roundRect">
            <a:avLst/>
          </a:prstGeom>
          <a:solidFill>
            <a:srgbClr val="D9D2E9"/>
          </a:solidFill>
          <a:ln w="15875">
            <a:solidFill>
              <a:srgbClr val="8E7CC3"/>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100" b="1">
                <a:solidFill>
                  <a:srgbClr val="282828"/>
                </a:solidFill>
              </a:defRPr>
            </a:pPr>
            <a:r>
              <a:t>Baseline</a:t>
            </a:r>
          </a:p>
        </p:txBody>
      </p:sp>
      <p:sp>
        <p:nvSpPr>
          <p:cNvPr id="17" name="Rounded Rectangle 16"/>
          <p:cNvSpPr/>
          <p:nvPr/>
        </p:nvSpPr>
        <p:spPr>
          <a:xfrm>
            <a:off x="6035040" y="2651760"/>
            <a:ext cx="1554480" cy="502920"/>
          </a:xfrm>
          <a:prstGeom prst="roundRect">
            <a:avLst/>
          </a:prstGeom>
          <a:solidFill>
            <a:srgbClr val="F2F2F2"/>
          </a:solidFill>
          <a:ln w="15875">
            <a:solidFill>
              <a:srgbClr val="66666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000" b="0">
                <a:solidFill>
                  <a:srgbClr val="282828"/>
                </a:solidFill>
              </a:defRPr>
            </a:pPr>
            <a:r>
              <a:t>TF-IDF + linear</a:t>
            </a:r>
          </a:p>
        </p:txBody>
      </p:sp>
      <p:cxnSp>
        <p:nvCxnSpPr>
          <p:cNvPr id="18" name="Connector 17"/>
          <p:cNvCxnSpPr/>
          <p:nvPr/>
        </p:nvCxnSpPr>
        <p:spPr>
          <a:xfrm>
            <a:off x="5897879" y="2907791"/>
            <a:ext cx="137161"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663440" y="3401568"/>
            <a:ext cx="1234440" cy="502920"/>
          </a:xfrm>
          <a:prstGeom prst="roundRect">
            <a:avLst/>
          </a:prstGeom>
          <a:solidFill>
            <a:srgbClr val="D9D2E9"/>
          </a:solidFill>
          <a:ln w="15875">
            <a:solidFill>
              <a:srgbClr val="8E7CC3"/>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100" b="1">
                <a:solidFill>
                  <a:srgbClr val="282828"/>
                </a:solidFill>
              </a:defRPr>
            </a:pPr>
            <a:r>
              <a:t>Sequence model</a:t>
            </a:r>
          </a:p>
        </p:txBody>
      </p:sp>
      <p:sp>
        <p:nvSpPr>
          <p:cNvPr id="20" name="Rounded Rectangle 19"/>
          <p:cNvSpPr/>
          <p:nvPr/>
        </p:nvSpPr>
        <p:spPr>
          <a:xfrm>
            <a:off x="6035040" y="3401568"/>
            <a:ext cx="1554480" cy="502920"/>
          </a:xfrm>
          <a:prstGeom prst="roundRect">
            <a:avLst/>
          </a:prstGeom>
          <a:solidFill>
            <a:srgbClr val="F2F2F2"/>
          </a:solidFill>
          <a:ln w="15875">
            <a:solidFill>
              <a:srgbClr val="66666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000" b="0">
                <a:solidFill>
                  <a:srgbClr val="282828"/>
                </a:solidFill>
              </a:defRPr>
            </a:pPr>
            <a:r>
              <a:t>RNN / LSTM</a:t>
            </a:r>
          </a:p>
        </p:txBody>
      </p:sp>
      <p:cxnSp>
        <p:nvCxnSpPr>
          <p:cNvPr id="21" name="Connector 20"/>
          <p:cNvCxnSpPr/>
          <p:nvPr/>
        </p:nvCxnSpPr>
        <p:spPr>
          <a:xfrm>
            <a:off x="5897879" y="3657600"/>
            <a:ext cx="137161"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663440" y="4151376"/>
            <a:ext cx="1234440" cy="502920"/>
          </a:xfrm>
          <a:prstGeom prst="roundRect">
            <a:avLst/>
          </a:prstGeom>
          <a:solidFill>
            <a:srgbClr val="D9D2E9"/>
          </a:solidFill>
          <a:ln w="15875">
            <a:solidFill>
              <a:srgbClr val="8E7CC3"/>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100" b="1">
                <a:solidFill>
                  <a:srgbClr val="282828"/>
                </a:solidFill>
              </a:defRPr>
            </a:pPr>
            <a:r>
              <a:t>Context model</a:t>
            </a:r>
          </a:p>
        </p:txBody>
      </p:sp>
      <p:sp>
        <p:nvSpPr>
          <p:cNvPr id="23" name="Rounded Rectangle 22"/>
          <p:cNvSpPr/>
          <p:nvPr/>
        </p:nvSpPr>
        <p:spPr>
          <a:xfrm>
            <a:off x="6035040" y="4151376"/>
            <a:ext cx="1554480" cy="502920"/>
          </a:xfrm>
          <a:prstGeom prst="roundRect">
            <a:avLst/>
          </a:prstGeom>
          <a:solidFill>
            <a:srgbClr val="F2F2F2"/>
          </a:solidFill>
          <a:ln w="15875">
            <a:solidFill>
              <a:srgbClr val="66666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000" b="0">
                <a:solidFill>
                  <a:srgbClr val="282828"/>
                </a:solidFill>
              </a:defRPr>
            </a:pPr>
            <a:r>
              <a:t>Transformer</a:t>
            </a:r>
          </a:p>
        </p:txBody>
      </p:sp>
      <p:cxnSp>
        <p:nvCxnSpPr>
          <p:cNvPr id="24" name="Connector 23"/>
          <p:cNvCxnSpPr/>
          <p:nvPr/>
        </p:nvCxnSpPr>
        <p:spPr>
          <a:xfrm>
            <a:off x="5897879" y="4407408"/>
            <a:ext cx="137161"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595360" y="2651760"/>
            <a:ext cx="1234440" cy="502920"/>
          </a:xfrm>
          <a:prstGeom prst="roundRect">
            <a:avLst/>
          </a:prstGeom>
          <a:solidFill>
            <a:srgbClr val="D9EAD3"/>
          </a:solidFill>
          <a:ln w="15875">
            <a:solidFill>
              <a:srgbClr val="6AA84F"/>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100" b="1">
                <a:solidFill>
                  <a:srgbClr val="282828"/>
                </a:solidFill>
              </a:defRPr>
            </a:pPr>
            <a:r>
              <a:t>Baseline</a:t>
            </a:r>
          </a:p>
        </p:txBody>
      </p:sp>
      <p:sp>
        <p:nvSpPr>
          <p:cNvPr id="26" name="Rounded Rectangle 25"/>
          <p:cNvSpPr/>
          <p:nvPr/>
        </p:nvSpPr>
        <p:spPr>
          <a:xfrm>
            <a:off x="9966960" y="2651760"/>
            <a:ext cx="1554480" cy="502920"/>
          </a:xfrm>
          <a:prstGeom prst="roundRect">
            <a:avLst/>
          </a:prstGeom>
          <a:solidFill>
            <a:srgbClr val="F2F2F2"/>
          </a:solidFill>
          <a:ln w="15875">
            <a:solidFill>
              <a:srgbClr val="66666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000" b="0">
                <a:solidFill>
                  <a:srgbClr val="282828"/>
                </a:solidFill>
              </a:defRPr>
            </a:pPr>
            <a:r>
              <a:t>Flatten + dense</a:t>
            </a:r>
          </a:p>
        </p:txBody>
      </p:sp>
      <p:cxnSp>
        <p:nvCxnSpPr>
          <p:cNvPr id="27" name="Connector 26"/>
          <p:cNvCxnSpPr/>
          <p:nvPr/>
        </p:nvCxnSpPr>
        <p:spPr>
          <a:xfrm>
            <a:off x="9829800" y="2907791"/>
            <a:ext cx="137160"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595360" y="3401568"/>
            <a:ext cx="1234440" cy="502920"/>
          </a:xfrm>
          <a:prstGeom prst="roundRect">
            <a:avLst/>
          </a:prstGeom>
          <a:solidFill>
            <a:srgbClr val="D9EAD3"/>
          </a:solidFill>
          <a:ln w="15875">
            <a:solidFill>
              <a:srgbClr val="6AA84F"/>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100" b="1">
                <a:solidFill>
                  <a:srgbClr val="282828"/>
                </a:solidFill>
              </a:defRPr>
            </a:pPr>
            <a:r>
              <a:t>Local patterns</a:t>
            </a:r>
          </a:p>
        </p:txBody>
      </p:sp>
      <p:sp>
        <p:nvSpPr>
          <p:cNvPr id="29" name="Rounded Rectangle 28"/>
          <p:cNvSpPr/>
          <p:nvPr/>
        </p:nvSpPr>
        <p:spPr>
          <a:xfrm>
            <a:off x="9966960" y="3401568"/>
            <a:ext cx="1554480" cy="502920"/>
          </a:xfrm>
          <a:prstGeom prst="roundRect">
            <a:avLst/>
          </a:prstGeom>
          <a:solidFill>
            <a:srgbClr val="F2F2F2"/>
          </a:solidFill>
          <a:ln w="15875">
            <a:solidFill>
              <a:srgbClr val="66666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000" b="0">
                <a:solidFill>
                  <a:srgbClr val="282828"/>
                </a:solidFill>
              </a:defRPr>
            </a:pPr>
            <a:r>
              <a:t>CNN</a:t>
            </a:r>
          </a:p>
        </p:txBody>
      </p:sp>
      <p:cxnSp>
        <p:nvCxnSpPr>
          <p:cNvPr id="30" name="Connector 29"/>
          <p:cNvCxnSpPr/>
          <p:nvPr/>
        </p:nvCxnSpPr>
        <p:spPr>
          <a:xfrm>
            <a:off x="9829800" y="3657600"/>
            <a:ext cx="137160"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595360" y="4151376"/>
            <a:ext cx="1234440" cy="502920"/>
          </a:xfrm>
          <a:prstGeom prst="roundRect">
            <a:avLst/>
          </a:prstGeom>
          <a:solidFill>
            <a:srgbClr val="D9EAD3"/>
          </a:solidFill>
          <a:ln w="15875">
            <a:solidFill>
              <a:srgbClr val="6AA84F"/>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100" b="1">
                <a:solidFill>
                  <a:srgbClr val="282828"/>
                </a:solidFill>
              </a:defRPr>
            </a:pPr>
            <a:r>
              <a:t>Large-scale</a:t>
            </a:r>
          </a:p>
        </p:txBody>
      </p:sp>
      <p:sp>
        <p:nvSpPr>
          <p:cNvPr id="32" name="Rounded Rectangle 31"/>
          <p:cNvSpPr/>
          <p:nvPr/>
        </p:nvSpPr>
        <p:spPr>
          <a:xfrm>
            <a:off x="9966960" y="4151376"/>
            <a:ext cx="1554480" cy="502920"/>
          </a:xfrm>
          <a:prstGeom prst="roundRect">
            <a:avLst/>
          </a:prstGeom>
          <a:solidFill>
            <a:srgbClr val="F2F2F2"/>
          </a:solidFill>
          <a:ln w="15875">
            <a:solidFill>
              <a:srgbClr val="66666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000" b="0">
                <a:solidFill>
                  <a:srgbClr val="282828"/>
                </a:solidFill>
              </a:defRPr>
            </a:pPr>
            <a:r>
              <a:t>Vision Transformer</a:t>
            </a:r>
          </a:p>
        </p:txBody>
      </p:sp>
      <p:cxnSp>
        <p:nvCxnSpPr>
          <p:cNvPr id="33" name="Connector 32"/>
          <p:cNvCxnSpPr/>
          <p:nvPr/>
        </p:nvCxnSpPr>
        <p:spPr>
          <a:xfrm>
            <a:off x="9829800" y="4407408"/>
            <a:ext cx="137160" cy="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14400" y="5166360"/>
            <a:ext cx="10332720" cy="411480"/>
          </a:xfrm>
          <a:prstGeom prst="rect">
            <a:avLst/>
          </a:prstGeom>
          <a:noFill/>
        </p:spPr>
        <p:txBody>
          <a:bodyPr wrap="square" lIns="45720" tIns="18288" rIns="45720" bIns="18288">
            <a:spAutoFit/>
          </a:bodyPr>
          <a:lstStyle/>
          <a:p>
            <a:pPr algn="ctr">
              <a:defRPr sz="1300" b="1">
                <a:solidFill>
                  <a:srgbClr val="234069"/>
                </a:solidFill>
              </a:defRPr>
            </a:pPr>
            <a:r>
              <a:t>Compare on the same split and metric; account for latency, interpretability, cost, and maintenance.</a:t>
            </a:r>
          </a:p>
        </p:txBody>
      </p:sp>
      <p:sp>
        <p:nvSpPr>
          <p:cNvPr id="35" name="Rounded Rectangle 34"/>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11430000" cy="457200"/>
          </a:xfrm>
          <a:prstGeom prst="rect">
            <a:avLst/>
          </a:prstGeom>
          <a:noFill/>
        </p:spPr>
        <p:txBody>
          <a:bodyPr wrap="square" lIns="45720" tIns="18288" rIns="45720" bIns="18288">
            <a:spAutoFit/>
          </a:bodyPr>
          <a:lstStyle/>
          <a:p>
            <a:pPr algn="ctr">
              <a:defRPr sz="2600" b="1">
                <a:solidFill>
                  <a:srgbClr val="234069"/>
                </a:solidFill>
              </a:defRPr>
            </a:pPr>
            <a:r>
              <a:t>Classification Evaluation: Confusion Matrix to Metrics</a:t>
            </a:r>
          </a:p>
        </p:txBody>
      </p:sp>
      <p:sp>
        <p:nvSpPr>
          <p:cNvPr id="3" name="TextBox 2"/>
          <p:cNvSpPr txBox="1"/>
          <p:nvPr/>
        </p:nvSpPr>
        <p:spPr>
          <a:xfrm>
            <a:off x="457200" y="621792"/>
            <a:ext cx="11155680" cy="320040"/>
          </a:xfrm>
          <a:prstGeom prst="rect">
            <a:avLst/>
          </a:prstGeom>
          <a:noFill/>
        </p:spPr>
        <p:txBody>
          <a:bodyPr wrap="square" lIns="45720" tIns="18288" rIns="45720" bIns="18288">
            <a:spAutoFit/>
          </a:bodyPr>
          <a:lstStyle/>
          <a:p>
            <a:pPr algn="ctr">
              <a:defRPr sz="1100" b="0">
                <a:solidFill>
                  <a:srgbClr val="666666"/>
                </a:solidFill>
              </a:defRPr>
            </a:pPr>
            <a:r>
              <a:t>Illustrative binary classifier; rows are actual labels and columns are predicted labels</a:t>
            </a:r>
          </a:p>
        </p:txBody>
      </p:sp>
      <p:sp>
        <p:nvSpPr>
          <p:cNvPr id="4" name="TextBox 3"/>
          <p:cNvSpPr txBox="1"/>
          <p:nvPr/>
        </p:nvSpPr>
        <p:spPr>
          <a:xfrm>
            <a:off x="3840480" y="1234440"/>
            <a:ext cx="4297680" cy="320040"/>
          </a:xfrm>
          <a:prstGeom prst="rect">
            <a:avLst/>
          </a:prstGeom>
          <a:noFill/>
        </p:spPr>
        <p:txBody>
          <a:bodyPr wrap="square" lIns="45720" tIns="18288" rIns="45720" bIns="18288">
            <a:spAutoFit/>
          </a:bodyPr>
          <a:lstStyle/>
          <a:p>
            <a:pPr algn="ctr">
              <a:defRPr sz="1300" b="1">
                <a:solidFill>
                  <a:srgbClr val="234069"/>
                </a:solidFill>
              </a:defRPr>
            </a:pPr>
            <a:r>
              <a:t>PREDICTED</a:t>
            </a:r>
          </a:p>
        </p:txBody>
      </p:sp>
      <p:sp>
        <p:nvSpPr>
          <p:cNvPr id="5" name="TextBox 4"/>
          <p:cNvSpPr txBox="1"/>
          <p:nvPr/>
        </p:nvSpPr>
        <p:spPr>
          <a:xfrm>
            <a:off x="2331720" y="1828800"/>
            <a:ext cx="1371600" cy="320040"/>
          </a:xfrm>
          <a:prstGeom prst="rect">
            <a:avLst/>
          </a:prstGeom>
          <a:noFill/>
        </p:spPr>
        <p:txBody>
          <a:bodyPr wrap="square" lIns="45720" tIns="18288" rIns="45720" bIns="18288">
            <a:spAutoFit/>
          </a:bodyPr>
          <a:lstStyle/>
          <a:p>
            <a:pPr algn="ctr">
              <a:defRPr sz="1100" b="1">
                <a:solidFill>
                  <a:srgbClr val="666666"/>
                </a:solidFill>
              </a:defRPr>
            </a:pPr>
            <a:r>
              <a:t>Positive</a:t>
            </a:r>
          </a:p>
        </p:txBody>
      </p:sp>
      <p:sp>
        <p:nvSpPr>
          <p:cNvPr id="6" name="TextBox 5"/>
          <p:cNvSpPr txBox="1"/>
          <p:nvPr/>
        </p:nvSpPr>
        <p:spPr>
          <a:xfrm>
            <a:off x="3840480" y="1828800"/>
            <a:ext cx="1371600" cy="320040"/>
          </a:xfrm>
          <a:prstGeom prst="rect">
            <a:avLst/>
          </a:prstGeom>
          <a:noFill/>
        </p:spPr>
        <p:txBody>
          <a:bodyPr wrap="square" lIns="45720" tIns="18288" rIns="45720" bIns="18288">
            <a:spAutoFit/>
          </a:bodyPr>
          <a:lstStyle/>
          <a:p>
            <a:pPr algn="ctr">
              <a:defRPr sz="1100" b="1">
                <a:solidFill>
                  <a:srgbClr val="666666"/>
                </a:solidFill>
              </a:defRPr>
            </a:pPr>
            <a:r>
              <a:t>Negative</a:t>
            </a:r>
          </a:p>
        </p:txBody>
      </p:sp>
      <p:sp>
        <p:nvSpPr>
          <p:cNvPr id="7" name="TextBox 6"/>
          <p:cNvSpPr txBox="1"/>
          <p:nvPr/>
        </p:nvSpPr>
        <p:spPr>
          <a:xfrm>
            <a:off x="411480" y="2560320"/>
            <a:ext cx="1371600" cy="457200"/>
          </a:xfrm>
          <a:prstGeom prst="rect">
            <a:avLst/>
          </a:prstGeom>
          <a:noFill/>
        </p:spPr>
        <p:txBody>
          <a:bodyPr wrap="square" lIns="45720" tIns="18288" rIns="45720" bIns="18288">
            <a:spAutoFit/>
          </a:bodyPr>
          <a:lstStyle/>
          <a:p>
            <a:pPr algn="ctr">
              <a:defRPr sz="1100" b="1">
                <a:solidFill>
                  <a:srgbClr val="666666"/>
                </a:solidFill>
              </a:defRPr>
            </a:pPr>
            <a:r>
              <a:t>Actual</a:t>
            </a:r>
            <a:br/>
            <a:r>
              <a:t>Positive</a:t>
            </a:r>
          </a:p>
        </p:txBody>
      </p:sp>
      <p:sp>
        <p:nvSpPr>
          <p:cNvPr id="8" name="TextBox 7"/>
          <p:cNvSpPr txBox="1"/>
          <p:nvPr/>
        </p:nvSpPr>
        <p:spPr>
          <a:xfrm>
            <a:off x="411480" y="3657600"/>
            <a:ext cx="1371600" cy="457200"/>
          </a:xfrm>
          <a:prstGeom prst="rect">
            <a:avLst/>
          </a:prstGeom>
          <a:noFill/>
        </p:spPr>
        <p:txBody>
          <a:bodyPr wrap="square" lIns="45720" tIns="18288" rIns="45720" bIns="18288">
            <a:spAutoFit/>
          </a:bodyPr>
          <a:lstStyle/>
          <a:p>
            <a:pPr algn="ctr">
              <a:defRPr sz="1100" b="1">
                <a:solidFill>
                  <a:srgbClr val="666666"/>
                </a:solidFill>
              </a:defRPr>
            </a:pPr>
            <a:r>
              <a:t>Actual</a:t>
            </a:r>
            <a:br/>
            <a:r>
              <a:t>Negative</a:t>
            </a:r>
          </a:p>
        </p:txBody>
      </p:sp>
      <p:sp>
        <p:nvSpPr>
          <p:cNvPr id="9" name="Rounded Rectangle 8"/>
          <p:cNvSpPr/>
          <p:nvPr/>
        </p:nvSpPr>
        <p:spPr>
          <a:xfrm>
            <a:off x="2240280" y="2240280"/>
            <a:ext cx="1600200" cy="914400"/>
          </a:xfrm>
          <a:prstGeom prst="roundRect">
            <a:avLst/>
          </a:prstGeom>
          <a:solidFill>
            <a:srgbClr val="D9EAD3"/>
          </a:solidFill>
          <a:ln w="15875">
            <a:solidFill>
              <a:srgbClr val="6AA84F"/>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400" b="1">
                <a:solidFill>
                  <a:srgbClr val="282828"/>
                </a:solidFill>
              </a:defRPr>
            </a:pPr>
            <a:r>
              <a:t>True Positive</a:t>
            </a:r>
            <a:br/>
            <a:r>
              <a:t>(TP)</a:t>
            </a:r>
          </a:p>
        </p:txBody>
      </p:sp>
      <p:sp>
        <p:nvSpPr>
          <p:cNvPr id="10" name="Rounded Rectangle 9"/>
          <p:cNvSpPr/>
          <p:nvPr/>
        </p:nvSpPr>
        <p:spPr>
          <a:xfrm>
            <a:off x="3840480" y="2240280"/>
            <a:ext cx="1600200" cy="914400"/>
          </a:xfrm>
          <a:prstGeom prst="roundRect">
            <a:avLst/>
          </a:prstGeom>
          <a:solidFill>
            <a:srgbClr val="F4CCCC"/>
          </a:solidFill>
          <a:ln w="15875">
            <a:solidFill>
              <a:srgbClr val="CC4125"/>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300" b="1">
                <a:solidFill>
                  <a:srgbClr val="282828"/>
                </a:solidFill>
              </a:defRPr>
            </a:pPr>
            <a:r>
              <a:t>False Negative</a:t>
            </a:r>
            <a:br/>
            <a:r>
              <a:t>(FN)</a:t>
            </a:r>
          </a:p>
        </p:txBody>
      </p:sp>
      <p:sp>
        <p:nvSpPr>
          <p:cNvPr id="11" name="Rounded Rectangle 10"/>
          <p:cNvSpPr/>
          <p:nvPr/>
        </p:nvSpPr>
        <p:spPr>
          <a:xfrm>
            <a:off x="2240280" y="3383280"/>
            <a:ext cx="1600200" cy="914400"/>
          </a:xfrm>
          <a:prstGeom prst="roundRect">
            <a:avLst/>
          </a:prstGeom>
          <a:solidFill>
            <a:srgbClr val="F4CCCC"/>
          </a:solidFill>
          <a:ln w="15875">
            <a:solidFill>
              <a:srgbClr val="CC4125"/>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300" b="1">
                <a:solidFill>
                  <a:srgbClr val="282828"/>
                </a:solidFill>
              </a:defRPr>
            </a:pPr>
            <a:r>
              <a:t>False Positive</a:t>
            </a:r>
            <a:br/>
            <a:r>
              <a:t>(FP)</a:t>
            </a:r>
          </a:p>
        </p:txBody>
      </p:sp>
      <p:sp>
        <p:nvSpPr>
          <p:cNvPr id="12" name="Rounded Rectangle 11"/>
          <p:cNvSpPr/>
          <p:nvPr/>
        </p:nvSpPr>
        <p:spPr>
          <a:xfrm>
            <a:off x="3840480" y="3383280"/>
            <a:ext cx="1600200" cy="914400"/>
          </a:xfrm>
          <a:prstGeom prst="roundRect">
            <a:avLst/>
          </a:prstGeom>
          <a:solidFill>
            <a:srgbClr val="D9EAD3"/>
          </a:solidFill>
          <a:ln w="15875">
            <a:solidFill>
              <a:srgbClr val="6AA84F"/>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400" b="1">
                <a:solidFill>
                  <a:srgbClr val="282828"/>
                </a:solidFill>
              </a:defRPr>
            </a:pPr>
            <a:r>
              <a:t>True Negative</a:t>
            </a:r>
            <a:br/>
            <a:r>
              <a:t>(TN)</a:t>
            </a:r>
          </a:p>
        </p:txBody>
      </p:sp>
      <p:sp>
        <p:nvSpPr>
          <p:cNvPr id="13" name="Rounded Rectangle 12"/>
          <p:cNvSpPr/>
          <p:nvPr/>
        </p:nvSpPr>
        <p:spPr>
          <a:xfrm>
            <a:off x="6492240" y="1645920"/>
            <a:ext cx="4663440" cy="685800"/>
          </a:xfrm>
          <a:prstGeom prst="roundRect">
            <a:avLst/>
          </a:prstGeom>
          <a:solidFill>
            <a:srgbClr val="CFE2F3"/>
          </a:solidFill>
          <a:ln w="15875">
            <a:solidFill>
              <a:srgbClr val="3D85C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400" b="1">
                <a:solidFill>
                  <a:srgbClr val="282828"/>
                </a:solidFill>
              </a:defRPr>
            </a:pPr>
            <a:r>
              <a:t>Precision = TP / (TP + FP)</a:t>
            </a:r>
          </a:p>
        </p:txBody>
      </p:sp>
      <p:sp>
        <p:nvSpPr>
          <p:cNvPr id="14" name="Rounded Rectangle 13"/>
          <p:cNvSpPr/>
          <p:nvPr/>
        </p:nvSpPr>
        <p:spPr>
          <a:xfrm>
            <a:off x="6492240" y="2560320"/>
            <a:ext cx="4663440" cy="685800"/>
          </a:xfrm>
          <a:prstGeom prst="roundRect">
            <a:avLst/>
          </a:prstGeom>
          <a:solidFill>
            <a:srgbClr val="CFE2F3"/>
          </a:solidFill>
          <a:ln w="15875">
            <a:solidFill>
              <a:srgbClr val="3D85C6"/>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400" b="1">
                <a:solidFill>
                  <a:srgbClr val="282828"/>
                </a:solidFill>
              </a:defRPr>
            </a:pPr>
            <a:r>
              <a:t>Recall = TP / (TP + FN)</a:t>
            </a:r>
          </a:p>
        </p:txBody>
      </p:sp>
      <p:sp>
        <p:nvSpPr>
          <p:cNvPr id="15" name="Rounded Rectangle 14"/>
          <p:cNvSpPr/>
          <p:nvPr/>
        </p:nvSpPr>
        <p:spPr>
          <a:xfrm>
            <a:off x="6492240" y="3474720"/>
            <a:ext cx="4663440" cy="685800"/>
          </a:xfrm>
          <a:prstGeom prst="roundRect">
            <a:avLst/>
          </a:prstGeom>
          <a:solidFill>
            <a:srgbClr val="D9D2E9"/>
          </a:solidFill>
          <a:ln w="15875">
            <a:solidFill>
              <a:srgbClr val="8E7CC3"/>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300" b="1">
                <a:solidFill>
                  <a:srgbClr val="282828"/>
                </a:solidFill>
              </a:defRPr>
            </a:pPr>
            <a:r>
              <a:t>F1 = harmonic mean of precision and recall</a:t>
            </a:r>
          </a:p>
        </p:txBody>
      </p:sp>
      <p:sp>
        <p:nvSpPr>
          <p:cNvPr id="16" name="Rounded Rectangle 15"/>
          <p:cNvSpPr/>
          <p:nvPr/>
        </p:nvSpPr>
        <p:spPr>
          <a:xfrm>
            <a:off x="6492240" y="4389120"/>
            <a:ext cx="4663440" cy="685800"/>
          </a:xfrm>
          <a:prstGeom prst="roundRect">
            <a:avLst/>
          </a:prstGeom>
          <a:solidFill>
            <a:srgbClr val="FFF2CC"/>
          </a:solidFill>
          <a:ln w="15875">
            <a:solidFill>
              <a:srgbClr val="F1C232"/>
            </a:solid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defRPr sz="1300" b="1">
                <a:solidFill>
                  <a:srgbClr val="282828"/>
                </a:solidFill>
              </a:defRPr>
            </a:pPr>
            <a:r>
              <a:t>Accuracy can mislead on imbalanced data</a:t>
            </a:r>
          </a:p>
        </p:txBody>
      </p:sp>
      <p:sp>
        <p:nvSpPr>
          <p:cNvPr id="17" name="TextBox 16"/>
          <p:cNvSpPr txBox="1"/>
          <p:nvPr/>
        </p:nvSpPr>
        <p:spPr>
          <a:xfrm>
            <a:off x="914400" y="5303520"/>
            <a:ext cx="10515600" cy="320040"/>
          </a:xfrm>
          <a:prstGeom prst="rect">
            <a:avLst/>
          </a:prstGeom>
          <a:noFill/>
        </p:spPr>
        <p:txBody>
          <a:bodyPr wrap="square" lIns="45720" tIns="18288" rIns="45720" bIns="18288">
            <a:spAutoFit/>
          </a:bodyPr>
          <a:lstStyle/>
          <a:p>
            <a:pPr algn="ctr">
              <a:defRPr sz="1300" b="1">
                <a:solidFill>
                  <a:srgbClr val="234069"/>
                </a:solidFill>
              </a:defRPr>
            </a:pPr>
            <a:r>
              <a:t>Choose metrics based on the cost of false positives vs false negatives.</a:t>
            </a:r>
          </a:p>
        </p:txBody>
      </p:sp>
      <p:sp>
        <p:nvSpPr>
          <p:cNvPr id="18" name="Rounded Rectangle 17"/>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64592"/>
            <a:ext cx="11338560" cy="502920"/>
          </a:xfrm>
          <a:prstGeom prst="rect">
            <a:avLst/>
          </a:prstGeom>
          <a:noFill/>
        </p:spPr>
        <p:txBody>
          <a:bodyPr wrap="square" anchor="ctr">
            <a:spAutoFit/>
          </a:bodyPr>
          <a:lstStyle/>
          <a:p>
            <a:pPr algn="ctr"/>
            <a:r>
              <a:rPr sz="2600" b="1">
                <a:solidFill>
                  <a:srgbClr val="1F375A"/>
                </a:solidFill>
                <a:latin typeface="Aptos"/>
              </a:rPr>
              <a:t>1. Supervised vs. Unsupervised vs. Reinforcement Learning</a:t>
            </a:r>
          </a:p>
        </p:txBody>
      </p:sp>
      <p:sp>
        <p:nvSpPr>
          <p:cNvPr id="3" name="TextBox 2"/>
          <p:cNvSpPr txBox="1"/>
          <p:nvPr/>
        </p:nvSpPr>
        <p:spPr>
          <a:xfrm>
            <a:off x="502920" y="658368"/>
            <a:ext cx="11155680" cy="347472"/>
          </a:xfrm>
          <a:prstGeom prst="rect">
            <a:avLst/>
          </a:prstGeom>
          <a:noFill/>
        </p:spPr>
        <p:txBody>
          <a:bodyPr wrap="square" anchor="ctr">
            <a:spAutoFit/>
          </a:bodyPr>
          <a:lstStyle/>
          <a:p>
            <a:pPr algn="ctr"/>
            <a:r>
              <a:rPr sz="1100" b="0">
                <a:solidFill>
                  <a:srgbClr val="697582"/>
                </a:solidFill>
                <a:latin typeface="Aptos"/>
              </a:rPr>
              <a:t>Choose the learning setup based on the feedback available to the model.</a:t>
            </a:r>
          </a:p>
        </p:txBody>
      </p:sp>
      <p:sp>
        <p:nvSpPr>
          <p:cNvPr id="4" name="Rounded Rectangle 3"/>
          <p:cNvSpPr/>
          <p:nvPr/>
        </p:nvSpPr>
        <p:spPr>
          <a:xfrm>
            <a:off x="594360" y="1417320"/>
            <a:ext cx="3246120" cy="502920"/>
          </a:xfrm>
          <a:prstGeom prst="roundRect">
            <a:avLst/>
          </a:prstGeom>
          <a:solidFill>
            <a:srgbClr val="4182BE"/>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700" b="1">
                <a:solidFill>
                  <a:srgbClr val="FFFFFF"/>
                </a:solidFill>
                <a:latin typeface="Aptos"/>
              </a:rPr>
              <a:t>SUPERVISED</a:t>
            </a:r>
          </a:p>
        </p:txBody>
      </p:sp>
      <p:sp>
        <p:nvSpPr>
          <p:cNvPr id="5" name="Rounded Rectangle 4"/>
          <p:cNvSpPr/>
          <p:nvPr/>
        </p:nvSpPr>
        <p:spPr>
          <a:xfrm>
            <a:off x="594360" y="2103120"/>
            <a:ext cx="3246120" cy="64008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a:solidFill>
                  <a:srgbClr val="2D343C"/>
                </a:solidFill>
                <a:latin typeface="Aptos"/>
              </a:rPr>
              <a:t>Labeled examples</a:t>
            </a:r>
          </a:p>
        </p:txBody>
      </p:sp>
      <p:cxnSp>
        <p:nvCxnSpPr>
          <p:cNvPr id="6" name="Connector 5"/>
          <p:cNvCxnSpPr/>
          <p:nvPr/>
        </p:nvCxnSpPr>
        <p:spPr>
          <a:xfrm>
            <a:off x="2221992" y="2743200"/>
            <a:ext cx="0" cy="347472"/>
          </a:xfrm>
          <a:prstGeom prst="line">
            <a:avLst/>
          </a:prstGeom>
          <a:ln w="22860">
            <a:solidFill>
              <a:srgbClr val="4182B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94360" y="3090672"/>
            <a:ext cx="3246120" cy="640080"/>
          </a:xfrm>
          <a:prstGeom prst="roundRect">
            <a:avLst/>
          </a:prstGeom>
          <a:solidFill>
            <a:srgbClr val="FFF7E0"/>
          </a:solidFill>
          <a:ln w="17780">
            <a:solidFill>
              <a:srgbClr val="E6AA2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2D343C"/>
                </a:solidFill>
                <a:latin typeface="Aptos"/>
              </a:rPr>
              <a:t>Predict a target</a:t>
            </a:r>
          </a:p>
        </p:txBody>
      </p:sp>
      <p:sp>
        <p:nvSpPr>
          <p:cNvPr id="8" name="Rounded Rectangle 7"/>
          <p:cNvSpPr/>
          <p:nvPr/>
        </p:nvSpPr>
        <p:spPr>
          <a:xfrm>
            <a:off x="594360" y="3977639"/>
            <a:ext cx="3246120" cy="960120"/>
          </a:xfrm>
          <a:prstGeom prst="roundRect">
            <a:avLst/>
          </a:prstGeom>
          <a:solidFill>
            <a:srgbClr val="FFFFFF"/>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2D343C"/>
                </a:solidFill>
                <a:latin typeface="Aptos"/>
              </a:rPr>
              <a:t>Spam detection
House prices</a:t>
            </a:r>
          </a:p>
        </p:txBody>
      </p:sp>
      <p:sp>
        <p:nvSpPr>
          <p:cNvPr id="9" name="Rounded Rectangle 8"/>
          <p:cNvSpPr/>
          <p:nvPr/>
        </p:nvSpPr>
        <p:spPr>
          <a:xfrm>
            <a:off x="4434840" y="1417320"/>
            <a:ext cx="3246120" cy="502920"/>
          </a:xfrm>
          <a:prstGeom prst="roundRect">
            <a:avLst/>
          </a:prstGeom>
          <a:solidFill>
            <a:srgbClr val="269691"/>
          </a:solidFill>
          <a:ln w="17780">
            <a:solidFill>
              <a:srgbClr val="26969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700" b="1">
                <a:solidFill>
                  <a:srgbClr val="FFFFFF"/>
                </a:solidFill>
                <a:latin typeface="Aptos"/>
              </a:rPr>
              <a:t>UNSUPERVISED</a:t>
            </a:r>
          </a:p>
        </p:txBody>
      </p:sp>
      <p:sp>
        <p:nvSpPr>
          <p:cNvPr id="10" name="Rounded Rectangle 9"/>
          <p:cNvSpPr/>
          <p:nvPr/>
        </p:nvSpPr>
        <p:spPr>
          <a:xfrm>
            <a:off x="4434840" y="2103120"/>
            <a:ext cx="3246120" cy="640080"/>
          </a:xfrm>
          <a:prstGeom prst="roundRect">
            <a:avLst/>
          </a:prstGeom>
          <a:solidFill>
            <a:srgbClr val="EFF5FA"/>
          </a:solidFill>
          <a:ln w="17780">
            <a:solidFill>
              <a:srgbClr val="26969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a:solidFill>
                  <a:srgbClr val="2D343C"/>
                </a:solidFill>
                <a:latin typeface="Aptos"/>
              </a:rPr>
              <a:t>Unlabeled data</a:t>
            </a:r>
          </a:p>
        </p:txBody>
      </p:sp>
      <p:cxnSp>
        <p:nvCxnSpPr>
          <p:cNvPr id="11" name="Connector 10"/>
          <p:cNvCxnSpPr/>
          <p:nvPr/>
        </p:nvCxnSpPr>
        <p:spPr>
          <a:xfrm>
            <a:off x="6062472" y="2743200"/>
            <a:ext cx="0" cy="347472"/>
          </a:xfrm>
          <a:prstGeom prst="line">
            <a:avLst/>
          </a:prstGeom>
          <a:ln w="22860">
            <a:solidFill>
              <a:srgbClr val="26969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434840" y="3090672"/>
            <a:ext cx="3246120" cy="640080"/>
          </a:xfrm>
          <a:prstGeom prst="roundRect">
            <a:avLst/>
          </a:prstGeom>
          <a:solidFill>
            <a:srgbClr val="FFF7E0"/>
          </a:solidFill>
          <a:ln w="17780">
            <a:solidFill>
              <a:srgbClr val="E6AA2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2D343C"/>
                </a:solidFill>
                <a:latin typeface="Aptos"/>
              </a:rPr>
              <a:t>Discover structure</a:t>
            </a:r>
          </a:p>
        </p:txBody>
      </p:sp>
      <p:sp>
        <p:nvSpPr>
          <p:cNvPr id="13" name="Rounded Rectangle 12"/>
          <p:cNvSpPr/>
          <p:nvPr/>
        </p:nvSpPr>
        <p:spPr>
          <a:xfrm>
            <a:off x="4434840" y="3977639"/>
            <a:ext cx="3246120" cy="960120"/>
          </a:xfrm>
          <a:prstGeom prst="roundRect">
            <a:avLst/>
          </a:prstGeom>
          <a:solidFill>
            <a:srgbClr val="FFFFFF"/>
          </a:solidFill>
          <a:ln w="17780">
            <a:solidFill>
              <a:srgbClr val="26969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2D343C"/>
                </a:solidFill>
                <a:latin typeface="Aptos"/>
              </a:rPr>
              <a:t>Customer segments
Anomaly discovery</a:t>
            </a:r>
          </a:p>
        </p:txBody>
      </p:sp>
      <p:sp>
        <p:nvSpPr>
          <p:cNvPr id="14" name="Rounded Rectangle 13"/>
          <p:cNvSpPr/>
          <p:nvPr/>
        </p:nvSpPr>
        <p:spPr>
          <a:xfrm>
            <a:off x="8275320" y="1417320"/>
            <a:ext cx="3246120" cy="502920"/>
          </a:xfrm>
          <a:prstGeom prst="roundRect">
            <a:avLst/>
          </a:prstGeom>
          <a:solidFill>
            <a:srgbClr val="7D5CAA"/>
          </a:solidFill>
          <a:ln w="17780">
            <a:solidFill>
              <a:srgbClr val="7D5CAA"/>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700" b="1">
                <a:solidFill>
                  <a:srgbClr val="FFFFFF"/>
                </a:solidFill>
                <a:latin typeface="Aptos"/>
              </a:rPr>
              <a:t>REINFORCEMENT</a:t>
            </a:r>
          </a:p>
        </p:txBody>
      </p:sp>
      <p:sp>
        <p:nvSpPr>
          <p:cNvPr id="15" name="Rounded Rectangle 14"/>
          <p:cNvSpPr/>
          <p:nvPr/>
        </p:nvSpPr>
        <p:spPr>
          <a:xfrm>
            <a:off x="8275320" y="2103120"/>
            <a:ext cx="3246120" cy="640080"/>
          </a:xfrm>
          <a:prstGeom prst="roundRect">
            <a:avLst/>
          </a:prstGeom>
          <a:solidFill>
            <a:srgbClr val="EFF5FA"/>
          </a:solidFill>
          <a:ln w="17780">
            <a:solidFill>
              <a:srgbClr val="7D5CAA"/>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a:solidFill>
                  <a:srgbClr val="2D343C"/>
                </a:solidFill>
                <a:latin typeface="Aptos"/>
              </a:rPr>
              <a:t>Rewards / penalties</a:t>
            </a:r>
          </a:p>
        </p:txBody>
      </p:sp>
      <p:cxnSp>
        <p:nvCxnSpPr>
          <p:cNvPr id="16" name="Connector 15"/>
          <p:cNvCxnSpPr/>
          <p:nvPr/>
        </p:nvCxnSpPr>
        <p:spPr>
          <a:xfrm>
            <a:off x="9902952" y="2743200"/>
            <a:ext cx="0" cy="347472"/>
          </a:xfrm>
          <a:prstGeom prst="line">
            <a:avLst/>
          </a:prstGeom>
          <a:ln w="22860">
            <a:solidFill>
              <a:srgbClr val="7D5CAA"/>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275320" y="3090672"/>
            <a:ext cx="3246120" cy="640080"/>
          </a:xfrm>
          <a:prstGeom prst="roundRect">
            <a:avLst/>
          </a:prstGeom>
          <a:solidFill>
            <a:srgbClr val="FFF7E0"/>
          </a:solidFill>
          <a:ln w="17780">
            <a:solidFill>
              <a:srgbClr val="E6AA2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2D343C"/>
                </a:solidFill>
                <a:latin typeface="Aptos"/>
              </a:rPr>
              <a:t>Learn actions</a:t>
            </a:r>
          </a:p>
        </p:txBody>
      </p:sp>
      <p:sp>
        <p:nvSpPr>
          <p:cNvPr id="18" name="Rounded Rectangle 17"/>
          <p:cNvSpPr/>
          <p:nvPr/>
        </p:nvSpPr>
        <p:spPr>
          <a:xfrm>
            <a:off x="8275320" y="3977639"/>
            <a:ext cx="3246120" cy="960120"/>
          </a:xfrm>
          <a:prstGeom prst="roundRect">
            <a:avLst/>
          </a:prstGeom>
          <a:solidFill>
            <a:srgbClr val="FFFFFF"/>
          </a:solidFill>
          <a:ln w="17780">
            <a:solidFill>
              <a:srgbClr val="7D5CAA"/>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2D343C"/>
                </a:solidFill>
                <a:latin typeface="Aptos"/>
              </a:rPr>
              <a:t>Game agent
Robot control</a:t>
            </a:r>
          </a:p>
        </p:txBody>
      </p:sp>
      <p:sp>
        <p:nvSpPr>
          <p:cNvPr id="19" name="Rounded Rectangle 18"/>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21" name="Rounded Rectangle 20"/>
          <p:cNvSpPr/>
          <p:nvPr/>
        </p:nvSpPr>
        <p:spPr>
          <a:xfrm>
            <a:off x="384048" y="5326724"/>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64592"/>
            <a:ext cx="11338560" cy="502920"/>
          </a:xfrm>
          <a:prstGeom prst="rect">
            <a:avLst/>
          </a:prstGeom>
          <a:noFill/>
        </p:spPr>
        <p:txBody>
          <a:bodyPr wrap="square" anchor="ctr">
            <a:spAutoFit/>
          </a:bodyPr>
          <a:lstStyle/>
          <a:p>
            <a:pPr algn="ctr"/>
            <a:r>
              <a:rPr sz="2600" b="1">
                <a:solidFill>
                  <a:srgbClr val="1F375A"/>
                </a:solidFill>
                <a:latin typeface="Aptos"/>
              </a:rPr>
              <a:t>2. A Typical Machine Learning Workflow</a:t>
            </a:r>
          </a:p>
        </p:txBody>
      </p:sp>
      <p:sp>
        <p:nvSpPr>
          <p:cNvPr id="3" name="TextBox 2"/>
          <p:cNvSpPr txBox="1"/>
          <p:nvPr/>
        </p:nvSpPr>
        <p:spPr>
          <a:xfrm>
            <a:off x="502920" y="658368"/>
            <a:ext cx="11155680" cy="347472"/>
          </a:xfrm>
          <a:prstGeom prst="rect">
            <a:avLst/>
          </a:prstGeom>
          <a:noFill/>
        </p:spPr>
        <p:txBody>
          <a:bodyPr wrap="square" anchor="ctr">
            <a:spAutoFit/>
          </a:bodyPr>
          <a:lstStyle/>
          <a:p>
            <a:pPr algn="ctr"/>
            <a:r>
              <a:rPr sz="1100" b="0">
                <a:solidFill>
                  <a:srgbClr val="697582"/>
                </a:solidFill>
                <a:latin typeface="Aptos"/>
              </a:rPr>
              <a:t>The model is only one part of a repeatable data-to-decision pipeline.</a:t>
            </a:r>
          </a:p>
        </p:txBody>
      </p:sp>
      <p:sp>
        <p:nvSpPr>
          <p:cNvPr id="4" name="Rounded Rectangle 3"/>
          <p:cNvSpPr/>
          <p:nvPr/>
        </p:nvSpPr>
        <p:spPr>
          <a:xfrm>
            <a:off x="883767" y="2194560"/>
            <a:ext cx="1600200" cy="105156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Collect data</a:t>
            </a:r>
          </a:p>
        </p:txBody>
      </p:sp>
      <p:sp>
        <p:nvSpPr>
          <p:cNvPr id="5" name="Rounded Rectangle 4"/>
          <p:cNvSpPr/>
          <p:nvPr/>
        </p:nvSpPr>
        <p:spPr>
          <a:xfrm>
            <a:off x="2648559" y="2194560"/>
            <a:ext cx="1600200" cy="1051560"/>
          </a:xfrm>
          <a:prstGeom prst="roundRect">
            <a:avLst/>
          </a:prstGeom>
          <a:solidFill>
            <a:srgbClr val="E2EF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Explore &amp; clean</a:t>
            </a:r>
          </a:p>
        </p:txBody>
      </p:sp>
      <p:cxnSp>
        <p:nvCxnSpPr>
          <p:cNvPr id="6" name="Connector 5"/>
          <p:cNvCxnSpPr/>
          <p:nvPr/>
        </p:nvCxnSpPr>
        <p:spPr>
          <a:xfrm>
            <a:off x="2483967" y="2720339"/>
            <a:ext cx="164592"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413351" y="2194560"/>
            <a:ext cx="1600200" cy="1051560"/>
          </a:xfrm>
          <a:prstGeom prst="roundRect">
            <a:avLst/>
          </a:prstGeom>
          <a:solidFill>
            <a:srgbClr val="DDF3EF"/>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Engineer features</a:t>
            </a:r>
          </a:p>
        </p:txBody>
      </p:sp>
      <p:cxnSp>
        <p:nvCxnSpPr>
          <p:cNvPr id="8" name="Connector 7"/>
          <p:cNvCxnSpPr/>
          <p:nvPr/>
        </p:nvCxnSpPr>
        <p:spPr>
          <a:xfrm>
            <a:off x="4248759" y="2720339"/>
            <a:ext cx="164592"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78143" y="2194560"/>
            <a:ext cx="1600200" cy="1051560"/>
          </a:xfrm>
          <a:prstGeom prst="roundRect">
            <a:avLst/>
          </a:prstGeom>
          <a:solidFill>
            <a:srgbClr val="FFF2D8"/>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Train model</a:t>
            </a:r>
          </a:p>
        </p:txBody>
      </p:sp>
      <p:cxnSp>
        <p:nvCxnSpPr>
          <p:cNvPr id="10" name="Connector 9"/>
          <p:cNvCxnSpPr/>
          <p:nvPr/>
        </p:nvCxnSpPr>
        <p:spPr>
          <a:xfrm>
            <a:off x="6013551" y="2720339"/>
            <a:ext cx="164592"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942935" y="2194560"/>
            <a:ext cx="1600200" cy="1051560"/>
          </a:xfrm>
          <a:prstGeom prst="roundRect">
            <a:avLst/>
          </a:prstGeom>
          <a:solidFill>
            <a:srgbClr val="EEE7F8"/>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Evaluate</a:t>
            </a:r>
          </a:p>
        </p:txBody>
      </p:sp>
      <p:cxnSp>
        <p:nvCxnSpPr>
          <p:cNvPr id="12" name="Connector 11"/>
          <p:cNvCxnSpPr/>
          <p:nvPr/>
        </p:nvCxnSpPr>
        <p:spPr>
          <a:xfrm>
            <a:off x="7778343" y="2720339"/>
            <a:ext cx="164592"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707727" y="2194560"/>
            <a:ext cx="1600200" cy="105156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Deploy &amp; monitor</a:t>
            </a:r>
          </a:p>
        </p:txBody>
      </p:sp>
      <p:cxnSp>
        <p:nvCxnSpPr>
          <p:cNvPr id="14" name="Connector 13"/>
          <p:cNvCxnSpPr/>
          <p:nvPr/>
        </p:nvCxnSpPr>
        <p:spPr>
          <a:xfrm>
            <a:off x="9543135" y="2720339"/>
            <a:ext cx="164592"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234440" y="4069080"/>
            <a:ext cx="9738360" cy="777240"/>
          </a:xfrm>
          <a:prstGeom prst="roundRect">
            <a:avLst/>
          </a:prstGeom>
          <a:solidFill>
            <a:srgbClr val="DDF3EF"/>
          </a:solidFill>
          <a:ln w="17780">
            <a:solidFill>
              <a:srgbClr val="26969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2D343C"/>
                </a:solidFill>
                <a:latin typeface="Aptos"/>
              </a:rPr>
              <a:t>Feedback loop: monitor errors, data drift, latency and business outcomes; then retrain when justified.</a:t>
            </a:r>
          </a:p>
        </p:txBody>
      </p:sp>
      <p:sp>
        <p:nvSpPr>
          <p:cNvPr id="16" name="Rounded Rectangle 1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8" name="Rounded Rectangle 17"/>
          <p:cNvSpPr/>
          <p:nvPr/>
        </p:nvSpPr>
        <p:spPr>
          <a:xfrm>
            <a:off x="384048" y="5375885"/>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64592"/>
            <a:ext cx="11338560" cy="502920"/>
          </a:xfrm>
          <a:prstGeom prst="rect">
            <a:avLst/>
          </a:prstGeom>
          <a:noFill/>
        </p:spPr>
        <p:txBody>
          <a:bodyPr wrap="square" anchor="ctr">
            <a:spAutoFit/>
          </a:bodyPr>
          <a:lstStyle/>
          <a:p>
            <a:pPr algn="ctr"/>
            <a:r>
              <a:rPr sz="2600" b="1">
                <a:solidFill>
                  <a:srgbClr val="1F375A"/>
                </a:solidFill>
                <a:latin typeface="Aptos"/>
              </a:rPr>
              <a:t>3. Train, Validation and Test Split</a:t>
            </a:r>
          </a:p>
        </p:txBody>
      </p:sp>
      <p:sp>
        <p:nvSpPr>
          <p:cNvPr id="3" name="TextBox 2"/>
          <p:cNvSpPr txBox="1"/>
          <p:nvPr/>
        </p:nvSpPr>
        <p:spPr>
          <a:xfrm>
            <a:off x="502920" y="658368"/>
            <a:ext cx="11155680" cy="347472"/>
          </a:xfrm>
          <a:prstGeom prst="rect">
            <a:avLst/>
          </a:prstGeom>
          <a:noFill/>
        </p:spPr>
        <p:txBody>
          <a:bodyPr wrap="square" anchor="ctr">
            <a:spAutoFit/>
          </a:bodyPr>
          <a:lstStyle/>
          <a:p>
            <a:pPr algn="ctr"/>
            <a:r>
              <a:rPr sz="1100" b="0">
                <a:solidFill>
                  <a:srgbClr val="697582"/>
                </a:solidFill>
                <a:latin typeface="Aptos"/>
              </a:rPr>
              <a:t>Keep the final test set separate until model selection is complete.</a:t>
            </a:r>
          </a:p>
        </p:txBody>
      </p:sp>
      <p:sp>
        <p:nvSpPr>
          <p:cNvPr id="4" name="Rounded Rectangle 3"/>
          <p:cNvSpPr/>
          <p:nvPr/>
        </p:nvSpPr>
        <p:spPr>
          <a:xfrm>
            <a:off x="822960" y="1828800"/>
            <a:ext cx="3200400" cy="548640"/>
          </a:xfrm>
          <a:prstGeom prst="roundRect">
            <a:avLst/>
          </a:prstGeom>
          <a:solidFill>
            <a:srgbClr val="4182BE"/>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700" b="1">
                <a:solidFill>
                  <a:srgbClr val="FFFFFF"/>
                </a:solidFill>
                <a:latin typeface="Aptos"/>
              </a:rPr>
              <a:t>TRAIN</a:t>
            </a:r>
          </a:p>
        </p:txBody>
      </p:sp>
      <p:sp>
        <p:nvSpPr>
          <p:cNvPr id="5" name="Rounded Rectangle 4"/>
          <p:cNvSpPr/>
          <p:nvPr/>
        </p:nvSpPr>
        <p:spPr>
          <a:xfrm>
            <a:off x="822960" y="2606040"/>
            <a:ext cx="3200400" cy="68580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400" b="1">
                <a:solidFill>
                  <a:srgbClr val="2D343C"/>
                </a:solidFill>
                <a:latin typeface="Aptos"/>
              </a:rPr>
              <a:t>70%</a:t>
            </a:r>
          </a:p>
        </p:txBody>
      </p:sp>
      <p:sp>
        <p:nvSpPr>
          <p:cNvPr id="6" name="TextBox 5"/>
          <p:cNvSpPr txBox="1"/>
          <p:nvPr/>
        </p:nvSpPr>
        <p:spPr>
          <a:xfrm>
            <a:off x="822960" y="3429000"/>
            <a:ext cx="3200400" cy="685800"/>
          </a:xfrm>
          <a:prstGeom prst="rect">
            <a:avLst/>
          </a:prstGeom>
          <a:noFill/>
        </p:spPr>
        <p:txBody>
          <a:bodyPr wrap="square" anchor="ctr">
            <a:spAutoFit/>
          </a:bodyPr>
          <a:lstStyle/>
          <a:p>
            <a:pPr algn="ctr"/>
            <a:r>
              <a:rPr sz="1400" b="0">
                <a:solidFill>
                  <a:srgbClr val="2D343C"/>
                </a:solidFill>
                <a:latin typeface="Aptos"/>
              </a:rPr>
              <a:t>Fit model parameters</a:t>
            </a:r>
          </a:p>
        </p:txBody>
      </p:sp>
      <p:sp>
        <p:nvSpPr>
          <p:cNvPr id="7" name="Rounded Rectangle 6"/>
          <p:cNvSpPr/>
          <p:nvPr/>
        </p:nvSpPr>
        <p:spPr>
          <a:xfrm>
            <a:off x="4617720" y="1828800"/>
            <a:ext cx="3200400" cy="548640"/>
          </a:xfrm>
          <a:prstGeom prst="roundRect">
            <a:avLst/>
          </a:prstGeom>
          <a:solidFill>
            <a:srgbClr val="269691"/>
          </a:solidFill>
          <a:ln w="17780">
            <a:solidFill>
              <a:srgbClr val="26969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700" b="1">
                <a:solidFill>
                  <a:srgbClr val="FFFFFF"/>
                </a:solidFill>
                <a:latin typeface="Aptos"/>
              </a:rPr>
              <a:t>VALIDATION</a:t>
            </a:r>
          </a:p>
        </p:txBody>
      </p:sp>
      <p:sp>
        <p:nvSpPr>
          <p:cNvPr id="8" name="Rounded Rectangle 7"/>
          <p:cNvSpPr/>
          <p:nvPr/>
        </p:nvSpPr>
        <p:spPr>
          <a:xfrm>
            <a:off x="4617720" y="2606040"/>
            <a:ext cx="3200400" cy="685800"/>
          </a:xfrm>
          <a:prstGeom prst="roundRect">
            <a:avLst/>
          </a:prstGeom>
          <a:solidFill>
            <a:srgbClr val="EFF5FA"/>
          </a:solidFill>
          <a:ln w="17780">
            <a:solidFill>
              <a:srgbClr val="26969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400" b="1">
                <a:solidFill>
                  <a:srgbClr val="2D343C"/>
                </a:solidFill>
                <a:latin typeface="Aptos"/>
              </a:rPr>
              <a:t>15%</a:t>
            </a:r>
          </a:p>
        </p:txBody>
      </p:sp>
      <p:sp>
        <p:nvSpPr>
          <p:cNvPr id="9" name="TextBox 8"/>
          <p:cNvSpPr txBox="1"/>
          <p:nvPr/>
        </p:nvSpPr>
        <p:spPr>
          <a:xfrm>
            <a:off x="4617720" y="3429000"/>
            <a:ext cx="3200400" cy="685800"/>
          </a:xfrm>
          <a:prstGeom prst="rect">
            <a:avLst/>
          </a:prstGeom>
          <a:noFill/>
        </p:spPr>
        <p:txBody>
          <a:bodyPr wrap="square" anchor="ctr">
            <a:spAutoFit/>
          </a:bodyPr>
          <a:lstStyle/>
          <a:p>
            <a:pPr algn="ctr"/>
            <a:r>
              <a:rPr sz="1400" b="0">
                <a:solidFill>
                  <a:srgbClr val="2D343C"/>
                </a:solidFill>
                <a:latin typeface="Aptos"/>
              </a:rPr>
              <a:t>Tune choices / hyperparameters</a:t>
            </a:r>
          </a:p>
        </p:txBody>
      </p:sp>
      <p:sp>
        <p:nvSpPr>
          <p:cNvPr id="10" name="Rounded Rectangle 9"/>
          <p:cNvSpPr/>
          <p:nvPr/>
        </p:nvSpPr>
        <p:spPr>
          <a:xfrm>
            <a:off x="8412480" y="1828800"/>
            <a:ext cx="3200400" cy="548640"/>
          </a:xfrm>
          <a:prstGeom prst="roundRect">
            <a:avLst/>
          </a:prstGeom>
          <a:solidFill>
            <a:srgbClr val="7D5CAA"/>
          </a:solidFill>
          <a:ln w="17780">
            <a:solidFill>
              <a:srgbClr val="7D5CAA"/>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700" b="1">
                <a:solidFill>
                  <a:srgbClr val="FFFFFF"/>
                </a:solidFill>
                <a:latin typeface="Aptos"/>
              </a:rPr>
              <a:t>TEST</a:t>
            </a:r>
          </a:p>
        </p:txBody>
      </p:sp>
      <p:sp>
        <p:nvSpPr>
          <p:cNvPr id="11" name="Rounded Rectangle 10"/>
          <p:cNvSpPr/>
          <p:nvPr/>
        </p:nvSpPr>
        <p:spPr>
          <a:xfrm>
            <a:off x="8412480" y="2606040"/>
            <a:ext cx="3200400" cy="685800"/>
          </a:xfrm>
          <a:prstGeom prst="roundRect">
            <a:avLst/>
          </a:prstGeom>
          <a:solidFill>
            <a:srgbClr val="EFF5FA"/>
          </a:solidFill>
          <a:ln w="17780">
            <a:solidFill>
              <a:srgbClr val="7D5CAA"/>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400" b="1">
                <a:solidFill>
                  <a:srgbClr val="2D343C"/>
                </a:solidFill>
                <a:latin typeface="Aptos"/>
              </a:rPr>
              <a:t>15%</a:t>
            </a:r>
          </a:p>
        </p:txBody>
      </p:sp>
      <p:sp>
        <p:nvSpPr>
          <p:cNvPr id="12" name="TextBox 11"/>
          <p:cNvSpPr txBox="1"/>
          <p:nvPr/>
        </p:nvSpPr>
        <p:spPr>
          <a:xfrm>
            <a:off x="8412480" y="3429000"/>
            <a:ext cx="3200400" cy="685800"/>
          </a:xfrm>
          <a:prstGeom prst="rect">
            <a:avLst/>
          </a:prstGeom>
          <a:noFill/>
        </p:spPr>
        <p:txBody>
          <a:bodyPr wrap="square" anchor="ctr">
            <a:spAutoFit/>
          </a:bodyPr>
          <a:lstStyle/>
          <a:p>
            <a:pPr algn="ctr"/>
            <a:r>
              <a:rPr sz="1400" b="0">
                <a:solidFill>
                  <a:srgbClr val="2D343C"/>
                </a:solidFill>
                <a:latin typeface="Aptos"/>
              </a:rPr>
              <a:t>Final unbiased evaluation</a:t>
            </a:r>
          </a:p>
        </p:txBody>
      </p:sp>
      <p:sp>
        <p:nvSpPr>
          <p:cNvPr id="13" name="TextBox 12"/>
          <p:cNvSpPr txBox="1"/>
          <p:nvPr/>
        </p:nvSpPr>
        <p:spPr>
          <a:xfrm>
            <a:off x="914400" y="4663440"/>
            <a:ext cx="10332720" cy="548640"/>
          </a:xfrm>
          <a:prstGeom prst="rect">
            <a:avLst/>
          </a:prstGeom>
          <a:noFill/>
        </p:spPr>
        <p:txBody>
          <a:bodyPr wrap="square" anchor="ctr">
            <a:spAutoFit/>
          </a:bodyPr>
          <a:lstStyle/>
          <a:p>
            <a:pPr algn="ctr"/>
            <a:r>
              <a:rPr sz="1500" b="1">
                <a:solidFill>
                  <a:srgbClr val="C85555"/>
                </a:solidFill>
                <a:latin typeface="Aptos"/>
              </a:rPr>
              <a:t>Important: split before preprocessing that learns from the data, and avoid leakage across related records.</a:t>
            </a:r>
          </a:p>
        </p:txBody>
      </p:sp>
      <p:sp>
        <p:nvSpPr>
          <p:cNvPr id="14" name="Rounded Rectangle 1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64592"/>
            <a:ext cx="11338560" cy="502920"/>
          </a:xfrm>
          <a:prstGeom prst="rect">
            <a:avLst/>
          </a:prstGeom>
          <a:noFill/>
        </p:spPr>
        <p:txBody>
          <a:bodyPr wrap="square" anchor="ctr">
            <a:spAutoFit/>
          </a:bodyPr>
          <a:lstStyle/>
          <a:p>
            <a:pPr algn="ctr"/>
            <a:r>
              <a:rPr sz="2600" b="1">
                <a:solidFill>
                  <a:srgbClr val="1F375A"/>
                </a:solidFill>
                <a:latin typeface="Aptos"/>
              </a:rPr>
              <a:t>4. Overfitting vs. Underfitting</a:t>
            </a:r>
          </a:p>
        </p:txBody>
      </p:sp>
      <p:sp>
        <p:nvSpPr>
          <p:cNvPr id="3" name="TextBox 2"/>
          <p:cNvSpPr txBox="1"/>
          <p:nvPr/>
        </p:nvSpPr>
        <p:spPr>
          <a:xfrm>
            <a:off x="502920" y="658368"/>
            <a:ext cx="11155680" cy="347472"/>
          </a:xfrm>
          <a:prstGeom prst="rect">
            <a:avLst/>
          </a:prstGeom>
          <a:noFill/>
        </p:spPr>
        <p:txBody>
          <a:bodyPr wrap="square" anchor="ctr">
            <a:spAutoFit/>
          </a:bodyPr>
          <a:lstStyle/>
          <a:p>
            <a:pPr algn="ctr"/>
            <a:r>
              <a:rPr sz="1100" b="0">
                <a:solidFill>
                  <a:srgbClr val="697582"/>
                </a:solidFill>
                <a:latin typeface="Aptos"/>
              </a:rPr>
              <a:t>Compare training error and validation error as model complexity grows.</a:t>
            </a:r>
          </a:p>
        </p:txBody>
      </p:sp>
      <p:cxnSp>
        <p:nvCxnSpPr>
          <p:cNvPr id="4" name="Connector 3"/>
          <p:cNvCxnSpPr/>
          <p:nvPr/>
        </p:nvCxnSpPr>
        <p:spPr>
          <a:xfrm>
            <a:off x="1280160" y="4709160"/>
            <a:ext cx="9601200" cy="0"/>
          </a:xfrm>
          <a:prstGeom prst="line">
            <a:avLst/>
          </a:prstGeom>
          <a:ln w="19050">
            <a:solidFill>
              <a:srgbClr val="2D343C"/>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280160" y="1417320"/>
            <a:ext cx="0" cy="3291840"/>
          </a:xfrm>
          <a:prstGeom prst="line">
            <a:avLst/>
          </a:prstGeom>
          <a:ln w="19050">
            <a:solidFill>
              <a:srgbClr val="2D343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863840" y="4892040"/>
            <a:ext cx="2468880" cy="320040"/>
          </a:xfrm>
          <a:prstGeom prst="rect">
            <a:avLst/>
          </a:prstGeom>
          <a:noFill/>
        </p:spPr>
        <p:txBody>
          <a:bodyPr wrap="square" anchor="ctr">
            <a:spAutoFit/>
          </a:bodyPr>
          <a:lstStyle/>
          <a:p>
            <a:pPr algn="ctr"/>
            <a:r>
              <a:rPr sz="1200" b="0">
                <a:solidFill>
                  <a:srgbClr val="697582"/>
                </a:solidFill>
                <a:latin typeface="Aptos"/>
              </a:rPr>
              <a:t>Model complexity →</a:t>
            </a:r>
          </a:p>
        </p:txBody>
      </p:sp>
      <p:sp>
        <p:nvSpPr>
          <p:cNvPr id="7" name="TextBox 6"/>
          <p:cNvSpPr txBox="1"/>
          <p:nvPr/>
        </p:nvSpPr>
        <p:spPr>
          <a:xfrm>
            <a:off x="502920" y="1371600"/>
            <a:ext cx="640080" cy="320040"/>
          </a:xfrm>
          <a:prstGeom prst="rect">
            <a:avLst/>
          </a:prstGeom>
          <a:noFill/>
        </p:spPr>
        <p:txBody>
          <a:bodyPr wrap="square" anchor="ctr">
            <a:spAutoFit/>
          </a:bodyPr>
          <a:lstStyle/>
          <a:p>
            <a:pPr algn="ctr"/>
            <a:r>
              <a:rPr sz="1200" b="0">
                <a:solidFill>
                  <a:srgbClr val="697582"/>
                </a:solidFill>
                <a:latin typeface="Aptos"/>
              </a:rPr>
              <a:t>Error</a:t>
            </a:r>
          </a:p>
        </p:txBody>
      </p:sp>
      <p:cxnSp>
        <p:nvCxnSpPr>
          <p:cNvPr id="8" name="Connector 7"/>
          <p:cNvCxnSpPr/>
          <p:nvPr/>
        </p:nvCxnSpPr>
        <p:spPr>
          <a:xfrm>
            <a:off x="1645920" y="1828800"/>
            <a:ext cx="1097280" cy="320040"/>
          </a:xfrm>
          <a:prstGeom prst="line">
            <a:avLst/>
          </a:prstGeom>
          <a:ln w="25400">
            <a:solidFill>
              <a:srgbClr val="4182B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743200" y="2148840"/>
            <a:ext cx="1005839" cy="594360"/>
          </a:xfrm>
          <a:prstGeom prst="line">
            <a:avLst/>
          </a:prstGeom>
          <a:ln w="25400">
            <a:solidFill>
              <a:srgbClr val="4182B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749039" y="2743200"/>
            <a:ext cx="1005841" cy="640080"/>
          </a:xfrm>
          <a:prstGeom prst="line">
            <a:avLst/>
          </a:prstGeom>
          <a:ln w="25400">
            <a:solidFill>
              <a:srgbClr val="4182B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754880" y="3383280"/>
            <a:ext cx="1005840" cy="457200"/>
          </a:xfrm>
          <a:prstGeom prst="line">
            <a:avLst/>
          </a:prstGeom>
          <a:ln w="25400">
            <a:solidFill>
              <a:srgbClr val="4182B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760720" y="3840480"/>
            <a:ext cx="1005840" cy="274320"/>
          </a:xfrm>
          <a:prstGeom prst="line">
            <a:avLst/>
          </a:prstGeom>
          <a:ln w="25400">
            <a:solidFill>
              <a:srgbClr val="4182BE"/>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766560" y="4114800"/>
            <a:ext cx="1005840" cy="137160"/>
          </a:xfrm>
          <a:prstGeom prst="line">
            <a:avLst/>
          </a:prstGeom>
          <a:ln w="25400">
            <a:solidFill>
              <a:srgbClr val="4182B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4251960"/>
            <a:ext cx="1005840" cy="45720"/>
          </a:xfrm>
          <a:prstGeom prst="line">
            <a:avLst/>
          </a:prstGeom>
          <a:ln w="25400">
            <a:solidFill>
              <a:srgbClr val="4182B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778240" y="4297680"/>
            <a:ext cx="1005840" cy="18288"/>
          </a:xfrm>
          <a:prstGeom prst="line">
            <a:avLst/>
          </a:prstGeom>
          <a:ln w="25400">
            <a:solidFill>
              <a:srgbClr val="4182B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645920" y="1920240"/>
            <a:ext cx="1097280" cy="640080"/>
          </a:xfrm>
          <a:prstGeom prst="line">
            <a:avLst/>
          </a:prstGeom>
          <a:ln w="25400">
            <a:solidFill>
              <a:srgbClr val="C8555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743200" y="2560320"/>
            <a:ext cx="1005839" cy="640080"/>
          </a:xfrm>
          <a:prstGeom prst="line">
            <a:avLst/>
          </a:prstGeom>
          <a:ln w="25400">
            <a:solidFill>
              <a:srgbClr val="C8555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749039" y="3200400"/>
            <a:ext cx="1005841" cy="365760"/>
          </a:xfrm>
          <a:prstGeom prst="line">
            <a:avLst/>
          </a:prstGeom>
          <a:ln w="25400">
            <a:solidFill>
              <a:srgbClr val="C8555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4754880" y="3474720"/>
            <a:ext cx="1005840" cy="91440"/>
          </a:xfrm>
          <a:prstGeom prst="line">
            <a:avLst/>
          </a:prstGeom>
          <a:ln w="25400">
            <a:solidFill>
              <a:srgbClr val="C855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5760720" y="3108960"/>
            <a:ext cx="1005840" cy="365760"/>
          </a:xfrm>
          <a:prstGeom prst="line">
            <a:avLst/>
          </a:prstGeom>
          <a:ln w="25400">
            <a:solidFill>
              <a:srgbClr val="C8555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6766560" y="2560320"/>
            <a:ext cx="1005840" cy="548640"/>
          </a:xfrm>
          <a:prstGeom prst="line">
            <a:avLst/>
          </a:prstGeom>
          <a:ln w="25400">
            <a:solidFill>
              <a:srgbClr val="C8555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772400" y="1920240"/>
            <a:ext cx="1005840" cy="640080"/>
          </a:xfrm>
          <a:prstGeom prst="line">
            <a:avLst/>
          </a:prstGeom>
          <a:ln w="25400">
            <a:solidFill>
              <a:srgbClr val="C8555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8778240" y="1508760"/>
            <a:ext cx="1005840" cy="411480"/>
          </a:xfrm>
          <a:prstGeom prst="line">
            <a:avLst/>
          </a:prstGeom>
          <a:ln w="25400">
            <a:solidFill>
              <a:srgbClr val="C85555"/>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955279" y="4114800"/>
            <a:ext cx="1645920" cy="320040"/>
          </a:xfrm>
          <a:prstGeom prst="rect">
            <a:avLst/>
          </a:prstGeom>
          <a:noFill/>
        </p:spPr>
        <p:txBody>
          <a:bodyPr wrap="square" anchor="ctr">
            <a:spAutoFit/>
          </a:bodyPr>
          <a:lstStyle/>
          <a:p>
            <a:pPr algn="ctr"/>
            <a:r>
              <a:rPr sz="1200" b="1">
                <a:solidFill>
                  <a:srgbClr val="4182BE"/>
                </a:solidFill>
                <a:latin typeface="Aptos"/>
              </a:rPr>
              <a:t>Training error</a:t>
            </a:r>
          </a:p>
        </p:txBody>
      </p:sp>
      <p:sp>
        <p:nvSpPr>
          <p:cNvPr id="25" name="TextBox 24"/>
          <p:cNvSpPr txBox="1"/>
          <p:nvPr/>
        </p:nvSpPr>
        <p:spPr>
          <a:xfrm>
            <a:off x="7955279" y="1325880"/>
            <a:ext cx="1828800" cy="320040"/>
          </a:xfrm>
          <a:prstGeom prst="rect">
            <a:avLst/>
          </a:prstGeom>
          <a:noFill/>
        </p:spPr>
        <p:txBody>
          <a:bodyPr wrap="square" anchor="ctr">
            <a:spAutoFit/>
          </a:bodyPr>
          <a:lstStyle/>
          <a:p>
            <a:pPr algn="ctr"/>
            <a:r>
              <a:rPr sz="1200" b="1">
                <a:solidFill>
                  <a:srgbClr val="C85555"/>
                </a:solidFill>
                <a:latin typeface="Aptos"/>
              </a:rPr>
              <a:t>Validation error</a:t>
            </a:r>
          </a:p>
        </p:txBody>
      </p:sp>
      <p:sp>
        <p:nvSpPr>
          <p:cNvPr id="26" name="TextBox 25"/>
          <p:cNvSpPr txBox="1"/>
          <p:nvPr/>
        </p:nvSpPr>
        <p:spPr>
          <a:xfrm>
            <a:off x="1645920" y="5166360"/>
            <a:ext cx="1463040" cy="274320"/>
          </a:xfrm>
          <a:prstGeom prst="rect">
            <a:avLst/>
          </a:prstGeom>
          <a:noFill/>
        </p:spPr>
        <p:txBody>
          <a:bodyPr wrap="square" anchor="ctr">
            <a:spAutoFit/>
          </a:bodyPr>
          <a:lstStyle/>
          <a:p>
            <a:pPr algn="ctr"/>
            <a:r>
              <a:rPr sz="1200" b="0">
                <a:solidFill>
                  <a:srgbClr val="697582"/>
                </a:solidFill>
                <a:latin typeface="Aptos"/>
              </a:rPr>
              <a:t>Too simple</a:t>
            </a:r>
          </a:p>
        </p:txBody>
      </p:sp>
      <p:sp>
        <p:nvSpPr>
          <p:cNvPr id="27" name="TextBox 26"/>
          <p:cNvSpPr txBox="1"/>
          <p:nvPr/>
        </p:nvSpPr>
        <p:spPr>
          <a:xfrm>
            <a:off x="4754880" y="5166360"/>
            <a:ext cx="1645920" cy="274320"/>
          </a:xfrm>
          <a:prstGeom prst="rect">
            <a:avLst/>
          </a:prstGeom>
          <a:noFill/>
        </p:spPr>
        <p:txBody>
          <a:bodyPr wrap="square" anchor="ctr">
            <a:spAutoFit/>
          </a:bodyPr>
          <a:lstStyle/>
          <a:p>
            <a:pPr algn="ctr"/>
            <a:r>
              <a:rPr sz="1200" b="1">
                <a:solidFill>
                  <a:srgbClr val="269691"/>
                </a:solidFill>
                <a:latin typeface="Aptos"/>
              </a:rPr>
              <a:t>Good balance</a:t>
            </a:r>
          </a:p>
        </p:txBody>
      </p:sp>
      <p:sp>
        <p:nvSpPr>
          <p:cNvPr id="28" name="TextBox 27"/>
          <p:cNvSpPr txBox="1"/>
          <p:nvPr/>
        </p:nvSpPr>
        <p:spPr>
          <a:xfrm>
            <a:off x="8595360" y="5166360"/>
            <a:ext cx="1645920" cy="274320"/>
          </a:xfrm>
          <a:prstGeom prst="rect">
            <a:avLst/>
          </a:prstGeom>
          <a:noFill/>
        </p:spPr>
        <p:txBody>
          <a:bodyPr wrap="square" anchor="ctr">
            <a:spAutoFit/>
          </a:bodyPr>
          <a:lstStyle/>
          <a:p>
            <a:pPr algn="ctr"/>
            <a:r>
              <a:rPr sz="1200" b="0">
                <a:solidFill>
                  <a:srgbClr val="697582"/>
                </a:solidFill>
                <a:latin typeface="Aptos"/>
              </a:rPr>
              <a:t>Too complex</a:t>
            </a:r>
          </a:p>
        </p:txBody>
      </p:sp>
      <p:sp>
        <p:nvSpPr>
          <p:cNvPr id="29" name="Rounded Rectangle 28"/>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31" name="Rounded Rectangle 30"/>
          <p:cNvSpPr/>
          <p:nvPr/>
        </p:nvSpPr>
        <p:spPr>
          <a:xfrm>
            <a:off x="384048" y="5513536"/>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64592"/>
            <a:ext cx="11338560" cy="502920"/>
          </a:xfrm>
          <a:prstGeom prst="rect">
            <a:avLst/>
          </a:prstGeom>
          <a:noFill/>
        </p:spPr>
        <p:txBody>
          <a:bodyPr wrap="square" anchor="ctr">
            <a:spAutoFit/>
          </a:bodyPr>
          <a:lstStyle/>
          <a:p>
            <a:pPr algn="ctr"/>
            <a:r>
              <a:rPr sz="2600" b="1">
                <a:solidFill>
                  <a:srgbClr val="1F375A"/>
                </a:solidFill>
                <a:latin typeface="Aptos"/>
              </a:rPr>
              <a:t>5. Feature Engineering: From Raw Data to Model Inputs</a:t>
            </a:r>
          </a:p>
        </p:txBody>
      </p:sp>
      <p:sp>
        <p:nvSpPr>
          <p:cNvPr id="3" name="TextBox 2"/>
          <p:cNvSpPr txBox="1"/>
          <p:nvPr/>
        </p:nvSpPr>
        <p:spPr>
          <a:xfrm>
            <a:off x="502920" y="658368"/>
            <a:ext cx="11155680" cy="347472"/>
          </a:xfrm>
          <a:prstGeom prst="rect">
            <a:avLst/>
          </a:prstGeom>
          <a:noFill/>
        </p:spPr>
        <p:txBody>
          <a:bodyPr wrap="square" anchor="ctr">
            <a:spAutoFit/>
          </a:bodyPr>
          <a:lstStyle/>
          <a:p>
            <a:pPr algn="ctr"/>
            <a:r>
              <a:rPr sz="1100" b="0">
                <a:solidFill>
                  <a:srgbClr val="697582"/>
                </a:solidFill>
                <a:latin typeface="Aptos"/>
              </a:rPr>
              <a:t>Transform domain data into meaningful, model-ready signals.</a:t>
            </a:r>
          </a:p>
        </p:txBody>
      </p:sp>
      <p:sp>
        <p:nvSpPr>
          <p:cNvPr id="4" name="Rounded Rectangle 3"/>
          <p:cNvSpPr/>
          <p:nvPr/>
        </p:nvSpPr>
        <p:spPr>
          <a:xfrm>
            <a:off x="883767" y="2011680"/>
            <a:ext cx="1600200" cy="91440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Raw records</a:t>
            </a:r>
          </a:p>
        </p:txBody>
      </p:sp>
      <p:sp>
        <p:nvSpPr>
          <p:cNvPr id="5" name="Rounded Rectangle 4"/>
          <p:cNvSpPr/>
          <p:nvPr/>
        </p:nvSpPr>
        <p:spPr>
          <a:xfrm>
            <a:off x="2648559" y="2011680"/>
            <a:ext cx="1600200" cy="914400"/>
          </a:xfrm>
          <a:prstGeom prst="roundRect">
            <a:avLst/>
          </a:prstGeom>
          <a:solidFill>
            <a:srgbClr val="E2EF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Clean values</a:t>
            </a:r>
          </a:p>
        </p:txBody>
      </p:sp>
      <p:cxnSp>
        <p:nvCxnSpPr>
          <p:cNvPr id="6" name="Connector 5"/>
          <p:cNvCxnSpPr/>
          <p:nvPr/>
        </p:nvCxnSpPr>
        <p:spPr>
          <a:xfrm>
            <a:off x="2483967" y="2468880"/>
            <a:ext cx="164592"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413351" y="2011680"/>
            <a:ext cx="1600200" cy="914400"/>
          </a:xfrm>
          <a:prstGeom prst="roundRect">
            <a:avLst/>
          </a:prstGeom>
          <a:solidFill>
            <a:srgbClr val="DDF3EF"/>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Encode categories</a:t>
            </a:r>
          </a:p>
        </p:txBody>
      </p:sp>
      <p:cxnSp>
        <p:nvCxnSpPr>
          <p:cNvPr id="8" name="Connector 7"/>
          <p:cNvCxnSpPr/>
          <p:nvPr/>
        </p:nvCxnSpPr>
        <p:spPr>
          <a:xfrm>
            <a:off x="4248759" y="2468880"/>
            <a:ext cx="164592"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78143" y="2011680"/>
            <a:ext cx="1600200" cy="914400"/>
          </a:xfrm>
          <a:prstGeom prst="roundRect">
            <a:avLst/>
          </a:prstGeom>
          <a:solidFill>
            <a:srgbClr val="FFF2D8"/>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Scale / transform</a:t>
            </a:r>
          </a:p>
        </p:txBody>
      </p:sp>
      <p:cxnSp>
        <p:nvCxnSpPr>
          <p:cNvPr id="10" name="Connector 9"/>
          <p:cNvCxnSpPr/>
          <p:nvPr/>
        </p:nvCxnSpPr>
        <p:spPr>
          <a:xfrm>
            <a:off x="6013551" y="2468880"/>
            <a:ext cx="164592"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942935" y="2011680"/>
            <a:ext cx="1600200" cy="914400"/>
          </a:xfrm>
          <a:prstGeom prst="roundRect">
            <a:avLst/>
          </a:prstGeom>
          <a:solidFill>
            <a:srgbClr val="EEE7F8"/>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Select features</a:t>
            </a:r>
          </a:p>
        </p:txBody>
      </p:sp>
      <p:cxnSp>
        <p:nvCxnSpPr>
          <p:cNvPr id="12" name="Connector 11"/>
          <p:cNvCxnSpPr/>
          <p:nvPr/>
        </p:nvCxnSpPr>
        <p:spPr>
          <a:xfrm>
            <a:off x="7778343" y="2468880"/>
            <a:ext cx="164592"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707727" y="2011680"/>
            <a:ext cx="1600200" cy="91440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Model matrix</a:t>
            </a:r>
          </a:p>
        </p:txBody>
      </p:sp>
      <p:cxnSp>
        <p:nvCxnSpPr>
          <p:cNvPr id="14" name="Connector 13"/>
          <p:cNvCxnSpPr/>
          <p:nvPr/>
        </p:nvCxnSpPr>
        <p:spPr>
          <a:xfrm>
            <a:off x="9543135" y="2468880"/>
            <a:ext cx="164592"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97280" y="3840480"/>
            <a:ext cx="9966960" cy="822960"/>
          </a:xfrm>
          <a:prstGeom prst="roundRect">
            <a:avLst/>
          </a:prstGeom>
          <a:solidFill>
            <a:srgbClr val="FFF2D8"/>
          </a:solidFill>
          <a:ln w="17780">
            <a:solidFill>
              <a:srgbClr val="E6AA2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a:solidFill>
                  <a:srgbClr val="2D343C"/>
                </a:solidFill>
                <a:latin typeface="Aptos"/>
              </a:rPr>
              <a:t>Example: 'Pune' → one-hot encoding; income → scaling; timestamp → hour/day features.</a:t>
            </a:r>
          </a:p>
        </p:txBody>
      </p:sp>
      <p:sp>
        <p:nvSpPr>
          <p:cNvPr id="16" name="Rounded Rectangle 1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8" name="Rounded Rectangle 17"/>
          <p:cNvSpPr/>
          <p:nvPr/>
        </p:nvSpPr>
        <p:spPr>
          <a:xfrm>
            <a:off x="384048" y="5415216"/>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64592"/>
            <a:ext cx="11338560" cy="502920"/>
          </a:xfrm>
          <a:prstGeom prst="rect">
            <a:avLst/>
          </a:prstGeom>
          <a:noFill/>
        </p:spPr>
        <p:txBody>
          <a:bodyPr wrap="square" anchor="ctr">
            <a:spAutoFit/>
          </a:bodyPr>
          <a:lstStyle/>
          <a:p>
            <a:pPr algn="ctr"/>
            <a:r>
              <a:rPr sz="2600" b="1">
                <a:solidFill>
                  <a:srgbClr val="1F375A"/>
                </a:solidFill>
                <a:latin typeface="Aptos"/>
              </a:rPr>
              <a:t>6. Decision Tree: How a Prediction Is Made</a:t>
            </a:r>
          </a:p>
        </p:txBody>
      </p:sp>
      <p:sp>
        <p:nvSpPr>
          <p:cNvPr id="3" name="TextBox 2"/>
          <p:cNvSpPr txBox="1"/>
          <p:nvPr/>
        </p:nvSpPr>
        <p:spPr>
          <a:xfrm>
            <a:off x="502920" y="658368"/>
            <a:ext cx="11155680" cy="347472"/>
          </a:xfrm>
          <a:prstGeom prst="rect">
            <a:avLst/>
          </a:prstGeom>
          <a:noFill/>
        </p:spPr>
        <p:txBody>
          <a:bodyPr wrap="square" anchor="ctr">
            <a:spAutoFit/>
          </a:bodyPr>
          <a:lstStyle/>
          <a:p>
            <a:pPr algn="ctr"/>
            <a:r>
              <a:rPr sz="1100" b="0">
                <a:solidFill>
                  <a:srgbClr val="697582"/>
                </a:solidFill>
                <a:latin typeface="Aptos"/>
              </a:rPr>
              <a:t>A tree routes an example through feature-based questions to a leaf prediction.</a:t>
            </a:r>
          </a:p>
        </p:txBody>
      </p:sp>
      <p:sp>
        <p:nvSpPr>
          <p:cNvPr id="4" name="Rounded Rectangle 3"/>
          <p:cNvSpPr/>
          <p:nvPr/>
        </p:nvSpPr>
        <p:spPr>
          <a:xfrm>
            <a:off x="4434840" y="1325880"/>
            <a:ext cx="2926080" cy="594360"/>
          </a:xfrm>
          <a:prstGeom prst="roundRect">
            <a:avLst/>
          </a:prstGeom>
          <a:solidFill>
            <a:srgbClr val="E2EF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2D343C"/>
                </a:solidFill>
                <a:latin typeface="Aptos"/>
              </a:rPr>
              <a:t>Income &gt; ₹8L?</a:t>
            </a:r>
          </a:p>
        </p:txBody>
      </p:sp>
      <p:cxnSp>
        <p:nvCxnSpPr>
          <p:cNvPr id="5" name="Connector 4"/>
          <p:cNvCxnSpPr/>
          <p:nvPr/>
        </p:nvCxnSpPr>
        <p:spPr>
          <a:xfrm flipH="1">
            <a:off x="2926080" y="1920240"/>
            <a:ext cx="2011680" cy="822960"/>
          </a:xfrm>
          <a:prstGeom prst="line">
            <a:avLst/>
          </a:prstGeom>
          <a:ln w="22860">
            <a:solidFill>
              <a:srgbClr val="4182B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858000" y="1920240"/>
            <a:ext cx="2011680" cy="822960"/>
          </a:xfrm>
          <a:prstGeom prst="line">
            <a:avLst/>
          </a:prstGeom>
          <a:ln w="22860">
            <a:solidFill>
              <a:srgbClr val="4182B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291840" y="2148840"/>
            <a:ext cx="548640" cy="274320"/>
          </a:xfrm>
          <a:prstGeom prst="rect">
            <a:avLst/>
          </a:prstGeom>
          <a:noFill/>
        </p:spPr>
        <p:txBody>
          <a:bodyPr wrap="square" anchor="ctr">
            <a:spAutoFit/>
          </a:bodyPr>
          <a:lstStyle/>
          <a:p>
            <a:pPr algn="ctr"/>
            <a:r>
              <a:rPr sz="1200" b="1">
                <a:solidFill>
                  <a:srgbClr val="697582"/>
                </a:solidFill>
                <a:latin typeface="Aptos"/>
              </a:rPr>
              <a:t>No</a:t>
            </a:r>
          </a:p>
        </p:txBody>
      </p:sp>
      <p:sp>
        <p:nvSpPr>
          <p:cNvPr id="8" name="TextBox 7"/>
          <p:cNvSpPr txBox="1"/>
          <p:nvPr/>
        </p:nvSpPr>
        <p:spPr>
          <a:xfrm>
            <a:off x="7772400" y="2148840"/>
            <a:ext cx="548640" cy="274320"/>
          </a:xfrm>
          <a:prstGeom prst="rect">
            <a:avLst/>
          </a:prstGeom>
          <a:noFill/>
        </p:spPr>
        <p:txBody>
          <a:bodyPr wrap="square" anchor="ctr">
            <a:spAutoFit/>
          </a:bodyPr>
          <a:lstStyle/>
          <a:p>
            <a:pPr algn="ctr"/>
            <a:r>
              <a:rPr sz="1200" b="1">
                <a:solidFill>
                  <a:srgbClr val="697582"/>
                </a:solidFill>
                <a:latin typeface="Aptos"/>
              </a:rPr>
              <a:t>Yes</a:t>
            </a:r>
          </a:p>
        </p:txBody>
      </p:sp>
      <p:sp>
        <p:nvSpPr>
          <p:cNvPr id="9" name="Rounded Rectangle 8"/>
          <p:cNvSpPr/>
          <p:nvPr/>
        </p:nvSpPr>
        <p:spPr>
          <a:xfrm>
            <a:off x="1371600" y="2743200"/>
            <a:ext cx="3108960" cy="640080"/>
          </a:xfrm>
          <a:prstGeom prst="roundRect">
            <a:avLst/>
          </a:prstGeom>
          <a:solidFill>
            <a:srgbClr val="DDF3EF"/>
          </a:solidFill>
          <a:ln w="17780">
            <a:solidFill>
              <a:srgbClr val="26969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2D343C"/>
                </a:solidFill>
                <a:latin typeface="Aptos"/>
              </a:rPr>
              <a:t>Credit score &gt; 700?</a:t>
            </a:r>
          </a:p>
        </p:txBody>
      </p:sp>
      <p:sp>
        <p:nvSpPr>
          <p:cNvPr id="10" name="Rounded Rectangle 9"/>
          <p:cNvSpPr/>
          <p:nvPr/>
        </p:nvSpPr>
        <p:spPr>
          <a:xfrm>
            <a:off x="7315200" y="2743200"/>
            <a:ext cx="3108960" cy="640080"/>
          </a:xfrm>
          <a:prstGeom prst="roundRect">
            <a:avLst/>
          </a:prstGeom>
          <a:solidFill>
            <a:srgbClr val="DDF3EF"/>
          </a:solidFill>
          <a:ln w="17780">
            <a:solidFill>
              <a:srgbClr val="4B9B5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2D343C"/>
                </a:solidFill>
                <a:latin typeface="Aptos"/>
              </a:rPr>
              <a:t>Approve loan</a:t>
            </a:r>
          </a:p>
        </p:txBody>
      </p:sp>
      <p:cxnSp>
        <p:nvCxnSpPr>
          <p:cNvPr id="11" name="Connector 10"/>
          <p:cNvCxnSpPr/>
          <p:nvPr/>
        </p:nvCxnSpPr>
        <p:spPr>
          <a:xfrm flipH="1">
            <a:off x="1508760" y="3383280"/>
            <a:ext cx="502920" cy="685800"/>
          </a:xfrm>
          <a:prstGeom prst="line">
            <a:avLst/>
          </a:prstGeom>
          <a:ln w="22860">
            <a:solidFill>
              <a:srgbClr val="26969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749039" y="3383280"/>
            <a:ext cx="502921" cy="685800"/>
          </a:xfrm>
          <a:prstGeom prst="line">
            <a:avLst/>
          </a:prstGeom>
          <a:ln w="22860">
            <a:solidFill>
              <a:srgbClr val="26969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94360" y="4069080"/>
            <a:ext cx="1828800" cy="594360"/>
          </a:xfrm>
          <a:prstGeom prst="roundRect">
            <a:avLst/>
          </a:prstGeom>
          <a:solidFill>
            <a:srgbClr val="FFE8E8"/>
          </a:solidFill>
          <a:ln w="17780">
            <a:solidFill>
              <a:srgbClr val="C8555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2D343C"/>
                </a:solidFill>
                <a:latin typeface="Aptos"/>
              </a:rPr>
              <a:t>Decline</a:t>
            </a:r>
          </a:p>
        </p:txBody>
      </p:sp>
      <p:sp>
        <p:nvSpPr>
          <p:cNvPr id="14" name="Rounded Rectangle 13"/>
          <p:cNvSpPr/>
          <p:nvPr/>
        </p:nvSpPr>
        <p:spPr>
          <a:xfrm>
            <a:off x="3383280" y="4069080"/>
            <a:ext cx="1828800" cy="594360"/>
          </a:xfrm>
          <a:prstGeom prst="roundRect">
            <a:avLst/>
          </a:prstGeom>
          <a:solidFill>
            <a:srgbClr val="FFF2D8"/>
          </a:solidFill>
          <a:ln w="17780">
            <a:solidFill>
              <a:srgbClr val="E6AA2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2D343C"/>
                </a:solidFill>
                <a:latin typeface="Aptos"/>
              </a:rPr>
              <a:t>Review</a:t>
            </a:r>
          </a:p>
        </p:txBody>
      </p:sp>
      <p:sp>
        <p:nvSpPr>
          <p:cNvPr id="15" name="Rounded Rectangle 14"/>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7" name="Rounded Rectangle 16"/>
          <p:cNvSpPr/>
          <p:nvPr/>
        </p:nvSpPr>
        <p:spPr>
          <a:xfrm>
            <a:off x="384048" y="5375885"/>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64592"/>
            <a:ext cx="11338560" cy="502920"/>
          </a:xfrm>
          <a:prstGeom prst="rect">
            <a:avLst/>
          </a:prstGeom>
          <a:noFill/>
        </p:spPr>
        <p:txBody>
          <a:bodyPr wrap="square" anchor="ctr">
            <a:spAutoFit/>
          </a:bodyPr>
          <a:lstStyle/>
          <a:p>
            <a:pPr algn="ctr"/>
            <a:r>
              <a:rPr sz="2600" b="1">
                <a:solidFill>
                  <a:srgbClr val="1F375A"/>
                </a:solidFill>
                <a:latin typeface="Aptos"/>
              </a:rPr>
              <a:t>7. Random Forest: Many Trees, One Decision</a:t>
            </a:r>
          </a:p>
        </p:txBody>
      </p:sp>
      <p:sp>
        <p:nvSpPr>
          <p:cNvPr id="3" name="TextBox 2"/>
          <p:cNvSpPr txBox="1"/>
          <p:nvPr/>
        </p:nvSpPr>
        <p:spPr>
          <a:xfrm>
            <a:off x="502920" y="658368"/>
            <a:ext cx="11155680" cy="347472"/>
          </a:xfrm>
          <a:prstGeom prst="rect">
            <a:avLst/>
          </a:prstGeom>
          <a:noFill/>
        </p:spPr>
        <p:txBody>
          <a:bodyPr wrap="square" anchor="ctr">
            <a:spAutoFit/>
          </a:bodyPr>
          <a:lstStyle/>
          <a:p>
            <a:pPr algn="ctr"/>
            <a:r>
              <a:rPr sz="1100" b="0">
                <a:solidFill>
                  <a:srgbClr val="697582"/>
                </a:solidFill>
                <a:latin typeface="Aptos"/>
              </a:rPr>
              <a:t>Bootstrap samples and random feature subsets help trees make diverse predictions.</a:t>
            </a:r>
          </a:p>
        </p:txBody>
      </p:sp>
      <p:sp>
        <p:nvSpPr>
          <p:cNvPr id="4" name="Rounded Rectangle 3"/>
          <p:cNvSpPr/>
          <p:nvPr/>
        </p:nvSpPr>
        <p:spPr>
          <a:xfrm>
            <a:off x="914400" y="1417320"/>
            <a:ext cx="2286000" cy="68580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2D343C"/>
                </a:solidFill>
                <a:latin typeface="Aptos"/>
              </a:rPr>
              <a:t>Sample 1
+ random features</a:t>
            </a:r>
          </a:p>
        </p:txBody>
      </p:sp>
      <p:cxnSp>
        <p:nvCxnSpPr>
          <p:cNvPr id="5" name="Connector 4"/>
          <p:cNvCxnSpPr/>
          <p:nvPr/>
        </p:nvCxnSpPr>
        <p:spPr>
          <a:xfrm>
            <a:off x="2057400" y="2103120"/>
            <a:ext cx="0" cy="457200"/>
          </a:xfrm>
          <a:prstGeom prst="line">
            <a:avLst/>
          </a:prstGeom>
          <a:ln w="22860">
            <a:solidFill>
              <a:srgbClr val="4182BE"/>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914400" y="2560320"/>
            <a:ext cx="2286000" cy="685800"/>
          </a:xfrm>
          <a:prstGeom prst="roundRect">
            <a:avLst/>
          </a:prstGeom>
          <a:solidFill>
            <a:srgbClr val="E2EF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2D343C"/>
                </a:solidFill>
                <a:latin typeface="Aptos"/>
              </a:rPr>
              <a:t>Decision tree 1</a:t>
            </a:r>
          </a:p>
        </p:txBody>
      </p:sp>
      <p:cxnSp>
        <p:nvCxnSpPr>
          <p:cNvPr id="7" name="Connector 6"/>
          <p:cNvCxnSpPr/>
          <p:nvPr/>
        </p:nvCxnSpPr>
        <p:spPr>
          <a:xfrm>
            <a:off x="2057400" y="3246120"/>
            <a:ext cx="3931920" cy="640080"/>
          </a:xfrm>
          <a:prstGeom prst="line">
            <a:avLst/>
          </a:prstGeom>
          <a:ln w="22860">
            <a:solidFill>
              <a:srgbClr val="269691"/>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572000" y="1417320"/>
            <a:ext cx="2286000" cy="68580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2D343C"/>
                </a:solidFill>
                <a:latin typeface="Aptos"/>
              </a:rPr>
              <a:t>Sample 2
+ random features</a:t>
            </a:r>
          </a:p>
        </p:txBody>
      </p:sp>
      <p:cxnSp>
        <p:nvCxnSpPr>
          <p:cNvPr id="9" name="Connector 8"/>
          <p:cNvCxnSpPr/>
          <p:nvPr/>
        </p:nvCxnSpPr>
        <p:spPr>
          <a:xfrm>
            <a:off x="5715000" y="2103120"/>
            <a:ext cx="0" cy="457200"/>
          </a:xfrm>
          <a:prstGeom prst="line">
            <a:avLst/>
          </a:prstGeom>
          <a:ln w="22860">
            <a:solidFill>
              <a:srgbClr val="4182B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572000" y="2560320"/>
            <a:ext cx="2286000" cy="685800"/>
          </a:xfrm>
          <a:prstGeom prst="roundRect">
            <a:avLst/>
          </a:prstGeom>
          <a:solidFill>
            <a:srgbClr val="E2EF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2D343C"/>
                </a:solidFill>
                <a:latin typeface="Aptos"/>
              </a:rPr>
              <a:t>Decision tree 2</a:t>
            </a:r>
          </a:p>
        </p:txBody>
      </p:sp>
      <p:cxnSp>
        <p:nvCxnSpPr>
          <p:cNvPr id="11" name="Connector 10"/>
          <p:cNvCxnSpPr/>
          <p:nvPr/>
        </p:nvCxnSpPr>
        <p:spPr>
          <a:xfrm>
            <a:off x="5715000" y="3246120"/>
            <a:ext cx="274320" cy="640080"/>
          </a:xfrm>
          <a:prstGeom prst="line">
            <a:avLst/>
          </a:prstGeom>
          <a:ln w="22860">
            <a:solidFill>
              <a:srgbClr val="26969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229600" y="1417320"/>
            <a:ext cx="2286000" cy="68580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2D343C"/>
                </a:solidFill>
                <a:latin typeface="Aptos"/>
              </a:rPr>
              <a:t>Sample 3
+ random features</a:t>
            </a:r>
          </a:p>
        </p:txBody>
      </p:sp>
      <p:cxnSp>
        <p:nvCxnSpPr>
          <p:cNvPr id="13" name="Connector 12"/>
          <p:cNvCxnSpPr/>
          <p:nvPr/>
        </p:nvCxnSpPr>
        <p:spPr>
          <a:xfrm>
            <a:off x="9372600" y="2103120"/>
            <a:ext cx="0" cy="457200"/>
          </a:xfrm>
          <a:prstGeom prst="line">
            <a:avLst/>
          </a:prstGeom>
          <a:ln w="22860">
            <a:solidFill>
              <a:srgbClr val="4182BE"/>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229600" y="2560320"/>
            <a:ext cx="2286000" cy="685800"/>
          </a:xfrm>
          <a:prstGeom prst="roundRect">
            <a:avLst/>
          </a:prstGeom>
          <a:solidFill>
            <a:srgbClr val="E2EF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2D343C"/>
                </a:solidFill>
                <a:latin typeface="Aptos"/>
              </a:rPr>
              <a:t>Decision tree 3</a:t>
            </a:r>
          </a:p>
        </p:txBody>
      </p:sp>
      <p:cxnSp>
        <p:nvCxnSpPr>
          <p:cNvPr id="15" name="Connector 14"/>
          <p:cNvCxnSpPr/>
          <p:nvPr/>
        </p:nvCxnSpPr>
        <p:spPr>
          <a:xfrm flipH="1">
            <a:off x="5989320" y="3246120"/>
            <a:ext cx="3383280" cy="640080"/>
          </a:xfrm>
          <a:prstGeom prst="line">
            <a:avLst/>
          </a:prstGeom>
          <a:ln w="22860">
            <a:solidFill>
              <a:srgbClr val="269691"/>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160520" y="3886200"/>
            <a:ext cx="3657600" cy="777240"/>
          </a:xfrm>
          <a:prstGeom prst="roundRect">
            <a:avLst/>
          </a:prstGeom>
          <a:solidFill>
            <a:srgbClr val="DDF3EF"/>
          </a:solidFill>
          <a:ln w="17780">
            <a:solidFill>
              <a:srgbClr val="26969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2D343C"/>
                </a:solidFill>
                <a:latin typeface="Aptos"/>
              </a:rPr>
              <a:t>Aggregate predictions
(majority vote / average)</a:t>
            </a:r>
          </a:p>
        </p:txBody>
      </p:sp>
      <p:cxnSp>
        <p:nvCxnSpPr>
          <p:cNvPr id="17" name="Connector 16"/>
          <p:cNvCxnSpPr/>
          <p:nvPr/>
        </p:nvCxnSpPr>
        <p:spPr>
          <a:xfrm>
            <a:off x="5989320" y="4663440"/>
            <a:ext cx="0" cy="320040"/>
          </a:xfrm>
          <a:prstGeom prst="line">
            <a:avLst/>
          </a:prstGeom>
          <a:ln w="22860">
            <a:solidFill>
              <a:srgbClr val="269691"/>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434840" y="4983480"/>
            <a:ext cx="3108960" cy="502920"/>
          </a:xfrm>
          <a:prstGeom prst="roundRect">
            <a:avLst/>
          </a:prstGeom>
          <a:solidFill>
            <a:srgbClr val="FFF2D8"/>
          </a:solidFill>
          <a:ln w="17780">
            <a:solidFill>
              <a:srgbClr val="E6AA2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2D343C"/>
                </a:solidFill>
                <a:latin typeface="Aptos"/>
              </a:rPr>
              <a:t>Final prediction</a:t>
            </a:r>
          </a:p>
        </p:txBody>
      </p:sp>
      <p:sp>
        <p:nvSpPr>
          <p:cNvPr id="19" name="Rounded Rectangle 18"/>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64592"/>
            <a:ext cx="11338560" cy="502920"/>
          </a:xfrm>
          <a:prstGeom prst="rect">
            <a:avLst/>
          </a:prstGeom>
          <a:noFill/>
        </p:spPr>
        <p:txBody>
          <a:bodyPr wrap="square" anchor="ctr">
            <a:spAutoFit/>
          </a:bodyPr>
          <a:lstStyle/>
          <a:p>
            <a:pPr algn="ctr"/>
            <a:r>
              <a:rPr sz="2600" b="1">
                <a:solidFill>
                  <a:srgbClr val="1F375A"/>
                </a:solidFill>
                <a:latin typeface="Aptos"/>
              </a:rPr>
              <a:t>8. Gradient Boosting: Learn from Previous Errors</a:t>
            </a:r>
          </a:p>
        </p:txBody>
      </p:sp>
      <p:sp>
        <p:nvSpPr>
          <p:cNvPr id="3" name="TextBox 2"/>
          <p:cNvSpPr txBox="1"/>
          <p:nvPr/>
        </p:nvSpPr>
        <p:spPr>
          <a:xfrm>
            <a:off x="502920" y="658368"/>
            <a:ext cx="11155680" cy="347472"/>
          </a:xfrm>
          <a:prstGeom prst="rect">
            <a:avLst/>
          </a:prstGeom>
          <a:noFill/>
        </p:spPr>
        <p:txBody>
          <a:bodyPr wrap="square" anchor="ctr">
            <a:spAutoFit/>
          </a:bodyPr>
          <a:lstStyle/>
          <a:p>
            <a:pPr algn="ctr"/>
            <a:r>
              <a:rPr sz="1100" b="0">
                <a:solidFill>
                  <a:srgbClr val="697582"/>
                </a:solidFill>
                <a:latin typeface="Aptos"/>
              </a:rPr>
              <a:t>Each new weak learner focuses on residual errors from the current ensemble.</a:t>
            </a:r>
          </a:p>
        </p:txBody>
      </p:sp>
      <p:sp>
        <p:nvSpPr>
          <p:cNvPr id="4" name="Rounded Rectangle 3"/>
          <p:cNvSpPr/>
          <p:nvPr/>
        </p:nvSpPr>
        <p:spPr>
          <a:xfrm>
            <a:off x="1066647" y="2011680"/>
            <a:ext cx="1828800" cy="96012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2D343C"/>
                </a:solidFill>
                <a:latin typeface="Aptos"/>
              </a:rPr>
              <a:t>Initial model</a:t>
            </a:r>
          </a:p>
        </p:txBody>
      </p:sp>
      <p:sp>
        <p:nvSpPr>
          <p:cNvPr id="5" name="Rounded Rectangle 4"/>
          <p:cNvSpPr/>
          <p:nvPr/>
        </p:nvSpPr>
        <p:spPr>
          <a:xfrm>
            <a:off x="3124047" y="2011680"/>
            <a:ext cx="1828800" cy="960120"/>
          </a:xfrm>
          <a:prstGeom prst="roundRect">
            <a:avLst/>
          </a:prstGeom>
          <a:solidFill>
            <a:srgbClr val="E2EF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2D343C"/>
                </a:solidFill>
                <a:latin typeface="Aptos"/>
              </a:rPr>
              <a:t>Measure errors</a:t>
            </a:r>
          </a:p>
        </p:txBody>
      </p:sp>
      <p:cxnSp>
        <p:nvCxnSpPr>
          <p:cNvPr id="6" name="Connector 5"/>
          <p:cNvCxnSpPr/>
          <p:nvPr/>
        </p:nvCxnSpPr>
        <p:spPr>
          <a:xfrm>
            <a:off x="2895447" y="2491740"/>
            <a:ext cx="228600"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181447" y="2011680"/>
            <a:ext cx="1828800" cy="960120"/>
          </a:xfrm>
          <a:prstGeom prst="roundRect">
            <a:avLst/>
          </a:prstGeom>
          <a:solidFill>
            <a:srgbClr val="DDF3EF"/>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2D343C"/>
                </a:solidFill>
                <a:latin typeface="Aptos"/>
              </a:rPr>
              <a:t>Fit next learner</a:t>
            </a:r>
          </a:p>
        </p:txBody>
      </p:sp>
      <p:cxnSp>
        <p:nvCxnSpPr>
          <p:cNvPr id="8" name="Connector 7"/>
          <p:cNvCxnSpPr/>
          <p:nvPr/>
        </p:nvCxnSpPr>
        <p:spPr>
          <a:xfrm>
            <a:off x="4952847" y="2491740"/>
            <a:ext cx="228600"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238847" y="2011680"/>
            <a:ext cx="1828800" cy="960120"/>
          </a:xfrm>
          <a:prstGeom prst="roundRect">
            <a:avLst/>
          </a:prstGeom>
          <a:solidFill>
            <a:srgbClr val="FFF2D8"/>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2D343C"/>
                </a:solidFill>
                <a:latin typeface="Aptos"/>
              </a:rPr>
              <a:t>Update ensemble</a:t>
            </a:r>
          </a:p>
        </p:txBody>
      </p:sp>
      <p:cxnSp>
        <p:nvCxnSpPr>
          <p:cNvPr id="10" name="Connector 9"/>
          <p:cNvCxnSpPr/>
          <p:nvPr/>
        </p:nvCxnSpPr>
        <p:spPr>
          <a:xfrm>
            <a:off x="7010247" y="2491740"/>
            <a:ext cx="228600"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296247" y="2011680"/>
            <a:ext cx="1828800" cy="960120"/>
          </a:xfrm>
          <a:prstGeom prst="roundRect">
            <a:avLst/>
          </a:prstGeom>
          <a:solidFill>
            <a:srgbClr val="EEE7F8"/>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2D343C"/>
                </a:solidFill>
                <a:latin typeface="Aptos"/>
              </a:rPr>
              <a:t>Repeat / stop</a:t>
            </a:r>
          </a:p>
        </p:txBody>
      </p:sp>
      <p:cxnSp>
        <p:nvCxnSpPr>
          <p:cNvPr id="12" name="Connector 11"/>
          <p:cNvCxnSpPr/>
          <p:nvPr/>
        </p:nvCxnSpPr>
        <p:spPr>
          <a:xfrm>
            <a:off x="9067647" y="2491740"/>
            <a:ext cx="228600"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188720" y="3977639"/>
            <a:ext cx="9784080" cy="777240"/>
          </a:xfrm>
          <a:prstGeom prst="roundRect">
            <a:avLst/>
          </a:prstGeom>
          <a:solidFill>
            <a:srgbClr val="EEE7F8"/>
          </a:solidFill>
          <a:ln w="17780">
            <a:solidFill>
              <a:srgbClr val="7D5CAA"/>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a:solidFill>
                  <a:srgbClr val="2D343C"/>
                </a:solidFill>
                <a:latin typeface="Aptos"/>
              </a:rPr>
              <a:t>Final model = weighted combination of learners; regularization and early stopping control complexity.</a:t>
            </a:r>
          </a:p>
        </p:txBody>
      </p:sp>
      <p:sp>
        <p:nvSpPr>
          <p:cNvPr id="14" name="Rounded Rectangle 1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16" name="Rounded Rectangle 15"/>
          <p:cNvSpPr/>
          <p:nvPr/>
        </p:nvSpPr>
        <p:spPr>
          <a:xfrm>
            <a:off x="384048" y="5326724"/>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64592"/>
            <a:ext cx="11338560" cy="502920"/>
          </a:xfrm>
          <a:prstGeom prst="rect">
            <a:avLst/>
          </a:prstGeom>
          <a:noFill/>
        </p:spPr>
        <p:txBody>
          <a:bodyPr wrap="square" anchor="ctr">
            <a:spAutoFit/>
          </a:bodyPr>
          <a:lstStyle/>
          <a:p>
            <a:pPr algn="ctr"/>
            <a:r>
              <a:rPr sz="2600" b="1">
                <a:solidFill>
                  <a:srgbClr val="1F375A"/>
                </a:solidFill>
                <a:latin typeface="Aptos"/>
              </a:rPr>
              <a:t>9. K-Means Clustering</a:t>
            </a:r>
          </a:p>
        </p:txBody>
      </p:sp>
      <p:sp>
        <p:nvSpPr>
          <p:cNvPr id="3" name="TextBox 2"/>
          <p:cNvSpPr txBox="1"/>
          <p:nvPr/>
        </p:nvSpPr>
        <p:spPr>
          <a:xfrm>
            <a:off x="502920" y="658368"/>
            <a:ext cx="11155680" cy="347472"/>
          </a:xfrm>
          <a:prstGeom prst="rect">
            <a:avLst/>
          </a:prstGeom>
          <a:noFill/>
        </p:spPr>
        <p:txBody>
          <a:bodyPr wrap="square" anchor="ctr">
            <a:spAutoFit/>
          </a:bodyPr>
          <a:lstStyle/>
          <a:p>
            <a:pPr algn="ctr"/>
            <a:r>
              <a:rPr sz="1100" b="0">
                <a:solidFill>
                  <a:srgbClr val="697582"/>
                </a:solidFill>
                <a:latin typeface="Aptos"/>
              </a:rPr>
              <a:t>Assign points to the nearest centroid, update centroids, and repeat until stable.</a:t>
            </a:r>
          </a:p>
        </p:txBody>
      </p:sp>
      <p:sp>
        <p:nvSpPr>
          <p:cNvPr id="4" name="Rounded Rectangle 3"/>
          <p:cNvSpPr/>
          <p:nvPr/>
        </p:nvSpPr>
        <p:spPr>
          <a:xfrm>
            <a:off x="640080" y="1508760"/>
            <a:ext cx="2331720" cy="73152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2D343C"/>
                </a:solidFill>
                <a:latin typeface="Aptos"/>
              </a:rPr>
              <a:t>1. Choose K centroids</a:t>
            </a:r>
          </a:p>
        </p:txBody>
      </p:sp>
      <p:cxnSp>
        <p:nvCxnSpPr>
          <p:cNvPr id="5" name="Connector 4"/>
          <p:cNvCxnSpPr/>
          <p:nvPr/>
        </p:nvCxnSpPr>
        <p:spPr>
          <a:xfrm>
            <a:off x="2971800" y="1874519"/>
            <a:ext cx="502920"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474720" y="1508760"/>
            <a:ext cx="2331720" cy="731520"/>
          </a:xfrm>
          <a:prstGeom prst="roundRect">
            <a:avLst/>
          </a:prstGeom>
          <a:solidFill>
            <a:srgbClr val="E2EF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2D343C"/>
                </a:solidFill>
                <a:latin typeface="Aptos"/>
              </a:rPr>
              <a:t>2. Assign each point
to nearest centroid</a:t>
            </a:r>
          </a:p>
        </p:txBody>
      </p:sp>
      <p:cxnSp>
        <p:nvCxnSpPr>
          <p:cNvPr id="7" name="Connector 6"/>
          <p:cNvCxnSpPr/>
          <p:nvPr/>
        </p:nvCxnSpPr>
        <p:spPr>
          <a:xfrm>
            <a:off x="5806440" y="1874519"/>
            <a:ext cx="502920"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309360" y="1508760"/>
            <a:ext cx="2331720" cy="731520"/>
          </a:xfrm>
          <a:prstGeom prst="roundRect">
            <a:avLst/>
          </a:prstGeom>
          <a:solidFill>
            <a:srgbClr val="DDF3EF"/>
          </a:solidFill>
          <a:ln w="17780">
            <a:solidFill>
              <a:srgbClr val="26969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2D343C"/>
                </a:solidFill>
                <a:latin typeface="Aptos"/>
              </a:rPr>
              <a:t>3. Recompute centroids</a:t>
            </a:r>
          </a:p>
        </p:txBody>
      </p:sp>
      <p:cxnSp>
        <p:nvCxnSpPr>
          <p:cNvPr id="9" name="Connector 8"/>
          <p:cNvCxnSpPr/>
          <p:nvPr/>
        </p:nvCxnSpPr>
        <p:spPr>
          <a:xfrm>
            <a:off x="8641080" y="1874519"/>
            <a:ext cx="502920"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144000" y="1508760"/>
            <a:ext cx="2331720" cy="731520"/>
          </a:xfrm>
          <a:prstGeom prst="roundRect">
            <a:avLst/>
          </a:prstGeom>
          <a:solidFill>
            <a:srgbClr val="FFF2D8"/>
          </a:solidFill>
          <a:ln w="17780">
            <a:solidFill>
              <a:srgbClr val="E6AA2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2D343C"/>
                </a:solidFill>
                <a:latin typeface="Aptos"/>
              </a:rPr>
              <a:t>4. Check convergence</a:t>
            </a:r>
          </a:p>
        </p:txBody>
      </p:sp>
      <p:sp>
        <p:nvSpPr>
          <p:cNvPr id="11" name="Oval 10"/>
          <p:cNvSpPr/>
          <p:nvPr/>
        </p:nvSpPr>
        <p:spPr>
          <a:xfrm>
            <a:off x="2331720" y="3611880"/>
            <a:ext cx="164592" cy="164592"/>
          </a:xfrm>
          <a:prstGeom prst="ellipse">
            <a:avLst/>
          </a:prstGeom>
          <a:solidFill>
            <a:srgbClr val="4182BE"/>
          </a:solidFill>
          <a:ln>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560320" y="4023360"/>
            <a:ext cx="164592" cy="164592"/>
          </a:xfrm>
          <a:prstGeom prst="ellipse">
            <a:avLst/>
          </a:prstGeom>
          <a:solidFill>
            <a:srgbClr val="4182BE"/>
          </a:solidFill>
          <a:ln>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926080" y="3749040"/>
            <a:ext cx="164592" cy="164592"/>
          </a:xfrm>
          <a:prstGeom prst="ellipse">
            <a:avLst/>
          </a:prstGeom>
          <a:solidFill>
            <a:srgbClr val="4182BE"/>
          </a:solidFill>
          <a:ln>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154680" y="4041648"/>
            <a:ext cx="164592" cy="164592"/>
          </a:xfrm>
          <a:prstGeom prst="ellipse">
            <a:avLst/>
          </a:prstGeom>
          <a:solidFill>
            <a:srgbClr val="4182BE"/>
          </a:solidFill>
          <a:ln>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2743200" y="4160520"/>
            <a:ext cx="164592" cy="164592"/>
          </a:xfrm>
          <a:prstGeom prst="ellipse">
            <a:avLst/>
          </a:prstGeom>
          <a:solidFill>
            <a:srgbClr val="4182BE"/>
          </a:solidFill>
          <a:ln>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5-Point Star 15"/>
          <p:cNvSpPr/>
          <p:nvPr/>
        </p:nvSpPr>
        <p:spPr>
          <a:xfrm>
            <a:off x="2606040" y="3703320"/>
            <a:ext cx="320040" cy="320040"/>
          </a:xfrm>
          <a:prstGeom prst="star5">
            <a:avLst/>
          </a:prstGeom>
          <a:solidFill>
            <a:srgbClr val="E6AA2D"/>
          </a:solidFill>
          <a:ln>
            <a:solidFill>
              <a:srgbClr val="E6A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5532120" y="3703320"/>
            <a:ext cx="164592" cy="164592"/>
          </a:xfrm>
          <a:prstGeom prst="ellipse">
            <a:avLst/>
          </a:prstGeom>
          <a:solidFill>
            <a:srgbClr val="269691"/>
          </a:solidFill>
          <a:ln>
            <a:solidFill>
              <a:srgbClr val="26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5760720" y="4114800"/>
            <a:ext cx="164592" cy="164592"/>
          </a:xfrm>
          <a:prstGeom prst="ellipse">
            <a:avLst/>
          </a:prstGeom>
          <a:solidFill>
            <a:srgbClr val="269691"/>
          </a:solidFill>
          <a:ln>
            <a:solidFill>
              <a:srgbClr val="26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126480" y="3840480"/>
            <a:ext cx="164592" cy="164592"/>
          </a:xfrm>
          <a:prstGeom prst="ellipse">
            <a:avLst/>
          </a:prstGeom>
          <a:solidFill>
            <a:srgbClr val="269691"/>
          </a:solidFill>
          <a:ln>
            <a:solidFill>
              <a:srgbClr val="26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355080" y="4133087"/>
            <a:ext cx="164592" cy="164592"/>
          </a:xfrm>
          <a:prstGeom prst="ellipse">
            <a:avLst/>
          </a:prstGeom>
          <a:solidFill>
            <a:srgbClr val="269691"/>
          </a:solidFill>
          <a:ln>
            <a:solidFill>
              <a:srgbClr val="26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943600" y="4251959"/>
            <a:ext cx="164592" cy="164592"/>
          </a:xfrm>
          <a:prstGeom prst="ellipse">
            <a:avLst/>
          </a:prstGeom>
          <a:solidFill>
            <a:srgbClr val="269691"/>
          </a:solidFill>
          <a:ln>
            <a:solidFill>
              <a:srgbClr val="26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5-Point Star 21"/>
          <p:cNvSpPr/>
          <p:nvPr/>
        </p:nvSpPr>
        <p:spPr>
          <a:xfrm>
            <a:off x="5806440" y="3794759"/>
            <a:ext cx="320040" cy="320040"/>
          </a:xfrm>
          <a:prstGeom prst="star5">
            <a:avLst/>
          </a:prstGeom>
          <a:solidFill>
            <a:srgbClr val="E6AA2D"/>
          </a:solidFill>
          <a:ln>
            <a:solidFill>
              <a:srgbClr val="E6A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549640" y="3611880"/>
            <a:ext cx="164592" cy="164592"/>
          </a:xfrm>
          <a:prstGeom prst="ellipse">
            <a:avLst/>
          </a:prstGeom>
          <a:solidFill>
            <a:srgbClr val="7D5CAA"/>
          </a:solidFill>
          <a:ln>
            <a:solidFill>
              <a:srgbClr val="7D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8778240" y="4023360"/>
            <a:ext cx="164592" cy="164592"/>
          </a:xfrm>
          <a:prstGeom prst="ellipse">
            <a:avLst/>
          </a:prstGeom>
          <a:solidFill>
            <a:srgbClr val="7D5CAA"/>
          </a:solidFill>
          <a:ln>
            <a:solidFill>
              <a:srgbClr val="7D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144000" y="3749040"/>
            <a:ext cx="164592" cy="164592"/>
          </a:xfrm>
          <a:prstGeom prst="ellipse">
            <a:avLst/>
          </a:prstGeom>
          <a:solidFill>
            <a:srgbClr val="7D5CAA"/>
          </a:solidFill>
          <a:ln>
            <a:solidFill>
              <a:srgbClr val="7D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372600" y="4041648"/>
            <a:ext cx="164592" cy="164592"/>
          </a:xfrm>
          <a:prstGeom prst="ellipse">
            <a:avLst/>
          </a:prstGeom>
          <a:solidFill>
            <a:srgbClr val="7D5CAA"/>
          </a:solidFill>
          <a:ln>
            <a:solidFill>
              <a:srgbClr val="7D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961120" y="4160520"/>
            <a:ext cx="164592" cy="164592"/>
          </a:xfrm>
          <a:prstGeom prst="ellipse">
            <a:avLst/>
          </a:prstGeom>
          <a:solidFill>
            <a:srgbClr val="7D5CAA"/>
          </a:solidFill>
          <a:ln>
            <a:solidFill>
              <a:srgbClr val="7D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5-Point Star 27"/>
          <p:cNvSpPr/>
          <p:nvPr/>
        </p:nvSpPr>
        <p:spPr>
          <a:xfrm>
            <a:off x="8823960" y="3703320"/>
            <a:ext cx="320040" cy="320040"/>
          </a:xfrm>
          <a:prstGeom prst="star5">
            <a:avLst/>
          </a:prstGeom>
          <a:solidFill>
            <a:srgbClr val="E6AA2D"/>
          </a:solidFill>
          <a:ln>
            <a:solidFill>
              <a:srgbClr val="E6A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011680" y="4892040"/>
            <a:ext cx="8229600" cy="411480"/>
          </a:xfrm>
          <a:prstGeom prst="rect">
            <a:avLst/>
          </a:prstGeom>
          <a:noFill/>
        </p:spPr>
        <p:txBody>
          <a:bodyPr wrap="square" anchor="ctr">
            <a:spAutoFit/>
          </a:bodyPr>
          <a:lstStyle/>
          <a:p>
            <a:pPr algn="ctr"/>
            <a:r>
              <a:rPr sz="1200" b="0">
                <a:solidFill>
                  <a:srgbClr val="697582"/>
                </a:solidFill>
                <a:latin typeface="Aptos"/>
              </a:rPr>
              <a:t>Illustrative groups: cluster colors are not known labels; K must be chosen or tuned.</a:t>
            </a:r>
          </a:p>
        </p:txBody>
      </p:sp>
      <p:sp>
        <p:nvSpPr>
          <p:cNvPr id="30" name="Rounded Rectangle 29"/>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64592"/>
            <a:ext cx="11338560" cy="502920"/>
          </a:xfrm>
          <a:prstGeom prst="rect">
            <a:avLst/>
          </a:prstGeom>
          <a:noFill/>
        </p:spPr>
        <p:txBody>
          <a:bodyPr wrap="square" anchor="ctr">
            <a:spAutoFit/>
          </a:bodyPr>
          <a:lstStyle/>
          <a:p>
            <a:pPr algn="ctr"/>
            <a:r>
              <a:rPr sz="2600" b="1">
                <a:solidFill>
                  <a:srgbClr val="1F375A"/>
                </a:solidFill>
                <a:latin typeface="Aptos"/>
              </a:rPr>
              <a:t>10. PCA: Compress Features While Preserving Variation</a:t>
            </a:r>
          </a:p>
        </p:txBody>
      </p:sp>
      <p:sp>
        <p:nvSpPr>
          <p:cNvPr id="3" name="TextBox 2"/>
          <p:cNvSpPr txBox="1"/>
          <p:nvPr/>
        </p:nvSpPr>
        <p:spPr>
          <a:xfrm>
            <a:off x="502920" y="658368"/>
            <a:ext cx="11155680" cy="347472"/>
          </a:xfrm>
          <a:prstGeom prst="rect">
            <a:avLst/>
          </a:prstGeom>
          <a:noFill/>
        </p:spPr>
        <p:txBody>
          <a:bodyPr wrap="square" anchor="ctr">
            <a:spAutoFit/>
          </a:bodyPr>
          <a:lstStyle/>
          <a:p>
            <a:pPr algn="ctr"/>
            <a:r>
              <a:rPr sz="1100" b="0">
                <a:solidFill>
                  <a:srgbClr val="697582"/>
                </a:solidFill>
                <a:latin typeface="Aptos"/>
              </a:rPr>
              <a:t>Principal Component Analysis creates new orthogonal axes from correlated features.</a:t>
            </a:r>
          </a:p>
        </p:txBody>
      </p:sp>
      <p:sp>
        <p:nvSpPr>
          <p:cNvPr id="4" name="Rounded Rectangle 3"/>
          <p:cNvSpPr/>
          <p:nvPr/>
        </p:nvSpPr>
        <p:spPr>
          <a:xfrm>
            <a:off x="838047" y="1965960"/>
            <a:ext cx="1920240" cy="96012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Original features
(many dimensions)</a:t>
            </a:r>
          </a:p>
        </p:txBody>
      </p:sp>
      <p:sp>
        <p:nvSpPr>
          <p:cNvPr id="5" name="Rounded Rectangle 4"/>
          <p:cNvSpPr/>
          <p:nvPr/>
        </p:nvSpPr>
        <p:spPr>
          <a:xfrm>
            <a:off x="2986887" y="1965960"/>
            <a:ext cx="1920240" cy="960120"/>
          </a:xfrm>
          <a:prstGeom prst="roundRect">
            <a:avLst/>
          </a:prstGeom>
          <a:solidFill>
            <a:srgbClr val="E2EF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Center / scale</a:t>
            </a:r>
          </a:p>
        </p:txBody>
      </p:sp>
      <p:cxnSp>
        <p:nvCxnSpPr>
          <p:cNvPr id="6" name="Connector 5"/>
          <p:cNvCxnSpPr/>
          <p:nvPr/>
        </p:nvCxnSpPr>
        <p:spPr>
          <a:xfrm>
            <a:off x="2758287" y="2446020"/>
            <a:ext cx="228600"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135727" y="1965960"/>
            <a:ext cx="1920240" cy="960120"/>
          </a:xfrm>
          <a:prstGeom prst="roundRect">
            <a:avLst/>
          </a:prstGeom>
          <a:solidFill>
            <a:srgbClr val="DDF3EF"/>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Find principal
components</a:t>
            </a:r>
          </a:p>
        </p:txBody>
      </p:sp>
      <p:cxnSp>
        <p:nvCxnSpPr>
          <p:cNvPr id="8" name="Connector 7"/>
          <p:cNvCxnSpPr/>
          <p:nvPr/>
        </p:nvCxnSpPr>
        <p:spPr>
          <a:xfrm>
            <a:off x="4907127" y="2446020"/>
            <a:ext cx="228600"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284567" y="1965960"/>
            <a:ext cx="1920240" cy="960120"/>
          </a:xfrm>
          <a:prstGeom prst="roundRect">
            <a:avLst/>
          </a:prstGeom>
          <a:solidFill>
            <a:srgbClr val="FFF2D8"/>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Keep top k</a:t>
            </a:r>
          </a:p>
        </p:txBody>
      </p:sp>
      <p:cxnSp>
        <p:nvCxnSpPr>
          <p:cNvPr id="10" name="Connector 9"/>
          <p:cNvCxnSpPr/>
          <p:nvPr/>
        </p:nvCxnSpPr>
        <p:spPr>
          <a:xfrm>
            <a:off x="7055967" y="2446020"/>
            <a:ext cx="228600"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433407" y="1965960"/>
            <a:ext cx="1920240" cy="960120"/>
          </a:xfrm>
          <a:prstGeom prst="roundRect">
            <a:avLst/>
          </a:prstGeom>
          <a:solidFill>
            <a:srgbClr val="EEE7F8"/>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Lower-dimensional
representation</a:t>
            </a:r>
          </a:p>
        </p:txBody>
      </p:sp>
      <p:cxnSp>
        <p:nvCxnSpPr>
          <p:cNvPr id="12" name="Connector 11"/>
          <p:cNvCxnSpPr/>
          <p:nvPr/>
        </p:nvCxnSpPr>
        <p:spPr>
          <a:xfrm>
            <a:off x="9204807" y="2446020"/>
            <a:ext cx="228600"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051560" y="3931920"/>
            <a:ext cx="10058400" cy="777240"/>
          </a:xfrm>
          <a:prstGeom prst="roundRect">
            <a:avLst/>
          </a:prstGeom>
          <a:solidFill>
            <a:srgbClr val="EEE7F8"/>
          </a:solidFill>
          <a:ln w="17780">
            <a:solidFill>
              <a:srgbClr val="7D5CAA"/>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2D343C"/>
                </a:solidFill>
                <a:latin typeface="Aptos"/>
              </a:rPr>
              <a:t>Use cases: visualization, compression, noise reduction. Components may be harder to interpret than original features.</a:t>
            </a:r>
          </a:p>
        </p:txBody>
      </p:sp>
      <p:sp>
        <p:nvSpPr>
          <p:cNvPr id="14" name="Rounded Rectangle 1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64592"/>
            <a:ext cx="11338560" cy="502920"/>
          </a:xfrm>
          <a:prstGeom prst="rect">
            <a:avLst/>
          </a:prstGeom>
          <a:noFill/>
        </p:spPr>
        <p:txBody>
          <a:bodyPr wrap="square" anchor="ctr">
            <a:spAutoFit/>
          </a:bodyPr>
          <a:lstStyle/>
          <a:p>
            <a:pPr algn="ctr"/>
            <a:r>
              <a:rPr sz="2600" b="1">
                <a:solidFill>
                  <a:srgbClr val="1F375A"/>
                </a:solidFill>
                <a:latin typeface="Aptos"/>
              </a:rPr>
              <a:t>11. Neural Network: Forward Pass and Learning</a:t>
            </a:r>
          </a:p>
        </p:txBody>
      </p:sp>
      <p:sp>
        <p:nvSpPr>
          <p:cNvPr id="3" name="TextBox 2"/>
          <p:cNvSpPr txBox="1"/>
          <p:nvPr/>
        </p:nvSpPr>
        <p:spPr>
          <a:xfrm>
            <a:off x="502920" y="658368"/>
            <a:ext cx="11155680" cy="347472"/>
          </a:xfrm>
          <a:prstGeom prst="rect">
            <a:avLst/>
          </a:prstGeom>
          <a:noFill/>
        </p:spPr>
        <p:txBody>
          <a:bodyPr wrap="square" anchor="ctr">
            <a:spAutoFit/>
          </a:bodyPr>
          <a:lstStyle/>
          <a:p>
            <a:pPr algn="ctr"/>
            <a:r>
              <a:rPr sz="1100" b="0">
                <a:solidFill>
                  <a:srgbClr val="697582"/>
                </a:solidFill>
                <a:latin typeface="Aptos"/>
              </a:rPr>
              <a:t>Predictions flow forward; gradients flow backward to update weights.</a:t>
            </a:r>
          </a:p>
        </p:txBody>
      </p:sp>
      <p:sp>
        <p:nvSpPr>
          <p:cNvPr id="4" name="Oval 3"/>
          <p:cNvSpPr/>
          <p:nvPr/>
        </p:nvSpPr>
        <p:spPr>
          <a:xfrm>
            <a:off x="1143000" y="2057400"/>
            <a:ext cx="438912" cy="438912"/>
          </a:xfrm>
          <a:prstGeom prst="ellipse">
            <a:avLst/>
          </a:prstGeom>
          <a:solidFill>
            <a:srgbClr val="4182B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x₁</a:t>
            </a:r>
          </a:p>
        </p:txBody>
      </p:sp>
      <p:sp>
        <p:nvSpPr>
          <p:cNvPr id="5" name="Oval 4"/>
          <p:cNvSpPr/>
          <p:nvPr/>
        </p:nvSpPr>
        <p:spPr>
          <a:xfrm>
            <a:off x="1143000" y="2880360"/>
            <a:ext cx="438912" cy="438912"/>
          </a:xfrm>
          <a:prstGeom prst="ellipse">
            <a:avLst/>
          </a:prstGeom>
          <a:solidFill>
            <a:srgbClr val="4182B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x₂</a:t>
            </a:r>
          </a:p>
        </p:txBody>
      </p:sp>
      <p:sp>
        <p:nvSpPr>
          <p:cNvPr id="6" name="Oval 5"/>
          <p:cNvSpPr/>
          <p:nvPr/>
        </p:nvSpPr>
        <p:spPr>
          <a:xfrm>
            <a:off x="1143000" y="3703320"/>
            <a:ext cx="438912" cy="438912"/>
          </a:xfrm>
          <a:prstGeom prst="ellipse">
            <a:avLst/>
          </a:prstGeom>
          <a:solidFill>
            <a:srgbClr val="4182B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x₃</a:t>
            </a:r>
          </a:p>
        </p:txBody>
      </p:sp>
      <p:sp>
        <p:nvSpPr>
          <p:cNvPr id="7" name="Oval 6"/>
          <p:cNvSpPr/>
          <p:nvPr/>
        </p:nvSpPr>
        <p:spPr>
          <a:xfrm>
            <a:off x="3840480" y="1828800"/>
            <a:ext cx="438912" cy="438912"/>
          </a:xfrm>
          <a:prstGeom prst="ellipse">
            <a:avLst/>
          </a:prstGeom>
          <a:solidFill>
            <a:srgbClr val="26969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h₁</a:t>
            </a:r>
          </a:p>
        </p:txBody>
      </p:sp>
      <p:sp>
        <p:nvSpPr>
          <p:cNvPr id="8" name="Oval 7"/>
          <p:cNvSpPr/>
          <p:nvPr/>
        </p:nvSpPr>
        <p:spPr>
          <a:xfrm>
            <a:off x="3840480" y="2487168"/>
            <a:ext cx="438912" cy="438912"/>
          </a:xfrm>
          <a:prstGeom prst="ellipse">
            <a:avLst/>
          </a:prstGeom>
          <a:solidFill>
            <a:srgbClr val="26969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h₂</a:t>
            </a:r>
          </a:p>
        </p:txBody>
      </p:sp>
      <p:sp>
        <p:nvSpPr>
          <p:cNvPr id="9" name="Oval 8"/>
          <p:cNvSpPr/>
          <p:nvPr/>
        </p:nvSpPr>
        <p:spPr>
          <a:xfrm>
            <a:off x="3840480" y="3145536"/>
            <a:ext cx="438912" cy="438912"/>
          </a:xfrm>
          <a:prstGeom prst="ellipse">
            <a:avLst/>
          </a:prstGeom>
          <a:solidFill>
            <a:srgbClr val="26969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h₃</a:t>
            </a:r>
          </a:p>
        </p:txBody>
      </p:sp>
      <p:sp>
        <p:nvSpPr>
          <p:cNvPr id="10" name="Oval 9"/>
          <p:cNvSpPr/>
          <p:nvPr/>
        </p:nvSpPr>
        <p:spPr>
          <a:xfrm>
            <a:off x="3840480" y="3803904"/>
            <a:ext cx="438912" cy="438912"/>
          </a:xfrm>
          <a:prstGeom prst="ellipse">
            <a:avLst/>
          </a:prstGeom>
          <a:solidFill>
            <a:srgbClr val="26969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h₄</a:t>
            </a:r>
          </a:p>
        </p:txBody>
      </p:sp>
      <p:sp>
        <p:nvSpPr>
          <p:cNvPr id="11" name="Oval 10"/>
          <p:cNvSpPr/>
          <p:nvPr/>
        </p:nvSpPr>
        <p:spPr>
          <a:xfrm>
            <a:off x="6858000" y="2057400"/>
            <a:ext cx="438912" cy="438912"/>
          </a:xfrm>
          <a:prstGeom prst="ellipse">
            <a:avLst/>
          </a:prstGeom>
          <a:solidFill>
            <a:srgbClr val="7D5CA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z₁</a:t>
            </a:r>
          </a:p>
        </p:txBody>
      </p:sp>
      <p:sp>
        <p:nvSpPr>
          <p:cNvPr id="12" name="Oval 11"/>
          <p:cNvSpPr/>
          <p:nvPr/>
        </p:nvSpPr>
        <p:spPr>
          <a:xfrm>
            <a:off x="6858000" y="2880360"/>
            <a:ext cx="438912" cy="438912"/>
          </a:xfrm>
          <a:prstGeom prst="ellipse">
            <a:avLst/>
          </a:prstGeom>
          <a:solidFill>
            <a:srgbClr val="7D5CA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z₂</a:t>
            </a:r>
          </a:p>
        </p:txBody>
      </p:sp>
      <p:sp>
        <p:nvSpPr>
          <p:cNvPr id="13" name="Oval 12"/>
          <p:cNvSpPr/>
          <p:nvPr/>
        </p:nvSpPr>
        <p:spPr>
          <a:xfrm>
            <a:off x="6858000" y="3703320"/>
            <a:ext cx="438912" cy="438912"/>
          </a:xfrm>
          <a:prstGeom prst="ellipse">
            <a:avLst/>
          </a:prstGeom>
          <a:solidFill>
            <a:srgbClr val="7D5CA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z₃</a:t>
            </a:r>
          </a:p>
        </p:txBody>
      </p:sp>
      <p:sp>
        <p:nvSpPr>
          <p:cNvPr id="14" name="Oval 13"/>
          <p:cNvSpPr/>
          <p:nvPr/>
        </p:nvSpPr>
        <p:spPr>
          <a:xfrm>
            <a:off x="9601200" y="2743200"/>
            <a:ext cx="438912" cy="438912"/>
          </a:xfrm>
          <a:prstGeom prst="ellipse">
            <a:avLst/>
          </a:prstGeom>
          <a:solidFill>
            <a:srgbClr val="E6AA2D"/>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ŷ</a:t>
            </a:r>
          </a:p>
        </p:txBody>
      </p:sp>
      <p:cxnSp>
        <p:nvCxnSpPr>
          <p:cNvPr id="15" name="Connector 14"/>
          <p:cNvCxnSpPr/>
          <p:nvPr/>
        </p:nvCxnSpPr>
        <p:spPr>
          <a:xfrm flipV="1">
            <a:off x="1362456" y="2048256"/>
            <a:ext cx="2697480" cy="228600"/>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362456" y="2276856"/>
            <a:ext cx="2697480" cy="429768"/>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62456" y="2276856"/>
            <a:ext cx="2697480" cy="1088135"/>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362456" y="2276856"/>
            <a:ext cx="2697480" cy="1746504"/>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362456" y="2048256"/>
            <a:ext cx="2697480" cy="1051559"/>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1362456" y="2706624"/>
            <a:ext cx="2697480" cy="393191"/>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62456" y="3099815"/>
            <a:ext cx="2697480" cy="265176"/>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362456" y="3099815"/>
            <a:ext cx="2697480" cy="923545"/>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362456" y="2048256"/>
            <a:ext cx="2697480" cy="1874520"/>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362456" y="2706624"/>
            <a:ext cx="2697480" cy="1216152"/>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362456" y="3364991"/>
            <a:ext cx="2697480" cy="557785"/>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362456" y="3922776"/>
            <a:ext cx="2697480" cy="100584"/>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59936" y="2048256"/>
            <a:ext cx="3017520" cy="228600"/>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059936" y="2048256"/>
            <a:ext cx="3017520" cy="1051559"/>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059936" y="2048256"/>
            <a:ext cx="3017520" cy="1874520"/>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4059936" y="2276856"/>
            <a:ext cx="3017520" cy="429768"/>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059936" y="2706624"/>
            <a:ext cx="3017520" cy="393191"/>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059936" y="2706624"/>
            <a:ext cx="3017520" cy="1216152"/>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4059936" y="2276856"/>
            <a:ext cx="3017520" cy="1088135"/>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4059936" y="3099815"/>
            <a:ext cx="3017520" cy="265176"/>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59936" y="3364991"/>
            <a:ext cx="3017520" cy="557785"/>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4059936" y="2276856"/>
            <a:ext cx="3017520" cy="1746504"/>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4059936" y="3099815"/>
            <a:ext cx="3017520" cy="923545"/>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4059936" y="3922776"/>
            <a:ext cx="3017520" cy="100584"/>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077456" y="2276856"/>
            <a:ext cx="2743200" cy="685800"/>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7077456" y="2962656"/>
            <a:ext cx="2743200" cy="137159"/>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7077456" y="2962656"/>
            <a:ext cx="2743200" cy="960120"/>
          </a:xfrm>
          <a:prstGeom prst="line">
            <a:avLst/>
          </a:prstGeom>
          <a:ln w="8890">
            <a:solidFill>
              <a:srgbClr val="DCE6E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914400" y="4983480"/>
            <a:ext cx="4389120" cy="365760"/>
          </a:xfrm>
          <a:prstGeom prst="rect">
            <a:avLst/>
          </a:prstGeom>
          <a:noFill/>
        </p:spPr>
        <p:txBody>
          <a:bodyPr wrap="square" anchor="ctr">
            <a:spAutoFit/>
          </a:bodyPr>
          <a:lstStyle/>
          <a:p>
            <a:pPr algn="ctr"/>
            <a:r>
              <a:rPr sz="1300" b="1">
                <a:solidFill>
                  <a:srgbClr val="4182BE"/>
                </a:solidFill>
                <a:latin typeface="Aptos"/>
              </a:rPr>
              <a:t>Forward: input → activations → prediction</a:t>
            </a:r>
          </a:p>
        </p:txBody>
      </p:sp>
      <p:sp>
        <p:nvSpPr>
          <p:cNvPr id="43" name="TextBox 42"/>
          <p:cNvSpPr txBox="1"/>
          <p:nvPr/>
        </p:nvSpPr>
        <p:spPr>
          <a:xfrm>
            <a:off x="5852160" y="4983480"/>
            <a:ext cx="4754880" cy="365760"/>
          </a:xfrm>
          <a:prstGeom prst="rect">
            <a:avLst/>
          </a:prstGeom>
          <a:noFill/>
        </p:spPr>
        <p:txBody>
          <a:bodyPr wrap="square" anchor="ctr">
            <a:spAutoFit/>
          </a:bodyPr>
          <a:lstStyle/>
          <a:p>
            <a:pPr algn="ctr"/>
            <a:r>
              <a:rPr sz="1300" b="1">
                <a:solidFill>
                  <a:srgbClr val="C85555"/>
                </a:solidFill>
                <a:latin typeface="Aptos"/>
              </a:rPr>
              <a:t>Backward: loss gradient → weight updates</a:t>
            </a:r>
          </a:p>
        </p:txBody>
      </p:sp>
      <p:sp>
        <p:nvSpPr>
          <p:cNvPr id="44" name="Rounded Rectangle 4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5" name="Picture 44"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46" name="Rounded Rectangle 45"/>
          <p:cNvSpPr/>
          <p:nvPr/>
        </p:nvSpPr>
        <p:spPr>
          <a:xfrm>
            <a:off x="384048" y="5375885"/>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64592"/>
            <a:ext cx="11338560" cy="502920"/>
          </a:xfrm>
          <a:prstGeom prst="rect">
            <a:avLst/>
          </a:prstGeom>
          <a:noFill/>
        </p:spPr>
        <p:txBody>
          <a:bodyPr wrap="square" anchor="ctr">
            <a:spAutoFit/>
          </a:bodyPr>
          <a:lstStyle/>
          <a:p>
            <a:pPr algn="ctr"/>
            <a:r>
              <a:rPr sz="2600" b="1">
                <a:solidFill>
                  <a:srgbClr val="1F375A"/>
                </a:solidFill>
                <a:latin typeface="Aptos"/>
              </a:rPr>
              <a:t>12. Gradient Descent and Learning Rate</a:t>
            </a:r>
          </a:p>
        </p:txBody>
      </p:sp>
      <p:sp>
        <p:nvSpPr>
          <p:cNvPr id="3" name="TextBox 2"/>
          <p:cNvSpPr txBox="1"/>
          <p:nvPr/>
        </p:nvSpPr>
        <p:spPr>
          <a:xfrm>
            <a:off x="502920" y="658368"/>
            <a:ext cx="11155680" cy="347472"/>
          </a:xfrm>
          <a:prstGeom prst="rect">
            <a:avLst/>
          </a:prstGeom>
          <a:noFill/>
        </p:spPr>
        <p:txBody>
          <a:bodyPr wrap="square" anchor="ctr">
            <a:spAutoFit/>
          </a:bodyPr>
          <a:lstStyle/>
          <a:p>
            <a:pPr algn="ctr"/>
            <a:r>
              <a:rPr sz="1100" b="0">
                <a:solidFill>
                  <a:srgbClr val="697582"/>
                </a:solidFill>
                <a:latin typeface="Aptos"/>
              </a:rPr>
              <a:t>The learning rate controls the size of each parameter update.</a:t>
            </a:r>
          </a:p>
        </p:txBody>
      </p:sp>
      <p:sp>
        <p:nvSpPr>
          <p:cNvPr id="4" name="Rounded Rectangle 3"/>
          <p:cNvSpPr/>
          <p:nvPr/>
        </p:nvSpPr>
        <p:spPr>
          <a:xfrm>
            <a:off x="777240" y="1463040"/>
            <a:ext cx="3200400" cy="594360"/>
          </a:xfrm>
          <a:prstGeom prst="roundRect">
            <a:avLst/>
          </a:prstGeom>
          <a:solidFill>
            <a:srgbClr val="4182BE"/>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700" b="1">
                <a:solidFill>
                  <a:srgbClr val="FFFFFF"/>
                </a:solidFill>
                <a:latin typeface="Aptos"/>
              </a:rPr>
              <a:t>Too small</a:t>
            </a:r>
          </a:p>
        </p:txBody>
      </p:sp>
      <p:cxnSp>
        <p:nvCxnSpPr>
          <p:cNvPr id="5" name="Connector 4"/>
          <p:cNvCxnSpPr/>
          <p:nvPr/>
        </p:nvCxnSpPr>
        <p:spPr>
          <a:xfrm flipV="1">
            <a:off x="1097280" y="2788920"/>
            <a:ext cx="640080" cy="228600"/>
          </a:xfrm>
          <a:prstGeom prst="line">
            <a:avLst/>
          </a:prstGeom>
          <a:ln w="25400">
            <a:solidFill>
              <a:srgbClr val="4182B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737360" y="2633472"/>
            <a:ext cx="640079" cy="155448"/>
          </a:xfrm>
          <a:prstGeom prst="line">
            <a:avLst/>
          </a:prstGeom>
          <a:ln w="25400">
            <a:solidFill>
              <a:srgbClr val="4182B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2377439" y="2514600"/>
            <a:ext cx="640081" cy="118872"/>
          </a:xfrm>
          <a:prstGeom prst="line">
            <a:avLst/>
          </a:prstGeom>
          <a:ln w="25400">
            <a:solidFill>
              <a:srgbClr val="4182B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3017520" y="2450591"/>
            <a:ext cx="640080" cy="64009"/>
          </a:xfrm>
          <a:prstGeom prst="line">
            <a:avLst/>
          </a:prstGeom>
          <a:ln w="25400">
            <a:solidFill>
              <a:srgbClr val="4182B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77240" y="3931920"/>
            <a:ext cx="3200400" cy="502920"/>
          </a:xfrm>
          <a:prstGeom prst="rect">
            <a:avLst/>
          </a:prstGeom>
          <a:noFill/>
        </p:spPr>
        <p:txBody>
          <a:bodyPr wrap="square" anchor="ctr">
            <a:spAutoFit/>
          </a:bodyPr>
          <a:lstStyle/>
          <a:p>
            <a:pPr algn="ctr"/>
            <a:r>
              <a:rPr sz="1400" b="0">
                <a:solidFill>
                  <a:srgbClr val="2D343C"/>
                </a:solidFill>
                <a:latin typeface="Aptos"/>
              </a:rPr>
              <a:t>Slow progress</a:t>
            </a:r>
          </a:p>
        </p:txBody>
      </p:sp>
      <p:sp>
        <p:nvSpPr>
          <p:cNvPr id="10" name="Rounded Rectangle 9"/>
          <p:cNvSpPr/>
          <p:nvPr/>
        </p:nvSpPr>
        <p:spPr>
          <a:xfrm>
            <a:off x="4572000" y="1463040"/>
            <a:ext cx="3200400" cy="594360"/>
          </a:xfrm>
          <a:prstGeom prst="roundRect">
            <a:avLst/>
          </a:prstGeom>
          <a:solidFill>
            <a:srgbClr val="4B9B5F"/>
          </a:solidFill>
          <a:ln w="17780">
            <a:solidFill>
              <a:srgbClr val="4B9B5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700" b="1">
                <a:solidFill>
                  <a:srgbClr val="FFFFFF"/>
                </a:solidFill>
                <a:latin typeface="Aptos"/>
              </a:rPr>
              <a:t>Well tuned</a:t>
            </a:r>
          </a:p>
        </p:txBody>
      </p:sp>
      <p:cxnSp>
        <p:nvCxnSpPr>
          <p:cNvPr id="11" name="Connector 10"/>
          <p:cNvCxnSpPr/>
          <p:nvPr/>
        </p:nvCxnSpPr>
        <p:spPr>
          <a:xfrm flipV="1">
            <a:off x="4892040" y="2377439"/>
            <a:ext cx="640080" cy="640081"/>
          </a:xfrm>
          <a:prstGeom prst="line">
            <a:avLst/>
          </a:prstGeom>
          <a:ln w="25400">
            <a:solidFill>
              <a:srgbClr val="4B9B5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5532120" y="2103120"/>
            <a:ext cx="640080" cy="274319"/>
          </a:xfrm>
          <a:prstGeom prst="line">
            <a:avLst/>
          </a:prstGeom>
          <a:ln w="25400">
            <a:solidFill>
              <a:srgbClr val="4B9B5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6172200" y="2011679"/>
            <a:ext cx="640079" cy="91441"/>
          </a:xfrm>
          <a:prstGeom prst="line">
            <a:avLst/>
          </a:prstGeom>
          <a:ln w="25400">
            <a:solidFill>
              <a:srgbClr val="4B9B5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6812279" y="1993391"/>
            <a:ext cx="640080" cy="18288"/>
          </a:xfrm>
          <a:prstGeom prst="line">
            <a:avLst/>
          </a:prstGeom>
          <a:ln w="25400">
            <a:solidFill>
              <a:srgbClr val="4B9B5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572000" y="3931920"/>
            <a:ext cx="3200400" cy="502920"/>
          </a:xfrm>
          <a:prstGeom prst="rect">
            <a:avLst/>
          </a:prstGeom>
          <a:noFill/>
        </p:spPr>
        <p:txBody>
          <a:bodyPr wrap="square" anchor="ctr">
            <a:spAutoFit/>
          </a:bodyPr>
          <a:lstStyle/>
          <a:p>
            <a:pPr algn="ctr"/>
            <a:r>
              <a:rPr sz="1400" b="0">
                <a:solidFill>
                  <a:srgbClr val="2D343C"/>
                </a:solidFill>
                <a:latin typeface="Aptos"/>
              </a:rPr>
              <a:t>Steady convergence</a:t>
            </a:r>
          </a:p>
        </p:txBody>
      </p:sp>
      <p:sp>
        <p:nvSpPr>
          <p:cNvPr id="16" name="Rounded Rectangle 15"/>
          <p:cNvSpPr/>
          <p:nvPr/>
        </p:nvSpPr>
        <p:spPr>
          <a:xfrm>
            <a:off x="8366760" y="1463040"/>
            <a:ext cx="3200400" cy="594360"/>
          </a:xfrm>
          <a:prstGeom prst="roundRect">
            <a:avLst/>
          </a:prstGeom>
          <a:solidFill>
            <a:srgbClr val="C85555"/>
          </a:solidFill>
          <a:ln w="17780">
            <a:solidFill>
              <a:srgbClr val="C8555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700" b="1">
                <a:solidFill>
                  <a:srgbClr val="FFFFFF"/>
                </a:solidFill>
                <a:latin typeface="Aptos"/>
              </a:rPr>
              <a:t>Too large</a:t>
            </a:r>
          </a:p>
        </p:txBody>
      </p:sp>
      <p:cxnSp>
        <p:nvCxnSpPr>
          <p:cNvPr id="17" name="Connector 16"/>
          <p:cNvCxnSpPr/>
          <p:nvPr/>
        </p:nvCxnSpPr>
        <p:spPr>
          <a:xfrm flipV="1">
            <a:off x="8686800" y="2286000"/>
            <a:ext cx="640080" cy="731520"/>
          </a:xfrm>
          <a:prstGeom prst="line">
            <a:avLst/>
          </a:prstGeom>
          <a:ln w="25400">
            <a:solidFill>
              <a:srgbClr val="C8555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326880" y="2286000"/>
            <a:ext cx="640080" cy="822960"/>
          </a:xfrm>
          <a:prstGeom prst="line">
            <a:avLst/>
          </a:prstGeom>
          <a:ln w="25400">
            <a:solidFill>
              <a:srgbClr val="C8555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9966960" y="2194560"/>
            <a:ext cx="640080" cy="914400"/>
          </a:xfrm>
          <a:prstGeom prst="line">
            <a:avLst/>
          </a:prstGeom>
          <a:ln w="25400">
            <a:solidFill>
              <a:srgbClr val="C855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607040" y="2194560"/>
            <a:ext cx="640080" cy="1005840"/>
          </a:xfrm>
          <a:prstGeom prst="line">
            <a:avLst/>
          </a:prstGeom>
          <a:ln w="25400">
            <a:solidFill>
              <a:srgbClr val="C8555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366760" y="3931920"/>
            <a:ext cx="3200400" cy="502920"/>
          </a:xfrm>
          <a:prstGeom prst="rect">
            <a:avLst/>
          </a:prstGeom>
          <a:noFill/>
        </p:spPr>
        <p:txBody>
          <a:bodyPr wrap="square" anchor="ctr">
            <a:spAutoFit/>
          </a:bodyPr>
          <a:lstStyle/>
          <a:p>
            <a:pPr algn="ctr"/>
            <a:r>
              <a:rPr sz="1400" b="0">
                <a:solidFill>
                  <a:srgbClr val="2D343C"/>
                </a:solidFill>
                <a:latin typeface="Aptos"/>
              </a:rPr>
              <a:t>May overshoot / diverge</a:t>
            </a:r>
          </a:p>
        </p:txBody>
      </p:sp>
      <p:sp>
        <p:nvSpPr>
          <p:cNvPr id="22" name="Rounded Rectangle 21"/>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skynetix_logo_converted.png"/>
          <p:cNvPicPr>
            <a:picLocks noChangeAspect="1"/>
          </p:cNvPicPr>
          <p:nvPr/>
        </p:nvPicPr>
        <p:blipFill>
          <a:blip r:embed="rId2"/>
          <a:stretch>
            <a:fillRect/>
          </a:stretch>
        </p:blipFill>
        <p:spPr>
          <a:xfrm>
            <a:off x="10625328" y="6345936"/>
            <a:ext cx="1371600" cy="384048"/>
          </a:xfrm>
          <a:prstGeom prst="rect">
            <a:avLst/>
          </a:prstGeom>
        </p:spPr>
      </p:pic>
      <p:sp>
        <p:nvSpPr>
          <p:cNvPr id="24" name="Rounded Rectangle 23"/>
          <p:cNvSpPr/>
          <p:nvPr/>
        </p:nvSpPr>
        <p:spPr>
          <a:xfrm>
            <a:off x="384048" y="5326724"/>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64592"/>
            <a:ext cx="11338560" cy="502920"/>
          </a:xfrm>
          <a:prstGeom prst="rect">
            <a:avLst/>
          </a:prstGeom>
          <a:noFill/>
        </p:spPr>
        <p:txBody>
          <a:bodyPr wrap="square" anchor="ctr">
            <a:spAutoFit/>
          </a:bodyPr>
          <a:lstStyle/>
          <a:p>
            <a:pPr algn="ctr"/>
            <a:r>
              <a:rPr sz="2600" b="1">
                <a:solidFill>
                  <a:srgbClr val="1F375A"/>
                </a:solidFill>
                <a:latin typeface="Aptos"/>
              </a:rPr>
              <a:t>13. CNN for Image Recognition</a:t>
            </a:r>
          </a:p>
        </p:txBody>
      </p:sp>
      <p:sp>
        <p:nvSpPr>
          <p:cNvPr id="3" name="TextBox 2"/>
          <p:cNvSpPr txBox="1"/>
          <p:nvPr/>
        </p:nvSpPr>
        <p:spPr>
          <a:xfrm>
            <a:off x="502920" y="658368"/>
            <a:ext cx="11155680" cy="347472"/>
          </a:xfrm>
          <a:prstGeom prst="rect">
            <a:avLst/>
          </a:prstGeom>
          <a:noFill/>
        </p:spPr>
        <p:txBody>
          <a:bodyPr wrap="square" anchor="ctr">
            <a:spAutoFit/>
          </a:bodyPr>
          <a:lstStyle/>
          <a:p>
            <a:pPr algn="ctr"/>
            <a:r>
              <a:rPr sz="1100" b="0">
                <a:solidFill>
                  <a:srgbClr val="697582"/>
                </a:solidFill>
                <a:latin typeface="Aptos"/>
              </a:rPr>
              <a:t>Convolutional layers learn local patterns; pooling reduces spatial dimensions.</a:t>
            </a:r>
          </a:p>
        </p:txBody>
      </p:sp>
      <p:sp>
        <p:nvSpPr>
          <p:cNvPr id="4" name="Rounded Rectangle 3"/>
          <p:cNvSpPr/>
          <p:nvPr/>
        </p:nvSpPr>
        <p:spPr>
          <a:xfrm>
            <a:off x="883767" y="2011680"/>
            <a:ext cx="1600200" cy="105156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Input image</a:t>
            </a:r>
          </a:p>
        </p:txBody>
      </p:sp>
      <p:sp>
        <p:nvSpPr>
          <p:cNvPr id="5" name="Rounded Rectangle 4"/>
          <p:cNvSpPr/>
          <p:nvPr/>
        </p:nvSpPr>
        <p:spPr>
          <a:xfrm>
            <a:off x="2648559" y="2011680"/>
            <a:ext cx="1600200" cy="1051560"/>
          </a:xfrm>
          <a:prstGeom prst="roundRect">
            <a:avLst/>
          </a:prstGeom>
          <a:solidFill>
            <a:srgbClr val="E2EF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Convolution
+ activation</a:t>
            </a:r>
          </a:p>
        </p:txBody>
      </p:sp>
      <p:cxnSp>
        <p:nvCxnSpPr>
          <p:cNvPr id="6" name="Connector 5"/>
          <p:cNvCxnSpPr/>
          <p:nvPr/>
        </p:nvCxnSpPr>
        <p:spPr>
          <a:xfrm>
            <a:off x="2483967" y="2537460"/>
            <a:ext cx="164592"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413351" y="2011680"/>
            <a:ext cx="1600200" cy="1051560"/>
          </a:xfrm>
          <a:prstGeom prst="roundRect">
            <a:avLst/>
          </a:prstGeom>
          <a:solidFill>
            <a:srgbClr val="DDF3EF"/>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Pooling</a:t>
            </a:r>
          </a:p>
        </p:txBody>
      </p:sp>
      <p:cxnSp>
        <p:nvCxnSpPr>
          <p:cNvPr id="8" name="Connector 7"/>
          <p:cNvCxnSpPr/>
          <p:nvPr/>
        </p:nvCxnSpPr>
        <p:spPr>
          <a:xfrm>
            <a:off x="4248759" y="2537460"/>
            <a:ext cx="164592"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78143" y="2011680"/>
            <a:ext cx="1600200" cy="1051560"/>
          </a:xfrm>
          <a:prstGeom prst="roundRect">
            <a:avLst/>
          </a:prstGeom>
          <a:solidFill>
            <a:srgbClr val="FFF2D8"/>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More feature
maps</a:t>
            </a:r>
          </a:p>
        </p:txBody>
      </p:sp>
      <p:cxnSp>
        <p:nvCxnSpPr>
          <p:cNvPr id="10" name="Connector 9"/>
          <p:cNvCxnSpPr/>
          <p:nvPr/>
        </p:nvCxnSpPr>
        <p:spPr>
          <a:xfrm>
            <a:off x="6013551" y="2537460"/>
            <a:ext cx="164592"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942935" y="2011680"/>
            <a:ext cx="1600200" cy="1051560"/>
          </a:xfrm>
          <a:prstGeom prst="roundRect">
            <a:avLst/>
          </a:prstGeom>
          <a:solidFill>
            <a:srgbClr val="EEE7F8"/>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Flatten / head</a:t>
            </a:r>
          </a:p>
        </p:txBody>
      </p:sp>
      <p:cxnSp>
        <p:nvCxnSpPr>
          <p:cNvPr id="12" name="Connector 11"/>
          <p:cNvCxnSpPr/>
          <p:nvPr/>
        </p:nvCxnSpPr>
        <p:spPr>
          <a:xfrm>
            <a:off x="7778343" y="2537460"/>
            <a:ext cx="164592"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707727" y="2011680"/>
            <a:ext cx="1600200" cy="105156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Class scores</a:t>
            </a:r>
          </a:p>
        </p:txBody>
      </p:sp>
      <p:cxnSp>
        <p:nvCxnSpPr>
          <p:cNvPr id="14" name="Connector 13"/>
          <p:cNvCxnSpPr/>
          <p:nvPr/>
        </p:nvCxnSpPr>
        <p:spPr>
          <a:xfrm>
            <a:off x="9543135" y="2537460"/>
            <a:ext cx="164592"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68680" y="3977639"/>
            <a:ext cx="10424160" cy="731520"/>
          </a:xfrm>
          <a:prstGeom prst="roundRect">
            <a:avLst/>
          </a:prstGeom>
          <a:solidFill>
            <a:srgbClr val="DDF3EF"/>
          </a:solidFill>
          <a:ln w="17780">
            <a:solidFill>
              <a:srgbClr val="26969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2D343C"/>
                </a:solidFill>
                <a:latin typeface="Aptos"/>
              </a:rPr>
              <a:t>Early layers: edges and textures   •   Deeper layers: shapes and object parts   •   Output: class probabilities</a:t>
            </a:r>
          </a:p>
        </p:txBody>
      </p:sp>
      <p:sp>
        <p:nvSpPr>
          <p:cNvPr id="16" name="Rounded Rectangle 1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64592"/>
            <a:ext cx="11338560" cy="502920"/>
          </a:xfrm>
          <a:prstGeom prst="rect">
            <a:avLst/>
          </a:prstGeom>
          <a:noFill/>
        </p:spPr>
        <p:txBody>
          <a:bodyPr wrap="square" anchor="ctr">
            <a:spAutoFit/>
          </a:bodyPr>
          <a:lstStyle/>
          <a:p>
            <a:pPr algn="ctr"/>
            <a:r>
              <a:rPr sz="2600" b="1">
                <a:solidFill>
                  <a:srgbClr val="1F375A"/>
                </a:solidFill>
                <a:latin typeface="Aptos"/>
              </a:rPr>
              <a:t>14. Classical NLP vs. Deep Learning NLP</a:t>
            </a:r>
          </a:p>
        </p:txBody>
      </p:sp>
      <p:sp>
        <p:nvSpPr>
          <p:cNvPr id="3" name="TextBox 2"/>
          <p:cNvSpPr txBox="1"/>
          <p:nvPr/>
        </p:nvSpPr>
        <p:spPr>
          <a:xfrm>
            <a:off x="502920" y="658368"/>
            <a:ext cx="11155680" cy="347472"/>
          </a:xfrm>
          <a:prstGeom prst="rect">
            <a:avLst/>
          </a:prstGeom>
          <a:noFill/>
        </p:spPr>
        <p:txBody>
          <a:bodyPr wrap="square" anchor="ctr">
            <a:spAutoFit/>
          </a:bodyPr>
          <a:lstStyle/>
          <a:p>
            <a:pPr algn="ctr"/>
            <a:r>
              <a:rPr sz="1100" b="0">
                <a:solidFill>
                  <a:srgbClr val="697582"/>
                </a:solidFill>
                <a:latin typeface="Aptos"/>
              </a:rPr>
              <a:t>Classical pipelines often engineer linguistic features; deep models learn representations from context.</a:t>
            </a:r>
          </a:p>
        </p:txBody>
      </p:sp>
      <p:sp>
        <p:nvSpPr>
          <p:cNvPr id="4" name="Rounded Rectangle 3"/>
          <p:cNvSpPr/>
          <p:nvPr/>
        </p:nvSpPr>
        <p:spPr>
          <a:xfrm>
            <a:off x="502920" y="1325880"/>
            <a:ext cx="1828800" cy="502920"/>
          </a:xfrm>
          <a:prstGeom prst="roundRect">
            <a:avLst/>
          </a:prstGeom>
          <a:solidFill>
            <a:srgbClr val="4182BE"/>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FFFFFF"/>
                </a:solidFill>
                <a:latin typeface="Aptos"/>
              </a:rPr>
              <a:t>CLASSICAL NLP</a:t>
            </a:r>
          </a:p>
        </p:txBody>
      </p:sp>
      <p:sp>
        <p:nvSpPr>
          <p:cNvPr id="5" name="Rounded Rectangle 4"/>
          <p:cNvSpPr/>
          <p:nvPr/>
        </p:nvSpPr>
        <p:spPr>
          <a:xfrm>
            <a:off x="1875891" y="1965960"/>
            <a:ext cx="1600200" cy="68580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2D343C"/>
                </a:solidFill>
                <a:latin typeface="Aptos"/>
              </a:rPr>
              <a:t>Text</a:t>
            </a:r>
          </a:p>
        </p:txBody>
      </p:sp>
      <p:sp>
        <p:nvSpPr>
          <p:cNvPr id="6" name="Rounded Rectangle 5"/>
          <p:cNvSpPr/>
          <p:nvPr/>
        </p:nvSpPr>
        <p:spPr>
          <a:xfrm>
            <a:off x="3585819" y="1965960"/>
            <a:ext cx="1600200" cy="685800"/>
          </a:xfrm>
          <a:prstGeom prst="roundRect">
            <a:avLst/>
          </a:prstGeom>
          <a:solidFill>
            <a:srgbClr val="E2EF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2D343C"/>
                </a:solidFill>
                <a:latin typeface="Aptos"/>
              </a:rPr>
              <a:t>Tokenize</a:t>
            </a:r>
          </a:p>
        </p:txBody>
      </p:sp>
      <p:cxnSp>
        <p:nvCxnSpPr>
          <p:cNvPr id="7" name="Connector 6"/>
          <p:cNvCxnSpPr/>
          <p:nvPr/>
        </p:nvCxnSpPr>
        <p:spPr>
          <a:xfrm>
            <a:off x="3476091" y="2308860"/>
            <a:ext cx="109728"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295747" y="1965960"/>
            <a:ext cx="1600200" cy="685800"/>
          </a:xfrm>
          <a:prstGeom prst="roundRect">
            <a:avLst/>
          </a:prstGeom>
          <a:solidFill>
            <a:srgbClr val="DDF3EF"/>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2D343C"/>
                </a:solidFill>
                <a:latin typeface="Aptos"/>
              </a:rPr>
              <a:t>TF-IDF / features</a:t>
            </a:r>
          </a:p>
        </p:txBody>
      </p:sp>
      <p:cxnSp>
        <p:nvCxnSpPr>
          <p:cNvPr id="9" name="Connector 8"/>
          <p:cNvCxnSpPr/>
          <p:nvPr/>
        </p:nvCxnSpPr>
        <p:spPr>
          <a:xfrm>
            <a:off x="5186019" y="2308860"/>
            <a:ext cx="109728"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005675" y="1965960"/>
            <a:ext cx="1600200" cy="685800"/>
          </a:xfrm>
          <a:prstGeom prst="roundRect">
            <a:avLst/>
          </a:prstGeom>
          <a:solidFill>
            <a:srgbClr val="FFF2D8"/>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2D343C"/>
                </a:solidFill>
                <a:latin typeface="Aptos"/>
              </a:rPr>
              <a:t>Classifier</a:t>
            </a:r>
          </a:p>
        </p:txBody>
      </p:sp>
      <p:cxnSp>
        <p:nvCxnSpPr>
          <p:cNvPr id="11" name="Connector 10"/>
          <p:cNvCxnSpPr/>
          <p:nvPr/>
        </p:nvCxnSpPr>
        <p:spPr>
          <a:xfrm>
            <a:off x="6895947" y="2308860"/>
            <a:ext cx="109728"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715603" y="1965960"/>
            <a:ext cx="1600200" cy="685800"/>
          </a:xfrm>
          <a:prstGeom prst="roundRect">
            <a:avLst/>
          </a:prstGeom>
          <a:solidFill>
            <a:srgbClr val="EEE7F8"/>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2D343C"/>
                </a:solidFill>
                <a:latin typeface="Aptos"/>
              </a:rPr>
              <a:t>Label</a:t>
            </a:r>
          </a:p>
        </p:txBody>
      </p:sp>
      <p:cxnSp>
        <p:nvCxnSpPr>
          <p:cNvPr id="13" name="Connector 12"/>
          <p:cNvCxnSpPr/>
          <p:nvPr/>
        </p:nvCxnSpPr>
        <p:spPr>
          <a:xfrm>
            <a:off x="8605875" y="2308860"/>
            <a:ext cx="109728"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2920" y="3337560"/>
            <a:ext cx="1828800" cy="502920"/>
          </a:xfrm>
          <a:prstGeom prst="roundRect">
            <a:avLst/>
          </a:prstGeom>
          <a:solidFill>
            <a:srgbClr val="7D5CAA"/>
          </a:solidFill>
          <a:ln w="17780">
            <a:solidFill>
              <a:srgbClr val="7D5CAA"/>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FFFFFF"/>
                </a:solidFill>
                <a:latin typeface="Aptos"/>
              </a:rPr>
              <a:t>DEEP LEARNING</a:t>
            </a:r>
          </a:p>
        </p:txBody>
      </p:sp>
      <p:sp>
        <p:nvSpPr>
          <p:cNvPr id="15" name="Rounded Rectangle 14"/>
          <p:cNvSpPr/>
          <p:nvPr/>
        </p:nvSpPr>
        <p:spPr>
          <a:xfrm>
            <a:off x="1875891" y="3977639"/>
            <a:ext cx="1600200" cy="68580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2D343C"/>
                </a:solidFill>
                <a:latin typeface="Aptos"/>
              </a:rPr>
              <a:t>Text</a:t>
            </a:r>
          </a:p>
        </p:txBody>
      </p:sp>
      <p:sp>
        <p:nvSpPr>
          <p:cNvPr id="16" name="Rounded Rectangle 15"/>
          <p:cNvSpPr/>
          <p:nvPr/>
        </p:nvSpPr>
        <p:spPr>
          <a:xfrm>
            <a:off x="3585819" y="3977639"/>
            <a:ext cx="1600200" cy="685800"/>
          </a:xfrm>
          <a:prstGeom prst="roundRect">
            <a:avLst/>
          </a:prstGeom>
          <a:solidFill>
            <a:srgbClr val="E2EF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2D343C"/>
                </a:solidFill>
                <a:latin typeface="Aptos"/>
              </a:rPr>
              <a:t>Tokens + embeddings</a:t>
            </a:r>
          </a:p>
        </p:txBody>
      </p:sp>
      <p:cxnSp>
        <p:nvCxnSpPr>
          <p:cNvPr id="17" name="Connector 16"/>
          <p:cNvCxnSpPr/>
          <p:nvPr/>
        </p:nvCxnSpPr>
        <p:spPr>
          <a:xfrm>
            <a:off x="3476091" y="4320540"/>
            <a:ext cx="109728"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295747" y="3977639"/>
            <a:ext cx="1600200" cy="685800"/>
          </a:xfrm>
          <a:prstGeom prst="roundRect">
            <a:avLst/>
          </a:prstGeom>
          <a:solidFill>
            <a:srgbClr val="DDF3EF"/>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2D343C"/>
                </a:solidFill>
                <a:latin typeface="Aptos"/>
              </a:rPr>
              <a:t>Attention / neural layers</a:t>
            </a:r>
          </a:p>
        </p:txBody>
      </p:sp>
      <p:cxnSp>
        <p:nvCxnSpPr>
          <p:cNvPr id="19" name="Connector 18"/>
          <p:cNvCxnSpPr/>
          <p:nvPr/>
        </p:nvCxnSpPr>
        <p:spPr>
          <a:xfrm>
            <a:off x="5186019" y="4320540"/>
            <a:ext cx="109728"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005675" y="3977639"/>
            <a:ext cx="1600200" cy="685800"/>
          </a:xfrm>
          <a:prstGeom prst="roundRect">
            <a:avLst/>
          </a:prstGeom>
          <a:solidFill>
            <a:srgbClr val="FFF2D8"/>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2D343C"/>
                </a:solidFill>
                <a:latin typeface="Aptos"/>
              </a:rPr>
              <a:t>Task head</a:t>
            </a:r>
          </a:p>
        </p:txBody>
      </p:sp>
      <p:cxnSp>
        <p:nvCxnSpPr>
          <p:cNvPr id="21" name="Connector 20"/>
          <p:cNvCxnSpPr/>
          <p:nvPr/>
        </p:nvCxnSpPr>
        <p:spPr>
          <a:xfrm>
            <a:off x="6895947" y="4320540"/>
            <a:ext cx="109728"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715603" y="3977639"/>
            <a:ext cx="1600200" cy="685800"/>
          </a:xfrm>
          <a:prstGeom prst="roundRect">
            <a:avLst/>
          </a:prstGeom>
          <a:solidFill>
            <a:srgbClr val="EEE7F8"/>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2D343C"/>
                </a:solidFill>
                <a:latin typeface="Aptos"/>
              </a:rPr>
              <a:t>Label</a:t>
            </a:r>
          </a:p>
        </p:txBody>
      </p:sp>
      <p:cxnSp>
        <p:nvCxnSpPr>
          <p:cNvPr id="23" name="Connector 22"/>
          <p:cNvCxnSpPr/>
          <p:nvPr/>
        </p:nvCxnSpPr>
        <p:spPr>
          <a:xfrm>
            <a:off x="8605875" y="4320540"/>
            <a:ext cx="109728"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28800" y="5074920"/>
            <a:ext cx="8869680" cy="320040"/>
          </a:xfrm>
          <a:prstGeom prst="rect">
            <a:avLst/>
          </a:prstGeom>
          <a:noFill/>
        </p:spPr>
        <p:txBody>
          <a:bodyPr wrap="square" anchor="ctr">
            <a:spAutoFit/>
          </a:bodyPr>
          <a:lstStyle/>
          <a:p>
            <a:pPr algn="ctr"/>
            <a:r>
              <a:rPr sz="1200" b="0">
                <a:solidFill>
                  <a:srgbClr val="697582"/>
                </a:solidFill>
                <a:latin typeface="Aptos"/>
              </a:rPr>
              <a:t>Both need representative data, careful evaluation, and checks for bias and drift.</a:t>
            </a:r>
          </a:p>
        </p:txBody>
      </p:sp>
      <p:sp>
        <p:nvSpPr>
          <p:cNvPr id="25" name="Rounded Rectangle 24"/>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64592"/>
            <a:ext cx="11338560" cy="502920"/>
          </a:xfrm>
          <a:prstGeom prst="rect">
            <a:avLst/>
          </a:prstGeom>
          <a:noFill/>
        </p:spPr>
        <p:txBody>
          <a:bodyPr wrap="square" anchor="ctr">
            <a:spAutoFit/>
          </a:bodyPr>
          <a:lstStyle/>
          <a:p>
            <a:pPr algn="ctr"/>
            <a:r>
              <a:rPr sz="2600" b="1">
                <a:solidFill>
                  <a:srgbClr val="1F375A"/>
                </a:solidFill>
                <a:latin typeface="Aptos"/>
              </a:rPr>
              <a:t>15. Text Preprocessing and Vectorization</a:t>
            </a:r>
          </a:p>
        </p:txBody>
      </p:sp>
      <p:sp>
        <p:nvSpPr>
          <p:cNvPr id="3" name="TextBox 2"/>
          <p:cNvSpPr txBox="1"/>
          <p:nvPr/>
        </p:nvSpPr>
        <p:spPr>
          <a:xfrm>
            <a:off x="502920" y="658368"/>
            <a:ext cx="11155680" cy="347472"/>
          </a:xfrm>
          <a:prstGeom prst="rect">
            <a:avLst/>
          </a:prstGeom>
          <a:noFill/>
        </p:spPr>
        <p:txBody>
          <a:bodyPr wrap="square" anchor="ctr">
            <a:spAutoFit/>
          </a:bodyPr>
          <a:lstStyle/>
          <a:p>
            <a:pPr algn="ctr"/>
            <a:r>
              <a:rPr sz="1100" b="0">
                <a:solidFill>
                  <a:srgbClr val="697582"/>
                </a:solidFill>
                <a:latin typeface="Aptos"/>
              </a:rPr>
              <a:t>A common classical NLP path converts text into numerical features.</a:t>
            </a:r>
          </a:p>
        </p:txBody>
      </p:sp>
      <p:sp>
        <p:nvSpPr>
          <p:cNvPr id="4" name="Rounded Rectangle 3"/>
          <p:cNvSpPr/>
          <p:nvPr/>
        </p:nvSpPr>
        <p:spPr>
          <a:xfrm>
            <a:off x="632307" y="1874519"/>
            <a:ext cx="1691640" cy="86868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Raw text</a:t>
            </a:r>
          </a:p>
        </p:txBody>
      </p:sp>
      <p:sp>
        <p:nvSpPr>
          <p:cNvPr id="5" name="Rounded Rectangle 4"/>
          <p:cNvSpPr/>
          <p:nvPr/>
        </p:nvSpPr>
        <p:spPr>
          <a:xfrm>
            <a:off x="2479395" y="1874519"/>
            <a:ext cx="1691640" cy="868680"/>
          </a:xfrm>
          <a:prstGeom prst="roundRect">
            <a:avLst/>
          </a:prstGeom>
          <a:solidFill>
            <a:srgbClr val="E2EF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Normalize case</a:t>
            </a:r>
          </a:p>
        </p:txBody>
      </p:sp>
      <p:cxnSp>
        <p:nvCxnSpPr>
          <p:cNvPr id="6" name="Connector 5"/>
          <p:cNvCxnSpPr/>
          <p:nvPr/>
        </p:nvCxnSpPr>
        <p:spPr>
          <a:xfrm>
            <a:off x="2323947" y="2308860"/>
            <a:ext cx="155448"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326483" y="1874519"/>
            <a:ext cx="1691640" cy="868680"/>
          </a:xfrm>
          <a:prstGeom prst="roundRect">
            <a:avLst/>
          </a:prstGeom>
          <a:solidFill>
            <a:srgbClr val="DDF3EF"/>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Tokenize</a:t>
            </a:r>
          </a:p>
        </p:txBody>
      </p:sp>
      <p:cxnSp>
        <p:nvCxnSpPr>
          <p:cNvPr id="8" name="Connector 7"/>
          <p:cNvCxnSpPr/>
          <p:nvPr/>
        </p:nvCxnSpPr>
        <p:spPr>
          <a:xfrm>
            <a:off x="4171035" y="2308860"/>
            <a:ext cx="155448"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73571" y="1874519"/>
            <a:ext cx="1691640" cy="868680"/>
          </a:xfrm>
          <a:prstGeom prst="roundRect">
            <a:avLst/>
          </a:prstGeom>
          <a:solidFill>
            <a:srgbClr val="FFF2D8"/>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Remove / handle
stop words</a:t>
            </a:r>
          </a:p>
        </p:txBody>
      </p:sp>
      <p:cxnSp>
        <p:nvCxnSpPr>
          <p:cNvPr id="10" name="Connector 9"/>
          <p:cNvCxnSpPr/>
          <p:nvPr/>
        </p:nvCxnSpPr>
        <p:spPr>
          <a:xfrm>
            <a:off x="6018123" y="2308860"/>
            <a:ext cx="155448"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020659" y="1874519"/>
            <a:ext cx="1691640" cy="868680"/>
          </a:xfrm>
          <a:prstGeom prst="roundRect">
            <a:avLst/>
          </a:prstGeom>
          <a:solidFill>
            <a:srgbClr val="EEE7F8"/>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Stem / lemmatize</a:t>
            </a:r>
          </a:p>
        </p:txBody>
      </p:sp>
      <p:cxnSp>
        <p:nvCxnSpPr>
          <p:cNvPr id="12" name="Connector 11"/>
          <p:cNvCxnSpPr/>
          <p:nvPr/>
        </p:nvCxnSpPr>
        <p:spPr>
          <a:xfrm>
            <a:off x="7865211" y="2308860"/>
            <a:ext cx="155448"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867747" y="1874519"/>
            <a:ext cx="1691640" cy="86868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Vectorize</a:t>
            </a:r>
          </a:p>
        </p:txBody>
      </p:sp>
      <p:cxnSp>
        <p:nvCxnSpPr>
          <p:cNvPr id="14" name="Connector 13"/>
          <p:cNvCxnSpPr/>
          <p:nvPr/>
        </p:nvCxnSpPr>
        <p:spPr>
          <a:xfrm>
            <a:off x="9712299" y="2308860"/>
            <a:ext cx="155448"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14400" y="3657600"/>
            <a:ext cx="10332720" cy="731520"/>
          </a:xfrm>
          <a:prstGeom prst="roundRect">
            <a:avLst/>
          </a:prstGeom>
          <a:solidFill>
            <a:srgbClr val="FFF2D8"/>
          </a:solidFill>
          <a:ln w="17780">
            <a:solidFill>
              <a:srgbClr val="E6AA2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2D343C"/>
                </a:solidFill>
                <a:latin typeface="Aptos"/>
              </a:rPr>
              <a:t>Example: “Dogs are running” → tokens → normalized terms → numeric vector (Bag of Words / TF-IDF).</a:t>
            </a:r>
          </a:p>
        </p:txBody>
      </p:sp>
      <p:sp>
        <p:nvSpPr>
          <p:cNvPr id="16" name="TextBox 15"/>
          <p:cNvSpPr txBox="1"/>
          <p:nvPr/>
        </p:nvSpPr>
        <p:spPr>
          <a:xfrm>
            <a:off x="1005840" y="4617720"/>
            <a:ext cx="10149840" cy="411480"/>
          </a:xfrm>
          <a:prstGeom prst="rect">
            <a:avLst/>
          </a:prstGeom>
          <a:noFill/>
        </p:spPr>
        <p:txBody>
          <a:bodyPr wrap="square" anchor="ctr">
            <a:spAutoFit/>
          </a:bodyPr>
          <a:lstStyle/>
          <a:p>
            <a:pPr algn="ctr"/>
            <a:r>
              <a:rPr sz="1200" b="1">
                <a:solidFill>
                  <a:srgbClr val="C85555"/>
                </a:solidFill>
                <a:latin typeface="Aptos"/>
              </a:rPr>
              <a:t>Preprocessing depends on the task: stop-word removal or stemming can harm some meanings.</a:t>
            </a:r>
          </a:p>
        </p:txBody>
      </p:sp>
      <p:sp>
        <p:nvSpPr>
          <p:cNvPr id="17" name="Rounded Rectangle 16"/>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64592"/>
            <a:ext cx="11338560" cy="502920"/>
          </a:xfrm>
          <a:prstGeom prst="rect">
            <a:avLst/>
          </a:prstGeom>
          <a:noFill/>
        </p:spPr>
        <p:txBody>
          <a:bodyPr wrap="square" anchor="ctr">
            <a:spAutoFit/>
          </a:bodyPr>
          <a:lstStyle/>
          <a:p>
            <a:pPr algn="ctr"/>
            <a:r>
              <a:rPr sz="2600" b="1">
                <a:solidFill>
                  <a:srgbClr val="1F375A"/>
                </a:solidFill>
                <a:latin typeface="Aptos"/>
              </a:rPr>
              <a:t>16. TF-IDF: Emphasize Informative Terms</a:t>
            </a:r>
          </a:p>
        </p:txBody>
      </p:sp>
      <p:sp>
        <p:nvSpPr>
          <p:cNvPr id="3" name="TextBox 2"/>
          <p:cNvSpPr txBox="1"/>
          <p:nvPr/>
        </p:nvSpPr>
        <p:spPr>
          <a:xfrm>
            <a:off x="502920" y="658368"/>
            <a:ext cx="11155680" cy="347472"/>
          </a:xfrm>
          <a:prstGeom prst="rect">
            <a:avLst/>
          </a:prstGeom>
          <a:noFill/>
        </p:spPr>
        <p:txBody>
          <a:bodyPr wrap="square" anchor="ctr">
            <a:spAutoFit/>
          </a:bodyPr>
          <a:lstStyle/>
          <a:p>
            <a:pPr algn="ctr"/>
            <a:r>
              <a:rPr sz="1100" b="0">
                <a:solidFill>
                  <a:srgbClr val="697582"/>
                </a:solidFill>
                <a:latin typeface="Aptos"/>
              </a:rPr>
              <a:t>A term is important when frequent in a document but less common across the corpus.</a:t>
            </a:r>
          </a:p>
        </p:txBody>
      </p:sp>
      <p:sp>
        <p:nvSpPr>
          <p:cNvPr id="4" name="Rounded Rectangle 3"/>
          <p:cNvSpPr/>
          <p:nvPr/>
        </p:nvSpPr>
        <p:spPr>
          <a:xfrm>
            <a:off x="731520" y="1600200"/>
            <a:ext cx="3017520" cy="960120"/>
          </a:xfrm>
          <a:prstGeom prst="roundRect">
            <a:avLst/>
          </a:prstGeom>
          <a:solidFill>
            <a:srgbClr val="E2EF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2D343C"/>
                </a:solidFill>
                <a:latin typeface="Aptos"/>
              </a:rPr>
              <a:t>TERM FREQUENCY (TF)
How often term appears
in this document</a:t>
            </a:r>
          </a:p>
        </p:txBody>
      </p:sp>
      <p:sp>
        <p:nvSpPr>
          <p:cNvPr id="5" name="TextBox 4"/>
          <p:cNvSpPr txBox="1"/>
          <p:nvPr/>
        </p:nvSpPr>
        <p:spPr>
          <a:xfrm>
            <a:off x="3886200" y="1828800"/>
            <a:ext cx="457200" cy="411480"/>
          </a:xfrm>
          <a:prstGeom prst="rect">
            <a:avLst/>
          </a:prstGeom>
          <a:noFill/>
        </p:spPr>
        <p:txBody>
          <a:bodyPr wrap="square" anchor="ctr">
            <a:spAutoFit/>
          </a:bodyPr>
          <a:lstStyle/>
          <a:p>
            <a:pPr algn="ctr"/>
            <a:r>
              <a:rPr sz="2600" b="1">
                <a:solidFill>
                  <a:srgbClr val="1F375A"/>
                </a:solidFill>
                <a:latin typeface="Aptos"/>
              </a:rPr>
              <a:t>×</a:t>
            </a:r>
          </a:p>
        </p:txBody>
      </p:sp>
      <p:sp>
        <p:nvSpPr>
          <p:cNvPr id="6" name="Rounded Rectangle 5"/>
          <p:cNvSpPr/>
          <p:nvPr/>
        </p:nvSpPr>
        <p:spPr>
          <a:xfrm>
            <a:off x="4480560" y="1600200"/>
            <a:ext cx="3017520" cy="960120"/>
          </a:xfrm>
          <a:prstGeom prst="roundRect">
            <a:avLst/>
          </a:prstGeom>
          <a:solidFill>
            <a:srgbClr val="DDF3EF"/>
          </a:solidFill>
          <a:ln w="17780">
            <a:solidFill>
              <a:srgbClr val="26969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2D343C"/>
                </a:solidFill>
                <a:latin typeface="Aptos"/>
              </a:rPr>
              <a:t>INVERSE DOCUMENT FREQUENCY (IDF)
Down-weight terms found
in many documents</a:t>
            </a:r>
          </a:p>
        </p:txBody>
      </p:sp>
      <p:cxnSp>
        <p:nvCxnSpPr>
          <p:cNvPr id="7" name="Connector 6"/>
          <p:cNvCxnSpPr/>
          <p:nvPr/>
        </p:nvCxnSpPr>
        <p:spPr>
          <a:xfrm>
            <a:off x="7543800" y="2084831"/>
            <a:ext cx="685800" cy="0"/>
          </a:xfrm>
          <a:prstGeom prst="line">
            <a:avLst/>
          </a:prstGeom>
          <a:ln w="25400">
            <a:solidFill>
              <a:srgbClr val="E6AA2D"/>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229600" y="1600200"/>
            <a:ext cx="2834640" cy="960120"/>
          </a:xfrm>
          <a:prstGeom prst="roundRect">
            <a:avLst/>
          </a:prstGeom>
          <a:solidFill>
            <a:srgbClr val="FFF2D8"/>
          </a:solidFill>
          <a:ln w="17780">
            <a:solidFill>
              <a:srgbClr val="E6AA2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2D343C"/>
                </a:solidFill>
                <a:latin typeface="Aptos"/>
              </a:rPr>
              <a:t>TF-IDF
Term weight</a:t>
            </a:r>
          </a:p>
        </p:txBody>
      </p:sp>
      <p:sp>
        <p:nvSpPr>
          <p:cNvPr id="9" name="TextBox 8"/>
          <p:cNvSpPr txBox="1"/>
          <p:nvPr/>
        </p:nvSpPr>
        <p:spPr>
          <a:xfrm>
            <a:off x="1005840" y="3383280"/>
            <a:ext cx="10149840" cy="502920"/>
          </a:xfrm>
          <a:prstGeom prst="rect">
            <a:avLst/>
          </a:prstGeom>
          <a:noFill/>
        </p:spPr>
        <p:txBody>
          <a:bodyPr wrap="square" anchor="ctr">
            <a:spAutoFit/>
          </a:bodyPr>
          <a:lstStyle/>
          <a:p>
            <a:pPr algn="ctr"/>
            <a:r>
              <a:rPr sz="1600" b="0">
                <a:solidFill>
                  <a:srgbClr val="2D343C"/>
                </a:solidFill>
                <a:latin typeface="Aptos"/>
              </a:rPr>
              <a:t>“the” often gets low weight; a rare topic word may get a higher weight.</a:t>
            </a:r>
          </a:p>
        </p:txBody>
      </p:sp>
      <p:sp>
        <p:nvSpPr>
          <p:cNvPr id="10" name="Rounded Rectangle 9"/>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64592"/>
            <a:ext cx="11338560" cy="502920"/>
          </a:xfrm>
          <a:prstGeom prst="rect">
            <a:avLst/>
          </a:prstGeom>
          <a:noFill/>
        </p:spPr>
        <p:txBody>
          <a:bodyPr wrap="square" anchor="ctr">
            <a:spAutoFit/>
          </a:bodyPr>
          <a:lstStyle/>
          <a:p>
            <a:pPr algn="ctr"/>
            <a:r>
              <a:rPr sz="2600" b="1">
                <a:solidFill>
                  <a:srgbClr val="1F375A"/>
                </a:solidFill>
                <a:latin typeface="Aptos"/>
              </a:rPr>
              <a:t>17. Transformer Self-Attention</a:t>
            </a:r>
          </a:p>
        </p:txBody>
      </p:sp>
      <p:sp>
        <p:nvSpPr>
          <p:cNvPr id="3" name="TextBox 2"/>
          <p:cNvSpPr txBox="1"/>
          <p:nvPr/>
        </p:nvSpPr>
        <p:spPr>
          <a:xfrm>
            <a:off x="502920" y="658368"/>
            <a:ext cx="11155680" cy="347472"/>
          </a:xfrm>
          <a:prstGeom prst="rect">
            <a:avLst/>
          </a:prstGeom>
          <a:noFill/>
        </p:spPr>
        <p:txBody>
          <a:bodyPr wrap="square" anchor="ctr">
            <a:spAutoFit/>
          </a:bodyPr>
          <a:lstStyle/>
          <a:p>
            <a:pPr algn="ctr"/>
            <a:r>
              <a:rPr sz="1100" b="0">
                <a:solidFill>
                  <a:srgbClr val="697582"/>
                </a:solidFill>
                <a:latin typeface="Aptos"/>
              </a:rPr>
              <a:t>Each token can use information from other tokens to build a contextual representation.</a:t>
            </a:r>
          </a:p>
        </p:txBody>
      </p:sp>
      <p:sp>
        <p:nvSpPr>
          <p:cNvPr id="4" name="Rounded Rectangle 3"/>
          <p:cNvSpPr/>
          <p:nvPr/>
        </p:nvSpPr>
        <p:spPr>
          <a:xfrm>
            <a:off x="640080" y="1325880"/>
            <a:ext cx="1371600" cy="50292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2D343C"/>
                </a:solidFill>
                <a:latin typeface="Aptos"/>
              </a:rPr>
              <a:t>The</a:t>
            </a:r>
          </a:p>
        </p:txBody>
      </p:sp>
      <p:cxnSp>
        <p:nvCxnSpPr>
          <p:cNvPr id="5" name="Connector 4"/>
          <p:cNvCxnSpPr/>
          <p:nvPr/>
        </p:nvCxnSpPr>
        <p:spPr>
          <a:xfrm>
            <a:off x="1325880" y="1828800"/>
            <a:ext cx="0" cy="502920"/>
          </a:xfrm>
          <a:prstGeom prst="line">
            <a:avLst/>
          </a:prstGeom>
          <a:ln w="22860">
            <a:solidFill>
              <a:srgbClr val="4182BE"/>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40080" y="2331720"/>
            <a:ext cx="1371600" cy="502920"/>
          </a:xfrm>
          <a:prstGeom prst="roundRect">
            <a:avLst/>
          </a:prstGeom>
          <a:solidFill>
            <a:srgbClr val="E2EF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2D343C"/>
                </a:solidFill>
                <a:latin typeface="Aptos"/>
              </a:rPr>
              <a:t>Q / K / V</a:t>
            </a:r>
          </a:p>
        </p:txBody>
      </p:sp>
      <p:sp>
        <p:nvSpPr>
          <p:cNvPr id="7" name="Rounded Rectangle 6"/>
          <p:cNvSpPr/>
          <p:nvPr/>
        </p:nvSpPr>
        <p:spPr>
          <a:xfrm>
            <a:off x="2514600" y="1325880"/>
            <a:ext cx="1371600" cy="50292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2D343C"/>
                </a:solidFill>
                <a:latin typeface="Aptos"/>
              </a:rPr>
              <a:t>animal</a:t>
            </a:r>
          </a:p>
        </p:txBody>
      </p:sp>
      <p:cxnSp>
        <p:nvCxnSpPr>
          <p:cNvPr id="8" name="Connector 7"/>
          <p:cNvCxnSpPr/>
          <p:nvPr/>
        </p:nvCxnSpPr>
        <p:spPr>
          <a:xfrm>
            <a:off x="3200400" y="1828800"/>
            <a:ext cx="0" cy="502920"/>
          </a:xfrm>
          <a:prstGeom prst="line">
            <a:avLst/>
          </a:prstGeom>
          <a:ln w="22860">
            <a:solidFill>
              <a:srgbClr val="4182B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514600" y="2331720"/>
            <a:ext cx="1371600" cy="502920"/>
          </a:xfrm>
          <a:prstGeom prst="roundRect">
            <a:avLst/>
          </a:prstGeom>
          <a:solidFill>
            <a:srgbClr val="E2EF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2D343C"/>
                </a:solidFill>
                <a:latin typeface="Aptos"/>
              </a:rPr>
              <a:t>Q / K / V</a:t>
            </a:r>
          </a:p>
        </p:txBody>
      </p:sp>
      <p:sp>
        <p:nvSpPr>
          <p:cNvPr id="10" name="Rounded Rectangle 9"/>
          <p:cNvSpPr/>
          <p:nvPr/>
        </p:nvSpPr>
        <p:spPr>
          <a:xfrm>
            <a:off x="4389120" y="1325880"/>
            <a:ext cx="1371600" cy="50292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2D343C"/>
                </a:solidFill>
                <a:latin typeface="Aptos"/>
              </a:rPr>
              <a:t>didn't</a:t>
            </a:r>
          </a:p>
        </p:txBody>
      </p:sp>
      <p:cxnSp>
        <p:nvCxnSpPr>
          <p:cNvPr id="11" name="Connector 10"/>
          <p:cNvCxnSpPr/>
          <p:nvPr/>
        </p:nvCxnSpPr>
        <p:spPr>
          <a:xfrm>
            <a:off x="5074920" y="1828800"/>
            <a:ext cx="0" cy="502920"/>
          </a:xfrm>
          <a:prstGeom prst="line">
            <a:avLst/>
          </a:prstGeom>
          <a:ln w="22860">
            <a:solidFill>
              <a:srgbClr val="4182BE"/>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389120" y="2331720"/>
            <a:ext cx="1371600" cy="502920"/>
          </a:xfrm>
          <a:prstGeom prst="roundRect">
            <a:avLst/>
          </a:prstGeom>
          <a:solidFill>
            <a:srgbClr val="E2EF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2D343C"/>
                </a:solidFill>
                <a:latin typeface="Aptos"/>
              </a:rPr>
              <a:t>Q / K / V</a:t>
            </a:r>
          </a:p>
        </p:txBody>
      </p:sp>
      <p:sp>
        <p:nvSpPr>
          <p:cNvPr id="13" name="Rounded Rectangle 12"/>
          <p:cNvSpPr/>
          <p:nvPr/>
        </p:nvSpPr>
        <p:spPr>
          <a:xfrm>
            <a:off x="6263640" y="1325880"/>
            <a:ext cx="1371600" cy="50292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2D343C"/>
                </a:solidFill>
                <a:latin typeface="Aptos"/>
              </a:rPr>
              <a:t>cross</a:t>
            </a:r>
          </a:p>
        </p:txBody>
      </p:sp>
      <p:cxnSp>
        <p:nvCxnSpPr>
          <p:cNvPr id="14" name="Connector 13"/>
          <p:cNvCxnSpPr/>
          <p:nvPr/>
        </p:nvCxnSpPr>
        <p:spPr>
          <a:xfrm>
            <a:off x="6949440" y="1828800"/>
            <a:ext cx="0" cy="502920"/>
          </a:xfrm>
          <a:prstGeom prst="line">
            <a:avLst/>
          </a:prstGeom>
          <a:ln w="22860">
            <a:solidFill>
              <a:srgbClr val="4182BE"/>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263640" y="2331720"/>
            <a:ext cx="1371600" cy="502920"/>
          </a:xfrm>
          <a:prstGeom prst="roundRect">
            <a:avLst/>
          </a:prstGeom>
          <a:solidFill>
            <a:srgbClr val="E2EF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2D343C"/>
                </a:solidFill>
                <a:latin typeface="Aptos"/>
              </a:rPr>
              <a:t>Q / K / V</a:t>
            </a:r>
          </a:p>
        </p:txBody>
      </p:sp>
      <p:sp>
        <p:nvSpPr>
          <p:cNvPr id="16" name="Rounded Rectangle 15"/>
          <p:cNvSpPr/>
          <p:nvPr/>
        </p:nvSpPr>
        <p:spPr>
          <a:xfrm>
            <a:off x="8138159" y="1325880"/>
            <a:ext cx="1371600" cy="50292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2D343C"/>
                </a:solidFill>
                <a:latin typeface="Aptos"/>
              </a:rPr>
              <a:t>because</a:t>
            </a:r>
          </a:p>
        </p:txBody>
      </p:sp>
      <p:cxnSp>
        <p:nvCxnSpPr>
          <p:cNvPr id="17" name="Connector 16"/>
          <p:cNvCxnSpPr/>
          <p:nvPr/>
        </p:nvCxnSpPr>
        <p:spPr>
          <a:xfrm>
            <a:off x="8823959" y="1828800"/>
            <a:ext cx="0" cy="502920"/>
          </a:xfrm>
          <a:prstGeom prst="line">
            <a:avLst/>
          </a:prstGeom>
          <a:ln w="22860">
            <a:solidFill>
              <a:srgbClr val="4182BE"/>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38159" y="2331720"/>
            <a:ext cx="1371600" cy="502920"/>
          </a:xfrm>
          <a:prstGeom prst="roundRect">
            <a:avLst/>
          </a:prstGeom>
          <a:solidFill>
            <a:srgbClr val="E2EF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2D343C"/>
                </a:solidFill>
                <a:latin typeface="Aptos"/>
              </a:rPr>
              <a:t>Q / K / V</a:t>
            </a:r>
          </a:p>
        </p:txBody>
      </p:sp>
      <p:sp>
        <p:nvSpPr>
          <p:cNvPr id="19" name="Rounded Rectangle 18"/>
          <p:cNvSpPr/>
          <p:nvPr/>
        </p:nvSpPr>
        <p:spPr>
          <a:xfrm>
            <a:off x="10012680" y="1325880"/>
            <a:ext cx="1371600" cy="50292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2D343C"/>
                </a:solidFill>
                <a:latin typeface="Aptos"/>
              </a:rPr>
              <a:t>it</a:t>
            </a:r>
          </a:p>
        </p:txBody>
      </p:sp>
      <p:cxnSp>
        <p:nvCxnSpPr>
          <p:cNvPr id="20" name="Connector 19"/>
          <p:cNvCxnSpPr/>
          <p:nvPr/>
        </p:nvCxnSpPr>
        <p:spPr>
          <a:xfrm>
            <a:off x="10698480" y="1828800"/>
            <a:ext cx="0" cy="502920"/>
          </a:xfrm>
          <a:prstGeom prst="line">
            <a:avLst/>
          </a:prstGeom>
          <a:ln w="22860">
            <a:solidFill>
              <a:srgbClr val="4182BE"/>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0012680" y="2331720"/>
            <a:ext cx="1371600" cy="502920"/>
          </a:xfrm>
          <a:prstGeom prst="roundRect">
            <a:avLst/>
          </a:prstGeom>
          <a:solidFill>
            <a:srgbClr val="E2EF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2D343C"/>
                </a:solidFill>
                <a:latin typeface="Aptos"/>
              </a:rPr>
              <a:t>Q / K / V</a:t>
            </a:r>
          </a:p>
        </p:txBody>
      </p:sp>
      <p:sp>
        <p:nvSpPr>
          <p:cNvPr id="22" name="Rounded Rectangle 21"/>
          <p:cNvSpPr/>
          <p:nvPr/>
        </p:nvSpPr>
        <p:spPr>
          <a:xfrm>
            <a:off x="1051560" y="3429000"/>
            <a:ext cx="10058400" cy="777240"/>
          </a:xfrm>
          <a:prstGeom prst="roundRect">
            <a:avLst/>
          </a:prstGeom>
          <a:solidFill>
            <a:srgbClr val="EEE7F8"/>
          </a:solidFill>
          <a:ln w="17780">
            <a:solidFill>
              <a:srgbClr val="7D5CAA"/>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2D343C"/>
                </a:solidFill>
                <a:latin typeface="Aptos"/>
              </a:rPr>
              <a:t>Attention scores compare queries with keys; weighted values produce contextual token representations.</a:t>
            </a:r>
          </a:p>
        </p:txBody>
      </p:sp>
      <p:sp>
        <p:nvSpPr>
          <p:cNvPr id="23" name="TextBox 22"/>
          <p:cNvSpPr txBox="1"/>
          <p:nvPr/>
        </p:nvSpPr>
        <p:spPr>
          <a:xfrm>
            <a:off x="1051560" y="4480560"/>
            <a:ext cx="10058400" cy="502920"/>
          </a:xfrm>
          <a:prstGeom prst="rect">
            <a:avLst/>
          </a:prstGeom>
          <a:noFill/>
        </p:spPr>
        <p:txBody>
          <a:bodyPr wrap="square" anchor="ctr">
            <a:spAutoFit/>
          </a:bodyPr>
          <a:lstStyle/>
          <a:p>
            <a:pPr algn="ctr"/>
            <a:r>
              <a:rPr sz="1300" b="0">
                <a:solidFill>
                  <a:srgbClr val="697582"/>
                </a:solidFill>
                <a:latin typeface="Aptos"/>
              </a:rPr>
              <a:t>Multi-head attention learns different relationships in parallel; positional information preserves order.</a:t>
            </a:r>
          </a:p>
        </p:txBody>
      </p:sp>
      <p:sp>
        <p:nvSpPr>
          <p:cNvPr id="24" name="Rounded Rectangle 2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64592"/>
            <a:ext cx="11338560" cy="502920"/>
          </a:xfrm>
          <a:prstGeom prst="rect">
            <a:avLst/>
          </a:prstGeom>
          <a:noFill/>
        </p:spPr>
        <p:txBody>
          <a:bodyPr wrap="square" anchor="ctr">
            <a:spAutoFit/>
          </a:bodyPr>
          <a:lstStyle/>
          <a:p>
            <a:pPr algn="ctr"/>
            <a:r>
              <a:rPr sz="2600" b="1">
                <a:solidFill>
                  <a:srgbClr val="1F375A"/>
                </a:solidFill>
                <a:latin typeface="Aptos"/>
              </a:rPr>
              <a:t>18. NLP Model Evaluation and Deployment Feedback</a:t>
            </a:r>
          </a:p>
        </p:txBody>
      </p:sp>
      <p:sp>
        <p:nvSpPr>
          <p:cNvPr id="3" name="TextBox 2"/>
          <p:cNvSpPr txBox="1"/>
          <p:nvPr/>
        </p:nvSpPr>
        <p:spPr>
          <a:xfrm>
            <a:off x="502920" y="658368"/>
            <a:ext cx="11155680" cy="347472"/>
          </a:xfrm>
          <a:prstGeom prst="rect">
            <a:avLst/>
          </a:prstGeom>
          <a:noFill/>
        </p:spPr>
        <p:txBody>
          <a:bodyPr wrap="square" anchor="ctr">
            <a:spAutoFit/>
          </a:bodyPr>
          <a:lstStyle/>
          <a:p>
            <a:pPr algn="ctr"/>
            <a:r>
              <a:rPr sz="1100" b="0">
                <a:solidFill>
                  <a:srgbClr val="697582"/>
                </a:solidFill>
                <a:latin typeface="Aptos"/>
              </a:rPr>
              <a:t>Evaluate the task, monitor real-world behavior, and feed evidence back into improvement.</a:t>
            </a:r>
          </a:p>
        </p:txBody>
      </p:sp>
      <p:sp>
        <p:nvSpPr>
          <p:cNvPr id="4" name="Rounded Rectangle 3"/>
          <p:cNvSpPr/>
          <p:nvPr/>
        </p:nvSpPr>
        <p:spPr>
          <a:xfrm>
            <a:off x="1007211" y="1874519"/>
            <a:ext cx="1874519" cy="960120"/>
          </a:xfrm>
          <a:prstGeom prst="roundRect">
            <a:avLst/>
          </a:prstGeom>
          <a:solidFill>
            <a:srgbClr val="EFF5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Labeled examples</a:t>
            </a:r>
          </a:p>
        </p:txBody>
      </p:sp>
      <p:sp>
        <p:nvSpPr>
          <p:cNvPr id="5" name="Rounded Rectangle 4"/>
          <p:cNvSpPr/>
          <p:nvPr/>
        </p:nvSpPr>
        <p:spPr>
          <a:xfrm>
            <a:off x="3082899" y="1874519"/>
            <a:ext cx="1874519" cy="960120"/>
          </a:xfrm>
          <a:prstGeom prst="roundRect">
            <a:avLst/>
          </a:prstGeom>
          <a:solidFill>
            <a:srgbClr val="E2EFFA"/>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Model inference</a:t>
            </a:r>
          </a:p>
        </p:txBody>
      </p:sp>
      <p:cxnSp>
        <p:nvCxnSpPr>
          <p:cNvPr id="6" name="Connector 5"/>
          <p:cNvCxnSpPr/>
          <p:nvPr/>
        </p:nvCxnSpPr>
        <p:spPr>
          <a:xfrm>
            <a:off x="2881731" y="2354579"/>
            <a:ext cx="201168"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158587" y="1874519"/>
            <a:ext cx="1874519" cy="960120"/>
          </a:xfrm>
          <a:prstGeom prst="roundRect">
            <a:avLst/>
          </a:prstGeom>
          <a:solidFill>
            <a:srgbClr val="DDF3EF"/>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Metrics
(precision / recall)</a:t>
            </a:r>
          </a:p>
        </p:txBody>
      </p:sp>
      <p:cxnSp>
        <p:nvCxnSpPr>
          <p:cNvPr id="8" name="Connector 7"/>
          <p:cNvCxnSpPr/>
          <p:nvPr/>
        </p:nvCxnSpPr>
        <p:spPr>
          <a:xfrm>
            <a:off x="4957419" y="2354579"/>
            <a:ext cx="201168"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234275" y="1874519"/>
            <a:ext cx="1874519" cy="960120"/>
          </a:xfrm>
          <a:prstGeom prst="roundRect">
            <a:avLst/>
          </a:prstGeom>
          <a:solidFill>
            <a:srgbClr val="FFF2D8"/>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Human review</a:t>
            </a:r>
          </a:p>
        </p:txBody>
      </p:sp>
      <p:cxnSp>
        <p:nvCxnSpPr>
          <p:cNvPr id="10" name="Connector 9"/>
          <p:cNvCxnSpPr/>
          <p:nvPr/>
        </p:nvCxnSpPr>
        <p:spPr>
          <a:xfrm>
            <a:off x="7033107" y="2354579"/>
            <a:ext cx="201168"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309963" y="1874519"/>
            <a:ext cx="1874519" cy="960120"/>
          </a:xfrm>
          <a:prstGeom prst="roundRect">
            <a:avLst/>
          </a:prstGeom>
          <a:solidFill>
            <a:srgbClr val="EEE7F8"/>
          </a:solidFill>
          <a:ln w="17780">
            <a:solidFill>
              <a:srgbClr val="4182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D343C"/>
                </a:solidFill>
                <a:latin typeface="Aptos"/>
              </a:rPr>
              <a:t>Production monitor</a:t>
            </a:r>
          </a:p>
        </p:txBody>
      </p:sp>
      <p:cxnSp>
        <p:nvCxnSpPr>
          <p:cNvPr id="12" name="Connector 11"/>
          <p:cNvCxnSpPr/>
          <p:nvPr/>
        </p:nvCxnSpPr>
        <p:spPr>
          <a:xfrm>
            <a:off x="9108795" y="2354579"/>
            <a:ext cx="201168" cy="0"/>
          </a:xfrm>
          <a:prstGeom prst="line">
            <a:avLst/>
          </a:prstGeom>
          <a:ln w="22860">
            <a:solidFill>
              <a:srgbClr val="69758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789920" y="3063240"/>
            <a:ext cx="0" cy="731520"/>
          </a:xfrm>
          <a:prstGeom prst="line">
            <a:avLst/>
          </a:prstGeom>
          <a:ln w="25400">
            <a:solidFill>
              <a:srgbClr val="C855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1417320" y="3794760"/>
            <a:ext cx="9372600" cy="0"/>
          </a:xfrm>
          <a:prstGeom prst="line">
            <a:avLst/>
          </a:prstGeom>
          <a:ln w="25400">
            <a:solidFill>
              <a:srgbClr val="C8555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417320" y="2880360"/>
            <a:ext cx="0" cy="914400"/>
          </a:xfrm>
          <a:prstGeom prst="line">
            <a:avLst/>
          </a:prstGeom>
          <a:ln w="25400">
            <a:solidFill>
              <a:srgbClr val="C85555"/>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011680" y="4069080"/>
            <a:ext cx="8138160" cy="731520"/>
          </a:xfrm>
          <a:prstGeom prst="roundRect">
            <a:avLst/>
          </a:prstGeom>
          <a:solidFill>
            <a:srgbClr val="FFF2D8"/>
          </a:solidFill>
          <a:ln w="17780">
            <a:solidFill>
              <a:srgbClr val="E6AA2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2D343C"/>
                </a:solidFill>
                <a:latin typeface="Aptos"/>
              </a:rPr>
              <a:t>Feedback: investigate errors, check data drift, refresh labels, retrain only when validation supports it.</a:t>
            </a:r>
          </a:p>
        </p:txBody>
      </p:sp>
      <p:sp>
        <p:nvSpPr>
          <p:cNvPr id="17" name="Rounded Rectangle 16"/>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skynetix_logo_converted.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11521440" cy="384048"/>
          </a:xfrm>
          <a:prstGeom prst="rect">
            <a:avLst/>
          </a:prstGeom>
          <a:noFill/>
        </p:spPr>
        <p:txBody>
          <a:bodyPr wrap="none" anchor="ctr">
            <a:spAutoFit/>
          </a:bodyPr>
          <a:lstStyle/>
          <a:p>
            <a:pPr algn="ctr"/>
            <a:r>
              <a:rPr sz="1700" b="1">
                <a:solidFill>
                  <a:srgbClr val="1F375A"/>
                </a:solidFill>
                <a:latin typeface="Aptos"/>
              </a:rPr>
              <a:t>Image Diagram 01 — 01 Learning Types</a:t>
            </a:r>
          </a:p>
        </p:txBody>
      </p:sp>
      <p:pic>
        <p:nvPicPr>
          <p:cNvPr id="3" name="Picture 2" descr="01_learning_types.png"/>
          <p:cNvPicPr>
            <a:picLocks noChangeAspect="1"/>
          </p:cNvPicPr>
          <p:nvPr/>
        </p:nvPicPr>
        <p:blipFill>
          <a:blip r:embed="rId2"/>
          <a:stretch>
            <a:fillRect/>
          </a:stretch>
        </p:blipFill>
        <p:spPr>
          <a:xfrm>
            <a:off x="384048" y="530352"/>
            <a:ext cx="11384280" cy="5897880"/>
          </a:xfrm>
          <a:prstGeom prst="rect">
            <a:avLst/>
          </a:prstGeom>
        </p:spPr>
      </p:pic>
      <p:sp>
        <p:nvSpPr>
          <p:cNvPr id="4" name="Rounded Rectangle 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kynetix_logo_converted.png"/>
          <p:cNvPicPr>
            <a:picLocks noChangeAspect="1"/>
          </p:cNvPicPr>
          <p:nvPr/>
        </p:nvPicPr>
        <p:blipFill>
          <a:blip r:embed="rId3"/>
          <a:stretch>
            <a:fillRect/>
          </a:stretch>
        </p:blipFill>
        <p:spPr>
          <a:xfrm>
            <a:off x="10625328" y="6345936"/>
            <a:ext cx="1371600" cy="384048"/>
          </a:xfrm>
          <a:prstGeom prst="rect">
            <a:avLst/>
          </a:prstGeom>
        </p:spPr>
      </p:pic>
      <p:sp>
        <p:nvSpPr>
          <p:cNvPr id="6" name="Rounded Rectangle 5"/>
          <p:cNvSpPr/>
          <p:nvPr/>
        </p:nvSpPr>
        <p:spPr>
          <a:xfrm>
            <a:off x="384048" y="4982593"/>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11521440" cy="384048"/>
          </a:xfrm>
          <a:prstGeom prst="rect">
            <a:avLst/>
          </a:prstGeom>
          <a:noFill/>
        </p:spPr>
        <p:txBody>
          <a:bodyPr wrap="none" anchor="ctr">
            <a:spAutoFit/>
          </a:bodyPr>
          <a:lstStyle/>
          <a:p>
            <a:pPr algn="ctr"/>
            <a:r>
              <a:rPr sz="1700" b="1">
                <a:solidFill>
                  <a:srgbClr val="1F375A"/>
                </a:solidFill>
                <a:latin typeface="Aptos"/>
              </a:rPr>
              <a:t>Image Diagram 02 — 02 Ml Workflow</a:t>
            </a:r>
          </a:p>
        </p:txBody>
      </p:sp>
      <p:pic>
        <p:nvPicPr>
          <p:cNvPr id="3" name="Picture 2" descr="02_ml_workflow.png"/>
          <p:cNvPicPr>
            <a:picLocks noChangeAspect="1"/>
          </p:cNvPicPr>
          <p:nvPr/>
        </p:nvPicPr>
        <p:blipFill>
          <a:blip r:embed="rId2"/>
          <a:stretch>
            <a:fillRect/>
          </a:stretch>
        </p:blipFill>
        <p:spPr>
          <a:xfrm>
            <a:off x="384048" y="530352"/>
            <a:ext cx="11384280" cy="5897880"/>
          </a:xfrm>
          <a:prstGeom prst="rect">
            <a:avLst/>
          </a:prstGeom>
        </p:spPr>
      </p:pic>
      <p:sp>
        <p:nvSpPr>
          <p:cNvPr id="4" name="Rounded Rectangle 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kynetix_logo_converted.png"/>
          <p:cNvPicPr>
            <a:picLocks noChangeAspect="1"/>
          </p:cNvPicPr>
          <p:nvPr/>
        </p:nvPicPr>
        <p:blipFill>
          <a:blip r:embed="rId3"/>
          <a:stretch>
            <a:fillRect/>
          </a:stretch>
        </p:blipFill>
        <p:spPr>
          <a:xfrm>
            <a:off x="10625328" y="6345936"/>
            <a:ext cx="1371600" cy="384048"/>
          </a:xfrm>
          <a:prstGeom prst="rect">
            <a:avLst/>
          </a:prstGeom>
        </p:spPr>
      </p:pic>
      <p:sp>
        <p:nvSpPr>
          <p:cNvPr id="6" name="Rounded Rectangle 5"/>
          <p:cNvSpPr/>
          <p:nvPr/>
        </p:nvSpPr>
        <p:spPr>
          <a:xfrm>
            <a:off x="384048" y="4815446"/>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11521440" cy="384048"/>
          </a:xfrm>
          <a:prstGeom prst="rect">
            <a:avLst/>
          </a:prstGeom>
          <a:noFill/>
        </p:spPr>
        <p:txBody>
          <a:bodyPr wrap="none" anchor="ctr">
            <a:spAutoFit/>
          </a:bodyPr>
          <a:lstStyle/>
          <a:p>
            <a:pPr algn="ctr"/>
            <a:r>
              <a:rPr sz="1700" b="1">
                <a:solidFill>
                  <a:srgbClr val="1F375A"/>
                </a:solidFill>
                <a:latin typeface="Aptos"/>
              </a:rPr>
              <a:t>Image Diagram 03 — 03 Data Split</a:t>
            </a:r>
          </a:p>
        </p:txBody>
      </p:sp>
      <p:pic>
        <p:nvPicPr>
          <p:cNvPr id="3" name="Picture 2" descr="03_data_split.png"/>
          <p:cNvPicPr>
            <a:picLocks noChangeAspect="1"/>
          </p:cNvPicPr>
          <p:nvPr/>
        </p:nvPicPr>
        <p:blipFill>
          <a:blip r:embed="rId2"/>
          <a:stretch>
            <a:fillRect/>
          </a:stretch>
        </p:blipFill>
        <p:spPr>
          <a:xfrm>
            <a:off x="384048" y="530352"/>
            <a:ext cx="11384280" cy="5897880"/>
          </a:xfrm>
          <a:prstGeom prst="rect">
            <a:avLst/>
          </a:prstGeom>
        </p:spPr>
      </p:pic>
      <p:sp>
        <p:nvSpPr>
          <p:cNvPr id="4" name="Rounded Rectangle 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kynetix_logo_converted.png"/>
          <p:cNvPicPr>
            <a:picLocks noChangeAspect="1"/>
          </p:cNvPicPr>
          <p:nvPr/>
        </p:nvPicPr>
        <p:blipFill>
          <a:blip r:embed="rId3"/>
          <a:stretch>
            <a:fillRect/>
          </a:stretch>
        </p:blipFill>
        <p:spPr>
          <a:xfrm>
            <a:off x="10625328" y="6345936"/>
            <a:ext cx="1371600" cy="384048"/>
          </a:xfrm>
          <a:prstGeom prst="rect">
            <a:avLst/>
          </a:prstGeom>
        </p:spPr>
      </p:pic>
      <p:sp>
        <p:nvSpPr>
          <p:cNvPr id="6" name="Rounded Rectangle 5"/>
          <p:cNvSpPr/>
          <p:nvPr/>
        </p:nvSpPr>
        <p:spPr>
          <a:xfrm>
            <a:off x="384048" y="5002258"/>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dirty="0">
                <a:solidFill>
                  <a:srgbClr val="1F3755"/>
                </a:solidFill>
              </a:rPr>
              <a:t>Explanation: </a:t>
            </a:r>
            <a:r>
              <a:rPr sz="900" dirty="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11521440" cy="384048"/>
          </a:xfrm>
          <a:prstGeom prst="rect">
            <a:avLst/>
          </a:prstGeom>
          <a:noFill/>
        </p:spPr>
        <p:txBody>
          <a:bodyPr wrap="none" anchor="ctr">
            <a:spAutoFit/>
          </a:bodyPr>
          <a:lstStyle/>
          <a:p>
            <a:pPr algn="ctr"/>
            <a:r>
              <a:rPr sz="1700" b="1">
                <a:solidFill>
                  <a:srgbClr val="1F375A"/>
                </a:solidFill>
                <a:latin typeface="Aptos"/>
              </a:rPr>
              <a:t>Image Diagram 04 — 04 Fit Balance</a:t>
            </a:r>
          </a:p>
        </p:txBody>
      </p:sp>
      <p:pic>
        <p:nvPicPr>
          <p:cNvPr id="3" name="Picture 2" descr="04_fit_balance.png"/>
          <p:cNvPicPr>
            <a:picLocks noChangeAspect="1"/>
          </p:cNvPicPr>
          <p:nvPr/>
        </p:nvPicPr>
        <p:blipFill>
          <a:blip r:embed="rId2"/>
          <a:stretch>
            <a:fillRect/>
          </a:stretch>
        </p:blipFill>
        <p:spPr>
          <a:xfrm>
            <a:off x="384048" y="530352"/>
            <a:ext cx="11384280" cy="5897880"/>
          </a:xfrm>
          <a:prstGeom prst="rect">
            <a:avLst/>
          </a:prstGeom>
        </p:spPr>
      </p:pic>
      <p:sp>
        <p:nvSpPr>
          <p:cNvPr id="4" name="Rounded Rectangle 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kynetix_logo_converted.png"/>
          <p:cNvPicPr>
            <a:picLocks noChangeAspect="1"/>
          </p:cNvPicPr>
          <p:nvPr/>
        </p:nvPicPr>
        <p:blipFill>
          <a:blip r:embed="rId3"/>
          <a:stretch>
            <a:fillRect/>
          </a:stretch>
        </p:blipFill>
        <p:spPr>
          <a:xfrm>
            <a:off x="10625328" y="6345936"/>
            <a:ext cx="1371600" cy="384048"/>
          </a:xfrm>
          <a:prstGeom prst="rect">
            <a:avLst/>
          </a:prstGeom>
        </p:spPr>
      </p:pic>
      <p:sp>
        <p:nvSpPr>
          <p:cNvPr id="6" name="Rounded Rectangle 5"/>
          <p:cNvSpPr/>
          <p:nvPr/>
        </p:nvSpPr>
        <p:spPr>
          <a:xfrm>
            <a:off x="384048" y="4805613"/>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11521440" cy="384048"/>
          </a:xfrm>
          <a:prstGeom prst="rect">
            <a:avLst/>
          </a:prstGeom>
          <a:noFill/>
        </p:spPr>
        <p:txBody>
          <a:bodyPr wrap="none" anchor="ctr">
            <a:spAutoFit/>
          </a:bodyPr>
          <a:lstStyle/>
          <a:p>
            <a:pPr algn="ctr"/>
            <a:r>
              <a:rPr sz="1700" b="1">
                <a:solidFill>
                  <a:srgbClr val="1F375A"/>
                </a:solidFill>
                <a:latin typeface="Aptos"/>
              </a:rPr>
              <a:t>Image Diagram 05 — 05 Feature Engineering</a:t>
            </a:r>
          </a:p>
        </p:txBody>
      </p:sp>
      <p:pic>
        <p:nvPicPr>
          <p:cNvPr id="3" name="Picture 2" descr="05_feature_engineering.png"/>
          <p:cNvPicPr>
            <a:picLocks noChangeAspect="1"/>
          </p:cNvPicPr>
          <p:nvPr/>
        </p:nvPicPr>
        <p:blipFill>
          <a:blip r:embed="rId2"/>
          <a:stretch>
            <a:fillRect/>
          </a:stretch>
        </p:blipFill>
        <p:spPr>
          <a:xfrm>
            <a:off x="384048" y="530352"/>
            <a:ext cx="11384280" cy="5897880"/>
          </a:xfrm>
          <a:prstGeom prst="rect">
            <a:avLst/>
          </a:prstGeom>
        </p:spPr>
      </p:pic>
      <p:sp>
        <p:nvSpPr>
          <p:cNvPr id="4" name="Rounded Rectangle 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kynetix_logo_converted.png"/>
          <p:cNvPicPr>
            <a:picLocks noChangeAspect="1"/>
          </p:cNvPicPr>
          <p:nvPr/>
        </p:nvPicPr>
        <p:blipFill>
          <a:blip r:embed="rId3"/>
          <a:stretch>
            <a:fillRect/>
          </a:stretch>
        </p:blipFill>
        <p:spPr>
          <a:xfrm>
            <a:off x="10625328" y="6345936"/>
            <a:ext cx="1371600" cy="384048"/>
          </a:xfrm>
          <a:prstGeom prst="rect">
            <a:avLst/>
          </a:prstGeom>
        </p:spPr>
      </p:pic>
      <p:sp>
        <p:nvSpPr>
          <p:cNvPr id="6" name="Rounded Rectangle 5"/>
          <p:cNvSpPr/>
          <p:nvPr/>
        </p:nvSpPr>
        <p:spPr>
          <a:xfrm>
            <a:off x="384048" y="4530310"/>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11521440" cy="384048"/>
          </a:xfrm>
          <a:prstGeom prst="rect">
            <a:avLst/>
          </a:prstGeom>
          <a:noFill/>
        </p:spPr>
        <p:txBody>
          <a:bodyPr wrap="none" anchor="ctr">
            <a:spAutoFit/>
          </a:bodyPr>
          <a:lstStyle/>
          <a:p>
            <a:pPr algn="ctr"/>
            <a:r>
              <a:rPr sz="1700" b="1">
                <a:solidFill>
                  <a:srgbClr val="1F375A"/>
                </a:solidFill>
                <a:latin typeface="Aptos"/>
              </a:rPr>
              <a:t>Image Diagram 06 — 06 Decision Tree</a:t>
            </a:r>
          </a:p>
        </p:txBody>
      </p:sp>
      <p:pic>
        <p:nvPicPr>
          <p:cNvPr id="3" name="Picture 2" descr="06_decision_tree.png"/>
          <p:cNvPicPr>
            <a:picLocks noChangeAspect="1"/>
          </p:cNvPicPr>
          <p:nvPr/>
        </p:nvPicPr>
        <p:blipFill>
          <a:blip r:embed="rId2"/>
          <a:stretch>
            <a:fillRect/>
          </a:stretch>
        </p:blipFill>
        <p:spPr>
          <a:xfrm>
            <a:off x="384048" y="402536"/>
            <a:ext cx="11384280" cy="5897880"/>
          </a:xfrm>
          <a:prstGeom prst="rect">
            <a:avLst/>
          </a:prstGeom>
        </p:spPr>
      </p:pic>
      <p:sp>
        <p:nvSpPr>
          <p:cNvPr id="4" name="Rounded Rectangle 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kynetix_logo_converted.png"/>
          <p:cNvPicPr>
            <a:picLocks noChangeAspect="1"/>
          </p:cNvPicPr>
          <p:nvPr/>
        </p:nvPicPr>
        <p:blipFill>
          <a:blip r:embed="rId3"/>
          <a:stretch>
            <a:fillRect/>
          </a:stretch>
        </p:blipFill>
        <p:spPr>
          <a:xfrm>
            <a:off x="10625328" y="6345936"/>
            <a:ext cx="1371600" cy="384048"/>
          </a:xfrm>
          <a:prstGeom prst="rect">
            <a:avLst/>
          </a:prstGeom>
        </p:spPr>
      </p:pic>
      <p:sp>
        <p:nvSpPr>
          <p:cNvPr id="6" name="Rounded Rectangle 5"/>
          <p:cNvSpPr/>
          <p:nvPr/>
        </p:nvSpPr>
        <p:spPr>
          <a:xfrm>
            <a:off x="384048" y="5503706"/>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11521440" cy="384048"/>
          </a:xfrm>
          <a:prstGeom prst="rect">
            <a:avLst/>
          </a:prstGeom>
          <a:noFill/>
        </p:spPr>
        <p:txBody>
          <a:bodyPr wrap="none" anchor="ctr">
            <a:spAutoFit/>
          </a:bodyPr>
          <a:lstStyle/>
          <a:p>
            <a:pPr algn="ctr"/>
            <a:r>
              <a:rPr sz="1700" b="1">
                <a:solidFill>
                  <a:srgbClr val="1F375A"/>
                </a:solidFill>
                <a:latin typeface="Aptos"/>
              </a:rPr>
              <a:t>Image Diagram 07 — 07 Random Forest</a:t>
            </a:r>
          </a:p>
        </p:txBody>
      </p:sp>
      <p:pic>
        <p:nvPicPr>
          <p:cNvPr id="3" name="Picture 2" descr="07_random_forest.png"/>
          <p:cNvPicPr>
            <a:picLocks noChangeAspect="1"/>
          </p:cNvPicPr>
          <p:nvPr/>
        </p:nvPicPr>
        <p:blipFill>
          <a:blip r:embed="rId2"/>
          <a:stretch>
            <a:fillRect/>
          </a:stretch>
        </p:blipFill>
        <p:spPr>
          <a:xfrm>
            <a:off x="384048" y="530352"/>
            <a:ext cx="11384280" cy="5897880"/>
          </a:xfrm>
          <a:prstGeom prst="rect">
            <a:avLst/>
          </a:prstGeom>
        </p:spPr>
      </p:pic>
      <p:sp>
        <p:nvSpPr>
          <p:cNvPr id="4" name="Rounded Rectangle 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kynetix_logo_converted.png"/>
          <p:cNvPicPr>
            <a:picLocks noChangeAspect="1"/>
          </p:cNvPicPr>
          <p:nvPr/>
        </p:nvPicPr>
        <p:blipFill>
          <a:blip r:embed="rId3"/>
          <a:stretch>
            <a:fillRect/>
          </a:stretch>
        </p:blipFill>
        <p:spPr>
          <a:xfrm>
            <a:off x="10625328" y="6345936"/>
            <a:ext cx="1371600" cy="384048"/>
          </a:xfrm>
          <a:prstGeom prst="rect">
            <a:avLst/>
          </a:prstGeom>
        </p:spPr>
      </p:pic>
      <p:sp>
        <p:nvSpPr>
          <p:cNvPr id="6" name="Rounded Rectangle 5"/>
          <p:cNvSpPr/>
          <p:nvPr/>
        </p:nvSpPr>
        <p:spPr>
          <a:xfrm>
            <a:off x="384048" y="4815446"/>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11521440" cy="384048"/>
          </a:xfrm>
          <a:prstGeom prst="rect">
            <a:avLst/>
          </a:prstGeom>
          <a:noFill/>
        </p:spPr>
        <p:txBody>
          <a:bodyPr wrap="none" anchor="ctr">
            <a:spAutoFit/>
          </a:bodyPr>
          <a:lstStyle/>
          <a:p>
            <a:pPr algn="ctr"/>
            <a:r>
              <a:rPr sz="1700" b="1">
                <a:solidFill>
                  <a:srgbClr val="1F375A"/>
                </a:solidFill>
                <a:latin typeface="Aptos"/>
              </a:rPr>
              <a:t>Image Diagram 08 — 08 Boosting</a:t>
            </a:r>
          </a:p>
        </p:txBody>
      </p:sp>
      <p:pic>
        <p:nvPicPr>
          <p:cNvPr id="3" name="Picture 2" descr="08_boosting.png"/>
          <p:cNvPicPr>
            <a:picLocks noChangeAspect="1"/>
          </p:cNvPicPr>
          <p:nvPr/>
        </p:nvPicPr>
        <p:blipFill>
          <a:blip r:embed="rId2"/>
          <a:stretch>
            <a:fillRect/>
          </a:stretch>
        </p:blipFill>
        <p:spPr>
          <a:xfrm>
            <a:off x="384048" y="530352"/>
            <a:ext cx="11384280" cy="5897880"/>
          </a:xfrm>
          <a:prstGeom prst="rect">
            <a:avLst/>
          </a:prstGeom>
        </p:spPr>
      </p:pic>
      <p:sp>
        <p:nvSpPr>
          <p:cNvPr id="4" name="Rounded Rectangle 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kynetix_logo_converted.png"/>
          <p:cNvPicPr>
            <a:picLocks noChangeAspect="1"/>
          </p:cNvPicPr>
          <p:nvPr/>
        </p:nvPicPr>
        <p:blipFill>
          <a:blip r:embed="rId3"/>
          <a:stretch>
            <a:fillRect/>
          </a:stretch>
        </p:blipFill>
        <p:spPr>
          <a:xfrm>
            <a:off x="10625328" y="6345936"/>
            <a:ext cx="1371600" cy="384048"/>
          </a:xfrm>
          <a:prstGeom prst="rect">
            <a:avLst/>
          </a:prstGeom>
        </p:spPr>
      </p:pic>
      <p:sp>
        <p:nvSpPr>
          <p:cNvPr id="6" name="Rounded Rectangle 5"/>
          <p:cNvSpPr/>
          <p:nvPr/>
        </p:nvSpPr>
        <p:spPr>
          <a:xfrm>
            <a:off x="384048" y="5434876"/>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11521440" cy="384048"/>
          </a:xfrm>
          <a:prstGeom prst="rect">
            <a:avLst/>
          </a:prstGeom>
          <a:noFill/>
        </p:spPr>
        <p:txBody>
          <a:bodyPr wrap="none" anchor="ctr">
            <a:spAutoFit/>
          </a:bodyPr>
          <a:lstStyle/>
          <a:p>
            <a:pPr algn="ctr"/>
            <a:r>
              <a:rPr sz="1700" b="1">
                <a:solidFill>
                  <a:srgbClr val="1F375A"/>
                </a:solidFill>
                <a:latin typeface="Aptos"/>
              </a:rPr>
              <a:t>Image Diagram 09 — 09 Kmeans</a:t>
            </a:r>
          </a:p>
        </p:txBody>
      </p:sp>
      <p:pic>
        <p:nvPicPr>
          <p:cNvPr id="3" name="Picture 2" descr="09_kmeans.png"/>
          <p:cNvPicPr>
            <a:picLocks noChangeAspect="1"/>
          </p:cNvPicPr>
          <p:nvPr/>
        </p:nvPicPr>
        <p:blipFill>
          <a:blip r:embed="rId2"/>
          <a:stretch>
            <a:fillRect/>
          </a:stretch>
        </p:blipFill>
        <p:spPr>
          <a:xfrm>
            <a:off x="384048" y="530352"/>
            <a:ext cx="11384280" cy="5897880"/>
          </a:xfrm>
          <a:prstGeom prst="rect">
            <a:avLst/>
          </a:prstGeom>
        </p:spPr>
      </p:pic>
      <p:sp>
        <p:nvSpPr>
          <p:cNvPr id="4" name="Rounded Rectangle 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kynetix_logo_converted.png"/>
          <p:cNvPicPr>
            <a:picLocks noChangeAspect="1"/>
          </p:cNvPicPr>
          <p:nvPr/>
        </p:nvPicPr>
        <p:blipFill>
          <a:blip r:embed="rId3"/>
          <a:stretch>
            <a:fillRect/>
          </a:stretch>
        </p:blipFill>
        <p:spPr>
          <a:xfrm>
            <a:off x="10625328" y="6345936"/>
            <a:ext cx="1371600" cy="384048"/>
          </a:xfrm>
          <a:prstGeom prst="rect">
            <a:avLst/>
          </a:prstGeom>
        </p:spPr>
      </p:pic>
      <p:sp>
        <p:nvSpPr>
          <p:cNvPr id="6" name="Rounded Rectangle 5"/>
          <p:cNvSpPr/>
          <p:nvPr/>
        </p:nvSpPr>
        <p:spPr>
          <a:xfrm>
            <a:off x="384048" y="4756451"/>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11521440" cy="384048"/>
          </a:xfrm>
          <a:prstGeom prst="rect">
            <a:avLst/>
          </a:prstGeom>
          <a:noFill/>
        </p:spPr>
        <p:txBody>
          <a:bodyPr wrap="none" anchor="ctr">
            <a:spAutoFit/>
          </a:bodyPr>
          <a:lstStyle/>
          <a:p>
            <a:pPr algn="ctr"/>
            <a:r>
              <a:rPr sz="1700" b="1">
                <a:solidFill>
                  <a:srgbClr val="1F375A"/>
                </a:solidFill>
                <a:latin typeface="Aptos"/>
              </a:rPr>
              <a:t>Image Diagram 10 — 10 Pca</a:t>
            </a:r>
          </a:p>
        </p:txBody>
      </p:sp>
      <p:pic>
        <p:nvPicPr>
          <p:cNvPr id="3" name="Picture 2" descr="10_pca.png"/>
          <p:cNvPicPr>
            <a:picLocks noChangeAspect="1"/>
          </p:cNvPicPr>
          <p:nvPr/>
        </p:nvPicPr>
        <p:blipFill>
          <a:blip r:embed="rId2"/>
          <a:stretch>
            <a:fillRect/>
          </a:stretch>
        </p:blipFill>
        <p:spPr>
          <a:xfrm>
            <a:off x="384048" y="530352"/>
            <a:ext cx="11384280" cy="5897880"/>
          </a:xfrm>
          <a:prstGeom prst="rect">
            <a:avLst/>
          </a:prstGeom>
        </p:spPr>
      </p:pic>
      <p:sp>
        <p:nvSpPr>
          <p:cNvPr id="4" name="Rounded Rectangle 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kynetix_logo_converted.png"/>
          <p:cNvPicPr>
            <a:picLocks noChangeAspect="1"/>
          </p:cNvPicPr>
          <p:nvPr/>
        </p:nvPicPr>
        <p:blipFill>
          <a:blip r:embed="rId3"/>
          <a:stretch>
            <a:fillRect/>
          </a:stretch>
        </p:blipFill>
        <p:spPr>
          <a:xfrm>
            <a:off x="10625328" y="6345936"/>
            <a:ext cx="1371600" cy="384048"/>
          </a:xfrm>
          <a:prstGeom prst="rect">
            <a:avLst/>
          </a:prstGeom>
        </p:spPr>
      </p:pic>
      <p:sp>
        <p:nvSpPr>
          <p:cNvPr id="6" name="Rounded Rectangle 5"/>
          <p:cNvSpPr/>
          <p:nvPr/>
        </p:nvSpPr>
        <p:spPr>
          <a:xfrm>
            <a:off x="384048" y="4766284"/>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11521440" cy="384048"/>
          </a:xfrm>
          <a:prstGeom prst="rect">
            <a:avLst/>
          </a:prstGeom>
          <a:noFill/>
        </p:spPr>
        <p:txBody>
          <a:bodyPr wrap="none" anchor="ctr">
            <a:spAutoFit/>
          </a:bodyPr>
          <a:lstStyle/>
          <a:p>
            <a:pPr algn="ctr"/>
            <a:r>
              <a:rPr sz="1700" b="1">
                <a:solidFill>
                  <a:srgbClr val="1F375A"/>
                </a:solidFill>
                <a:latin typeface="Aptos"/>
              </a:rPr>
              <a:t>Image Diagram 11 — 11 Neural Network</a:t>
            </a:r>
          </a:p>
        </p:txBody>
      </p:sp>
      <p:pic>
        <p:nvPicPr>
          <p:cNvPr id="3" name="Picture 2" descr="11_neural_network.png"/>
          <p:cNvPicPr>
            <a:picLocks noChangeAspect="1"/>
          </p:cNvPicPr>
          <p:nvPr/>
        </p:nvPicPr>
        <p:blipFill>
          <a:blip r:embed="rId2"/>
          <a:stretch>
            <a:fillRect/>
          </a:stretch>
        </p:blipFill>
        <p:spPr>
          <a:xfrm>
            <a:off x="384048" y="530352"/>
            <a:ext cx="11384280" cy="5897880"/>
          </a:xfrm>
          <a:prstGeom prst="rect">
            <a:avLst/>
          </a:prstGeom>
        </p:spPr>
      </p:pic>
      <p:sp>
        <p:nvSpPr>
          <p:cNvPr id="4" name="Rounded Rectangle 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kynetix_logo_converted.png"/>
          <p:cNvPicPr>
            <a:picLocks noChangeAspect="1"/>
          </p:cNvPicPr>
          <p:nvPr/>
        </p:nvPicPr>
        <p:blipFill>
          <a:blip r:embed="rId3"/>
          <a:stretch>
            <a:fillRect/>
          </a:stretch>
        </p:blipFill>
        <p:spPr>
          <a:xfrm>
            <a:off x="10625328" y="6345936"/>
            <a:ext cx="1371600" cy="384048"/>
          </a:xfrm>
          <a:prstGeom prst="rect">
            <a:avLst/>
          </a:prstGeom>
        </p:spPr>
      </p:pic>
      <p:sp>
        <p:nvSpPr>
          <p:cNvPr id="6" name="Rounded Rectangle 5"/>
          <p:cNvSpPr/>
          <p:nvPr/>
        </p:nvSpPr>
        <p:spPr>
          <a:xfrm>
            <a:off x="384048" y="4776119"/>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11521440" cy="384048"/>
          </a:xfrm>
          <a:prstGeom prst="rect">
            <a:avLst/>
          </a:prstGeom>
          <a:noFill/>
        </p:spPr>
        <p:txBody>
          <a:bodyPr wrap="none" anchor="ctr">
            <a:spAutoFit/>
          </a:bodyPr>
          <a:lstStyle/>
          <a:p>
            <a:pPr algn="ctr"/>
            <a:r>
              <a:rPr sz="1700" b="1">
                <a:solidFill>
                  <a:srgbClr val="1F375A"/>
                </a:solidFill>
                <a:latin typeface="Aptos"/>
              </a:rPr>
              <a:t>Image Diagram 12 — 12 Learning Rate</a:t>
            </a:r>
          </a:p>
        </p:txBody>
      </p:sp>
      <p:pic>
        <p:nvPicPr>
          <p:cNvPr id="3" name="Picture 2" descr="12_learning_rate.png"/>
          <p:cNvPicPr>
            <a:picLocks noChangeAspect="1"/>
          </p:cNvPicPr>
          <p:nvPr/>
        </p:nvPicPr>
        <p:blipFill>
          <a:blip r:embed="rId2"/>
          <a:stretch>
            <a:fillRect/>
          </a:stretch>
        </p:blipFill>
        <p:spPr>
          <a:xfrm>
            <a:off x="384048" y="530352"/>
            <a:ext cx="11384280" cy="5897880"/>
          </a:xfrm>
          <a:prstGeom prst="rect">
            <a:avLst/>
          </a:prstGeom>
        </p:spPr>
      </p:pic>
      <p:sp>
        <p:nvSpPr>
          <p:cNvPr id="4" name="Rounded Rectangle 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kynetix_logo_converted.png"/>
          <p:cNvPicPr>
            <a:picLocks noChangeAspect="1"/>
          </p:cNvPicPr>
          <p:nvPr/>
        </p:nvPicPr>
        <p:blipFill>
          <a:blip r:embed="rId3"/>
          <a:stretch>
            <a:fillRect/>
          </a:stretch>
        </p:blipFill>
        <p:spPr>
          <a:xfrm>
            <a:off x="10625328" y="6345936"/>
            <a:ext cx="1371600" cy="384048"/>
          </a:xfrm>
          <a:prstGeom prst="rect">
            <a:avLst/>
          </a:prstGeom>
        </p:spPr>
      </p:pic>
      <p:sp>
        <p:nvSpPr>
          <p:cNvPr id="6" name="Rounded Rectangle 5"/>
          <p:cNvSpPr/>
          <p:nvPr/>
        </p:nvSpPr>
        <p:spPr>
          <a:xfrm>
            <a:off x="384048" y="4844941"/>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dirty="0">
                <a:solidFill>
                  <a:srgbClr val="1F3755"/>
                </a:solidFill>
              </a:rPr>
              <a:t>Explanation: </a:t>
            </a:r>
            <a:r>
              <a:rPr sz="900" dirty="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11521440" cy="384048"/>
          </a:xfrm>
          <a:prstGeom prst="rect">
            <a:avLst/>
          </a:prstGeom>
          <a:noFill/>
        </p:spPr>
        <p:txBody>
          <a:bodyPr wrap="none" anchor="ctr">
            <a:spAutoFit/>
          </a:bodyPr>
          <a:lstStyle/>
          <a:p>
            <a:pPr algn="ctr"/>
            <a:r>
              <a:rPr sz="1700" b="1">
                <a:solidFill>
                  <a:srgbClr val="1F375A"/>
                </a:solidFill>
                <a:latin typeface="Aptos"/>
              </a:rPr>
              <a:t>Image Diagram 13 — 13 Cnn</a:t>
            </a:r>
          </a:p>
        </p:txBody>
      </p:sp>
      <p:pic>
        <p:nvPicPr>
          <p:cNvPr id="3" name="Picture 2" descr="13_cnn.png"/>
          <p:cNvPicPr>
            <a:picLocks noChangeAspect="1"/>
          </p:cNvPicPr>
          <p:nvPr/>
        </p:nvPicPr>
        <p:blipFill>
          <a:blip r:embed="rId2"/>
          <a:stretch>
            <a:fillRect/>
          </a:stretch>
        </p:blipFill>
        <p:spPr>
          <a:xfrm>
            <a:off x="384048" y="530352"/>
            <a:ext cx="11384280" cy="5897880"/>
          </a:xfrm>
          <a:prstGeom prst="rect">
            <a:avLst/>
          </a:prstGeom>
        </p:spPr>
      </p:pic>
      <p:sp>
        <p:nvSpPr>
          <p:cNvPr id="4" name="Rounded Rectangle 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kynetix_logo_converted.png"/>
          <p:cNvPicPr>
            <a:picLocks noChangeAspect="1"/>
          </p:cNvPicPr>
          <p:nvPr/>
        </p:nvPicPr>
        <p:blipFill>
          <a:blip r:embed="rId3"/>
          <a:stretch>
            <a:fillRect/>
          </a:stretch>
        </p:blipFill>
        <p:spPr>
          <a:xfrm>
            <a:off x="10625328" y="6345936"/>
            <a:ext cx="1371600" cy="384048"/>
          </a:xfrm>
          <a:prstGeom prst="rect">
            <a:avLst/>
          </a:prstGeom>
        </p:spPr>
      </p:pic>
      <p:sp>
        <p:nvSpPr>
          <p:cNvPr id="6" name="Rounded Rectangle 5"/>
          <p:cNvSpPr/>
          <p:nvPr/>
        </p:nvSpPr>
        <p:spPr>
          <a:xfrm>
            <a:off x="384048" y="4471315"/>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11521440" cy="384048"/>
          </a:xfrm>
          <a:prstGeom prst="rect">
            <a:avLst/>
          </a:prstGeom>
          <a:noFill/>
        </p:spPr>
        <p:txBody>
          <a:bodyPr wrap="none" anchor="ctr">
            <a:spAutoFit/>
          </a:bodyPr>
          <a:lstStyle/>
          <a:p>
            <a:pPr algn="ctr"/>
            <a:r>
              <a:rPr sz="1700" b="1">
                <a:solidFill>
                  <a:srgbClr val="1F375A"/>
                </a:solidFill>
                <a:latin typeface="Aptos"/>
              </a:rPr>
              <a:t>Image Diagram 14 — 14 Classical Vs Deep Nlp</a:t>
            </a:r>
          </a:p>
        </p:txBody>
      </p:sp>
      <p:pic>
        <p:nvPicPr>
          <p:cNvPr id="3" name="Picture 2" descr="14_classical_vs_deep_nlp.png"/>
          <p:cNvPicPr>
            <a:picLocks noChangeAspect="1"/>
          </p:cNvPicPr>
          <p:nvPr/>
        </p:nvPicPr>
        <p:blipFill>
          <a:blip r:embed="rId2"/>
          <a:stretch>
            <a:fillRect/>
          </a:stretch>
        </p:blipFill>
        <p:spPr>
          <a:xfrm>
            <a:off x="384048" y="530352"/>
            <a:ext cx="11384280" cy="5897880"/>
          </a:xfrm>
          <a:prstGeom prst="rect">
            <a:avLst/>
          </a:prstGeom>
        </p:spPr>
      </p:pic>
      <p:sp>
        <p:nvSpPr>
          <p:cNvPr id="4" name="Rounded Rectangle 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kynetix_logo_converted.png"/>
          <p:cNvPicPr>
            <a:picLocks noChangeAspect="1"/>
          </p:cNvPicPr>
          <p:nvPr/>
        </p:nvPicPr>
        <p:blipFill>
          <a:blip r:embed="rId3"/>
          <a:stretch>
            <a:fillRect/>
          </a:stretch>
        </p:blipFill>
        <p:spPr>
          <a:xfrm>
            <a:off x="10625328" y="6345936"/>
            <a:ext cx="1371600" cy="384048"/>
          </a:xfrm>
          <a:prstGeom prst="rect">
            <a:avLst/>
          </a:prstGeom>
        </p:spPr>
      </p:pic>
      <p:sp>
        <p:nvSpPr>
          <p:cNvPr id="6" name="Rounded Rectangle 5"/>
          <p:cNvSpPr/>
          <p:nvPr/>
        </p:nvSpPr>
        <p:spPr>
          <a:xfrm>
            <a:off x="384048" y="5444713"/>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11521440" cy="384048"/>
          </a:xfrm>
          <a:prstGeom prst="rect">
            <a:avLst/>
          </a:prstGeom>
          <a:noFill/>
        </p:spPr>
        <p:txBody>
          <a:bodyPr wrap="none" anchor="ctr">
            <a:spAutoFit/>
          </a:bodyPr>
          <a:lstStyle/>
          <a:p>
            <a:pPr algn="ctr"/>
            <a:r>
              <a:rPr sz="1700" b="1">
                <a:solidFill>
                  <a:srgbClr val="1F375A"/>
                </a:solidFill>
                <a:latin typeface="Aptos"/>
              </a:rPr>
              <a:t>Image Diagram 15 — 15 Nlp Preprocessing</a:t>
            </a:r>
          </a:p>
        </p:txBody>
      </p:sp>
      <p:pic>
        <p:nvPicPr>
          <p:cNvPr id="3" name="Picture 2" descr="15_nlp_preprocessing.png"/>
          <p:cNvPicPr>
            <a:picLocks noChangeAspect="1"/>
          </p:cNvPicPr>
          <p:nvPr/>
        </p:nvPicPr>
        <p:blipFill>
          <a:blip r:embed="rId2"/>
          <a:stretch>
            <a:fillRect/>
          </a:stretch>
        </p:blipFill>
        <p:spPr>
          <a:xfrm>
            <a:off x="384048" y="530352"/>
            <a:ext cx="11384280" cy="5897880"/>
          </a:xfrm>
          <a:prstGeom prst="rect">
            <a:avLst/>
          </a:prstGeom>
        </p:spPr>
      </p:pic>
      <p:sp>
        <p:nvSpPr>
          <p:cNvPr id="4" name="Rounded Rectangle 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kynetix_logo_converted.png"/>
          <p:cNvPicPr>
            <a:picLocks noChangeAspect="1"/>
          </p:cNvPicPr>
          <p:nvPr/>
        </p:nvPicPr>
        <p:blipFill>
          <a:blip r:embed="rId3"/>
          <a:stretch>
            <a:fillRect/>
          </a:stretch>
        </p:blipFill>
        <p:spPr>
          <a:xfrm>
            <a:off x="10625328" y="6345936"/>
            <a:ext cx="1371600" cy="384048"/>
          </a:xfrm>
          <a:prstGeom prst="rect">
            <a:avLst/>
          </a:prstGeom>
        </p:spPr>
      </p:pic>
      <p:sp>
        <p:nvSpPr>
          <p:cNvPr id="6" name="Rounded Rectangle 5"/>
          <p:cNvSpPr/>
          <p:nvPr/>
        </p:nvSpPr>
        <p:spPr>
          <a:xfrm>
            <a:off x="384048" y="4835111"/>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dirty="0">
                <a:solidFill>
                  <a:srgbClr val="1F3755"/>
                </a:solidFill>
              </a:rPr>
              <a:t>Explanation: </a:t>
            </a:r>
            <a:r>
              <a:rPr sz="900" dirty="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11521440" cy="384048"/>
          </a:xfrm>
          <a:prstGeom prst="rect">
            <a:avLst/>
          </a:prstGeom>
          <a:noFill/>
        </p:spPr>
        <p:txBody>
          <a:bodyPr wrap="none" anchor="ctr">
            <a:spAutoFit/>
          </a:bodyPr>
          <a:lstStyle/>
          <a:p>
            <a:pPr algn="ctr"/>
            <a:r>
              <a:rPr sz="1700" b="1">
                <a:solidFill>
                  <a:srgbClr val="1F375A"/>
                </a:solidFill>
                <a:latin typeface="Aptos"/>
              </a:rPr>
              <a:t>Image Diagram 16 — 16 Tfidf</a:t>
            </a:r>
          </a:p>
        </p:txBody>
      </p:sp>
      <p:pic>
        <p:nvPicPr>
          <p:cNvPr id="3" name="Picture 2" descr="16_tfidf.png"/>
          <p:cNvPicPr>
            <a:picLocks noChangeAspect="1"/>
          </p:cNvPicPr>
          <p:nvPr/>
        </p:nvPicPr>
        <p:blipFill>
          <a:blip r:embed="rId2"/>
          <a:stretch>
            <a:fillRect/>
          </a:stretch>
        </p:blipFill>
        <p:spPr>
          <a:xfrm>
            <a:off x="384048" y="530352"/>
            <a:ext cx="11384280" cy="5897880"/>
          </a:xfrm>
          <a:prstGeom prst="rect">
            <a:avLst/>
          </a:prstGeom>
        </p:spPr>
      </p:pic>
      <p:sp>
        <p:nvSpPr>
          <p:cNvPr id="4" name="Rounded Rectangle 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kynetix_logo_converted.png"/>
          <p:cNvPicPr>
            <a:picLocks noChangeAspect="1"/>
          </p:cNvPicPr>
          <p:nvPr/>
        </p:nvPicPr>
        <p:blipFill>
          <a:blip r:embed="rId3"/>
          <a:stretch>
            <a:fillRect/>
          </a:stretch>
        </p:blipFill>
        <p:spPr>
          <a:xfrm>
            <a:off x="10625328" y="6345936"/>
            <a:ext cx="1371600" cy="384048"/>
          </a:xfrm>
          <a:prstGeom prst="rect">
            <a:avLst/>
          </a:prstGeom>
        </p:spPr>
      </p:pic>
      <p:sp>
        <p:nvSpPr>
          <p:cNvPr id="6" name="Rounded Rectangle 5"/>
          <p:cNvSpPr/>
          <p:nvPr/>
        </p:nvSpPr>
        <p:spPr>
          <a:xfrm>
            <a:off x="384048" y="4884270"/>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11521440" cy="384048"/>
          </a:xfrm>
          <a:prstGeom prst="rect">
            <a:avLst/>
          </a:prstGeom>
          <a:noFill/>
        </p:spPr>
        <p:txBody>
          <a:bodyPr wrap="none" anchor="ctr">
            <a:spAutoFit/>
          </a:bodyPr>
          <a:lstStyle/>
          <a:p>
            <a:pPr algn="ctr"/>
            <a:r>
              <a:rPr sz="1700" b="1">
                <a:solidFill>
                  <a:srgbClr val="1F375A"/>
                </a:solidFill>
                <a:latin typeface="Aptos"/>
              </a:rPr>
              <a:t>Image Diagram 17 — 17 Transformer Attention</a:t>
            </a:r>
          </a:p>
        </p:txBody>
      </p:sp>
      <p:pic>
        <p:nvPicPr>
          <p:cNvPr id="3" name="Picture 2" descr="17_transformer_attention.png"/>
          <p:cNvPicPr>
            <a:picLocks noChangeAspect="1"/>
          </p:cNvPicPr>
          <p:nvPr/>
        </p:nvPicPr>
        <p:blipFill>
          <a:blip r:embed="rId2"/>
          <a:stretch>
            <a:fillRect/>
          </a:stretch>
        </p:blipFill>
        <p:spPr>
          <a:xfrm>
            <a:off x="384048" y="530352"/>
            <a:ext cx="11384280" cy="5897880"/>
          </a:xfrm>
          <a:prstGeom prst="rect">
            <a:avLst/>
          </a:prstGeom>
        </p:spPr>
      </p:pic>
      <p:sp>
        <p:nvSpPr>
          <p:cNvPr id="4" name="Rounded Rectangle 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kynetix_logo_converted.png"/>
          <p:cNvPicPr>
            <a:picLocks noChangeAspect="1"/>
          </p:cNvPicPr>
          <p:nvPr/>
        </p:nvPicPr>
        <p:blipFill>
          <a:blip r:embed="rId3"/>
          <a:stretch>
            <a:fillRect/>
          </a:stretch>
        </p:blipFill>
        <p:spPr>
          <a:xfrm>
            <a:off x="10625328" y="6345936"/>
            <a:ext cx="1371600" cy="384048"/>
          </a:xfrm>
          <a:prstGeom prst="rect">
            <a:avLst/>
          </a:prstGeom>
        </p:spPr>
      </p:pic>
      <p:sp>
        <p:nvSpPr>
          <p:cNvPr id="6" name="Rounded Rectangle 5"/>
          <p:cNvSpPr/>
          <p:nvPr/>
        </p:nvSpPr>
        <p:spPr>
          <a:xfrm>
            <a:off x="384048" y="4844942"/>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11521440" cy="384048"/>
          </a:xfrm>
          <a:prstGeom prst="rect">
            <a:avLst/>
          </a:prstGeom>
          <a:noFill/>
        </p:spPr>
        <p:txBody>
          <a:bodyPr wrap="none" anchor="ctr">
            <a:spAutoFit/>
          </a:bodyPr>
          <a:lstStyle/>
          <a:p>
            <a:pPr algn="ctr"/>
            <a:r>
              <a:rPr sz="1700" b="1">
                <a:solidFill>
                  <a:srgbClr val="1F375A"/>
                </a:solidFill>
                <a:latin typeface="Aptos"/>
              </a:rPr>
              <a:t>Image Diagram 18 — 18 Rag Pipeline</a:t>
            </a:r>
          </a:p>
        </p:txBody>
      </p:sp>
      <p:pic>
        <p:nvPicPr>
          <p:cNvPr id="3" name="Picture 2" descr="18_rag_pipeline.png"/>
          <p:cNvPicPr>
            <a:picLocks noChangeAspect="1"/>
          </p:cNvPicPr>
          <p:nvPr/>
        </p:nvPicPr>
        <p:blipFill>
          <a:blip r:embed="rId2"/>
          <a:stretch>
            <a:fillRect/>
          </a:stretch>
        </p:blipFill>
        <p:spPr>
          <a:xfrm>
            <a:off x="384048" y="530352"/>
            <a:ext cx="11384280" cy="5897880"/>
          </a:xfrm>
          <a:prstGeom prst="rect">
            <a:avLst/>
          </a:prstGeom>
        </p:spPr>
      </p:pic>
      <p:sp>
        <p:nvSpPr>
          <p:cNvPr id="4" name="Rounded Rectangle 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kynetix_logo_converted.png"/>
          <p:cNvPicPr>
            <a:picLocks noChangeAspect="1"/>
          </p:cNvPicPr>
          <p:nvPr/>
        </p:nvPicPr>
        <p:blipFill>
          <a:blip r:embed="rId3"/>
          <a:stretch>
            <a:fillRect/>
          </a:stretch>
        </p:blipFill>
        <p:spPr>
          <a:xfrm>
            <a:off x="10625328" y="6345936"/>
            <a:ext cx="1371600" cy="384048"/>
          </a:xfrm>
          <a:prstGeom prst="rect">
            <a:avLst/>
          </a:prstGeom>
        </p:spPr>
      </p:pic>
      <p:sp>
        <p:nvSpPr>
          <p:cNvPr id="6" name="Rounded Rectangle 5"/>
          <p:cNvSpPr/>
          <p:nvPr/>
        </p:nvSpPr>
        <p:spPr>
          <a:xfrm>
            <a:off x="384048" y="4844941"/>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11521440" cy="384048"/>
          </a:xfrm>
          <a:prstGeom prst="rect">
            <a:avLst/>
          </a:prstGeom>
          <a:noFill/>
        </p:spPr>
        <p:txBody>
          <a:bodyPr wrap="none" anchor="ctr">
            <a:spAutoFit/>
          </a:bodyPr>
          <a:lstStyle/>
          <a:p>
            <a:pPr algn="ctr"/>
            <a:r>
              <a:rPr sz="1700" b="1">
                <a:solidFill>
                  <a:srgbClr val="1F375A"/>
                </a:solidFill>
                <a:latin typeface="Aptos"/>
              </a:rPr>
              <a:t>Image Diagram 19 — 19 Mlops Lifecycle</a:t>
            </a:r>
          </a:p>
        </p:txBody>
      </p:sp>
      <p:pic>
        <p:nvPicPr>
          <p:cNvPr id="3" name="Picture 2" descr="19_mlops_lifecycle.png"/>
          <p:cNvPicPr>
            <a:picLocks noChangeAspect="1"/>
          </p:cNvPicPr>
          <p:nvPr/>
        </p:nvPicPr>
        <p:blipFill>
          <a:blip r:embed="rId2"/>
          <a:stretch>
            <a:fillRect/>
          </a:stretch>
        </p:blipFill>
        <p:spPr>
          <a:xfrm>
            <a:off x="384048" y="530352"/>
            <a:ext cx="11384280" cy="5897880"/>
          </a:xfrm>
          <a:prstGeom prst="rect">
            <a:avLst/>
          </a:prstGeom>
        </p:spPr>
      </p:pic>
      <p:sp>
        <p:nvSpPr>
          <p:cNvPr id="4" name="Rounded Rectangle 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kynetix_logo_converted.png"/>
          <p:cNvPicPr>
            <a:picLocks noChangeAspect="1"/>
          </p:cNvPicPr>
          <p:nvPr/>
        </p:nvPicPr>
        <p:blipFill>
          <a:blip r:embed="rId3"/>
          <a:stretch>
            <a:fillRect/>
          </a:stretch>
        </p:blipFill>
        <p:spPr>
          <a:xfrm>
            <a:off x="10625328" y="6345936"/>
            <a:ext cx="1371600" cy="384048"/>
          </a:xfrm>
          <a:prstGeom prst="rect">
            <a:avLst/>
          </a:prstGeom>
        </p:spPr>
      </p:pic>
      <p:sp>
        <p:nvSpPr>
          <p:cNvPr id="6" name="Rounded Rectangle 5"/>
          <p:cNvSpPr/>
          <p:nvPr/>
        </p:nvSpPr>
        <p:spPr>
          <a:xfrm>
            <a:off x="384048" y="4825277"/>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73152"/>
            <a:ext cx="11521440" cy="384048"/>
          </a:xfrm>
          <a:prstGeom prst="rect">
            <a:avLst/>
          </a:prstGeom>
          <a:noFill/>
        </p:spPr>
        <p:txBody>
          <a:bodyPr wrap="none" anchor="ctr">
            <a:spAutoFit/>
          </a:bodyPr>
          <a:lstStyle/>
          <a:p>
            <a:pPr algn="ctr"/>
            <a:r>
              <a:rPr sz="1700" b="1">
                <a:solidFill>
                  <a:srgbClr val="1F375A"/>
                </a:solidFill>
                <a:latin typeface="Aptos"/>
              </a:rPr>
              <a:t>Image Diagram 20 — 20 Classification Metrics</a:t>
            </a:r>
          </a:p>
        </p:txBody>
      </p:sp>
      <p:pic>
        <p:nvPicPr>
          <p:cNvPr id="3" name="Picture 2" descr="20_classification_metrics.png"/>
          <p:cNvPicPr>
            <a:picLocks noChangeAspect="1"/>
          </p:cNvPicPr>
          <p:nvPr/>
        </p:nvPicPr>
        <p:blipFill>
          <a:blip r:embed="rId2"/>
          <a:stretch>
            <a:fillRect/>
          </a:stretch>
        </p:blipFill>
        <p:spPr>
          <a:xfrm>
            <a:off x="384048" y="530352"/>
            <a:ext cx="11384280" cy="5897880"/>
          </a:xfrm>
          <a:prstGeom prst="rect">
            <a:avLst/>
          </a:prstGeom>
        </p:spPr>
      </p:pic>
      <p:sp>
        <p:nvSpPr>
          <p:cNvPr id="4" name="Rounded Rectangle 3"/>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kynetix_logo_converted.png"/>
          <p:cNvPicPr>
            <a:picLocks noChangeAspect="1"/>
          </p:cNvPicPr>
          <p:nvPr/>
        </p:nvPicPr>
        <p:blipFill>
          <a:blip r:embed="rId3"/>
          <a:stretch>
            <a:fillRect/>
          </a:stretch>
        </p:blipFill>
        <p:spPr>
          <a:xfrm>
            <a:off x="10625328" y="6345936"/>
            <a:ext cx="1371600" cy="384048"/>
          </a:xfrm>
          <a:prstGeom prst="rect">
            <a:avLst/>
          </a:prstGeom>
        </p:spPr>
      </p:pic>
      <p:sp>
        <p:nvSpPr>
          <p:cNvPr id="6" name="Rounded Rectangle 5"/>
          <p:cNvSpPr/>
          <p:nvPr/>
        </p:nvSpPr>
        <p:spPr>
          <a:xfrm>
            <a:off x="384048" y="4746619"/>
            <a:ext cx="10454335" cy="749808"/>
          </a:xfrm>
          <a:prstGeom prst="roundRect">
            <a:avLst/>
          </a:prstGeom>
          <a:solidFill>
            <a:srgbClr val="F7F9FC"/>
          </a:solidFill>
          <a:ln w="10160">
            <a:solidFill>
              <a:srgbClr val="BEC9D7"/>
            </a:solidFill>
          </a:ln>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r>
              <a:rPr sz="1100" b="1">
                <a:solidFill>
                  <a:srgbClr val="1F3755"/>
                </a:solidFill>
              </a:rPr>
              <a:t>Explanation: </a:t>
            </a:r>
            <a:r>
              <a:rPr sz="900">
                <a:solidFill>
                  <a:srgbClr val="2D343C"/>
                </a:solidFill>
              </a:rPr>
              <a:t>Follow the diagram from input to output. Identify what each step receives, what it changes, and what it produces. Use the example to check whether the result meets the task's goal.</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01: Supervised Learning: Learn from Labeled Examples</a:t>
            </a:r>
          </a:p>
        </p:txBody>
      </p:sp>
      <p:pic>
        <p:nvPicPr>
          <p:cNvPr id="3" name="Picture 2" descr="21_supervised_learning.png"/>
          <p:cNvPicPr>
            <a:picLocks noChangeAspect="1"/>
          </p:cNvPicPr>
          <p:nvPr/>
        </p:nvPicPr>
        <p:blipFill>
          <a:blip r:embed="rId2"/>
          <a:stretch>
            <a:fillRect/>
          </a:stretch>
        </p:blipFill>
        <p:spPr>
          <a:xfrm>
            <a:off x="411480" y="502920"/>
            <a:ext cx="11338560" cy="4526280"/>
          </a:xfrm>
          <a:prstGeom prst="rect">
            <a:avLst/>
          </a:prstGeom>
        </p:spPr>
      </p:pic>
      <p:sp>
        <p:nvSpPr>
          <p:cNvPr id="5" name="TextBox 4"/>
          <p:cNvSpPr txBox="1"/>
          <p:nvPr/>
        </p:nvSpPr>
        <p:spPr>
          <a:xfrm>
            <a:off x="777240" y="3735863"/>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Use classification for categories such as spam/not spam; use regression for numeric values such as house price.</a:t>
            </a:r>
          </a:p>
          <a:p>
            <a:pPr algn="l"/>
            <a:r>
              <a:rPr sz="1100" b="1">
                <a:solidFill>
                  <a:srgbClr val="7D5CAA"/>
                </a:solidFill>
              </a:rPr>
              <a:t>Remember: </a:t>
            </a:r>
            <a:r>
              <a:rPr sz="1100">
                <a:solidFill>
                  <a:srgbClr val="2D343C"/>
                </a:solidFill>
              </a:rPr>
              <a:t>The model learns a mapping from inputs to known targets.</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02: Classification vs. Regression</a:t>
            </a:r>
          </a:p>
        </p:txBody>
      </p:sp>
      <p:pic>
        <p:nvPicPr>
          <p:cNvPr id="3" name="Picture 2" descr="22_classification_vs_regression.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609600" y="4942283"/>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Examples: disease-risk category vs. estimated hospital stay duration; product class vs. sales forecast.</a:t>
            </a:r>
          </a:p>
          <a:p>
            <a:pPr algn="l"/>
            <a:r>
              <a:rPr sz="1100" b="1">
                <a:solidFill>
                  <a:srgbClr val="7D5CAA"/>
                </a:solidFill>
              </a:rPr>
              <a:t>Remember: </a:t>
            </a:r>
            <a:r>
              <a:rPr sz="1100">
                <a:solidFill>
                  <a:srgbClr val="2D343C"/>
                </a:solidFill>
              </a:rPr>
              <a:t>Categories imply classification; continuous numeric targets imply regression.</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03: Confusion Matrix: Count Correct and Incorrect Predictions</a:t>
            </a:r>
          </a:p>
        </p:txBody>
      </p:sp>
      <p:pic>
        <p:nvPicPr>
          <p:cNvPr id="3" name="Picture 2" descr="23_confusion_matrix.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873456"/>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Example: in fraud detection, a false negative is a fraudulent transaction missed by the model.</a:t>
            </a:r>
          </a:p>
          <a:p>
            <a:pPr algn="l"/>
            <a:r>
              <a:rPr sz="1100" b="1">
                <a:solidFill>
                  <a:srgbClr val="7D5CAA"/>
                </a:solidFill>
              </a:rPr>
              <a:t>Remember: </a:t>
            </a:r>
            <a:r>
              <a:rPr sz="1100">
                <a:solidFill>
                  <a:srgbClr val="2D343C"/>
                </a:solidFill>
              </a:rPr>
              <a:t>Always inspect false positives and false negatives—not only accuracy.</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04: Precision vs. Recall</a:t>
            </a:r>
          </a:p>
        </p:txBody>
      </p:sp>
      <p:pic>
        <p:nvPicPr>
          <p:cNvPr id="3" name="Picture 2" descr="24_precision_recall.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873456"/>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Medical screening often values high recall; spam filtering may need a careful precision/recall balance.</a:t>
            </a:r>
          </a:p>
          <a:p>
            <a:pPr algn="l"/>
            <a:r>
              <a:rPr sz="1100" b="1">
                <a:solidFill>
                  <a:srgbClr val="7D5CAA"/>
                </a:solidFill>
              </a:rPr>
              <a:t>Remember: </a:t>
            </a:r>
            <a:r>
              <a:rPr sz="1100">
                <a:solidFill>
                  <a:srgbClr val="2D343C"/>
                </a:solidFill>
              </a:rPr>
              <a:t>Prioritize recall when missing a positive is costly; precision when false alarms are costly.</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05: ROC Curve and AUC</a:t>
            </a:r>
          </a:p>
        </p:txBody>
      </p:sp>
      <p:pic>
        <p:nvPicPr>
          <p:cNvPr id="3" name="Picture 2" descr="25_roc_auc.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893118"/>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For highly imbalanced data, also inspect precision-recall curves and business costs.</a:t>
            </a:r>
          </a:p>
          <a:p>
            <a:pPr algn="l"/>
            <a:r>
              <a:rPr sz="1100" b="1">
                <a:solidFill>
                  <a:srgbClr val="7D5CAA"/>
                </a:solidFill>
              </a:rPr>
              <a:t>Remember: </a:t>
            </a:r>
            <a:r>
              <a:rPr sz="1100">
                <a:solidFill>
                  <a:srgbClr val="2D343C"/>
                </a:solidFill>
              </a:rPr>
              <a:t>AUC summarizes ranking ability across thresholds; it does not choose the operating threshold.</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06: Cross-Validation: Reuse Data for More Reliable Evaluation</a:t>
            </a:r>
          </a:p>
        </p:txBody>
      </p:sp>
      <p:pic>
        <p:nvPicPr>
          <p:cNvPr id="3" name="Picture 2" descr="26_cross_validation.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873459"/>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Use stratified folds for class balance; use time-series splits when future data must remain in the future.</a:t>
            </a:r>
          </a:p>
          <a:p>
            <a:pPr algn="l"/>
            <a:r>
              <a:rPr sz="1100" b="1">
                <a:solidFill>
                  <a:srgbClr val="7D5CAA"/>
                </a:solidFill>
              </a:rPr>
              <a:t>Remember: </a:t>
            </a:r>
            <a:r>
              <a:rPr sz="1100">
                <a:solidFill>
                  <a:srgbClr val="2D343C"/>
                </a:solidFill>
              </a:rPr>
              <a:t>Average results across folds to estimate generalization more robustly.</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07: Data Leakage: A Hidden Shortcut to Unrealistically High Scores</a:t>
            </a:r>
          </a:p>
        </p:txBody>
      </p:sp>
      <p:pic>
        <p:nvPicPr>
          <p:cNvPr id="3" name="Picture 2" descr="27_data_leakage.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922619"/>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Examples include using a post-outcome field, duplicate users across splits, or normalizing with the full dataset.</a:t>
            </a:r>
          </a:p>
          <a:p>
            <a:pPr algn="l"/>
            <a:r>
              <a:rPr sz="1100" b="1">
                <a:solidFill>
                  <a:srgbClr val="7D5CAA"/>
                </a:solidFill>
              </a:rPr>
              <a:t>Remember: </a:t>
            </a:r>
            <a:r>
              <a:rPr sz="1100">
                <a:solidFill>
                  <a:srgbClr val="2D343C"/>
                </a:solidFill>
              </a:rPr>
              <a:t>Split first and fit preprocessing only on training data.</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08: Regularization: Discourage Unnecessary Complexity</a:t>
            </a:r>
          </a:p>
        </p:txBody>
      </p:sp>
      <p:pic>
        <p:nvPicPr>
          <p:cNvPr id="3" name="Picture 2" descr="28_regularization.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902947"/>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L1 can encourage sparse weights; L2 discourages very large weights.</a:t>
            </a:r>
          </a:p>
          <a:p>
            <a:pPr algn="l"/>
            <a:r>
              <a:rPr sz="1100" b="1">
                <a:solidFill>
                  <a:srgbClr val="7D5CAA"/>
                </a:solidFill>
              </a:rPr>
              <a:t>Remember: </a:t>
            </a:r>
            <a:r>
              <a:rPr sz="1100">
                <a:solidFill>
                  <a:srgbClr val="2D343C"/>
                </a:solidFill>
              </a:rPr>
              <a:t>Regularization strength must be tuned; too much can cause underfitting.</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09: Imbalanced Classes: Accuracy Can Be Misleading</a:t>
            </a:r>
          </a:p>
        </p:txBody>
      </p:sp>
      <p:pic>
        <p:nvPicPr>
          <p:cNvPr id="3" name="Picture 2" descr="29_imbalanced_data.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912787"/>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Consider class weights, resampling, threshold tuning and collecting more minority-class examples.</a:t>
            </a:r>
          </a:p>
          <a:p>
            <a:pPr algn="l"/>
            <a:r>
              <a:rPr sz="1100" b="1">
                <a:solidFill>
                  <a:srgbClr val="7D5CAA"/>
                </a:solidFill>
              </a:rPr>
              <a:t>Remember: </a:t>
            </a:r>
            <a:r>
              <a:rPr sz="1100">
                <a:solidFill>
                  <a:srgbClr val="2D343C"/>
                </a:solidFill>
              </a:rPr>
              <a:t>Inspect per-class precision/recall, PR-AUC and the cost of each error.</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10: Word Embeddings: Similar Meaning, Nearby Vectors</a:t>
            </a:r>
          </a:p>
        </p:txBody>
      </p:sp>
      <p:pic>
        <p:nvPicPr>
          <p:cNvPr id="3" name="Picture 2" descr="30_embedding_space.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883291"/>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Modern contextual models may assign different representations to the same word in different sentences.</a:t>
            </a:r>
          </a:p>
          <a:p>
            <a:pPr algn="l"/>
            <a:r>
              <a:rPr sz="1100" b="1">
                <a:solidFill>
                  <a:srgbClr val="7D5CAA"/>
                </a:solidFill>
              </a:rPr>
              <a:t>Remember: </a:t>
            </a:r>
            <a:r>
              <a:rPr sz="1100">
                <a:solidFill>
                  <a:srgbClr val="2D343C"/>
                </a:solidFill>
              </a:rPr>
              <a:t>Vector geometry can capture useful semantic relationships, but depends on training data and context.</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11: Tokenization: Split Text into Model Units</a:t>
            </a:r>
          </a:p>
        </p:txBody>
      </p:sp>
      <p:pic>
        <p:nvPicPr>
          <p:cNvPr id="3" name="Picture 2" descr="31_tokenization.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912785"/>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Subword tokenization helps handle unfamiliar words by breaking them into reusable pieces.</a:t>
            </a:r>
          </a:p>
          <a:p>
            <a:pPr algn="l"/>
            <a:r>
              <a:rPr sz="1100" b="1">
                <a:solidFill>
                  <a:srgbClr val="7D5CAA"/>
                </a:solidFill>
              </a:rPr>
              <a:t>Remember: </a:t>
            </a:r>
            <a:r>
              <a:rPr sz="1100">
                <a:solidFill>
                  <a:srgbClr val="2D343C"/>
                </a:solidFill>
              </a:rPr>
              <a:t>Token boundaries affect sequence length, model cost and how rare words are represented.</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12: Padding and Truncation: Make Batches Compatible</a:t>
            </a:r>
          </a:p>
        </p:txBody>
      </p:sp>
      <p:pic>
        <p:nvPicPr>
          <p:cNvPr id="3" name="Picture 2" descr="32_sequence_padding.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834127"/>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Truncation can discard context; select a maximum sequence length based on data and model limits.</a:t>
            </a:r>
          </a:p>
          <a:p>
            <a:pPr algn="l"/>
            <a:r>
              <a:rPr sz="1100" b="1">
                <a:solidFill>
                  <a:srgbClr val="7D5CAA"/>
                </a:solidFill>
              </a:rPr>
              <a:t>Remember: </a:t>
            </a:r>
            <a:r>
              <a:rPr sz="1100">
                <a:solidFill>
                  <a:srgbClr val="2D343C"/>
                </a:solidFill>
              </a:rPr>
              <a:t>Use attention masks so padding tokens are not treated as meaningful content.</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13: Attention Mask: Tell the Model Which Tokens to Ignore</a:t>
            </a:r>
          </a:p>
        </p:txBody>
      </p:sp>
      <p:pic>
        <p:nvPicPr>
          <p:cNvPr id="3" name="Picture 2" descr="33_attention_mask.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893123"/>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Encoder models commonly mask padding; autoregressive decoders also use causal masks.</a:t>
            </a:r>
          </a:p>
          <a:p>
            <a:pPr algn="l"/>
            <a:r>
              <a:rPr sz="1100" b="1">
                <a:solidFill>
                  <a:srgbClr val="7D5CAA"/>
                </a:solidFill>
              </a:rPr>
              <a:t>Remember: </a:t>
            </a:r>
            <a:r>
              <a:rPr sz="1100">
                <a:solidFill>
                  <a:srgbClr val="2D343C"/>
                </a:solidFill>
              </a:rPr>
              <a:t>Correct masks prevent padding or future tokens from leaking into the prediction.</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14: Transformer Encoder and Decoder</a:t>
            </a:r>
          </a:p>
        </p:txBody>
      </p:sp>
      <p:pic>
        <p:nvPicPr>
          <p:cNvPr id="3" name="Picture 2" descr="34_transformer_encoder_decoder.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942282"/>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Translation and summarization are classic examples; decoder-only LLMs use a different architecture.</a:t>
            </a:r>
          </a:p>
          <a:p>
            <a:pPr algn="l"/>
            <a:r>
              <a:rPr sz="1100" b="1">
                <a:solidFill>
                  <a:srgbClr val="7D5CAA"/>
                </a:solidFill>
              </a:rPr>
              <a:t>Remember: </a:t>
            </a:r>
            <a:r>
              <a:rPr sz="1100">
                <a:solidFill>
                  <a:srgbClr val="2D343C"/>
                </a:solidFill>
              </a:rPr>
              <a:t>The encoder represents the input; the decoder generates output tokens step by step.</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15: LLM Text Generation: Predict the Next Token</a:t>
            </a:r>
          </a:p>
        </p:txBody>
      </p:sp>
      <p:pic>
        <p:nvPicPr>
          <p:cNvPr id="3" name="Picture 2" descr="35_llm_generation.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952114"/>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Generation continues until a stop token, length limit or other stopping condition is reached.</a:t>
            </a:r>
          </a:p>
          <a:p>
            <a:pPr algn="l"/>
            <a:r>
              <a:rPr sz="1100" b="1">
                <a:solidFill>
                  <a:srgbClr val="7D5CAA"/>
                </a:solidFill>
              </a:rPr>
              <a:t>Remember: </a:t>
            </a:r>
            <a:r>
              <a:rPr sz="1100">
                <a:solidFill>
                  <a:srgbClr val="2D343C"/>
                </a:solidFill>
              </a:rPr>
              <a:t>Temperature and sampling settings affect randomness; output is not guaranteed to be factual.</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16: RAG Chunking and Retrieval</a:t>
            </a:r>
          </a:p>
        </p:txBody>
      </p:sp>
      <p:pic>
        <p:nvPicPr>
          <p:cNvPr id="3" name="Picture 2" descr="36_rag_chunking.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922620"/>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At query time, retrieve relevant chunks and pass them to the LLM with the user question.</a:t>
            </a:r>
          </a:p>
          <a:p>
            <a:pPr algn="l"/>
            <a:r>
              <a:rPr sz="1100" b="1">
                <a:solidFill>
                  <a:srgbClr val="7D5CAA"/>
                </a:solidFill>
              </a:rPr>
              <a:t>Remember: </a:t>
            </a:r>
            <a:r>
              <a:rPr sz="1100">
                <a:solidFill>
                  <a:srgbClr val="2D343C"/>
                </a:solidFill>
              </a:rPr>
              <a:t>Chunk size, overlap, metadata and retrieval ranking strongly affect answer quality.</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17: RAG Grounding: Context Is Evidence, Not a Guarantee</a:t>
            </a:r>
          </a:p>
        </p:txBody>
      </p:sp>
      <p:pic>
        <p:nvPicPr>
          <p:cNvPr id="3" name="Picture 2" descr="37_rag_grounding.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912785"/>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Poor retrieval, stale sources or unsupported synthesis can still produce incorrect answers.</a:t>
            </a:r>
          </a:p>
          <a:p>
            <a:pPr algn="l"/>
            <a:r>
              <a:rPr sz="1100" b="1">
                <a:solidFill>
                  <a:srgbClr val="7D5CAA"/>
                </a:solidFill>
              </a:rPr>
              <a:t>Remember: </a:t>
            </a:r>
            <a:r>
              <a:rPr sz="1100">
                <a:solidFill>
                  <a:srgbClr val="2D343C"/>
                </a:solidFill>
              </a:rPr>
              <a:t>Check that each important claim is supported by retrieved evidence.</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18: Prompt Structure: Give the Model a Clear Task</a:t>
            </a:r>
          </a:p>
        </p:txBody>
      </p:sp>
      <p:pic>
        <p:nvPicPr>
          <p:cNvPr id="3" name="Picture 2" descr="38_prompt_structure.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952114"/>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Do not include secrets or sensitive data unless the tool and workflow are approved for it.</a:t>
            </a:r>
          </a:p>
          <a:p>
            <a:pPr algn="l"/>
            <a:r>
              <a:rPr sz="1100" b="1">
                <a:solidFill>
                  <a:srgbClr val="7D5CAA"/>
                </a:solidFill>
              </a:rPr>
              <a:t>Remember: </a:t>
            </a:r>
            <a:r>
              <a:rPr sz="1100">
                <a:solidFill>
                  <a:srgbClr val="2D343C"/>
                </a:solidFill>
              </a:rPr>
              <a:t>State the task, provide relevant context, specify constraints and validate the response.</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19: Vector Search: Retrieve by Semantic Similarity</a:t>
            </a:r>
          </a:p>
        </p:txBody>
      </p:sp>
      <p:pic>
        <p:nvPicPr>
          <p:cNvPr id="3" name="Picture 2" descr="39_vector_search.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932452"/>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Hybrid search can combine vector similarity with keyword or metadata filters.</a:t>
            </a:r>
          </a:p>
          <a:p>
            <a:pPr algn="l"/>
            <a:r>
              <a:rPr sz="1100" b="1">
                <a:solidFill>
                  <a:srgbClr val="7D5CAA"/>
                </a:solidFill>
              </a:rPr>
              <a:t>Remember: </a:t>
            </a:r>
            <a:r>
              <a:rPr sz="1100">
                <a:solidFill>
                  <a:srgbClr val="2D343C"/>
                </a:solidFill>
              </a:rPr>
              <a:t>Similarity is not the same as truth; filter and rerank results when appropriate.</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20: Deploying an ML Model as a Service</a:t>
            </a:r>
          </a:p>
        </p:txBody>
      </p:sp>
      <p:pic>
        <p:nvPicPr>
          <p:cNvPr id="3" name="Picture 2" descr="40_ml_deployment.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942282"/>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For large models, consider batching, autoscaling, GPU needs, cold starts and latency targets.</a:t>
            </a:r>
          </a:p>
          <a:p>
            <a:pPr algn="l"/>
            <a:r>
              <a:rPr sz="1100" b="1">
                <a:solidFill>
                  <a:srgbClr val="7D5CAA"/>
                </a:solidFill>
              </a:rPr>
              <a:t>Remember: </a:t>
            </a:r>
            <a:r>
              <a:rPr sz="1100">
                <a:solidFill>
                  <a:srgbClr val="2D343C"/>
                </a:solidFill>
              </a:rPr>
              <a:t>Add input validation, authentication, timeouts, monitoring and versioning.</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21: Data Drift and Concept Drift</a:t>
            </a:r>
          </a:p>
        </p:txBody>
      </p:sp>
      <p:pic>
        <p:nvPicPr>
          <p:cNvPr id="3" name="Picture 2" descr="41_data_drift.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932450"/>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Data drift changes the input distribution; concept drift changes the input-to-target relationship.</a:t>
            </a:r>
          </a:p>
          <a:p>
            <a:pPr algn="l"/>
            <a:r>
              <a:rPr sz="1100" b="1">
                <a:solidFill>
                  <a:srgbClr val="7D5CAA"/>
                </a:solidFill>
              </a:rPr>
              <a:t>Remember: </a:t>
            </a:r>
            <a:r>
              <a:rPr sz="1100">
                <a:solidFill>
                  <a:srgbClr val="2D343C"/>
                </a:solidFill>
              </a:rPr>
              <a:t>A drift alert is a signal to investigate—not an automatic reason to retrain.</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22: Production Monitoring for ML</a:t>
            </a:r>
          </a:p>
        </p:txBody>
      </p:sp>
      <p:pic>
        <p:nvPicPr>
          <p:cNvPr id="3" name="Picture 2" descr="42_ml_monitoring.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873459"/>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Prediction quality may not be measurable immediately when ground-truth labels arrive later.</a:t>
            </a:r>
          </a:p>
          <a:p>
            <a:pPr algn="l"/>
            <a:r>
              <a:rPr sz="1100" b="1">
                <a:solidFill>
                  <a:srgbClr val="7D5CAA"/>
                </a:solidFill>
              </a:rPr>
              <a:t>Remember: </a:t>
            </a:r>
            <a:r>
              <a:rPr sz="1100">
                <a:solidFill>
                  <a:srgbClr val="2D343C"/>
                </a:solidFill>
              </a:rPr>
              <a:t>Track service-level indicators and model-quality indicators together.</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23: Feature Store: Reuse Consistent Features</a:t>
            </a:r>
          </a:p>
        </p:txBody>
      </p:sp>
      <p:pic>
        <p:nvPicPr>
          <p:cNvPr id="3" name="Picture 2" descr="43_feature_store.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932451"/>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Feature stores are useful when multiple teams or models share features; they also add operational complexity.</a:t>
            </a:r>
          </a:p>
          <a:p>
            <a:pPr algn="l"/>
            <a:r>
              <a:rPr sz="1100" b="1">
                <a:solidFill>
                  <a:srgbClr val="7D5CAA"/>
                </a:solidFill>
              </a:rPr>
              <a:t>Remember: </a:t>
            </a:r>
            <a:r>
              <a:rPr sz="1100">
                <a:solidFill>
                  <a:srgbClr val="2D343C"/>
                </a:solidFill>
              </a:rPr>
              <a:t>Consistent definitions reduce training-serving skew.</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24: Batch vs. Online Inference</a:t>
            </a:r>
          </a:p>
        </p:txBody>
      </p:sp>
      <p:pic>
        <p:nvPicPr>
          <p:cNvPr id="3" name="Picture 2" descr="44_batch_vs_online.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952114"/>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Hybrid systems can precompute stable features and run a smaller online prediction step.</a:t>
            </a:r>
          </a:p>
          <a:p>
            <a:pPr algn="l"/>
            <a:r>
              <a:rPr sz="1100" b="1">
                <a:solidFill>
                  <a:srgbClr val="7D5CAA"/>
                </a:solidFill>
              </a:rPr>
              <a:t>Remember: </a:t>
            </a:r>
            <a:r>
              <a:rPr sz="1100">
                <a:solidFill>
                  <a:srgbClr val="2D343C"/>
                </a:solidFill>
              </a:rPr>
              <a:t>Batch optimizes throughput and cost; online serving optimizes response freshness and latency.</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25: Hyperparameter Tuning</a:t>
            </a:r>
          </a:p>
        </p:txBody>
      </p:sp>
      <p:pic>
        <p:nvPicPr>
          <p:cNvPr id="3" name="Picture 2" descr="45_hyperparameter_tuning.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5138928"/>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Examples: tree depth, regularization strength, learning rate, number of estimators and batch size.</a:t>
            </a:r>
          </a:p>
          <a:p>
            <a:pPr algn="l"/>
            <a:r>
              <a:rPr sz="1100" b="1">
                <a:solidFill>
                  <a:srgbClr val="7D5CAA"/>
                </a:solidFill>
              </a:rPr>
              <a:t>Remember: </a:t>
            </a:r>
            <a:r>
              <a:rPr sz="1100">
                <a:solidFill>
                  <a:srgbClr val="2D343C"/>
                </a:solidFill>
              </a:rPr>
              <a:t>Do not repeatedly tune against the test set; it will no longer be an unbiased final check.</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26: Learning Curves: Diagnose Data and Model Problems</a:t>
            </a:r>
          </a:p>
        </p:txBody>
      </p:sp>
      <p:pic>
        <p:nvPicPr>
          <p:cNvPr id="3" name="Picture 2" descr="46_learning_curves.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912785"/>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Interpret the pattern together with dataset size, noise, evaluation design and metric choice.</a:t>
            </a:r>
          </a:p>
          <a:p>
            <a:pPr algn="l"/>
            <a:r>
              <a:rPr sz="1100" b="1">
                <a:solidFill>
                  <a:srgbClr val="7D5CAA"/>
                </a:solidFill>
              </a:rPr>
              <a:t>Remember: </a:t>
            </a:r>
            <a:r>
              <a:rPr sz="1100">
                <a:solidFill>
                  <a:srgbClr val="2D343C"/>
                </a:solidFill>
              </a:rPr>
              <a:t>Learning curves help decide whether to add data, simplify the model or improve features.</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27: Ensemble Learning: Combine Models</a:t>
            </a:r>
          </a:p>
        </p:txBody>
      </p:sp>
      <p:pic>
        <p:nvPicPr>
          <p:cNvPr id="3" name="Picture 2" descr="47_ensemble_methods.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981611"/>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Bagging trains models in parallel; boosting adds learners sequentially; stacking learns how to combine predictions.</a:t>
            </a:r>
          </a:p>
          <a:p>
            <a:pPr algn="l"/>
            <a:r>
              <a:rPr sz="1100" b="1">
                <a:solidFill>
                  <a:srgbClr val="7D5CAA"/>
                </a:solidFill>
              </a:rPr>
              <a:t>Remember: </a:t>
            </a:r>
            <a:r>
              <a:rPr sz="1100">
                <a:solidFill>
                  <a:srgbClr val="2D343C"/>
                </a:solidFill>
              </a:rPr>
              <a:t>Ensembles help most when model errors are not perfectly correlated.</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28: Sentiment Analysis Pipeline</a:t>
            </a:r>
          </a:p>
        </p:txBody>
      </p:sp>
      <p:pic>
        <p:nvPicPr>
          <p:cNvPr id="3" name="Picture 2" descr="48_nlp_sentiment.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952115"/>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Evaluate across product types, languages and user groups—not only with one aggregate score.</a:t>
            </a:r>
          </a:p>
          <a:p>
            <a:pPr algn="l"/>
            <a:r>
              <a:rPr sz="1100" b="1">
                <a:solidFill>
                  <a:srgbClr val="7D5CAA"/>
                </a:solidFill>
              </a:rPr>
              <a:t>Remember: </a:t>
            </a:r>
            <a:r>
              <a:rPr sz="1100">
                <a:solidFill>
                  <a:srgbClr val="2D343C"/>
                </a:solidFill>
              </a:rPr>
              <a:t>Sentiment may depend on context, sarcasm, domain and negation.</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29: Named Entity Recognition (NER)</a:t>
            </a:r>
          </a:p>
        </p:txBody>
      </p:sp>
      <p:pic>
        <p:nvPicPr>
          <p:cNvPr id="3" name="Picture 2" descr="49_ner_pipeline.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952115"/>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Common labels include person, organization, location, date and product.</a:t>
            </a:r>
          </a:p>
          <a:p>
            <a:pPr algn="l"/>
            <a:r>
              <a:rPr sz="1100" b="1">
                <a:solidFill>
                  <a:srgbClr val="7D5CAA"/>
                </a:solidFill>
              </a:rPr>
              <a:t>Remember: </a:t>
            </a:r>
            <a:r>
              <a:rPr sz="1100">
                <a:solidFill>
                  <a:srgbClr val="2D343C"/>
                </a:solidFill>
              </a:rPr>
              <a:t>NER extracts structured entities; it does not by itself verify whether the facts are true.</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73152"/>
            <a:ext cx="11338560" cy="384048"/>
          </a:xfrm>
          <a:prstGeom prst="rect">
            <a:avLst/>
          </a:prstGeom>
          <a:noFill/>
        </p:spPr>
        <p:txBody>
          <a:bodyPr wrap="none" anchor="ctr">
            <a:spAutoFit/>
          </a:bodyPr>
          <a:lstStyle/>
          <a:p>
            <a:pPr algn="ctr"/>
            <a:r>
              <a:rPr sz="1600" b="1">
                <a:solidFill>
                  <a:srgbClr val="1F375A"/>
                </a:solidFill>
                <a:latin typeface="Aptos"/>
              </a:rPr>
              <a:t>Explained Image Diagram 30: Text Summarization: Extractive vs. Abstractive</a:t>
            </a:r>
          </a:p>
        </p:txBody>
      </p:sp>
      <p:pic>
        <p:nvPicPr>
          <p:cNvPr id="3" name="Picture 2" descr="50_text_summarization.png"/>
          <p:cNvPicPr>
            <a:picLocks noChangeAspect="1"/>
          </p:cNvPicPr>
          <p:nvPr/>
        </p:nvPicPr>
        <p:blipFill>
          <a:blip r:embed="rId2"/>
          <a:stretch>
            <a:fillRect/>
          </a:stretch>
        </p:blipFill>
        <p:spPr>
          <a:xfrm>
            <a:off x="411480" y="502920"/>
            <a:ext cx="11338560" cy="4526280"/>
          </a:xfrm>
          <a:prstGeom prst="rect">
            <a:avLst/>
          </a:prstGeom>
        </p:spPr>
      </p:pic>
      <p:sp>
        <p:nvSpPr>
          <p:cNvPr id="4" name="Rectangle 3"/>
          <p:cNvSpPr/>
          <p:nvPr/>
        </p:nvSpPr>
        <p:spPr>
          <a:xfrm>
            <a:off x="594360" y="4952115"/>
            <a:ext cx="10972800" cy="1234440"/>
          </a:xfrm>
          <a:prstGeom prst="rect">
            <a:avLst/>
          </a:prstGeom>
          <a:solidFill>
            <a:srgbClr val="F5F8FB"/>
          </a:solidFill>
          <a:ln w="12700">
            <a:solidFill>
              <a:srgbClr val="41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230368"/>
            <a:ext cx="10607040" cy="1024128"/>
          </a:xfrm>
          <a:prstGeom prst="rect">
            <a:avLst/>
          </a:prstGeom>
          <a:noFill/>
        </p:spPr>
        <p:txBody>
          <a:bodyPr wrap="square">
            <a:spAutoFit/>
          </a:bodyPr>
          <a:lstStyle/>
          <a:p>
            <a:pPr algn="l"/>
            <a:r>
              <a:rPr sz="1200" b="1">
                <a:solidFill>
                  <a:srgbClr val="1F375A"/>
                </a:solidFill>
              </a:rPr>
              <a:t>Explanation: </a:t>
            </a:r>
            <a:r>
              <a:rPr sz="1200">
                <a:solidFill>
                  <a:srgbClr val="2D343C"/>
                </a:solidFill>
              </a:rPr>
              <a:t>Use extractive methods when faithful sentence selection is important; generative methods can improve fluency.</a:t>
            </a:r>
          </a:p>
          <a:p>
            <a:pPr algn="l"/>
            <a:r>
              <a:rPr sz="1100" b="1">
                <a:solidFill>
                  <a:srgbClr val="7D5CAA"/>
                </a:solidFill>
              </a:rPr>
              <a:t>Remember: </a:t>
            </a:r>
            <a:r>
              <a:rPr sz="1100">
                <a:solidFill>
                  <a:srgbClr val="2D343C"/>
                </a:solidFill>
              </a:rPr>
              <a:t>Abstractive summaries can introduce unsupported details; verify critical claims.</a:t>
            </a:r>
          </a:p>
        </p:txBody>
      </p:sp>
      <p:sp>
        <p:nvSpPr>
          <p:cNvPr id="6" name="Rounded Rectangle 5"/>
          <p:cNvSpPr/>
          <p:nvPr/>
        </p:nvSpPr>
        <p:spPr>
          <a:xfrm>
            <a:off x="10561320" y="6309360"/>
            <a:ext cx="15087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kynetix_logo_converted.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64592"/>
          </a:xfrm>
          <a:prstGeom prst="rect">
            <a:avLst/>
          </a:prstGeom>
          <a:solidFill>
            <a:srgbClr val="432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064240" cy="256032"/>
          </a:xfrm>
          <a:prstGeom prst="rect">
            <a:avLst/>
          </a:prstGeom>
          <a:noFill/>
        </p:spPr>
        <p:txBody>
          <a:bodyPr wrap="none">
            <a:spAutoFit/>
          </a:bodyPr>
          <a:lstStyle/>
          <a:p>
            <a:pPr>
              <a:defRPr sz="1000" b="1">
                <a:solidFill>
                  <a:srgbClr val="007E8B"/>
                </a:solidFill>
                <a:latin typeface="Aptos"/>
              </a:defRPr>
            </a:pPr>
            <a:r>
              <a:t>PRODUCTION ML</a:t>
            </a:r>
          </a:p>
        </p:txBody>
      </p:sp>
      <p:sp>
        <p:nvSpPr>
          <p:cNvPr id="4" name="TextBox 3"/>
          <p:cNvSpPr txBox="1"/>
          <p:nvPr/>
        </p:nvSpPr>
        <p:spPr>
          <a:xfrm>
            <a:off x="502920" y="621792"/>
            <a:ext cx="11064240" cy="594360"/>
          </a:xfrm>
          <a:prstGeom prst="rect">
            <a:avLst/>
          </a:prstGeom>
          <a:noFill/>
        </p:spPr>
        <p:txBody>
          <a:bodyPr wrap="none">
            <a:spAutoFit/>
          </a:bodyPr>
          <a:lstStyle/>
          <a:p>
            <a:pPr>
              <a:defRPr sz="2700" b="1">
                <a:solidFill>
                  <a:srgbClr val="432668"/>
                </a:solidFill>
                <a:latin typeface="Aptos Display"/>
              </a:defRPr>
            </a:pPr>
            <a:r>
              <a:t>MLOps: reproducibility and model lifecycle</a:t>
            </a:r>
          </a:p>
        </p:txBody>
      </p:sp>
      <p:sp>
        <p:nvSpPr>
          <p:cNvPr id="5" name="Rectangle 4"/>
          <p:cNvSpPr/>
          <p:nvPr/>
        </p:nvSpPr>
        <p:spPr>
          <a:xfrm>
            <a:off x="502920" y="1298448"/>
            <a:ext cx="11064240" cy="22860"/>
          </a:xfrm>
          <a:prstGeom prst="rect">
            <a:avLst/>
          </a:prstGeom>
          <a:solidFill>
            <a:srgbClr val="DCD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536192"/>
            <a:ext cx="5349240" cy="1368551"/>
          </a:xfrm>
          <a:prstGeom prst="rect">
            <a:avLst/>
          </a:prstGeom>
          <a:solidFill>
            <a:srgbClr val="F6F2FC"/>
          </a:solidFill>
          <a:ln>
            <a:solidFill>
              <a:srgbClr val="E0D8ED"/>
            </a:solidFill>
          </a:ln>
        </p:spPr>
        <p:style>
          <a:lnRef idx="1">
            <a:schemeClr val="accent1"/>
          </a:lnRef>
          <a:fillRef idx="3">
            <a:schemeClr val="accent1"/>
          </a:fillRef>
          <a:effectRef idx="2">
            <a:schemeClr val="accent1"/>
          </a:effectRef>
          <a:fontRef idx="minor">
            <a:schemeClr val="lt1"/>
          </a:fontRef>
        </p:style>
        <p:txBody>
          <a:bodyPr lIns="164592" tIns="91440" rIns="137160" bIns="54864" rtlCol="0" anchor="ctr"/>
          <a:lstStyle/>
          <a:p>
            <a:pPr algn="ctr">
              <a:defRPr sz="1500" b="1">
                <a:solidFill>
                  <a:srgbClr val="432668"/>
                </a:solidFill>
                <a:latin typeface="Aptos"/>
              </a:defRPr>
            </a:pPr>
            <a:r>
              <a:t>Experiment tracking</a:t>
            </a:r>
          </a:p>
          <a:p>
            <a:pPr>
              <a:spcBef>
                <a:spcPts val="300"/>
              </a:spcBef>
              <a:defRPr sz="1150">
                <a:solidFill>
                  <a:srgbClr val="271F37"/>
                </a:solidFill>
                <a:latin typeface="Aptos"/>
              </a:defRPr>
            </a:pPr>
            <a:r>
              <a:t>Record parameters, metrics, artifacts, code revision, environment and dataset version for every run.</a:t>
            </a:r>
          </a:p>
        </p:txBody>
      </p:sp>
      <p:sp>
        <p:nvSpPr>
          <p:cNvPr id="7" name="Rectangle 6"/>
          <p:cNvSpPr/>
          <p:nvPr/>
        </p:nvSpPr>
        <p:spPr>
          <a:xfrm>
            <a:off x="502920" y="3014471"/>
            <a:ext cx="5349240" cy="1368551"/>
          </a:xfrm>
          <a:prstGeom prst="rect">
            <a:avLst/>
          </a:prstGeom>
          <a:solidFill>
            <a:srgbClr val="FAF9FC"/>
          </a:solidFill>
          <a:ln>
            <a:solidFill>
              <a:srgbClr val="E0D8ED"/>
            </a:solidFill>
          </a:ln>
        </p:spPr>
        <p:style>
          <a:lnRef idx="1">
            <a:schemeClr val="accent1"/>
          </a:lnRef>
          <a:fillRef idx="3">
            <a:schemeClr val="accent1"/>
          </a:fillRef>
          <a:effectRef idx="2">
            <a:schemeClr val="accent1"/>
          </a:effectRef>
          <a:fontRef idx="minor">
            <a:schemeClr val="lt1"/>
          </a:fontRef>
        </p:style>
        <p:txBody>
          <a:bodyPr lIns="164592" tIns="91440" rIns="137160" bIns="54864" rtlCol="0" anchor="ctr"/>
          <a:lstStyle/>
          <a:p>
            <a:pPr algn="ctr">
              <a:defRPr sz="1500" b="1">
                <a:solidFill>
                  <a:srgbClr val="432668"/>
                </a:solidFill>
                <a:latin typeface="Aptos"/>
              </a:defRPr>
            </a:pPr>
            <a:r>
              <a:t>Model registry</a:t>
            </a:r>
          </a:p>
          <a:p>
            <a:pPr>
              <a:spcBef>
                <a:spcPts val="300"/>
              </a:spcBef>
              <a:defRPr sz="1150">
                <a:solidFill>
                  <a:srgbClr val="271F37"/>
                </a:solidFill>
                <a:latin typeface="Aptos"/>
              </a:defRPr>
            </a:pPr>
            <a:r>
              <a:t>Promote models through candidate, validated and production stages with ownership and approval metadata.</a:t>
            </a:r>
          </a:p>
        </p:txBody>
      </p:sp>
      <p:sp>
        <p:nvSpPr>
          <p:cNvPr id="8" name="Rectangle 7"/>
          <p:cNvSpPr/>
          <p:nvPr/>
        </p:nvSpPr>
        <p:spPr>
          <a:xfrm>
            <a:off x="502920" y="4492750"/>
            <a:ext cx="5349240" cy="1368551"/>
          </a:xfrm>
          <a:prstGeom prst="rect">
            <a:avLst/>
          </a:prstGeom>
          <a:solidFill>
            <a:srgbClr val="F6F2FC"/>
          </a:solidFill>
          <a:ln>
            <a:solidFill>
              <a:srgbClr val="E0D8ED"/>
            </a:solidFill>
          </a:ln>
        </p:spPr>
        <p:style>
          <a:lnRef idx="1">
            <a:schemeClr val="accent1"/>
          </a:lnRef>
          <a:fillRef idx="3">
            <a:schemeClr val="accent1"/>
          </a:fillRef>
          <a:effectRef idx="2">
            <a:schemeClr val="accent1"/>
          </a:effectRef>
          <a:fontRef idx="minor">
            <a:schemeClr val="lt1"/>
          </a:fontRef>
        </p:style>
        <p:txBody>
          <a:bodyPr lIns="164592" tIns="91440" rIns="137160" bIns="54864" rtlCol="0" anchor="ctr"/>
          <a:lstStyle/>
          <a:p>
            <a:pPr algn="ctr">
              <a:defRPr sz="1500" b="1">
                <a:solidFill>
                  <a:srgbClr val="432668"/>
                </a:solidFill>
                <a:latin typeface="Aptos"/>
              </a:defRPr>
            </a:pPr>
            <a:r>
              <a:t>Automated quality gates</a:t>
            </a:r>
          </a:p>
          <a:p>
            <a:pPr>
              <a:spcBef>
                <a:spcPts val="300"/>
              </a:spcBef>
              <a:defRPr sz="1150">
                <a:solidFill>
                  <a:srgbClr val="271F37"/>
                </a:solidFill>
                <a:latin typeface="Aptos"/>
              </a:defRPr>
            </a:pPr>
            <a:r>
              <a:t>Test data schemas, preprocessing, model metrics, API contracts, security and latency before release.</a:t>
            </a:r>
          </a:p>
        </p:txBody>
      </p:sp>
      <p:sp>
        <p:nvSpPr>
          <p:cNvPr id="9" name="Rectangle 8"/>
          <p:cNvSpPr/>
          <p:nvPr/>
        </p:nvSpPr>
        <p:spPr>
          <a:xfrm>
            <a:off x="6126480" y="1536192"/>
            <a:ext cx="5349240" cy="1368551"/>
          </a:xfrm>
          <a:prstGeom prst="rect">
            <a:avLst/>
          </a:prstGeom>
          <a:solidFill>
            <a:srgbClr val="F6F2FC"/>
          </a:solidFill>
          <a:ln>
            <a:solidFill>
              <a:srgbClr val="E0D8ED"/>
            </a:solidFill>
          </a:ln>
        </p:spPr>
        <p:style>
          <a:lnRef idx="1">
            <a:schemeClr val="accent1"/>
          </a:lnRef>
          <a:fillRef idx="3">
            <a:schemeClr val="accent1"/>
          </a:fillRef>
          <a:effectRef idx="2">
            <a:schemeClr val="accent1"/>
          </a:effectRef>
          <a:fontRef idx="minor">
            <a:schemeClr val="lt1"/>
          </a:fontRef>
        </p:style>
        <p:txBody>
          <a:bodyPr lIns="164592" tIns="91440" rIns="137160" bIns="54864" rtlCol="0" anchor="ctr"/>
          <a:lstStyle/>
          <a:p>
            <a:pPr algn="ctr">
              <a:defRPr sz="1500" b="1">
                <a:solidFill>
                  <a:srgbClr val="432668"/>
                </a:solidFill>
                <a:latin typeface="Aptos"/>
              </a:defRPr>
            </a:pPr>
            <a:r>
              <a:t>Deployment strategies</a:t>
            </a:r>
          </a:p>
          <a:p>
            <a:pPr>
              <a:spcBef>
                <a:spcPts val="300"/>
              </a:spcBef>
              <a:defRPr sz="1150">
                <a:solidFill>
                  <a:srgbClr val="271F37"/>
                </a:solidFill>
                <a:latin typeface="Aptos"/>
              </a:defRPr>
            </a:pPr>
            <a:r>
              <a:t>Use batch or online inference as appropriate; consider canary rollout, shadow testing and rollback.</a:t>
            </a:r>
          </a:p>
        </p:txBody>
      </p:sp>
      <p:sp>
        <p:nvSpPr>
          <p:cNvPr id="10" name="Rectangle 9"/>
          <p:cNvSpPr/>
          <p:nvPr/>
        </p:nvSpPr>
        <p:spPr>
          <a:xfrm>
            <a:off x="6126480" y="3014471"/>
            <a:ext cx="5349240" cy="1368551"/>
          </a:xfrm>
          <a:prstGeom prst="rect">
            <a:avLst/>
          </a:prstGeom>
          <a:solidFill>
            <a:srgbClr val="FAF9FC"/>
          </a:solidFill>
          <a:ln>
            <a:solidFill>
              <a:srgbClr val="E0D8ED"/>
            </a:solidFill>
          </a:ln>
        </p:spPr>
        <p:style>
          <a:lnRef idx="1">
            <a:schemeClr val="accent1"/>
          </a:lnRef>
          <a:fillRef idx="3">
            <a:schemeClr val="accent1"/>
          </a:fillRef>
          <a:effectRef idx="2">
            <a:schemeClr val="accent1"/>
          </a:effectRef>
          <a:fontRef idx="minor">
            <a:schemeClr val="lt1"/>
          </a:fontRef>
        </p:style>
        <p:txBody>
          <a:bodyPr lIns="164592" tIns="91440" rIns="137160" bIns="54864" rtlCol="0" anchor="ctr"/>
          <a:lstStyle/>
          <a:p>
            <a:pPr algn="ctr">
              <a:defRPr sz="1500" b="1">
                <a:solidFill>
                  <a:srgbClr val="432668"/>
                </a:solidFill>
                <a:latin typeface="Aptos"/>
              </a:defRPr>
            </a:pPr>
            <a:r>
              <a:t>Monitoring</a:t>
            </a:r>
          </a:p>
          <a:p>
            <a:pPr>
              <a:spcBef>
                <a:spcPts val="300"/>
              </a:spcBef>
              <a:defRPr sz="1150">
                <a:solidFill>
                  <a:srgbClr val="271F37"/>
                </a:solidFill>
                <a:latin typeface="Aptos"/>
              </a:defRPr>
            </a:pPr>
            <a:r>
              <a:t>Track service health, data drift, concept drift, delayed labels, subgroup performance and cost.</a:t>
            </a:r>
          </a:p>
        </p:txBody>
      </p:sp>
      <p:sp>
        <p:nvSpPr>
          <p:cNvPr id="11" name="Rectangle 10"/>
          <p:cNvSpPr/>
          <p:nvPr/>
        </p:nvSpPr>
        <p:spPr>
          <a:xfrm>
            <a:off x="6126480" y="4492750"/>
            <a:ext cx="5349240" cy="1368551"/>
          </a:xfrm>
          <a:prstGeom prst="rect">
            <a:avLst/>
          </a:prstGeom>
          <a:solidFill>
            <a:srgbClr val="F6F2FC"/>
          </a:solidFill>
          <a:ln>
            <a:solidFill>
              <a:srgbClr val="E0D8ED"/>
            </a:solidFill>
          </a:ln>
        </p:spPr>
        <p:style>
          <a:lnRef idx="1">
            <a:schemeClr val="accent1"/>
          </a:lnRef>
          <a:fillRef idx="3">
            <a:schemeClr val="accent1"/>
          </a:fillRef>
          <a:effectRef idx="2">
            <a:schemeClr val="accent1"/>
          </a:effectRef>
          <a:fontRef idx="minor">
            <a:schemeClr val="lt1"/>
          </a:fontRef>
        </p:style>
        <p:txBody>
          <a:bodyPr lIns="164592" tIns="91440" rIns="137160" bIns="54864" rtlCol="0" anchor="ctr"/>
          <a:lstStyle/>
          <a:p>
            <a:pPr algn="ctr">
              <a:defRPr sz="1500" b="1">
                <a:solidFill>
                  <a:srgbClr val="432668"/>
                </a:solidFill>
                <a:latin typeface="Aptos"/>
              </a:defRPr>
            </a:pPr>
            <a:r>
              <a:t>Reproducible release</a:t>
            </a:r>
          </a:p>
          <a:p>
            <a:pPr>
              <a:spcBef>
                <a:spcPts val="300"/>
              </a:spcBef>
              <a:defRPr sz="1150">
                <a:solidFill>
                  <a:srgbClr val="271F37"/>
                </a:solidFill>
                <a:latin typeface="Aptos"/>
              </a:defRPr>
            </a:pPr>
            <a:r>
              <a:t>Keep model, code, data, configuration and evaluation report linked to a versioned release.</a:t>
            </a:r>
          </a:p>
        </p:txBody>
      </p:sp>
      <p:sp>
        <p:nvSpPr>
          <p:cNvPr id="12" name="TextBox 11"/>
          <p:cNvSpPr txBox="1"/>
          <p:nvPr/>
        </p:nvSpPr>
        <p:spPr>
          <a:xfrm>
            <a:off x="7955279" y="6510528"/>
            <a:ext cx="3657600" cy="201168"/>
          </a:xfrm>
          <a:prstGeom prst="rect">
            <a:avLst/>
          </a:prstGeom>
          <a:noFill/>
        </p:spPr>
        <p:txBody>
          <a:bodyPr wrap="none">
            <a:spAutoFit/>
          </a:bodyPr>
          <a:lstStyle/>
          <a:p>
            <a:pPr algn="r">
              <a:defRPr sz="800">
                <a:solidFill>
                  <a:srgbClr val="5C5965"/>
                </a:solidFill>
                <a:latin typeface="Aptos"/>
              </a:defRPr>
            </a:pPr>
            <a:r>
              <a:t>SkyNetix Systems LLP  •  AI / ML Bootcamp</a:t>
            </a:r>
          </a:p>
        </p:txBody>
      </p:sp>
      <p:pic>
        <p:nvPicPr>
          <p:cNvPr id="13" name="Picture 12"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64592"/>
          </a:xfrm>
          <a:prstGeom prst="rect">
            <a:avLst/>
          </a:prstGeom>
          <a:solidFill>
            <a:srgbClr val="432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064240" cy="256032"/>
          </a:xfrm>
          <a:prstGeom prst="rect">
            <a:avLst/>
          </a:prstGeom>
          <a:noFill/>
        </p:spPr>
        <p:txBody>
          <a:bodyPr wrap="none">
            <a:spAutoFit/>
          </a:bodyPr>
          <a:lstStyle/>
          <a:p>
            <a:pPr>
              <a:defRPr sz="1000" b="1">
                <a:solidFill>
                  <a:srgbClr val="007E8B"/>
                </a:solidFill>
                <a:latin typeface="Aptos"/>
              </a:defRPr>
            </a:pPr>
            <a:r>
              <a:t>READY FOR REVIEW</a:t>
            </a:r>
          </a:p>
        </p:txBody>
      </p:sp>
      <p:sp>
        <p:nvSpPr>
          <p:cNvPr id="4" name="TextBox 3"/>
          <p:cNvSpPr txBox="1"/>
          <p:nvPr/>
        </p:nvSpPr>
        <p:spPr>
          <a:xfrm>
            <a:off x="502920" y="621792"/>
            <a:ext cx="11064240" cy="594360"/>
          </a:xfrm>
          <a:prstGeom prst="rect">
            <a:avLst/>
          </a:prstGeom>
          <a:noFill/>
        </p:spPr>
        <p:txBody>
          <a:bodyPr wrap="none">
            <a:spAutoFit/>
          </a:bodyPr>
          <a:lstStyle/>
          <a:p>
            <a:pPr>
              <a:defRPr sz="2700" b="1">
                <a:solidFill>
                  <a:srgbClr val="432668"/>
                </a:solidFill>
                <a:latin typeface="Aptos Display"/>
              </a:defRPr>
            </a:pPr>
            <a:r>
              <a:t>Industrial assessment and portfolio deliverables</a:t>
            </a:r>
          </a:p>
        </p:txBody>
      </p:sp>
      <p:sp>
        <p:nvSpPr>
          <p:cNvPr id="5" name="Rectangle 4"/>
          <p:cNvSpPr/>
          <p:nvPr/>
        </p:nvSpPr>
        <p:spPr>
          <a:xfrm>
            <a:off x="502920" y="1298448"/>
            <a:ext cx="11064240" cy="22860"/>
          </a:xfrm>
          <a:prstGeom prst="rect">
            <a:avLst/>
          </a:prstGeom>
          <a:solidFill>
            <a:srgbClr val="DCD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536192"/>
            <a:ext cx="5349240" cy="1368551"/>
          </a:xfrm>
          <a:prstGeom prst="rect">
            <a:avLst/>
          </a:prstGeom>
          <a:solidFill>
            <a:srgbClr val="F6F2FC"/>
          </a:solidFill>
          <a:ln>
            <a:solidFill>
              <a:srgbClr val="E0D8ED"/>
            </a:solidFill>
          </a:ln>
        </p:spPr>
        <p:style>
          <a:lnRef idx="1">
            <a:schemeClr val="accent1"/>
          </a:lnRef>
          <a:fillRef idx="3">
            <a:schemeClr val="accent1"/>
          </a:fillRef>
          <a:effectRef idx="2">
            <a:schemeClr val="accent1"/>
          </a:effectRef>
          <a:fontRef idx="minor">
            <a:schemeClr val="lt1"/>
          </a:fontRef>
        </p:style>
        <p:txBody>
          <a:bodyPr lIns="164592" tIns="91440" rIns="137160" bIns="54864" rtlCol="0" anchor="ctr"/>
          <a:lstStyle/>
          <a:p>
            <a:pPr algn="ctr">
              <a:defRPr sz="1500" b="1">
                <a:solidFill>
                  <a:srgbClr val="432668"/>
                </a:solidFill>
                <a:latin typeface="Aptos"/>
              </a:defRPr>
            </a:pPr>
            <a:r>
              <a:t>Problem definition</a:t>
            </a:r>
          </a:p>
          <a:p>
            <a:pPr>
              <a:spcBef>
                <a:spcPts val="300"/>
              </a:spcBef>
              <a:defRPr sz="1150">
                <a:solidFill>
                  <a:srgbClr val="271F37"/>
                </a:solidFill>
                <a:latin typeface="Aptos"/>
              </a:defRPr>
            </a:pPr>
            <a:r>
              <a:t>State the user, business objective, target, prediction horizon, constraints and measurable success criteria.</a:t>
            </a:r>
          </a:p>
        </p:txBody>
      </p:sp>
      <p:sp>
        <p:nvSpPr>
          <p:cNvPr id="7" name="Rectangle 6"/>
          <p:cNvSpPr/>
          <p:nvPr/>
        </p:nvSpPr>
        <p:spPr>
          <a:xfrm>
            <a:off x="502920" y="3014471"/>
            <a:ext cx="5349240" cy="1368551"/>
          </a:xfrm>
          <a:prstGeom prst="rect">
            <a:avLst/>
          </a:prstGeom>
          <a:solidFill>
            <a:srgbClr val="FAF9FC"/>
          </a:solidFill>
          <a:ln>
            <a:solidFill>
              <a:srgbClr val="E0D8ED"/>
            </a:solidFill>
          </a:ln>
        </p:spPr>
        <p:style>
          <a:lnRef idx="1">
            <a:schemeClr val="accent1"/>
          </a:lnRef>
          <a:fillRef idx="3">
            <a:schemeClr val="accent1"/>
          </a:fillRef>
          <a:effectRef idx="2">
            <a:schemeClr val="accent1"/>
          </a:effectRef>
          <a:fontRef idx="minor">
            <a:schemeClr val="lt1"/>
          </a:fontRef>
        </p:style>
        <p:txBody>
          <a:bodyPr lIns="164592" tIns="91440" rIns="137160" bIns="54864" rtlCol="0" anchor="ctr"/>
          <a:lstStyle/>
          <a:p>
            <a:pPr algn="ctr">
              <a:defRPr sz="1500" b="1">
                <a:solidFill>
                  <a:srgbClr val="432668"/>
                </a:solidFill>
                <a:latin typeface="Aptos"/>
              </a:defRPr>
            </a:pPr>
            <a:r>
              <a:t>Engineering evidence</a:t>
            </a:r>
          </a:p>
          <a:p>
            <a:pPr>
              <a:spcBef>
                <a:spcPts val="300"/>
              </a:spcBef>
              <a:defRPr sz="1150">
                <a:solidFill>
                  <a:srgbClr val="271F37"/>
                </a:solidFill>
                <a:latin typeface="Aptos"/>
              </a:defRPr>
            </a:pPr>
            <a:r>
              <a:t>Provide reproducible code, environment instructions, tests, data checks and documented assumptions.</a:t>
            </a:r>
          </a:p>
        </p:txBody>
      </p:sp>
      <p:sp>
        <p:nvSpPr>
          <p:cNvPr id="8" name="Rectangle 7"/>
          <p:cNvSpPr/>
          <p:nvPr/>
        </p:nvSpPr>
        <p:spPr>
          <a:xfrm>
            <a:off x="502920" y="4492750"/>
            <a:ext cx="5349240" cy="1368551"/>
          </a:xfrm>
          <a:prstGeom prst="rect">
            <a:avLst/>
          </a:prstGeom>
          <a:solidFill>
            <a:srgbClr val="F6F2FC"/>
          </a:solidFill>
          <a:ln>
            <a:solidFill>
              <a:srgbClr val="E0D8ED"/>
            </a:solidFill>
          </a:ln>
        </p:spPr>
        <p:style>
          <a:lnRef idx="1">
            <a:schemeClr val="accent1"/>
          </a:lnRef>
          <a:fillRef idx="3">
            <a:schemeClr val="accent1"/>
          </a:fillRef>
          <a:effectRef idx="2">
            <a:schemeClr val="accent1"/>
          </a:effectRef>
          <a:fontRef idx="minor">
            <a:schemeClr val="lt1"/>
          </a:fontRef>
        </p:style>
        <p:txBody>
          <a:bodyPr lIns="164592" tIns="91440" rIns="137160" bIns="54864" rtlCol="0" anchor="ctr"/>
          <a:lstStyle/>
          <a:p>
            <a:pPr algn="ctr">
              <a:defRPr sz="1500" b="1">
                <a:solidFill>
                  <a:srgbClr val="432668"/>
                </a:solidFill>
                <a:latin typeface="Aptos"/>
              </a:defRPr>
            </a:pPr>
            <a:r>
              <a:t>Evaluation evidence</a:t>
            </a:r>
          </a:p>
          <a:p>
            <a:pPr>
              <a:spcBef>
                <a:spcPts val="300"/>
              </a:spcBef>
              <a:defRPr sz="1150">
                <a:solidFill>
                  <a:srgbClr val="271F37"/>
                </a:solidFill>
                <a:latin typeface="Aptos"/>
              </a:defRPr>
            </a:pPr>
            <a:r>
              <a:t>Include baseline comparison, suitable metrics, error analysis, limitations and fairness considerations.</a:t>
            </a:r>
          </a:p>
        </p:txBody>
      </p:sp>
      <p:sp>
        <p:nvSpPr>
          <p:cNvPr id="9" name="Rectangle 8"/>
          <p:cNvSpPr/>
          <p:nvPr/>
        </p:nvSpPr>
        <p:spPr>
          <a:xfrm>
            <a:off x="6126480" y="1536192"/>
            <a:ext cx="5349240" cy="1368551"/>
          </a:xfrm>
          <a:prstGeom prst="rect">
            <a:avLst/>
          </a:prstGeom>
          <a:solidFill>
            <a:srgbClr val="F6F2FC"/>
          </a:solidFill>
          <a:ln>
            <a:solidFill>
              <a:srgbClr val="E0D8ED"/>
            </a:solidFill>
          </a:ln>
        </p:spPr>
        <p:style>
          <a:lnRef idx="1">
            <a:schemeClr val="accent1"/>
          </a:lnRef>
          <a:fillRef idx="3">
            <a:schemeClr val="accent1"/>
          </a:fillRef>
          <a:effectRef idx="2">
            <a:schemeClr val="accent1"/>
          </a:effectRef>
          <a:fontRef idx="minor">
            <a:schemeClr val="lt1"/>
          </a:fontRef>
        </p:style>
        <p:txBody>
          <a:bodyPr lIns="164592" tIns="91440" rIns="137160" bIns="54864" rtlCol="0" anchor="ctr"/>
          <a:lstStyle/>
          <a:p>
            <a:pPr algn="ctr">
              <a:defRPr sz="1500" b="1">
                <a:solidFill>
                  <a:srgbClr val="432668"/>
                </a:solidFill>
                <a:latin typeface="Aptos"/>
              </a:defRPr>
            </a:pPr>
            <a:r>
              <a:t>Architecture &amp; operations</a:t>
            </a:r>
          </a:p>
          <a:p>
            <a:pPr>
              <a:spcBef>
                <a:spcPts val="300"/>
              </a:spcBef>
              <a:defRPr sz="1150">
                <a:solidFill>
                  <a:srgbClr val="271F37"/>
                </a:solidFill>
                <a:latin typeface="Aptos"/>
              </a:defRPr>
            </a:pPr>
            <a:r>
              <a:t>Show architecture, API contract, deployment guide, security controls and monitoring plan.</a:t>
            </a:r>
          </a:p>
        </p:txBody>
      </p:sp>
      <p:sp>
        <p:nvSpPr>
          <p:cNvPr id="10" name="Rectangle 9"/>
          <p:cNvSpPr/>
          <p:nvPr/>
        </p:nvSpPr>
        <p:spPr>
          <a:xfrm>
            <a:off x="6126480" y="3014471"/>
            <a:ext cx="5349240" cy="1368551"/>
          </a:xfrm>
          <a:prstGeom prst="rect">
            <a:avLst/>
          </a:prstGeom>
          <a:solidFill>
            <a:srgbClr val="FAF9FC"/>
          </a:solidFill>
          <a:ln>
            <a:solidFill>
              <a:srgbClr val="E0D8ED"/>
            </a:solidFill>
          </a:ln>
        </p:spPr>
        <p:style>
          <a:lnRef idx="1">
            <a:schemeClr val="accent1"/>
          </a:lnRef>
          <a:fillRef idx="3">
            <a:schemeClr val="accent1"/>
          </a:fillRef>
          <a:effectRef idx="2">
            <a:schemeClr val="accent1"/>
          </a:effectRef>
          <a:fontRef idx="minor">
            <a:schemeClr val="lt1"/>
          </a:fontRef>
        </p:style>
        <p:txBody>
          <a:bodyPr lIns="164592" tIns="91440" rIns="137160" bIns="54864" rtlCol="0" anchor="ctr"/>
          <a:lstStyle/>
          <a:p>
            <a:pPr algn="ctr">
              <a:defRPr sz="1500" b="1">
                <a:solidFill>
                  <a:srgbClr val="432668"/>
                </a:solidFill>
                <a:latin typeface="Aptos"/>
              </a:defRPr>
            </a:pPr>
            <a:r>
              <a:t>GenAI evidence</a:t>
            </a:r>
          </a:p>
          <a:p>
            <a:pPr>
              <a:spcBef>
                <a:spcPts val="300"/>
              </a:spcBef>
              <a:defRPr sz="1150">
                <a:solidFill>
                  <a:srgbClr val="271F37"/>
                </a:solidFill>
                <a:latin typeface="Aptos"/>
              </a:defRPr>
            </a:pPr>
            <a:r>
              <a:t>For RAG/LLMs, include retrieval tests, answer-grounding checks, prompt/version records and safety evaluations.</a:t>
            </a:r>
          </a:p>
        </p:txBody>
      </p:sp>
      <p:sp>
        <p:nvSpPr>
          <p:cNvPr id="11" name="Rectangle 10"/>
          <p:cNvSpPr/>
          <p:nvPr/>
        </p:nvSpPr>
        <p:spPr>
          <a:xfrm>
            <a:off x="6126480" y="4492750"/>
            <a:ext cx="5349240" cy="1368551"/>
          </a:xfrm>
          <a:prstGeom prst="rect">
            <a:avLst/>
          </a:prstGeom>
          <a:solidFill>
            <a:srgbClr val="F6F2FC"/>
          </a:solidFill>
          <a:ln>
            <a:solidFill>
              <a:srgbClr val="E0D8ED"/>
            </a:solidFill>
          </a:ln>
        </p:spPr>
        <p:style>
          <a:lnRef idx="1">
            <a:schemeClr val="accent1"/>
          </a:lnRef>
          <a:fillRef idx="3">
            <a:schemeClr val="accent1"/>
          </a:fillRef>
          <a:effectRef idx="2">
            <a:schemeClr val="accent1"/>
          </a:effectRef>
          <a:fontRef idx="minor">
            <a:schemeClr val="lt1"/>
          </a:fontRef>
        </p:style>
        <p:txBody>
          <a:bodyPr lIns="164592" tIns="91440" rIns="137160" bIns="54864" rtlCol="0" anchor="ctr"/>
          <a:lstStyle/>
          <a:p>
            <a:pPr algn="ctr">
              <a:defRPr sz="1500" b="1">
                <a:solidFill>
                  <a:srgbClr val="432668"/>
                </a:solidFill>
                <a:latin typeface="Aptos"/>
              </a:defRPr>
            </a:pPr>
            <a:r>
              <a:t>Presentation</a:t>
            </a:r>
          </a:p>
          <a:p>
            <a:pPr>
              <a:spcBef>
                <a:spcPts val="300"/>
              </a:spcBef>
              <a:defRPr sz="1150">
                <a:solidFill>
                  <a:srgbClr val="271F37"/>
                </a:solidFill>
                <a:latin typeface="Aptos"/>
              </a:defRPr>
            </a:pPr>
            <a:r>
              <a:t>Demonstrate the end-to-end workflow, explain trade-offs and list known limitations and next steps.</a:t>
            </a:r>
          </a:p>
        </p:txBody>
      </p:sp>
      <p:sp>
        <p:nvSpPr>
          <p:cNvPr id="12" name="TextBox 11"/>
          <p:cNvSpPr txBox="1"/>
          <p:nvPr/>
        </p:nvSpPr>
        <p:spPr>
          <a:xfrm>
            <a:off x="7955279" y="6510528"/>
            <a:ext cx="3657600" cy="201168"/>
          </a:xfrm>
          <a:prstGeom prst="rect">
            <a:avLst/>
          </a:prstGeom>
          <a:noFill/>
        </p:spPr>
        <p:txBody>
          <a:bodyPr wrap="none">
            <a:spAutoFit/>
          </a:bodyPr>
          <a:lstStyle/>
          <a:p>
            <a:pPr algn="r">
              <a:defRPr sz="800">
                <a:solidFill>
                  <a:srgbClr val="5C5965"/>
                </a:solidFill>
                <a:latin typeface="Aptos"/>
              </a:defRPr>
            </a:pPr>
            <a:r>
              <a:t>SkyNetix Systems LLP  •  AI / ML Bootcamp</a:t>
            </a:r>
          </a:p>
        </p:txBody>
      </p:sp>
      <p:pic>
        <p:nvPicPr>
          <p:cNvPr id="13" name="Picture 12"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46304"/>
          </a:xfrm>
          <a:prstGeom prst="rect">
            <a:avLst/>
          </a:prstGeom>
          <a:solidFill>
            <a:srgbClr val="532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48272"/>
            <a:ext cx="12192000" cy="109728"/>
          </a:xfrm>
          <a:prstGeom prst="rect">
            <a:avLst/>
          </a:prstGeom>
          <a:solidFill>
            <a:srgbClr val="532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_clean_high_resolution_colorful_thank_you_gra.png"/>
          <p:cNvPicPr>
            <a:picLocks noChangeAspect="1"/>
          </p:cNvPicPr>
          <p:nvPr/>
        </p:nvPicPr>
        <p:blipFill>
          <a:blip r:embed="rId2"/>
          <a:stretch>
            <a:fillRect/>
          </a:stretch>
        </p:blipFill>
        <p:spPr>
          <a:xfrm>
            <a:off x="815340" y="788670"/>
            <a:ext cx="10561320" cy="5280660"/>
          </a:xfrm>
          <a:prstGeom prst="rect">
            <a:avLst/>
          </a:prstGeom>
        </p:spPr>
      </p:pic>
      <p:pic>
        <p:nvPicPr>
          <p:cNvPr id="5" name="Picture 4" descr="image.png"/>
          <p:cNvPicPr>
            <a:picLocks noChangeAspect="1"/>
          </p:cNvPicPr>
          <p:nvPr/>
        </p:nvPicPr>
        <p:blipFill>
          <a:blip r:embed="rId3"/>
          <a:stretch>
            <a:fillRect/>
          </a:stretch>
        </p:blipFill>
        <p:spPr>
          <a:xfrm>
            <a:off x="10625328" y="6345936"/>
            <a:ext cx="1371600" cy="384048"/>
          </a:xfrm>
          <a:prstGeom prst="rect">
            <a:avLst/>
          </a:prstGeom>
        </p:spPr>
      </p:pic>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AI, ML, deep learning and data science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01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Artificial intelligence (AI) is the broad goal of making systems perform tasks associated with intelligence. Machine learning (ML) is one approach: a system learns patterns from examples instead of relying only on manually written rules. Deep learning (DL) is a subset of ML that uses multi-layer neural networks. Data science is the end-to-end discipline of collecting, cleaning, analyzing and communicating data to support decisions.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Think of these as overlapping, not competing, fields. A data scientist may use statistics and visualization without training an ML model; an ML engineer may deploy a model; a deep-learning engineer may train a neural network. The right tool depends on the problem, available data, explainability needs and operating cost.</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 retailer explores sales with charts (data science), trains a model to forecast demand (ML), and uses a neural network for complex image recognition (DL).</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Do not assume deep learning is always better. For small tabular datasets, a simpler model can be faster, cheaper and easier to explain.</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01</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Development environment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02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A development environment is the collection of tools used to write, execute, debug and organize code. Python provides the runtime; VS Code is an editor; Jupyter notebooks support interactive exploration; Anaconda can manage Python and packages; Colab offers a hosted notebook environment.</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Choose one primary workflow and keep project files organized. Use notebooks for experiments, then move stable functions into Python modules that can be tested and reused. Record package versions so another machine can reproduce the same environment.</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create a project folder with notebooks/, src/, data/ and requirements.txt; run exploratory analysis in a notebook and import reusable cleaning functions from src/.</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A notebook that works only because of hidden execution order is fragile. Restart the kernel and run all cells from top to bottom before sharing it.</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02</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Virtual environments and packages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03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A virtual environment isolates a project’s installed libraries from other projects. A package is reusable code distributed for installation, commonly through pip or conda. Isolation helps prevent version conflicts—for example, one project may require a different NumPy or scikit-learn version from another.</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Create an environment, activate it, install only the dependencies needed, and capture those dependencies in a file. Use requirements.txt for pip-based projects or environment.yml for conda environments. Rebuild the environment periodically to check that setup instructions are complete.</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python -m venv .venv; activate it; run python -m pip install numpy pandas scikit-learn; then python -m pip freeze &gt; requirements.txt.</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Do not install every package globally or commit secrets and local machine paths into dependency files.</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03</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Python syntax, variables and types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04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Python code is organized by indentation, and variable names refer to objects. Common types include int, float, str and bool. Types affect which operations are valid: numbers can be multiplied, strings can be concatenated, and booleans represent True or False.</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Use meaningful names, convert types deliberately, and inspect unfamiliar values with type(). Python is dynamically typed, but the data still has a type; a value read from a CSV may be text even when it looks numeric. Format output for readability rather than mixing display formatting with calculations.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orders = 3; price = 249.50; total = orders * price. The calculation is numeric, while f"Total: ₹{total:.2f}" formats the result for display.</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Watch for strings such as "100" being mistaken for numbers, and for floating-point representation when comparing decimal values.</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04</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Operators and expressions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05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Operators combine values into expressions. Arithmetic operators calculate values; comparison operators return booleans; logical operators combine conditions; membership operators test whether an item occurs in a collection. Operator precedence determines which parts are evaluated first.</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Use parentheses when a condition is complex. For chained decisions, make each condition explicit and ensure the logic matches the business rule. In Python, and/or short-circuit, so the second condition may not be evaluated if the first already determines the result.</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if age &gt;= 18 and has_id: allow_entry = True. Both conditions must be true for entry to be allowed.</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Use == for equality and = for assignment. Be careful with precedence and with comparing values of incompatible types.</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05</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Control flow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06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Control flow determines which statements run. if/elif/else selects among branches based on conditions. The first matching branch executes, so the order of conditions matters—especially when one condition is broader than another.</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Write branches that cover expected cases and decide what should happen for invalid or missing input. For classification rules, test boundary values such as exactly 70 or exactly 85, not only typical examples.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 score of 78 enters the branch score &gt;= 70 and receives grade B if the A threshold is 85.</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Overlapping conditions can make later branches unreachable. Include tests for the minimum, maximum and threshold boundaries.</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06</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Loops and iteration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07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Loops repeat work over a sequence or while a condition remains true. A for loop is usually preferred when iterating over known items; a while loop is useful when repetition depends on a changing condition. break exits a loop and continue skips to the next iteration.</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For data processing, loops can validate records, aggregate values or transform items. Track the loop variable clearly and ensure while-loop conditions eventually become false. For large numerical arrays, vectorized NumPy operations are often faster than Python-level loops.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loop through test scores and append scores greater than or equal to 70 to a passed list.</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An accidental infinite loop or an off-by-one range boundary can cause incorrect results. Test with an empty collection and a one-item collection.</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07</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Core data structures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08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Lists are ordered and mutable; tuples are ordered and immutable; sets hold unique values; dictionaries map keys to values. The choice affects ordering, update behavior and lookup performance. Dictionaries are especially useful for records and fast key-based access.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Use a list when order and edits matter, a tuple for a fixed group of values, a set for uniqueness or membership tests, and a dictionary for named attributes or lookups. A set does not promise the same semantic ordering as a list.</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 list stores customer IDs in order; a set identifies unique IDs; a dictionary maps each customer ID to a customer record.</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Lists and dictionaries are mutable. Avoid unintentionally sharing a mutable object between records or using mutable values as dictionary keys.</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08</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Comprehensions and common patterns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09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Comprehensions create collections from an iterable with concise transformation and optional filtering. A list comprehension builds a list; a dictionary comprehension builds key-value mappings; a set comprehension collects unique results.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Use them for simple transformations that remain easy to read. If the logic requires multiple nested conditions or side effects, a regular loop is often clearer. Remember that a comprehension creates a new collection in memory.</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[x*x for x in values if x % 2 == 0] squares only even values. A dictionary comprehension can map each number to its square.</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Conciseness is not the same as clarity. Avoid deeply nested comprehensions that are difficult to debug.</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09</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Functions and reusable code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10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A function names a reusable unit of behavior. Parameters provide inputs, return sends a result back, and local variables keep implementation details scoped to the function. Functions make code easier to test, explain and maintain.</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Give functions one clear responsibility, validate inputs, choose useful names and document non-obvious behavior. Prefer returning a value over printing inside the function so callers can reuse the result in other calculations.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mean(values) checks that the list is not empty, calculates sum(values)/len(values), and returns the numeric average.</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Handle edge cases such as empty inputs and unexpected types. Avoid mutable default arguments such as def f(items=[]), because the same list is reused across calls.</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10</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Lambda, map and filter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11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A lambda is a small anonymous function. map applies a function to each item, while filter keeps items for which a predicate is true. These tools support functional-style transformations and can be combined with iterables.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Use them when the transformation is short and obvious. A list comprehension is often more readable in Python, and map/filter return iterators in Python 3, so wrap them in list() only when a materialized list is needed.</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map(lambda price: price*0.9, prices) calculates a 10% discount; filter(lambda price: price &gt;= 400, prices) keeps higher-priced items.</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Prefer a named function when the logic needs comments, several steps or reuse across modules.</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11</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Modules, packages and imports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12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A module is a Python file that groups related code; a package organizes modules under a shared namespace. Imports let a program reuse standard-library and third-party functionality instead of reimplementing it.</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Keep modules cohesive, avoid circular imports, and separate configuration, data access and business logic where practical. Use a main guard to ensure command-line behavior runs only when a file is executed directly, not when imported by tests or another module.</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place data-cleaning functions in src/cleaning.py and import them from a notebook or training script.</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Import-time code should not unexpectedly download data, train models or modify files. Keep side effects inside functions or an explicit entry point.</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12</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Files, exceptions and robust code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13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File handling reads and writes persistent data such as CSV, JSON and model artifacts. Exceptions represent failures that need to be handled or surfaced clearly. try/except lets a program respond to known errors without hiding every failure.</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Use pathlib for paths, context managers for resources, explicit encodings for text, and narrow exception handlers for expected problems. Validate file contents after parsing; successfully reading JSON does not guarantee the expected keys or data types are present.</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read config.json, handle FileNotFoundError with a safe development default, and report malformed JSON as a clear configuration error.</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Do not catch Exception and silently continue. Preserve useful error context so problems can be diagnosed.</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13</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Object-oriented Python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14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Object-oriented programming groups state and behavior into classes. An object is an instance of a class; attributes hold its state and methods operate on that state. OOP can model concepts such as a model configuration or a data-processing component.</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Use classes when state and related operations belong together. Use simple functions and data structures when a class adds no meaningful benefit. Keep initialization predictable and avoid classes that combine unrelated responsibilities.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ModelConfig stores a model name and learning rate, and describe() returns a readable representation of those settings.</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Python supports composition and inheritance, but deep inheritance hierarchies often make code harder to understand. Prefer simple composition when components need to be combined.</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14</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NumPy arrays and vectorization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15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NumPy provides efficient n-dimensional arrays and numerical operations. Vectorization applies an operation to whole arrays without writing an explicit Python loop for each element. Arrays also support broadcasting, aggregation and linear-algebra operations.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NumPy arrays typically use a consistent data type and compact memory layout, which makes numerical computation efficient. Shape matters: operations must align dimensions correctly, and broadcasting can expand compatible shapes implicitly.</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z = (x - x.mean()) / x.std() standardizes values by subtracting the mean and dividing by standard deviation.</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Check array shape, dtype and zero standard deviation. Vectorized code can be concise but may create large intermediate arrays if memory is ignored.</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15</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Pandas: inspect and clean data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16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Pandas represents tabular data with DataFrames and labeled columns. Before modeling, inspect row and column counts, types, missing values, duplicates, ranges and category frequencies. Cleaning makes the data consistent enough for analysis and training.</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Use isna() to locate missing values, duplicated() to identify repeated rows, astype() or to_numeric() to correct types, and explicit rules for imputation or removal. Preserve the raw data and document transformations so cleaning is reproducible.</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read customers.csv, inspect df.shape and df.head(), count missing values, remove exact duplicates and convert monthly_spend to numeric.</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Do not drop missing rows automatically. Missingness may be meaningful, and careless cleaning can remove the very population the model needs to represent.</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16</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Exploratory data analysis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17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Exploratory data analysis (EDA) uses summaries and visualizations to understand a dataset before choosing a model. It helps reveal data quality issues, unusual values, skew, relationships, group differences and possible target leakage.</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Begin with dimensions and types, then examine missingness, descriptive statistics, distributions and relationships between features and the target. Form hypotheses from plots, but verify them with appropriate analysis rather than treating visual correlation as causation.</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compare monthly spend by customer segment and inspect whether a few extreme customers dominate the mean.</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Perform EDA without leaking test-set information into training decisions. Keep the test set reserved for final evaluation.</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17</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Data visualization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18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Charts encode data using position, length, color and shape. Histograms show distributions; scatter plots reveal relationships; bar charts compare categories; line charts show change over time; box plots summarize spread and outliers.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Choose a chart based on the question, label axes with units, show sample sizes where relevant, and use scales that do not exaggerate differences. A visualization should expose a pattern rather than decorate the slide.</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 histogram of monthly_spend can reveal right skew and whether a small group of customers spends much more than most customers.</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Correlation in a plot does not prove causation. Check missing values, aggregation choices and misleading axis ranges.</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18</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Descriptive statistics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19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Descriptive statistics summarize a dataset. Mean is the arithmetic average; median is the middle value; variance and standard deviation describe spread; quantiles describe cut points; range is maximum minus minimum. Different measures tell different parts of the story.</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The mean is sensitive to extreme values, while the median is more robust for skewed data. Standard deviation is expressed in the same units as the data; variance is in squared units. Always interpret a statistic alongside the distribution and sample size.</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for salaries with a few very high values, the mean may be much higher than the median, so reporting both gives a more balanced picture.</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A single average can hide subgroups, skew and outliers. Do not infer that data is normally distributed from the mean and standard deviation alone.</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19</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Probability and conditional probability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20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Probability quantifies uncertainty between 0 and 1. Joint probability describes two events occurring together; conditional probability P(A|B) is the probability of A given that B occurred. Independence means knowing B does not change the probability of A.</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Bayes’ theorem reverses conditional probabilities by combining the likelihood of evidence with prior probability. This is especially important when a condition is rare: even a good test can produce many false positives if the base rate is low.</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 fraud model estimates P(fraud | transaction features), not simply the overall proportion of fraudulent transactions.</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Do not confuse P(A|B) with P(B|A). The denominator and base rate matter.</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20</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Distributions and sampling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21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A probability distribution describes how possible values are distributed. The normal distribution is symmetric; the binomial distribution counts successes across a fixed number of independent trials; other distributions model counts, waiting times or skewed values.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A sample is used to estimate properties of a population. Random sampling reduces systematic selection bias, while larger samples generally reduce sampling variability. Confidence intervals express uncertainty in an estimate under stated assumptions.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estimate average customer spend from a random sample and report both the point estimate and uncertainty interval.</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A large sample does not fix biased sampling. Check independence, sampling method and whether the assumed distribution fits the data.</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21</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Linear algebra essentials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22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Linear algebra represents numerical data as scalars, vectors and matrices. A feature vector describes one observation; a matrix can hold many observations; a dot product combines aligned values. Matrix multiplication supports linear models and neural-network layers.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Shape compatibility is essential. If X has n rows and p features, a weight vector typically has p entries; X multiplied by the weights yields one score per row. Geometric ideas such as distance and projection also appear in clustering and dimensionality reduction.</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 linear model computes score = w1*x1 + w2*x2 + b, where weights determine feature contribution and b is the intercept.</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Check dimensions and feature order. A matrix can multiply another matrix only when the inner dimensions match.</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22</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Calculus and gradients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23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A derivative measures how a function changes as an input changes. For a model, a partial derivative measures how the loss changes when one parameter changes. The gradient collects these derivatives and points toward the steepest local increase in loss.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Gradient descent moves parameters in the opposite direction of the gradient to reduce loss. The learning rate controls step size: too large can overshoot or diverge; too small can make learning very slow. In neural networks, backpropagation efficiently computes gradients through layers.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update a weight with w_new = w_old - learning_rate * gradient.</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A gradient describes local change, not a guarantee of a global optimum. Loss scaling and learning-rate choice affect stability.</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23</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Train, validation and test split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24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The training set is used to fit model parameters. The validation set helps select models and tune hyperparameters. The test set estimates final performance on data not used for those choices.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Split data before learning preprocessing statistics. For time-dependent problems, preserve temporal order; for classification, stratification can preserve class proportions. If multiple records belong to one person or entity, consider group-based splitting to prevent related examples crossing splits.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fit on 70%, tune on 15%, and evaluate once on the final 15%, with exact proportions adjusted to the data size and use case.</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Repeatedly checking test performance turns the test set into a tuning set. Leakage can produce impressive scores that fail in production.</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24</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Data preprocessing pipeline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25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Preprocessing converts raw features into consistent model inputs. Common steps include imputing missing values, encoding categories, scaling numerical features and selecting or transforming features. A pipeline chains these operations with the estimator so training and inference apply the same sequence.</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Fit preprocessing steps only on training data; at prediction time, apply the already-fitted transformations. This prevents information from validation or test data influencing learned means, categories or feature selection. Pipelines also simplify cross-validation and deployment.</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median-impute numeric columns, one-hot encode categories, scale selected features and train a classifier in one scikit-learn Pipeline.</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Never independently preprocess training and production data using different rules. Watch for unseen categories and missing columns at inference time.</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25</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Machine learning workflow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26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A practical ML workflow starts with a clearly defined decision and target, then gathers data, validates and prepares it, builds a baseline, trains candidates, evaluates them, deploys the chosen model and monitors outcomes. The workflow is iterative rather than strictly linear.</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Define success before training: metric, decision threshold, latency, cost, fairness and acceptable error types. Compare with a simple baseline and keep an experiment record. After deployment, monitor both service health and whether real-world data or relationships change.</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for churn prediction, define what counts as churn and the prediction horizon before choosing features and metrics.</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A high offline score does not guarantee business value. Ensure the model output can be acted upon and evaluated against a relevant baseline.</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26</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Learning paradigms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27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Supervised learning learns from labeled examples. Unsupervised learning searches for structure without target labels. Reinforcement learning learns a policy by interacting with an environment and receiving rewards or penalties.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Choose the paradigm based on the available feedback. Regression and classification are supervised; clustering and PCA are common unsupervised tools; reinforcement learning suits sequential decisions where actions affect future states and rewards.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predict house prices with supervised regression, group customers with clustering, and optimize a simulated robot’s actions with reinforcement learning.</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Clustering does not automatically produce meaningful business segments, and reinforcement learning can be expensive or unsafe to explore in a real environment.</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27</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Regression vs classification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28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Regression predicts a numeric quantity, such as demand or price. Classification predicts a category or class probability, such as spam/not spam. The output type determines the model setup, loss function, evaluation metric and interpretation.</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For regression, common metrics include MAE and RMSE. For classification, precision, recall, F1, ROC-AUC or PR-AUC may be appropriate. A classifier’s probability becomes a label only after applying a decision threshold, which should reflect the cost of false positives and false negatives.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estimate delivery time in minutes with regression; predict whether an order will be late with classification.</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Do not use accuracy or RMSE by habit. Choose metrics that match the target and the real-world cost of errors.</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28</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Simple and multiple linear regression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29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Linear regression models a numeric target as an intercept plus a weighted sum of features. Simple regression uses one feature; multiple regression uses several. The learned coefficients describe the model’s estimated relationship while holding other included features fixed.</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Train the model on representative examples, inspect residuals and evaluate on held-out data. Coefficients are not automatically causal effects; correlated features, omitted variables and non-linear relationships can complicate interpretation.</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predict house price using area, number of bedrooms and location indicators. Each coefficient contributes to the predicted value according to its feature value.</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Check residual patterns, influential outliers, feature scaling when regularization is used, and multicollinearity when interpreting coefficients.</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29</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Regression loss and metrics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30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A loss function is the quantity optimized during training; an evaluation metric summarizes performance in a useful unit. MAE averages absolute errors, MSE averages squared errors, and RMSE is the square root of MSE, returning to the target’s units.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MSE penalizes large errors more strongly than MAE. R-squared compares the model to a mean-prediction baseline under its definition, but it does not prove that the model is appropriate. Compare errors against business tolerances and simple baselines.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if the model predicts delivery time, MAE = 5 means the average absolute error is five minutes on the evaluation sample.</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An average metric can hide systematic errors for particular segments or ranges. Inspect residuals and per-group performance.</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30</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Polynomial regression and regularization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31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Polynomial regression adds powers or interactions of features so a linear estimator can fit curved relationships. Regularization penalizes model complexity: Ridge uses an L2 penalty, while Lasso uses an L1 penalty that can drive some coefficients to zero.</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Increasing polynomial degree increases flexibility but can overfit. Standardize features when penalty scales would otherwise be incomparable, and select degree and regularization strength using cross-validation.</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fit a curved relationship between temperature and demand with temperature and temperature-squared as inputs.</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Extrapolation outside the training range can be unstable. Strong regularization can underfit; weak regularization may retain noisy patterns.</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31</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Logistic regression and classification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32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Logistic regression is a classification model that converts a linear score into a probability using the logistic sigmoid for binary outcomes. The probability is compared with a threshold to produce a class label.</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The coefficients affect log-odds, not directly the probability. Logistic regression is a useful baseline because it is fast and interpretable, especially with well-prepared features. Multiclass variants can handle more than two classes.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 model estimates a 0.82 probability that a transaction is fraudulent; a threshold of 0.5 flags it, while a higher threshold may reduce false alarms.</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Choose the threshold using validation data and business costs. A probability is not automatically well calibrated simply because it lies between zero and one.</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32</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Confusion matrix and classification metrics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33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A confusion matrix counts true positives, true negatives, false positives and false negatives. Precision is the fraction of predicted positives that are truly positive; recall is the fraction of actual positives found; F1 balances precision and recall using their harmonic mean.</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Accuracy can be misleading when one class dominates. Select metrics according to the decision: fraud detection may emphasize recall but still constrain false alerts; a medical triage system may prioritize missed cases differently from a content moderation system.</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among 100 flagged transactions, 80 are truly fraudulent, so precision is 80%; if 100 of 200 fraud cases are found, recall is 50%.</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Always state which class is considered positive and inspect the actual confusion counts, not only a single score.</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33</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Decision trees and ensembles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34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A decision tree repeatedly splits data using feature rules, creating branches that reduce impurity for classification or prediction error for regression. Trees can represent non-linear relationships and interactions, and are often easy to visualize.</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Random forests average many trees trained with data and feature randomness, reducing variance. Gradient boosting builds learners sequentially to correct residual errors. Ensembles can improve accuracy but increase complexity and reduce simple interpretability.</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 tree may split first on account age and then transaction amount; a random forest combines many such trees for a more stable prediction.</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Deep trees can memorize noise. Tune depth and leaf size, validate carefully, and distinguish feature importance from causal explanation.</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34</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K-nearest neighbors and support vector machines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35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K-nearest neighbors (KNN) predicts from the labels or values of nearby training examples. A support vector machine (SVM) finds a decision boundary with a large margin; kernels can represent non-linear boundaries without explicitly constructing all transformed features.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KNN depends on distance, so feature scaling is important; small k can be noisy and large k can blur boundaries. SVMs also benefit from scaling and require tuning of regularization and, for kernel SVMs, kernel parameters.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classify a new customer by the majority class among the closest customers after scaling spend, tenure and order count.</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KNN prediction can be slow for large datasets. SVMs may become costly with many observations, and both methods need validation on representative data.</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35</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Naive Bayes and probabilistic baselines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36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Naive Bayes applies Bayes’ theorem while assuming features are conditionally independent given the class. The assumption is often unrealistic, but the model can still work well, particularly for text classification with word-count features.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Gaussian Naive Bayes is used for continuous features; Multinomial Naive Bayes is common for counts; Bernoulli Naive Bayes models binary feature presence. A simple baseline provides a useful reference before more complex models are built.</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 spam classifier estimates how likely words such as “offer” and “winner” are under spam versus non-spam messages.</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Check whether feature representation suits the chosen variant, and do not interpret the independence assumption as a statement that words are truly independent.</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36</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Clustering: K-means intuition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37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K-means partitions observations into k clusters by repeatedly assigning each point to its nearest centroid and updating centroids to the mean of assigned points. It aims to reduce within-cluster squared distance.</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Choose k using domain knowledge and validation tools such as elbow plots or silhouette scores. Scale features when units differ, inspect cluster profiles and test stability across random initializations. Cluster labels are arbitrary identifiers, not ranked categories.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group customers using standardized recency, frequency and monetary-value features, then describe each cluster’s behavior.</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K-means favors roughly spherical clusters and is sensitive to outliers and initialization. It requires choosing k and may not suit irregular cluster shapes.</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37</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Dimensionality reduction and PCA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38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Principal component analysis (PCA) transforms correlated numeric features into orthogonal components ordered by the amount of variance they explain. Keeping fewer components can compress data, reduce noise and help visualize high-dimensional structure.</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PCA is sensitive to scale, so standardization is often appropriate. Fit PCA only on training data, inspect explained-variance ratios, and remember that components are combinations of original features that may be harder to interpret.</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reduce dozens of correlated measurements to a smaller set of components before plotting or training a model.</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High explained variance does not guarantee preservation of predictive information. PCA is linear and may not capture non-linear structure.</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38</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Cross-validation and hyperparameter tuning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39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Cross-validation splits training data into folds, fits on some folds and evaluates on the held-out fold, repeating so each fold is used for evaluation. Hyperparameters are choices set before or around training, such as tree depth, k in KNN or regularization strength.</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Use the average validation score and its variability to compare candidates. Grid search tests specified combinations; randomized search samples combinations and can be more efficient in large spaces. Keep preprocessing inside the pipeline to avoid leakage.</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compare logistic regression regularization strengths using stratified five-fold cross-validation.</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Do not repeatedly tune against the final test set. Use time-aware or group-aware splits when random folds would violate the data structure.</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39</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Overfitting, underfitting and bias-variance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40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Underfitting occurs when a model is too simple to capture useful structure; overfitting occurs when it learns noise or details that do not generalize. Bias reflects systematic error from simplifying assumptions, while variance reflects sensitivity to the training sample.</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Compare training and validation performance. Poor scores on both often suggest underfitting; excellent training performance with much worse validation performance suggests overfitting. More representative data, regularization, simpler models and better validation can help.</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 depth-1 tree may miss important patterns, while an unrestricted tree may memorize individual training records.</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Never diagnose solely from training accuracy. Also consider label noise, distribution shift and whether the chosen metric reflects the task.</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40</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Feature engineering and leakage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41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Feature engineering turns raw inputs into useful representations: extracting date parts, creating ratios, encoding categories, scaling values or aggregating historical behavior. Leakage occurs when a feature or transformation uses information unavailable at the real prediction time or uses held-out data improperly.</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For every feature, ask when it becomes available and whether it would exist at inference time. Split data before fitting transformations. For time-based prediction, build historical aggregates using only past events relative to each prediction timestamp.</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days_since_last_purchase can be useful; a “refund approved” field is leakage if the model is meant to predict refunds before the decision occurs.</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Leakage can create implausibly high validation scores. Document feature provenance and replicate the production-time data path.</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41</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Imbalanced classification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42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Class imbalance means one class is much rarer than another. A model can achieve high accuracy by mostly predicting the majority class while failing to identify the minority cases that matter.</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Evaluate precision, recall, F1, PR-AUC and the confusion matrix. Potential approaches include class weights, careful over/undersampling, threshold tuning and gathering more minority-class examples. Resampling must occur only within training folds.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if only 1% of transactions are fraudulent, a model that predicts “not fraud” for every transaction has 99% accuracy but no fraud-detection value.</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Balancing the training set does not change the real-world base rate. Recheck probability calibration and operational alert volume.</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42</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Neural network building blocks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43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A neural network contains layers of units that combine inputs with weights and biases, then apply activation functions. The input layer represents features, hidden layers learn intermediate representations, and the output layer produces predictions or scores.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Training adjusts parameters to minimize a loss. More layers and units increase capacity but also require more data, computation and regularization. Input and output shapes, activation functions and initialization all affect training behavior.</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 network for tabular data might take ten numeric features, pass them through two hidden layers and output a probability for a binary class.</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A neural network is not automatically superior to tree-based models on tabular data. Start with a baseline and measure generalization.</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43</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Forward pass, loss and backpropagation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44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The forward pass computes predictions by passing inputs through the network. A loss function compares predictions with target labels. Backpropagation applies the chain rule to calculate how each parameter contributed to the loss, and an optimizer uses those gradients to update parameters.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Training repeats forward pass, loss calculation, gradient computation and parameter update over batches. Gradients must flow through the computation graph; unstable activations or poor learning rates can cause vanishing or exploding gradients.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for a batch of images, the network predicts classes, cross-entropy measures error, backprop computes gradients and Adam updates the weights.</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The training loss alone is insufficient. Track validation metrics and verify that gradients and loss remain finite.</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44</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Activation functions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45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Activation functions introduce non-linearity. Without them, a stack of linear layers is still equivalent to a linear transformation and cannot learn complex non-linear patterns. ReLU is common in hidden layers; sigmoid maps a scalar to (0,1); softmax converts class scores into a probability distribution.</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Choose the output activation to match the task and pair it with a compatible loss. For example, binary classification commonly uses logits with binary cross-entropy-with-logits; multiclass classification commonly uses logits with cross-entropy.</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ReLU outputs max(0, x), allowing positive signals through while setting negative values to zero.</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Sigmoid can saturate for very large positive or negative inputs, and softmax probabilities should not be mistaken for guaranteed calibration.</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45</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Loss functions and optimizers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46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Loss functions quantify how wrong a model’s predictions are; optimizers decide how to change parameters to reduce that loss. Cross-entropy is common for classification, while mean squared error is common for regression. SGD, momentum and Adam are widely used optimizers.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Learning rate is often the most influential optimizer setting. Batch size affects gradient noise and hardware use. Learning-rate schedules can reduce step size over training. Choose the loss and output representation together to avoid numerical instability.</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train a classifier using cross-entropy and Adam, then reduce the learning rate when validation performance stops improving.</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Lower training loss does not always mean better generalization. Watch validation metrics and use early stopping when appropriate.</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46</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Training loop concepts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47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A training loop repeatedly loads a batch, runs the model, calculates loss, clears old gradients, computes gradients, updates parameters and records metrics. An epoch is one pass through the training dataset; a batch is a subset used for one update.</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Keep training and evaluation modes distinct when layers such as dropout or batch normalization behave differently. Use a validation loop without gradient updates, save checkpoints and set random seeds where reproducibility is important.</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train for several epochs, evaluate validation loss after each epoch, and save the checkpoint with the best validation score.</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Forgetting to clear gradients or accidentally updating weights during evaluation can corrupt results. Monitor memory and ensure batches and labels have expected shapes.</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47</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Convolutional neural networks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48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CNNs are designed to exploit local spatial structure in images. Convolutional filters slide across an image to detect patterns such as edges and textures; deeper layers combine those patterns into more complex features. Pooling or strided convolutions can reduce spatial dimensions.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CNNs share filter weights across locations, which reduces parameters compared with fully connected layers on raw pixels. The output head converts learned features into class scores or other task-specific outputs.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 classifier may learn edge detectors in early layers and combine them into shapes that help distinguish cats from dogs.</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CNNs still need representative data and correct preprocessing. Image size, channel order, normalization and augmentation must match the model’s expectations.</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48</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CNN: practical considerations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49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Practical CNN performance depends on data quantity, image quality, preprocessing, architecture, regularization and compute. Transfer learning starts from a model pretrained on a large dataset and adapts it to a narrower task, often improving results when labeled data is limited.</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Use realistic augmentation that preserves the label, split images by subject or source when duplicates could leak across splits, and inspect class-wise errors. For deployment, consider image resize cost, GPU availability, batch size and latency requirements.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fine-tune a pretrained image model to classify a small set of manufacturing defects, using validation images from a different production batch.</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Augmentation must not create impossible examples. Watch for near-duplicate images in train and test sets.</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49</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Sequence models and embeddings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50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Sequence models process ordered inputs such as text, audio or time series. RNNs and LSTMs maintain a hidden state across steps; embeddings represent discrete items such as words or tokens as dense vectors that can capture learned relationships.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Sequence order matters: “dog bites man” and “man bites dog” contain similar words but different meaning. Padding makes variable-length sequences batchable, while masks indicate which positions are real. Modern transformers often replace recurrent processing for many NLP tasks.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 sentiment model maps tokens to embeddings, processes the sequence and predicts positive, neutral or negative sentiment.</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Long sequences can exceed model limits; truncation can discard useful context. Embedding similarity is a signal, not proof that two items mean exactly the same thing.</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50</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NLP pipeline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51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An NLP pipeline converts raw text into representations a model can use and then turns predictions into application outputs. Typical stages include collecting text, cleaning or normalizing where appropriate, tokenizing, representing text, training or calling a model, evaluating and integrating the result.</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Preprocessing choices depend on the task and model. Traditional bag-of-words models may use lowercasing and stop-word handling; pretrained transformers generally require their own tokenizer and special tokens. Keep the same transformation rules for training and inference.</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customer reviews are tokenized and converted into features, a classifier predicts sentiment, and evaluation checks errors across review categories.</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Over-cleaning can remove negation, punctuation or domain-specific meaning. Preserve raw text and compare preprocessing choices empirically.</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51</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Text cleaning and tokenization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52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Text cleaning standardizes input when variation is irrelevant, while tokenization splits text into units such as words, subwords or characters. Tokenizers determine the sequence that a model sees and therefore affect vocabulary coverage, sequence length and semantics.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Traditional pipelines may normalize case, whitespace and punctuation. Transformer models typically use model-specific subword tokenizers, which help represent unfamiliar words as smaller units. Preserve important signals such as negation, emojis or product codes when the task needs them.</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“The service isn’t good!” must not be cleaned into a positive-looking phrase by removing “n’t” or the negation itself.</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Use the tokenizer that matches the pretrained model. Inconsistent tokenization between training and inference can degrade results.</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52</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Stemming, lemmatization and stop words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53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Stemming strips word endings using heuristic rules and may produce fragments. Lemmatization maps a word to a dictionary base form using linguistic information. Stop words are frequent terms that some traditional pipelines remove to reduce noise.</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These methods can reduce vocabulary size in classical NLP, but are not universally helpful. Words such as “not” can reverse sentiment, and removing them may damage classification. Transformer tokenizers and pretrained models generally expect their own input format rather than aggressive stemming.</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“studies”, “studying” and “studied” may be normalized toward “study”; stemming can produce a less natural fragment than lemmatization.</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Decide preprocessing from validation results and task requirements. Do not remove words merely because they are common.</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53</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Bag of words and TF-IDF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54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Bag of words represents a document by counts of terms, ignoring word order. TF-IDF weights a term by how often it appears in a document and how uncommon it is across the corpus. Frequent terms in one document can be useful, while terms appearing everywhere carry less distinguishing information.</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TF-IDF produces sparse vectors that work well with linear models and provide a strong classical text baseline. Fit the vocabulary and IDF weights on training data only, then apply the same vectorizer to validation, test and production text.</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“refund” may receive a high TF-IDF weight in a complaint if it is important to that document and relatively uncommon across all documents.</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Bag-of-words features do not understand word order or deep context. Vocabulary drift and rare terms need handling.</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54</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Word embeddings and semantic similarity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55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Embeddings map tokens, sentences or documents to dense numeric vectors. During training, vector positions can capture useful patterns of meaning or usage. Similarity is often measured with cosine similarity, which compares vector direction rather than magnitude.</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Static word embeddings assign one vector per word, while contextual models create representations influenced by surrounding text. Embeddings power semantic search, clustering and retrieval, but similarity depends on the model and domain.</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 semantic search system may retrieve a document about “vehicle repair” for a query about “fixing a car,” even when the exact words differ.</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Nearby vectors do not guarantee factual equivalence. Evaluate retrieval quality on representative queries and consider keyword or metadata filters.</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55</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Transformers and attention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56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Transformers use attention to let each token combine information from other relevant tokens. Self-attention computes query, key and value projections, scores token relationships, normalizes the scores and forms weighted combinations of value vectors. Multiple heads learn different relationship patterns.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Positional information is needed because attention alone does not encode sequence order. Encoder models create contextual representations; decoder-only models commonly predict the next token; encoder-decoder models can map an input sequence to an output sequence.</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in “The animal didn’t cross the road because it was tired,” attention can help represent which words are relevant to interpreting “it.”</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Attention weights are not a complete explanation of model reasoning. Long contexts increase compute and memory demands.</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56</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NLP tasks and evaluation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57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NLP tasks include text classification, sentiment analysis, named-entity recognition, question answering, summarization, translation and information extraction. Evaluation depends on the output type: classification uses metrics such as precision/recall/F1; sequence tasks may use token-level or task-specific metrics plus human review.</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Create representative held-out data, define label guidelines and inspect errors by category, language and user group. For generative outputs, automatic overlap scores may miss factual errors, so evaluate faithfulness, relevance, safety and usefulness as well.</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 sentiment classifier can score well overall but fail on sarcasm or mixed-language reviews; per-segment error analysis reveals the weakness.</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High aggregate metrics can hide harmful subgroup failures. Check annotation consistency and avoid data leakage through duplicate text.</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57</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Text classification mini-project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58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A text-classification project turns labeled documents into a repeatable prediction system. Define the label set, inspect class balance, split the data, build a simple TF-IDF baseline, train a classifier, evaluate errors and package the inference path.</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Keep training and inference preprocessing identical. Save the fitted vectorizer together with the classifier, version the dataset and record the evaluation set. Inspect confusion-matrix examples to understand whether mistakes come from ambiguous labels, missing context or data quality.</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classify support tickets into billing, account access, technical issue or other, then route low-confidence cases for human review.</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Do not evaluate on training examples or allow near-duplicate tickets to cross splits. Measure operational impact, not only model score.</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58</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NLP project checklist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59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A reliable NLP project documents the task, data sources, label definitions, privacy constraints, preprocessing, model choice, metrics, error analysis and deployment interface. Reproducibility requires versioning the dataset, code, dependencies and trained artifacts.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Before launch, validate input length and encoding, define fallback behavior, monitor distribution changes and create a process for reviewing errors. For user-facing systems, consider personal information, bias, language coverage and human escalation.</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 support-ticket classifier should have a documented taxonomy, a test set, model artifact version, API contract and a plan for misrouted tickets.</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A notebook that demonstrates one successful run is not a production-ready system. Ensure the pipeline can be rebuilt and monitored.</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59</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Reinforcement learning loop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60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Reinforcement learning (RL) models sequential decision-making. An agent observes a state, selects an action, receives a reward and transitions to a new state. The policy maps states to actions; the objective is to maximize expected cumulative reward over time.</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The reward signal defines what the agent optimizes, so poorly designed rewards can produce unwanted behavior. Exploration gathers information about actions; exploitation uses what the agent currently believes is best. Training commonly begins in a simulator when real-world experimentation is costly or risky.</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 game-playing agent tries actions, receives rewards for progress and learns a policy that improves its long-term score.</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RL is not simply supervised learning with labels. Reward delay, exploration risk and environment mismatch make evaluation challenging.</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60</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RL vocabulary and use cases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61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An environment is the world the agent interacts with; a state describes the current situation; an action is a choice; a reward evaluates an outcome; a policy selects actions; a value function estimates future return. A model-based method also predicts environment transitions.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RL can be useful for robotics, game strategy, scheduling and some resource-allocation problems when actions affect future outcomes and feedback is available. Compare with simpler optimization or supervised approaches before choosing RL.</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 warehouse simulator can reward shorter routes while penalizing collisions and delays.</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Reward hacking, unsafe exploration and differences between simulation and reality are major risks. Define safety constraints and evaluate beyond reward alone.</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61</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From notebook to production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62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A notebook is ideal for exploration, but production systems need repeatable execution, input validation, dependency management, logging, monitoring, security and operational ownership. Productionization turns experimental code into a service or scheduled job with a clear contract.</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Separate data preparation, model loading and prediction logic. Package artifacts and dependencies, test expected and invalid inputs, set timeouts and resource limits, and define how new model versions are promoted and rolled back.</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convert a notebook’s final prediction function into a tested module, expose it through an API and deploy it in a container.</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Do not train a model at every API request unless that is explicitly intended. Load the approved artifact and monitor its behavior.</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62</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Model serving patterns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63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Model serving exposes predictions to downstream users or systems. Batch inference scores many records on a schedule; online inference responds to individual requests; streaming inference processes events continuously. The right pattern depends on freshness, throughput, latency and cost.</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Online services need validation, authentication, timeouts, scaling and low latency. Batch jobs need restartability, checkpoints and output reconciliation. Streaming systems need event ordering, idempotency and handling of late or repeated events.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nightly churn scoring is naturally batch; real-time fraud screening is online; sensor anomaly detection may be streaming.</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Do not select online inference by default. It can add operational complexity when a batch result would meet the business requirement.</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63</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A minimal prediction API concept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64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A prediction API accepts a structured request, validates its fields, transforms the inputs, calls a loaded model and returns a structured response. A clear API contract defines required fields, types, response schema and error behavior.</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Load the model once during application startup rather than on every request. Add schema validation, request IDs, safe logging, timeouts and version metadata. Separate expected client errors from internal failures and avoid returning stack traces or sensitive details.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POST /predict accepts customer features and returns a probability plus a model version.</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Validate missing and out-of-range values. Secure the endpoint and ensure API input order and preprocessing match training.</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64</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Testing an ML system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65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ML testing includes ordinary software tests and data/model-specific checks. Unit tests verify functions; integration tests verify components together; data tests validate schema and ranges; model tests check metrics and behavior on known cases; service tests verify the deployed interface.</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Use a fixed evaluation dataset and tolerances for key metrics. Test edge cases, missing values, unseen categories, malformed requests and model artifact loading. Because model outputs can be probabilistic, use appropriate tolerances instead of brittle exact equality when needed.</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assert that a valid request returns a probability between 0 and 1, invalid input produces a clear 4xx response, and evaluation F1 does not fall below an agreed threshold.</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A model can pass unit tests yet fail due to drift, leakage or a mismatch between offline and production data. Combine tests with monitoring.</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65</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Containers and reproducible environments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66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A container packages an application and its runtime dependencies into an image so it can run consistently across environments. Docker images describe the filesystem and startup command; containers are running instances of those images.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Pin dependencies, use a small trusted base image, avoid running as root when practical, configure health checks and keep secrets outside the image. A container does not automatically make a system secure or reproducible if external data and dependencies remain unpinned.</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package a FastAPI model-serving application with its Python dependencies and model-loading code, then run the same image locally and in a cloud service.</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Do not bake credentials into Dockerfiles or images. Track image versions and scan dependencies for vulnerabilities.</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66</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MLOps lifecycle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67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MLOps applies engineering practices to the full ML lifecycle: data preparation, experimentation, training, evaluation, release, monitoring and retraining. It connects data science work with repeatable deployment and operations.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Useful practices include versioned data and code, experiment tracking, automated tests, model registries, reproducible builds, deployment approvals and rollback plans. Automation should make a validated process repeatable rather than automatically promoting every new model.</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 pipeline validates data, trains candidate models, records metrics, registers the best candidate and deploys it only after quality checks and approval.</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MLOps is not just CI/CD. Data quality, model quality and changes in the real-world distribution also need lifecycle management.</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67</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Experiment tracking with MLflow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68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Experiment tracking records how a model was produced: parameters, metrics, artifacts, code revision, environment and dataset reference. MLflow provides tracking APIs and a UI to compare runs and inspect artifacts.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Log each meaningful experiment consistently and define a baseline before tuning. Track the exact data and code used, not only a run name. A model registry can help manage candidate and approved model versions when used as part of the workflow.</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record max_depth, learning_rate, validation F1 and a confusion-matrix artifact for each candidate model run.</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Metrics are not reproducible if the data or code version is unknown. Avoid logging sensitive training data or credentials as artifacts.</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68</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Data and model versioning with DVC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69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Data Version Control (DVC) tracks large datasets and model artifacts alongside code while storing the heavy files in configured remote storage. It can also define pipeline stages and dependencies so outputs can be reproduced from inputs.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Use versioned references for datasets and model artifacts, document remote storage and ensure team members can access the required objects. Versioning makes it possible to answer which data and code produced a model and to reproduce or compare prior runs.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 DVC pipeline connects raw data, preprocessing, training and evaluation; changing a dependency causes the affected stages to rerun.</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Versioning does not replace data governance, access control or backups. Make sure remote artifacts are protected and retention is defined.</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69</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Packaging models with BentoML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70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Model packaging tools bundle a trained model with an inference interface and runtime dependencies so it can be served consistently. BentoML supports packaging and serving ML models and can help standardize build and deployment workflows.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Define a stable input/output schema, load the intended model artifact, test locally and package the service as a versioned build. Measure startup time, throughput and latency before selecting deployment resources.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package a text classifier with its vectorizer and prediction code, then expose a REST endpoint for incoming text.</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Packaging alone does not provide a complete production architecture. Authentication, monitoring, scaling, rollout and data privacy still need design.</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70</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Monitoring data and model drift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71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Data drift means the input distribution changes; concept drift means the relationship between inputs and the target changes. Either can reduce performance. Service monitoring also tracks latency, errors, throughput, resource usage and availability.</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Monitor input statistics and prediction distributions, compare them with a training baseline, and use ground-truth outcomes when they become available. Alerts should trigger investigation and a defined response such as data review, threshold adjustment or retraining.</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after a pricing policy changes, customer-spend distributions shift and a demand model’s errors rise; monitoring detects the change before it becomes widespread.</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A drift alert does not automatically mean the model is worse, and no drift alert does not prove quality. Use business outcomes and labeled performance when possible.</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71</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CI/CD for ML systems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72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Continuous integration (CI) automatically checks changes through tests, linting, data validation and build steps. Continuous delivery/deployment (CD) packages and promotes a validated service or model through environments. ML pipelines add data and model-quality checks to normal software delivery.</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Use immutable artifacts, automated regression tests, environment-specific configuration, staged rollout and rollback. Separate code release from model release where that improves safety, and require approval for high-impact use cases.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 pull request runs unit tests; a pipeline builds a container; a candidate model is evaluated; only a passing, approved version is promoted to production.</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Do not deploy a model solely because the code build passed. Model metrics, data checks and safety criteria must also pass.</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72</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Responsible AI and governance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73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Responsible AI addresses fairness, privacy, transparency, accountability, security and appropriate human oversight. Governance defines who owns the model, what uses are allowed, how risks are assessed and how issues are reported or corrected.</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Assess training-data representativeness, evaluate performance across relevant groups, minimize personal data, protect model endpoints and document limitations. Human review is especially important when errors can materially affect people. Establish retention, access and incident-response policies.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for a lending-related model, document the intended use, examine subgroup performance, protect sensitive attributes and create an appeal or review process.</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Fairness is context-dependent and cannot be proven by one metric. Legal and domain-specific requirements should be reviewed by qualified stakeholders.</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73</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Project 1: end-to-end tabular ML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74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This project exercises the complete tabular workflow: define a target, inspect and clean records, split the data, build preprocessing, establish a baseline, train candidate models, evaluate errors and package the final pipeline.</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Keep the test set untouched until the model and thresholds are selected. Track experiments and record data provenance. Include a simple baseline and explain the metric in business terms, not just as a score.</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predict customer churn from historical behavior, evaluate recall and precision, then expose a batch or API prediction interface.</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Ensure every feature exists at the prediction time. Document assumptions, limitations and what action follows from a prediction.</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74</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Project 2: NLP text classifier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75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Build a labeled text dataset, define a consistent label taxonomy, split examples, create a TF-IDF baseline, train a classifier, inspect errors and package the fitted preprocessing plus model.</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Compare performance across classes and inspect ambiguous or mislabeled examples. If data contains repeated messages or related users, use split rules that prevent near-duplicate leakage. Save the vectorizer and classifier as a single reproducible artifact.</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classify support messages by intent and route them to the appropriate team, with a human fallback for low-confidence predictions.</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Consider privacy in text data and monitor changes in vocabulary, product names and customer behavior after deployment.</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75</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Project 3: image classification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76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An image-classification project maps an image to one of several labels. The workflow includes labeling, train/validation/test splits, consistent resizing and normalization, model training or transfer learning, evaluation and error inspection.</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Check class balance and image provenance. Use augmentation only when transformed images remain valid examples. Examine per-class metrics and visual examples of mistakes, then package preprocessing with the model so inference matches training.</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classify product photos into categories or detect common defect types from manufacturing images.</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Prevent near-duplicate or same-subject images from leaking across splits. Assess lighting, camera and background changes likely in production.</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76</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Project 4: MLOps mini-pipeline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77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An MLOps mini-pipeline automates data checks, preprocessing, training, evaluation, artifact tracking and packaging. It demonstrates how an experiment becomes a repeatable build rather than a sequence of manual notebook actions.</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Keep stages modular and record inputs, outputs and metrics. Fail early when schemas or quality thresholds are violated. Use versioned artifacts and make deployment a deliberate step gated by quality checks.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 scheduled pipeline retrains a classifier, logs the run, compares it to the current model and produces a candidate artifact for review.</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Automation can repeat a flawed process at scale. Validate assumptions, secure credentials and define rollback and ownership.</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77</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Project documentation template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78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Good project documentation explains the problem, intended users, target variable, data sources, assumptions, pipeline, model choice, metrics, results, limitations and how to run the system. It should let another engineer reproduce the result.</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Include environment setup, data preparation instructions, model artifact location, API or CLI examples, known failure cases and a decision log. Avoid publishing personal data or secrets in sample files.</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 README includes setup commands, training command, evaluation metrics, a sample request and a short explanation of when the model should not be used.</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Document the actual behavior and limitations, not only the intended design. Keep documentation updated when schemas or model versions change.</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78</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4672"/>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46304"/>
            <a:ext cx="11155680" cy="475488"/>
          </a:xfrm>
          <a:prstGeom prst="rect">
            <a:avLst/>
          </a:prstGeom>
          <a:noFill/>
        </p:spPr>
        <p:txBody>
          <a:bodyPr wrap="square" lIns="45720" tIns="27432" rIns="45720" bIns="18288">
            <a:spAutoFit/>
          </a:bodyPr>
          <a:lstStyle/>
          <a:p>
            <a:pPr>
              <a:defRPr sz="2500" b="1">
                <a:solidFill>
                  <a:srgbClr val="FFFFFF"/>
                </a:solidFill>
                <a:latin typeface="Aptos Display"/>
              </a:defRPr>
            </a:pPr>
            <a:r>
              <a:t>Common mistakes to avoid — Detailed Explanation</a:t>
            </a:r>
          </a:p>
        </p:txBody>
      </p:sp>
      <p:sp>
        <p:nvSpPr>
          <p:cNvPr id="4" name="TextBox 3"/>
          <p:cNvSpPr txBox="1"/>
          <p:nvPr/>
        </p:nvSpPr>
        <p:spPr>
          <a:xfrm>
            <a:off x="475488" y="914400"/>
            <a:ext cx="10972800" cy="274320"/>
          </a:xfrm>
          <a:prstGeom prst="rect">
            <a:avLst/>
          </a:prstGeom>
          <a:noFill/>
        </p:spPr>
        <p:txBody>
          <a:bodyPr wrap="square" lIns="45720" tIns="27432" rIns="45720" bIns="18288">
            <a:spAutoFit/>
          </a:bodyPr>
          <a:lstStyle/>
          <a:p>
            <a:pPr>
              <a:defRPr sz="1000" b="1">
                <a:solidFill>
                  <a:srgbClr val="5A697A"/>
                </a:solidFill>
                <a:latin typeface="Aptos"/>
              </a:defRPr>
            </a:pPr>
            <a:r>
              <a:t>CONCEPT GUIDE  •  79  •  Complete ML &amp; NLP Bootcamp</a:t>
            </a:r>
          </a:p>
        </p:txBody>
      </p:sp>
      <p:sp>
        <p:nvSpPr>
          <p:cNvPr id="5" name="Rounded Rectangle 4"/>
          <p:cNvSpPr/>
          <p:nvPr/>
        </p:nvSpPr>
        <p:spPr>
          <a:xfrm>
            <a:off x="457200" y="1298448"/>
            <a:ext cx="11247120" cy="123444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1. WHAT THE CONCEPT MEANS</a:t>
            </a:r>
          </a:p>
          <a:p>
            <a:pPr>
              <a:spcBef>
                <a:spcPts val="500"/>
              </a:spcBef>
              <a:spcAft>
                <a:spcPts val="0"/>
              </a:spcAft>
              <a:defRPr sz="1400">
                <a:solidFill>
                  <a:srgbClr val="263140"/>
                </a:solidFill>
                <a:latin typeface="Aptos"/>
              </a:defRPr>
            </a:pPr>
            <a:r>
              <a:t>Common failures include skipping a baseline, splitting data after preprocessing, tuning on the test set, using inappropriate metrics, ignoring class imbalance, failing to inspect errors and assuming offline results will transfer to production.</a:t>
            </a:r>
          </a:p>
        </p:txBody>
      </p:sp>
      <p:sp>
        <p:nvSpPr>
          <p:cNvPr id="6" name="Rounded Rectangle 5"/>
          <p:cNvSpPr/>
          <p:nvPr/>
        </p:nvSpPr>
        <p:spPr>
          <a:xfrm>
            <a:off x="457200" y="2724912"/>
            <a:ext cx="11247120" cy="132588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2. HOW IT WORKS / HOW TO APPLY IT</a:t>
            </a:r>
          </a:p>
          <a:p>
            <a:pPr>
              <a:spcBef>
                <a:spcPts val="500"/>
              </a:spcBef>
              <a:spcAft>
                <a:spcPts val="0"/>
              </a:spcAft>
              <a:defRPr sz="1400">
                <a:solidFill>
                  <a:srgbClr val="263140"/>
                </a:solidFill>
                <a:latin typeface="Aptos"/>
              </a:defRPr>
            </a:pPr>
            <a:r>
              <a:t>Adopt a repeatable checklist: define the task, validate data, create leakage-safe splits, build a baseline, choose suitable metrics, record experiments, inspect subgroup errors and test the deployed pipeline. Simplicity and reproducibility often beat complexity.</a:t>
            </a:r>
          </a:p>
        </p:txBody>
      </p:sp>
      <p:sp>
        <p:nvSpPr>
          <p:cNvPr id="7" name="Rounded Rectangle 6"/>
          <p:cNvSpPr/>
          <p:nvPr/>
        </p:nvSpPr>
        <p:spPr>
          <a:xfrm>
            <a:off x="457200" y="4242816"/>
            <a:ext cx="5486400"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3. PRACTICAL EXAMPLE</a:t>
            </a:r>
          </a:p>
          <a:p>
            <a:pPr>
              <a:spcBef>
                <a:spcPts val="500"/>
              </a:spcBef>
              <a:spcAft>
                <a:spcPts val="0"/>
              </a:spcAft>
              <a:defRPr sz="1400">
                <a:solidFill>
                  <a:srgbClr val="263140"/>
                </a:solidFill>
                <a:latin typeface="Aptos"/>
              </a:defRPr>
            </a:pPr>
            <a:r>
              <a:t>Example: a 99% accurate fraud classifier may be useless if fraud represents only 1% of transactions and recall is zero.</a:t>
            </a:r>
          </a:p>
        </p:txBody>
      </p:sp>
      <p:sp>
        <p:nvSpPr>
          <p:cNvPr id="8" name="Rounded Rectangle 7"/>
          <p:cNvSpPr/>
          <p:nvPr/>
        </p:nvSpPr>
        <p:spPr>
          <a:xfrm>
            <a:off x="6199632" y="4242816"/>
            <a:ext cx="5504688" cy="1298448"/>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F2B134"/>
                </a:solidFill>
                <a:latin typeface="Aptos Display"/>
              </a:defRPr>
            </a:pPr>
            <a:r>
              <a:t>4. COMMON PITFALLS / CHECKS</a:t>
            </a:r>
          </a:p>
          <a:p>
            <a:pPr>
              <a:spcBef>
                <a:spcPts val="500"/>
              </a:spcBef>
              <a:spcAft>
                <a:spcPts val="0"/>
              </a:spcAft>
              <a:defRPr sz="1400">
                <a:solidFill>
                  <a:srgbClr val="263140"/>
                </a:solidFill>
                <a:latin typeface="Aptos"/>
              </a:defRPr>
            </a:pPr>
            <a:r>
              <a:t>When results look unexpectedly excellent, investigate leakage, duplicate records, label construction and split methodology before celebrating.</a:t>
            </a:r>
          </a:p>
        </p:txBody>
      </p:sp>
      <p:sp>
        <p:nvSpPr>
          <p:cNvPr id="9" name="TextBox 8"/>
          <p:cNvSpPr txBox="1"/>
          <p:nvPr/>
        </p:nvSpPr>
        <p:spPr>
          <a:xfrm>
            <a:off x="502920" y="5760720"/>
            <a:ext cx="10972800" cy="438912"/>
          </a:xfrm>
          <a:prstGeom prst="rect">
            <a:avLst/>
          </a:prstGeom>
          <a:noFill/>
        </p:spPr>
        <p:txBody>
          <a:bodyPr wrap="square" lIns="45720" tIns="27432" rIns="45720" bIns="18288">
            <a:spAutoFit/>
          </a:bodyPr>
          <a:lstStyle/>
          <a:p>
            <a:pPr>
              <a:defRPr sz="1200" b="0">
                <a:solidFill>
                  <a:srgbClr val="5A697A"/>
                </a:solidFill>
                <a:latin typeface="Aptos"/>
              </a:defRPr>
            </a:pPr>
            <a:r>
              <a:t>Study prompt: Explain the concept without reading, implement a small example, and state one limitation or assumption.</a:t>
            </a:r>
          </a:p>
        </p:txBody>
      </p:sp>
      <p:sp>
        <p:nvSpPr>
          <p:cNvPr id="10" name="TextBox 9"/>
          <p:cNvSpPr txBox="1"/>
          <p:nvPr/>
        </p:nvSpPr>
        <p:spPr>
          <a:xfrm>
            <a:off x="11109960" y="6446520"/>
            <a:ext cx="502920" cy="201168"/>
          </a:xfrm>
          <a:prstGeom prst="rect">
            <a:avLst/>
          </a:prstGeom>
          <a:noFill/>
        </p:spPr>
        <p:txBody>
          <a:bodyPr wrap="square" lIns="45720" tIns="27432" rIns="45720" bIns="18288">
            <a:spAutoFit/>
          </a:bodyPr>
          <a:lstStyle/>
          <a:p>
            <a:pPr>
              <a:defRPr sz="900" b="0">
                <a:solidFill>
                  <a:srgbClr val="5A697A"/>
                </a:solidFill>
                <a:latin typeface="Aptos"/>
              </a:defRPr>
            </a:pPr>
            <a:r>
              <a:t>79</a:t>
            </a:r>
          </a:p>
        </p:txBody>
      </p:sp>
      <p:pic>
        <p:nvPicPr>
          <p:cNvPr id="11" name="Picture 10"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43000"/>
          </a:xfrm>
          <a:prstGeom prst="rect">
            <a:avLst/>
          </a:prstGeom>
          <a:solidFill>
            <a:srgbClr val="12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lIns="45720" tIns="27432" rIns="45720" bIns="18288">
            <a:spAutoFit/>
          </a:bodyPr>
          <a:lstStyle/>
          <a:p>
            <a:pPr>
              <a:defRPr sz="3000" b="1">
                <a:solidFill>
                  <a:srgbClr val="FFFFFF"/>
                </a:solidFill>
                <a:latin typeface="Aptos Display"/>
              </a:defRPr>
            </a:pPr>
            <a:r>
              <a:t>Detailed Concept Explanations</a:t>
            </a:r>
          </a:p>
        </p:txBody>
      </p:sp>
      <p:sp>
        <p:nvSpPr>
          <p:cNvPr id="4" name="TextBox 3"/>
          <p:cNvSpPr txBox="1"/>
          <p:nvPr/>
        </p:nvSpPr>
        <p:spPr>
          <a:xfrm>
            <a:off x="685800" y="1600200"/>
            <a:ext cx="10789920" cy="731520"/>
          </a:xfrm>
          <a:prstGeom prst="rect">
            <a:avLst/>
          </a:prstGeom>
          <a:noFill/>
        </p:spPr>
        <p:txBody>
          <a:bodyPr wrap="square" lIns="45720" tIns="27432" rIns="45720" bIns="18288">
            <a:spAutoFit/>
          </a:bodyPr>
          <a:lstStyle/>
          <a:p>
            <a:pPr>
              <a:defRPr sz="2000" b="0">
                <a:solidFill>
                  <a:srgbClr val="263140"/>
                </a:solidFill>
                <a:latin typeface="Aptos"/>
              </a:defRPr>
            </a:pPr>
            <a:r>
              <a:t>This section expands the core teaching topics with definitions, practical reasoning, examples and common pitfalls. Use it alongside the original slides and the Udemy lectures.</a:t>
            </a:r>
          </a:p>
        </p:txBody>
      </p:sp>
      <p:sp>
        <p:nvSpPr>
          <p:cNvPr id="5" name="Rounded Rectangle 4"/>
          <p:cNvSpPr/>
          <p:nvPr/>
        </p:nvSpPr>
        <p:spPr>
          <a:xfrm>
            <a:off x="685800" y="2743200"/>
            <a:ext cx="5257800" cy="141732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2069B0"/>
                </a:solidFill>
                <a:latin typeface="Aptos Display"/>
              </a:defRPr>
            </a:pPr>
            <a:r>
              <a:t>SUGGESTED STUDY METHOD</a:t>
            </a:r>
          </a:p>
          <a:p>
            <a:pPr>
              <a:spcBef>
                <a:spcPts val="500"/>
              </a:spcBef>
              <a:spcAft>
                <a:spcPts val="0"/>
              </a:spcAft>
              <a:defRPr sz="1400">
                <a:solidFill>
                  <a:srgbClr val="263140"/>
                </a:solidFill>
                <a:latin typeface="Aptos"/>
              </a:defRPr>
            </a:pPr>
            <a:r>
              <a:t>Read the concept, watch the matching lecture, run the example, then explain the idea in your own words.</a:t>
            </a:r>
          </a:p>
        </p:txBody>
      </p:sp>
      <p:sp>
        <p:nvSpPr>
          <p:cNvPr id="6" name="Rounded Rectangle 5"/>
          <p:cNvSpPr/>
          <p:nvPr/>
        </p:nvSpPr>
        <p:spPr>
          <a:xfrm>
            <a:off x="6172200" y="2743200"/>
            <a:ext cx="5257800" cy="1417320"/>
          </a:xfrm>
          <a:prstGeom prst="roundRect">
            <a:avLst/>
          </a:prstGeom>
          <a:solidFill>
            <a:srgbClr val="F1F6FB"/>
          </a:solidFill>
          <a:ln>
            <a:solidFill>
              <a:srgbClr val="DCE5EE"/>
            </a:solidFill>
          </a:ln>
        </p:spPr>
        <p:style>
          <a:lnRef idx="1">
            <a:schemeClr val="accent1"/>
          </a:lnRef>
          <a:fillRef idx="3">
            <a:schemeClr val="accent1"/>
          </a:fillRef>
          <a:effectRef idx="2">
            <a:schemeClr val="accent1"/>
          </a:effectRef>
          <a:fontRef idx="minor">
            <a:schemeClr val="lt1"/>
          </a:fontRef>
        </p:style>
        <p:txBody>
          <a:bodyPr wrap="square" lIns="164592" tIns="118872" rIns="146304" bIns="73152" rtlCol="0" anchor="ctr"/>
          <a:lstStyle/>
          <a:p>
            <a:pPr algn="ctr">
              <a:defRPr sz="1100" b="1">
                <a:solidFill>
                  <a:srgbClr val="009196"/>
                </a:solidFill>
                <a:latin typeface="Aptos Display"/>
              </a:defRPr>
            </a:pPr>
            <a:r>
              <a:t>IMPORTANT SCOPE NOTE</a:t>
            </a:r>
          </a:p>
          <a:p>
            <a:pPr>
              <a:spcBef>
                <a:spcPts val="500"/>
              </a:spcBef>
              <a:spcAft>
                <a:spcPts val="0"/>
              </a:spcAft>
              <a:defRPr sz="1400">
                <a:solidFill>
                  <a:srgbClr val="263140"/>
                </a:solidFill>
                <a:latin typeface="Aptos"/>
              </a:defRPr>
            </a:pPr>
            <a:r>
              <a:t>These are original study explanations aligned to the course topics, not a verbatim transcript of Udemy lectures.</a:t>
            </a:r>
          </a:p>
        </p:txBody>
      </p:sp>
      <p:sp>
        <p:nvSpPr>
          <p:cNvPr id="7" name="TextBox 6"/>
          <p:cNvSpPr txBox="1"/>
          <p:nvPr/>
        </p:nvSpPr>
        <p:spPr>
          <a:xfrm>
            <a:off x="685800" y="4709160"/>
            <a:ext cx="10698480" cy="685800"/>
          </a:xfrm>
          <a:prstGeom prst="rect">
            <a:avLst/>
          </a:prstGeom>
          <a:noFill/>
        </p:spPr>
        <p:txBody>
          <a:bodyPr wrap="square" lIns="45720" tIns="27432" rIns="45720" bIns="18288">
            <a:spAutoFit/>
          </a:bodyPr>
          <a:lstStyle/>
          <a:p>
            <a:pPr>
              <a:defRPr sz="1300" b="0">
                <a:solidFill>
                  <a:srgbClr val="5A697A"/>
                </a:solidFill>
                <a:latin typeface="Aptos"/>
              </a:defRPr>
            </a:pPr>
            <a:r>
              <a:t>Source alignment: public course outline for Complete Data Science, Machine Learning, DL, NLP Bootcamp. Detailed examples are explanatory study material.</a:t>
            </a:r>
          </a:p>
        </p:txBody>
      </p:sp>
      <p:pic>
        <p:nvPicPr>
          <p:cNvPr id="8" name="Picture 7"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868680"/>
          </a:xfrm>
          <a:prstGeom prst="rect">
            <a:avLst/>
          </a:prstGeom>
          <a:solidFill>
            <a:srgbClr val="142F5C"/>
          </a:solidFill>
          <a:ln>
            <a:noFill/>
          </a:ln>
        </p:spPr>
        <p:style>
          <a:lnRef idx="1">
            <a:schemeClr val="accent1"/>
          </a:lnRef>
          <a:fillRef idx="3">
            <a:schemeClr val="accent1"/>
          </a:fillRef>
          <a:effectRef idx="2">
            <a:schemeClr val="accent1"/>
          </a:effectRef>
          <a:fontRef idx="minor">
            <a:schemeClr val="lt1"/>
          </a:fontRef>
        </p:style>
        <p:txBody>
          <a:bodyPr lIns="411480" tIns="109728" rIns="320040" bIns="73152" rtlCol="0" anchor="ctr"/>
          <a:lstStyle/>
          <a:p>
            <a:pPr algn="l">
              <a:defRPr sz="2500" b="1">
                <a:solidFill>
                  <a:srgbClr val="FFFFFF"/>
                </a:solidFill>
                <a:latin typeface="Aptos Display"/>
              </a:defRPr>
            </a:pPr>
            <a:r>
              <a:t>Nexus Curriculum Coverage Map</a:t>
            </a:r>
          </a:p>
        </p:txBody>
      </p:sp>
      <p:sp>
        <p:nvSpPr>
          <p:cNvPr id="3" name="Rounded Rectangle 2"/>
          <p:cNvSpPr/>
          <p:nvPr/>
        </p:nvSpPr>
        <p:spPr>
          <a:xfrm>
            <a:off x="502920" y="1078992"/>
            <a:ext cx="11186160" cy="5440680"/>
          </a:xfrm>
          <a:prstGeom prst="roundRect">
            <a:avLst/>
          </a:prstGeom>
          <a:solidFill>
            <a:srgbClr val="FFFFFF"/>
          </a:solidFill>
          <a:ln w="13970">
            <a:solidFill>
              <a:srgbClr val="D8E0EB"/>
            </a:solidFill>
          </a:ln>
        </p:spPr>
        <p:style>
          <a:lnRef idx="1">
            <a:schemeClr val="accent1"/>
          </a:lnRef>
          <a:fillRef idx="3">
            <a:schemeClr val="accent1"/>
          </a:fillRef>
          <a:effectRef idx="2">
            <a:schemeClr val="accent1"/>
          </a:effectRef>
          <a:fontRef idx="minor">
            <a:schemeClr val="lt1"/>
          </a:fontRef>
        </p:style>
        <p:txBody>
          <a:bodyPr wrap="square" lIns="256032" tIns="164592" rIns="256032" bIns="137160" rtlCol="0" anchor="ctr"/>
          <a:lstStyle/>
          <a:p>
            <a:pPr algn="ctr">
              <a:spcAft>
                <a:spcPts val="800"/>
              </a:spcAft>
              <a:defRPr sz="1350">
                <a:solidFill>
                  <a:srgbClr val="232F3E"/>
                </a:solidFill>
                <a:latin typeface="Aptos"/>
              </a:defRPr>
            </a:pPr>
            <a:r>
              <a:rPr sz="1350" b="1">
                <a:solidFill>
                  <a:srgbClr val="142F5C"/>
                </a:solidFill>
                <a:latin typeface="Aptos"/>
              </a:rPr>
              <a:t>Purpose: </a:t>
            </a:r>
            <a:r>
              <a:rPr sz="1350">
                <a:solidFill>
                  <a:srgbClr val="232F3E"/>
                </a:solidFill>
                <a:latin typeface="Aptos"/>
              </a:rPr>
              <a:t>This section maps the study deck to every module and deliverable named in the Nexus AI &amp; ML Mastery Program presentation.</a:t>
            </a:r>
          </a:p>
          <a:p>
            <a:pPr>
              <a:spcAft>
                <a:spcPts val="800"/>
              </a:spcAft>
              <a:defRPr sz="1350">
                <a:solidFill>
                  <a:srgbClr val="232F3E"/>
                </a:solidFill>
                <a:latin typeface="Aptos"/>
              </a:defRPr>
            </a:pPr>
            <a:r>
              <a:rPr sz="1350" b="1">
                <a:solidFill>
                  <a:srgbClr val="142F5C"/>
                </a:solidFill>
                <a:latin typeface="Aptos"/>
              </a:rPr>
              <a:t>Module 1 — Curriculum Structure: </a:t>
            </a:r>
            <a:r>
              <a:rPr sz="1350">
                <a:solidFill>
                  <a:srgbClr val="232F3E"/>
                </a:solidFill>
                <a:latin typeface="Aptos"/>
              </a:rPr>
              <a:t>Python, data handling, statistics and mathematics; machine learning; deep learning; generative AI; production engineering; industrial capstone.</a:t>
            </a:r>
          </a:p>
          <a:p>
            <a:pPr>
              <a:spcAft>
                <a:spcPts val="800"/>
              </a:spcAft>
              <a:defRPr sz="1350">
                <a:solidFill>
                  <a:srgbClr val="232F3E"/>
                </a:solidFill>
                <a:latin typeface="Aptos"/>
              </a:defRPr>
            </a:pPr>
            <a:r>
              <a:rPr sz="1350" b="1">
                <a:solidFill>
                  <a:srgbClr val="142F5C"/>
                </a:solidFill>
                <a:latin typeface="Aptos"/>
              </a:rPr>
              <a:t>Module 2 — AI &amp; ML Foundations: </a:t>
            </a:r>
            <a:r>
              <a:rPr sz="1350">
                <a:solidFill>
                  <a:srgbClr val="232F3E"/>
                </a:solidFill>
                <a:latin typeface="Aptos"/>
              </a:rPr>
              <a:t>Python syntax, OOP basics, virtual environments, Jupyter, clean coding; NumPy, Pandas, data cleaning, joins, aggregation and pipelines; EDA and visualization; statistics and mathematics; supervised and unsupervised learning; evaluation and tuning.</a:t>
            </a:r>
          </a:p>
          <a:p>
            <a:pPr>
              <a:spcAft>
                <a:spcPts val="800"/>
              </a:spcAft>
              <a:defRPr sz="1350">
                <a:solidFill>
                  <a:srgbClr val="232F3E"/>
                </a:solidFill>
                <a:latin typeface="Aptos"/>
              </a:defRPr>
            </a:pPr>
            <a:r>
              <a:rPr sz="1350" b="1">
                <a:solidFill>
                  <a:srgbClr val="142F5C"/>
                </a:solidFill>
                <a:latin typeface="Aptos"/>
              </a:rPr>
              <a:t>Module 3 — Advanced ML, Deep Learning &amp; GenAI: </a:t>
            </a:r>
            <a:r>
              <a:rPr sz="1350">
                <a:solidFill>
                  <a:srgbClr val="232F3E"/>
                </a:solidFill>
                <a:latin typeface="Aptos"/>
              </a:rPr>
              <a:t>XGBoost/LightGBM, imbalanced learning, hypothesis testing and A/B testing, interpretability; neural networks, backpropagation, optimizers, PyTorch/TensorFlow and GPU use; CNNs, transfer learning, NLP, tokenization, embeddings, transformers, BERT/GPT; LLMs, RAG, vector databases, tool calling and fine-tuning.</a:t>
            </a:r>
          </a:p>
          <a:p>
            <a:pPr>
              <a:spcAft>
                <a:spcPts val="800"/>
              </a:spcAft>
              <a:defRPr sz="1350">
                <a:solidFill>
                  <a:srgbClr val="232F3E"/>
                </a:solidFill>
                <a:latin typeface="Aptos"/>
              </a:defRPr>
            </a:pPr>
            <a:r>
              <a:rPr sz="1350" b="1">
                <a:solidFill>
                  <a:srgbClr val="142F5C"/>
                </a:solidFill>
                <a:latin typeface="Aptos"/>
              </a:rPr>
              <a:t>Module 4 — Production AI &amp; MLOps: </a:t>
            </a:r>
            <a:r>
              <a:rPr sz="1350">
                <a:solidFill>
                  <a:srgbClr val="232F3E"/>
                </a:solidFill>
                <a:latin typeface="Aptos"/>
              </a:rPr>
              <a:t>FastAPI, Docker, databases, cloud, CI/CD, latency, drift, alerts, secrets, access control, AI safety, production architecture, experiment tracking, model registry, versioning, automated testing, deployment strategies and GenAI quality/cost controls.</a:t>
            </a:r>
          </a:p>
          <a:p>
            <a:pPr>
              <a:spcAft>
                <a:spcPts val="800"/>
              </a:spcAft>
              <a:defRPr sz="1350">
                <a:solidFill>
                  <a:srgbClr val="232F3E"/>
                </a:solidFill>
                <a:latin typeface="Aptos"/>
              </a:defRPr>
            </a:pPr>
            <a:r>
              <a:rPr sz="1350" b="1">
                <a:solidFill>
                  <a:srgbClr val="142F5C"/>
                </a:solidFill>
                <a:latin typeface="Aptos"/>
              </a:rPr>
              <a:t>Module 5 — Six Projects: </a:t>
            </a:r>
            <a:r>
              <a:rPr sz="1350">
                <a:solidFill>
                  <a:srgbClr val="232F3E"/>
                </a:solidFill>
                <a:latin typeface="Aptos"/>
              </a:rPr>
              <a:t>EDA/data quality; predictive ML application; production-ready ML service; deep learning application; RAG knowledge assistant; end-to-end industrial AI/GenAI capstone.</a:t>
            </a:r>
          </a:p>
          <a:p>
            <a:pPr>
              <a:spcAft>
                <a:spcPts val="800"/>
              </a:spcAft>
              <a:defRPr sz="1350">
                <a:solidFill>
                  <a:srgbClr val="232F3E"/>
                </a:solidFill>
                <a:latin typeface="Aptos"/>
              </a:defRPr>
            </a:pPr>
            <a:r>
              <a:rPr sz="1350" b="1">
                <a:solidFill>
                  <a:srgbClr val="142F5C"/>
                </a:solidFill>
                <a:latin typeface="Aptos"/>
              </a:rPr>
              <a:t>Module 6 — Assessment &amp; Technology Stack: </a:t>
            </a:r>
            <a:r>
              <a:rPr sz="1350">
                <a:solidFill>
                  <a:srgbClr val="232F3E"/>
                </a:solidFill>
                <a:latin typeface="Aptos"/>
              </a:rPr>
              <a:t>Requirement analysis, data/model/GenAI lifecycles, production-readiness review, engineering standards, architecture diagram, README, API docs, test report, model/LLM evaluation report, deployment guide and reproducible code.</a:t>
            </a:r>
          </a:p>
        </p:txBody>
      </p:sp>
      <p:sp>
        <p:nvSpPr>
          <p:cNvPr id="4" name="TextBox 3"/>
          <p:cNvSpPr txBox="1"/>
          <p:nvPr/>
        </p:nvSpPr>
        <p:spPr>
          <a:xfrm>
            <a:off x="502920" y="6547104"/>
            <a:ext cx="11186160" cy="182880"/>
          </a:xfrm>
          <a:prstGeom prst="rect">
            <a:avLst/>
          </a:prstGeom>
          <a:noFill/>
        </p:spPr>
        <p:txBody>
          <a:bodyPr wrap="none">
            <a:spAutoFit/>
          </a:bodyPr>
          <a:lstStyle/>
          <a:p>
            <a:pPr algn="r">
              <a:defRPr sz="800">
                <a:solidFill>
                  <a:srgbClr val="647080"/>
                </a:solidFill>
                <a:latin typeface="Aptos"/>
              </a:defRPr>
            </a:pPr>
            <a:r>
              <a:t>Supplement aligned to the uploaded Nexus AI &amp; ML Mastery Program curriculum</a:t>
            </a:r>
          </a:p>
        </p:txBody>
      </p:sp>
      <p:pic>
        <p:nvPicPr>
          <p:cNvPr id="5" name="Picture 4"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868680"/>
          </a:xfrm>
          <a:prstGeom prst="rect">
            <a:avLst/>
          </a:prstGeom>
          <a:solidFill>
            <a:srgbClr val="142F5C"/>
          </a:solidFill>
          <a:ln>
            <a:noFill/>
          </a:ln>
        </p:spPr>
        <p:style>
          <a:lnRef idx="1">
            <a:schemeClr val="accent1"/>
          </a:lnRef>
          <a:fillRef idx="3">
            <a:schemeClr val="accent1"/>
          </a:fillRef>
          <a:effectRef idx="2">
            <a:schemeClr val="accent1"/>
          </a:effectRef>
          <a:fontRef idx="minor">
            <a:schemeClr val="lt1"/>
          </a:fontRef>
        </p:style>
        <p:txBody>
          <a:bodyPr lIns="411480" tIns="109728" rIns="320040" bIns="73152" rtlCol="0" anchor="ctr"/>
          <a:lstStyle/>
          <a:p>
            <a:pPr algn="l">
              <a:defRPr sz="2500" b="1">
                <a:solidFill>
                  <a:srgbClr val="FFFFFF"/>
                </a:solidFill>
                <a:latin typeface="Aptos Display"/>
              </a:defRPr>
            </a:pPr>
            <a:r>
              <a:t>Statistics for ML: Hypothesis Testing</a:t>
            </a:r>
          </a:p>
        </p:txBody>
      </p:sp>
      <p:sp>
        <p:nvSpPr>
          <p:cNvPr id="3" name="Rounded Rectangle 2"/>
          <p:cNvSpPr/>
          <p:nvPr/>
        </p:nvSpPr>
        <p:spPr>
          <a:xfrm>
            <a:off x="502920" y="1078992"/>
            <a:ext cx="11186160" cy="5440680"/>
          </a:xfrm>
          <a:prstGeom prst="roundRect">
            <a:avLst/>
          </a:prstGeom>
          <a:solidFill>
            <a:srgbClr val="FFFFFF"/>
          </a:solidFill>
          <a:ln w="13970">
            <a:solidFill>
              <a:srgbClr val="D8E0EB"/>
            </a:solidFill>
          </a:ln>
        </p:spPr>
        <p:style>
          <a:lnRef idx="1">
            <a:schemeClr val="accent1"/>
          </a:lnRef>
          <a:fillRef idx="3">
            <a:schemeClr val="accent1"/>
          </a:fillRef>
          <a:effectRef idx="2">
            <a:schemeClr val="accent1"/>
          </a:effectRef>
          <a:fontRef idx="minor">
            <a:schemeClr val="lt1"/>
          </a:fontRef>
        </p:style>
        <p:txBody>
          <a:bodyPr wrap="square" lIns="256032" tIns="164592" rIns="256032" bIns="137160" rtlCol="0" anchor="ctr"/>
          <a:lstStyle/>
          <a:p>
            <a:pPr algn="ctr">
              <a:spcAft>
                <a:spcPts val="1100"/>
              </a:spcAft>
              <a:defRPr sz="1500">
                <a:solidFill>
                  <a:srgbClr val="232F3E"/>
                </a:solidFill>
                <a:latin typeface="Aptos"/>
              </a:defRPr>
            </a:pPr>
            <a:r>
              <a:rPr sz="1500" b="1">
                <a:solidFill>
                  <a:srgbClr val="142F5C"/>
                </a:solidFill>
                <a:latin typeface="Aptos"/>
              </a:rPr>
              <a:t>Definition: </a:t>
            </a:r>
            <a:r>
              <a:rPr sz="1500">
                <a:solidFill>
                  <a:srgbClr val="232F3E"/>
                </a:solidFill>
                <a:latin typeface="Aptos"/>
              </a:rPr>
              <a:t>Hypothesis testing uses sample data to assess a claim about a population. The null hypothesis (H0) represents a baseline claim; the alternative (H1) represents a difference or effect.</a:t>
            </a:r>
          </a:p>
          <a:p>
            <a:pPr>
              <a:spcAft>
                <a:spcPts val="1100"/>
              </a:spcAft>
              <a:defRPr sz="1500">
                <a:solidFill>
                  <a:srgbClr val="232F3E"/>
                </a:solidFill>
                <a:latin typeface="Aptos"/>
              </a:defRPr>
            </a:pPr>
            <a:r>
              <a:rPr sz="1500" b="1">
                <a:solidFill>
                  <a:srgbClr val="142F5C"/>
                </a:solidFill>
                <a:latin typeface="Aptos"/>
              </a:rPr>
              <a:t>Workflow: </a:t>
            </a:r>
            <a:r>
              <a:rPr sz="1500">
                <a:solidFill>
                  <a:srgbClr val="232F3E"/>
                </a:solidFill>
                <a:latin typeface="Aptos"/>
              </a:rPr>
              <a:t>State H0 and H1, select a test based on the data and assumptions, choose a significance level, calculate the test statistic and p-value, then interpret the result in context.</a:t>
            </a:r>
          </a:p>
          <a:p>
            <a:pPr>
              <a:spcAft>
                <a:spcPts val="1100"/>
              </a:spcAft>
              <a:defRPr sz="1500">
                <a:solidFill>
                  <a:srgbClr val="232F3E"/>
                </a:solidFill>
                <a:latin typeface="Aptos"/>
              </a:defRPr>
            </a:pPr>
            <a:r>
              <a:rPr sz="1500" b="1">
                <a:solidFill>
                  <a:srgbClr val="142F5C"/>
                </a:solidFill>
                <a:latin typeface="Aptos"/>
              </a:rPr>
              <a:t>Interpretation: </a:t>
            </a:r>
            <a:r>
              <a:rPr sz="1500">
                <a:solidFill>
                  <a:srgbClr val="232F3E"/>
                </a:solidFill>
                <a:latin typeface="Aptos"/>
              </a:rPr>
              <a:t>A p-value is the probability—assuming H0 and the test assumptions are true—of seeing results at least as extreme as those observed. It is not the probability that H0 is true.</a:t>
            </a:r>
          </a:p>
          <a:p>
            <a:pPr>
              <a:spcAft>
                <a:spcPts val="1100"/>
              </a:spcAft>
              <a:defRPr sz="1500">
                <a:solidFill>
                  <a:srgbClr val="232F3E"/>
                </a:solidFill>
                <a:latin typeface="Aptos"/>
              </a:defRPr>
            </a:pPr>
            <a:r>
              <a:rPr sz="1500" b="1">
                <a:solidFill>
                  <a:srgbClr val="142F5C"/>
                </a:solidFill>
                <a:latin typeface="Aptos"/>
              </a:rPr>
              <a:t>Pitfalls: </a:t>
            </a:r>
            <a:r>
              <a:rPr sz="1500">
                <a:solidFill>
                  <a:srgbClr val="232F3E"/>
                </a:solidFill>
                <a:latin typeface="Aptos"/>
              </a:rPr>
              <a:t>Statistical significance is not the same as practical importance. Check sample size, independence, distributional assumptions, multiple comparisons and confidence intervals.</a:t>
            </a:r>
          </a:p>
        </p:txBody>
      </p:sp>
      <p:sp>
        <p:nvSpPr>
          <p:cNvPr id="4" name="TextBox 3"/>
          <p:cNvSpPr txBox="1"/>
          <p:nvPr/>
        </p:nvSpPr>
        <p:spPr>
          <a:xfrm>
            <a:off x="502920" y="6547104"/>
            <a:ext cx="11186160" cy="182880"/>
          </a:xfrm>
          <a:prstGeom prst="rect">
            <a:avLst/>
          </a:prstGeom>
          <a:noFill/>
        </p:spPr>
        <p:txBody>
          <a:bodyPr wrap="none">
            <a:spAutoFit/>
          </a:bodyPr>
          <a:lstStyle/>
          <a:p>
            <a:pPr algn="r">
              <a:defRPr sz="800">
                <a:solidFill>
                  <a:srgbClr val="647080"/>
                </a:solidFill>
                <a:latin typeface="Aptos"/>
              </a:defRPr>
            </a:pPr>
            <a:r>
              <a:t>Supplement aligned to the uploaded Nexus AI &amp; ML Mastery Program curriculum</a:t>
            </a:r>
          </a:p>
        </p:txBody>
      </p:sp>
      <p:pic>
        <p:nvPicPr>
          <p:cNvPr id="5" name="Picture 4"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868680"/>
          </a:xfrm>
          <a:prstGeom prst="rect">
            <a:avLst/>
          </a:prstGeom>
          <a:solidFill>
            <a:srgbClr val="142F5C"/>
          </a:solidFill>
          <a:ln>
            <a:noFill/>
          </a:ln>
        </p:spPr>
        <p:style>
          <a:lnRef idx="1">
            <a:schemeClr val="accent1"/>
          </a:lnRef>
          <a:fillRef idx="3">
            <a:schemeClr val="accent1"/>
          </a:fillRef>
          <a:effectRef idx="2">
            <a:schemeClr val="accent1"/>
          </a:effectRef>
          <a:fontRef idx="minor">
            <a:schemeClr val="lt1"/>
          </a:fontRef>
        </p:style>
        <p:txBody>
          <a:bodyPr lIns="411480" tIns="109728" rIns="320040" bIns="73152" rtlCol="0" anchor="ctr"/>
          <a:lstStyle/>
          <a:p>
            <a:pPr algn="l">
              <a:defRPr sz="2500" b="1">
                <a:solidFill>
                  <a:srgbClr val="FFFFFF"/>
                </a:solidFill>
                <a:latin typeface="Aptos Display"/>
              </a:defRPr>
            </a:pPr>
            <a:r>
              <a:t>A/B Testing for Product Decisions</a:t>
            </a:r>
          </a:p>
        </p:txBody>
      </p:sp>
      <p:sp>
        <p:nvSpPr>
          <p:cNvPr id="3" name="Rounded Rectangle 2"/>
          <p:cNvSpPr/>
          <p:nvPr/>
        </p:nvSpPr>
        <p:spPr>
          <a:xfrm>
            <a:off x="502920" y="1078992"/>
            <a:ext cx="11186160" cy="5440680"/>
          </a:xfrm>
          <a:prstGeom prst="roundRect">
            <a:avLst/>
          </a:prstGeom>
          <a:solidFill>
            <a:srgbClr val="FFFFFF"/>
          </a:solidFill>
          <a:ln w="13970">
            <a:solidFill>
              <a:srgbClr val="D8E0EB"/>
            </a:solidFill>
          </a:ln>
        </p:spPr>
        <p:style>
          <a:lnRef idx="1">
            <a:schemeClr val="accent1"/>
          </a:lnRef>
          <a:fillRef idx="3">
            <a:schemeClr val="accent1"/>
          </a:fillRef>
          <a:effectRef idx="2">
            <a:schemeClr val="accent1"/>
          </a:effectRef>
          <a:fontRef idx="minor">
            <a:schemeClr val="lt1"/>
          </a:fontRef>
        </p:style>
        <p:txBody>
          <a:bodyPr wrap="square" lIns="256032" tIns="164592" rIns="256032" bIns="137160" rtlCol="0" anchor="ctr"/>
          <a:lstStyle/>
          <a:p>
            <a:pPr algn="ctr">
              <a:spcAft>
                <a:spcPts val="1100"/>
              </a:spcAft>
              <a:defRPr sz="1500">
                <a:solidFill>
                  <a:srgbClr val="232F3E"/>
                </a:solidFill>
                <a:latin typeface="Aptos"/>
              </a:defRPr>
            </a:pPr>
            <a:r>
              <a:rPr sz="1500" b="1">
                <a:solidFill>
                  <a:srgbClr val="142F5C"/>
                </a:solidFill>
                <a:latin typeface="Aptos"/>
              </a:rPr>
              <a:t>Definition: </a:t>
            </a:r>
            <a:r>
              <a:rPr sz="1500">
                <a:solidFill>
                  <a:srgbClr val="232F3E"/>
                </a:solidFill>
                <a:latin typeface="Aptos"/>
              </a:rPr>
              <a:t>An A/B test compares a control experience with a variant to estimate whether a change affects a defined outcome, such as conversion or completion rate.</a:t>
            </a:r>
          </a:p>
          <a:p>
            <a:pPr>
              <a:spcAft>
                <a:spcPts val="1100"/>
              </a:spcAft>
              <a:defRPr sz="1500">
                <a:solidFill>
                  <a:srgbClr val="232F3E"/>
                </a:solidFill>
                <a:latin typeface="Aptos"/>
              </a:defRPr>
            </a:pPr>
            <a:r>
              <a:rPr sz="1500" b="1">
                <a:solidFill>
                  <a:srgbClr val="142F5C"/>
                </a:solidFill>
                <a:latin typeface="Aptos"/>
              </a:rPr>
              <a:t>Design: </a:t>
            </a:r>
            <a:r>
              <a:rPr sz="1500">
                <a:solidFill>
                  <a:srgbClr val="232F3E"/>
                </a:solidFill>
                <a:latin typeface="Aptos"/>
              </a:rPr>
              <a:t>Define one primary metric, assign eligible users randomly, set the sample-size and duration plan in advance, and avoid changing the test after seeing early results.</a:t>
            </a:r>
          </a:p>
          <a:p>
            <a:pPr>
              <a:spcAft>
                <a:spcPts val="1100"/>
              </a:spcAft>
              <a:defRPr sz="1500">
                <a:solidFill>
                  <a:srgbClr val="232F3E"/>
                </a:solidFill>
                <a:latin typeface="Aptos"/>
              </a:defRPr>
            </a:pPr>
            <a:r>
              <a:rPr sz="1500" b="1">
                <a:solidFill>
                  <a:srgbClr val="142F5C"/>
                </a:solidFill>
                <a:latin typeface="Aptos"/>
              </a:rPr>
              <a:t>Analysis: </a:t>
            </a:r>
            <a:r>
              <a:rPr sz="1500">
                <a:solidFill>
                  <a:srgbClr val="232F3E"/>
                </a:solidFill>
                <a:latin typeface="Aptos"/>
              </a:rPr>
              <a:t>Compare the outcome using a suitable statistical method and report effect size, confidence interval and uncertainty—not only a p-value.</a:t>
            </a:r>
          </a:p>
          <a:p>
            <a:pPr>
              <a:spcAft>
                <a:spcPts val="1100"/>
              </a:spcAft>
              <a:defRPr sz="1500">
                <a:solidFill>
                  <a:srgbClr val="232F3E"/>
                </a:solidFill>
                <a:latin typeface="Aptos"/>
              </a:defRPr>
            </a:pPr>
            <a:r>
              <a:rPr sz="1500" b="1">
                <a:solidFill>
                  <a:srgbClr val="142F5C"/>
                </a:solidFill>
                <a:latin typeface="Aptos"/>
              </a:rPr>
              <a:t>Pitfalls: </a:t>
            </a:r>
            <a:r>
              <a:rPr sz="1500">
                <a:solidFill>
                  <a:srgbClr val="232F3E"/>
                </a:solidFill>
                <a:latin typeface="Aptos"/>
              </a:rPr>
              <a:t>Watch for sample-ratio mismatch, novelty effects, repeated peeking, overlapping experiments, selection bias and guardrail metrics such as latency or error rate.</a:t>
            </a:r>
          </a:p>
        </p:txBody>
      </p:sp>
      <p:sp>
        <p:nvSpPr>
          <p:cNvPr id="4" name="TextBox 3"/>
          <p:cNvSpPr txBox="1"/>
          <p:nvPr/>
        </p:nvSpPr>
        <p:spPr>
          <a:xfrm>
            <a:off x="502920" y="6547104"/>
            <a:ext cx="11186160" cy="182880"/>
          </a:xfrm>
          <a:prstGeom prst="rect">
            <a:avLst/>
          </a:prstGeom>
          <a:noFill/>
        </p:spPr>
        <p:txBody>
          <a:bodyPr wrap="none">
            <a:spAutoFit/>
          </a:bodyPr>
          <a:lstStyle/>
          <a:p>
            <a:pPr algn="r">
              <a:defRPr sz="800">
                <a:solidFill>
                  <a:srgbClr val="647080"/>
                </a:solidFill>
                <a:latin typeface="Aptos"/>
              </a:defRPr>
            </a:pPr>
            <a:r>
              <a:t>Supplement aligned to the uploaded Nexus AI &amp; ML Mastery Program curriculum</a:t>
            </a:r>
          </a:p>
        </p:txBody>
      </p:sp>
      <p:pic>
        <p:nvPicPr>
          <p:cNvPr id="5" name="Picture 4"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868680"/>
          </a:xfrm>
          <a:prstGeom prst="rect">
            <a:avLst/>
          </a:prstGeom>
          <a:solidFill>
            <a:srgbClr val="142F5C"/>
          </a:solidFill>
          <a:ln>
            <a:noFill/>
          </a:ln>
        </p:spPr>
        <p:style>
          <a:lnRef idx="1">
            <a:schemeClr val="accent1"/>
          </a:lnRef>
          <a:fillRef idx="3">
            <a:schemeClr val="accent1"/>
          </a:fillRef>
          <a:effectRef idx="2">
            <a:schemeClr val="accent1"/>
          </a:effectRef>
          <a:fontRef idx="minor">
            <a:schemeClr val="lt1"/>
          </a:fontRef>
        </p:style>
        <p:txBody>
          <a:bodyPr lIns="411480" tIns="109728" rIns="320040" bIns="73152" rtlCol="0" anchor="ctr"/>
          <a:lstStyle/>
          <a:p>
            <a:pPr algn="l">
              <a:defRPr sz="2500" b="1">
                <a:solidFill>
                  <a:srgbClr val="FFFFFF"/>
                </a:solidFill>
                <a:latin typeface="Aptos Display"/>
              </a:defRPr>
            </a:pPr>
            <a:r>
              <a:t>Advanced Boosting: XGBoost and LightGBM</a:t>
            </a:r>
          </a:p>
        </p:txBody>
      </p:sp>
      <p:sp>
        <p:nvSpPr>
          <p:cNvPr id="3" name="Rounded Rectangle 2"/>
          <p:cNvSpPr/>
          <p:nvPr/>
        </p:nvSpPr>
        <p:spPr>
          <a:xfrm>
            <a:off x="502920" y="1078992"/>
            <a:ext cx="11186160" cy="5440680"/>
          </a:xfrm>
          <a:prstGeom prst="roundRect">
            <a:avLst/>
          </a:prstGeom>
          <a:solidFill>
            <a:srgbClr val="FFFFFF"/>
          </a:solidFill>
          <a:ln w="13970">
            <a:solidFill>
              <a:srgbClr val="D8E0EB"/>
            </a:solidFill>
          </a:ln>
        </p:spPr>
        <p:style>
          <a:lnRef idx="1">
            <a:schemeClr val="accent1"/>
          </a:lnRef>
          <a:fillRef idx="3">
            <a:schemeClr val="accent1"/>
          </a:fillRef>
          <a:effectRef idx="2">
            <a:schemeClr val="accent1"/>
          </a:effectRef>
          <a:fontRef idx="minor">
            <a:schemeClr val="lt1"/>
          </a:fontRef>
        </p:style>
        <p:txBody>
          <a:bodyPr wrap="square" lIns="256032" tIns="164592" rIns="256032" bIns="137160" rtlCol="0" anchor="ctr"/>
          <a:lstStyle/>
          <a:p>
            <a:pPr algn="ctr">
              <a:spcAft>
                <a:spcPts val="1100"/>
              </a:spcAft>
              <a:defRPr sz="1500">
                <a:solidFill>
                  <a:srgbClr val="232F3E"/>
                </a:solidFill>
                <a:latin typeface="Aptos"/>
              </a:defRPr>
            </a:pPr>
            <a:r>
              <a:rPr sz="1500" b="1">
                <a:solidFill>
                  <a:srgbClr val="142F5C"/>
                </a:solidFill>
                <a:latin typeface="Aptos"/>
              </a:rPr>
              <a:t>Gradient boosting: </a:t>
            </a:r>
            <a:r>
              <a:rPr sz="1500">
                <a:solidFill>
                  <a:srgbClr val="232F3E"/>
                </a:solidFill>
                <a:latin typeface="Aptos"/>
              </a:rPr>
              <a:t>Boosting builds a sequence of weak learners. Each new learner improves the current ensemble by optimizing a loss-related objective.</a:t>
            </a:r>
          </a:p>
          <a:p>
            <a:pPr>
              <a:spcAft>
                <a:spcPts val="1100"/>
              </a:spcAft>
              <a:defRPr sz="1500">
                <a:solidFill>
                  <a:srgbClr val="232F3E"/>
                </a:solidFill>
                <a:latin typeface="Aptos"/>
              </a:defRPr>
            </a:pPr>
            <a:r>
              <a:rPr sz="1500" b="1">
                <a:solidFill>
                  <a:srgbClr val="142F5C"/>
                </a:solidFill>
                <a:latin typeface="Aptos"/>
              </a:rPr>
              <a:t>XGBoost: </a:t>
            </a:r>
            <a:r>
              <a:rPr sz="1500">
                <a:solidFill>
                  <a:srgbClr val="232F3E"/>
                </a:solidFill>
                <a:latin typeface="Aptos"/>
              </a:rPr>
              <a:t>XGBoost is a gradient-boosted tree framework with regularization and practical controls for missing values, tree complexity and computational efficiency.</a:t>
            </a:r>
          </a:p>
          <a:p>
            <a:pPr>
              <a:spcAft>
                <a:spcPts val="1100"/>
              </a:spcAft>
              <a:defRPr sz="1500">
                <a:solidFill>
                  <a:srgbClr val="232F3E"/>
                </a:solidFill>
                <a:latin typeface="Aptos"/>
              </a:defRPr>
            </a:pPr>
            <a:r>
              <a:rPr sz="1500" b="1">
                <a:solidFill>
                  <a:srgbClr val="142F5C"/>
                </a:solidFill>
                <a:latin typeface="Aptos"/>
              </a:rPr>
              <a:t>LightGBM: </a:t>
            </a:r>
            <a:r>
              <a:rPr sz="1500">
                <a:solidFill>
                  <a:srgbClr val="232F3E"/>
                </a:solidFill>
                <a:latin typeface="Aptos"/>
              </a:rPr>
              <a:t>LightGBM is designed for efficient boosted-tree training and uses histogram-based methods and leaf-wise tree growth, which can be fast but may overfit on small datasets without constraints.</a:t>
            </a:r>
          </a:p>
          <a:p>
            <a:pPr>
              <a:spcAft>
                <a:spcPts val="1100"/>
              </a:spcAft>
              <a:defRPr sz="1500">
                <a:solidFill>
                  <a:srgbClr val="232F3E"/>
                </a:solidFill>
                <a:latin typeface="Aptos"/>
              </a:defRPr>
            </a:pPr>
            <a:r>
              <a:rPr sz="1500" b="1">
                <a:solidFill>
                  <a:srgbClr val="142F5C"/>
                </a:solidFill>
                <a:latin typeface="Aptos"/>
              </a:rPr>
              <a:t>Practical workflow: </a:t>
            </a:r>
            <a:r>
              <a:rPr sz="1500">
                <a:solidFill>
                  <a:srgbClr val="232F3E"/>
                </a:solidFill>
                <a:latin typeface="Aptos"/>
              </a:rPr>
              <a:t>Start with a baseline, create leakage-safe preprocessing, tune depth/leaves, learning rate, number of trees and regularization, then compare using cross-validation and a held-out test set.</a:t>
            </a:r>
          </a:p>
        </p:txBody>
      </p:sp>
      <p:sp>
        <p:nvSpPr>
          <p:cNvPr id="4" name="TextBox 3"/>
          <p:cNvSpPr txBox="1"/>
          <p:nvPr/>
        </p:nvSpPr>
        <p:spPr>
          <a:xfrm>
            <a:off x="502920" y="6547104"/>
            <a:ext cx="11186160" cy="182880"/>
          </a:xfrm>
          <a:prstGeom prst="rect">
            <a:avLst/>
          </a:prstGeom>
          <a:noFill/>
        </p:spPr>
        <p:txBody>
          <a:bodyPr wrap="none">
            <a:spAutoFit/>
          </a:bodyPr>
          <a:lstStyle/>
          <a:p>
            <a:pPr algn="r">
              <a:defRPr sz="800">
                <a:solidFill>
                  <a:srgbClr val="647080"/>
                </a:solidFill>
                <a:latin typeface="Aptos"/>
              </a:defRPr>
            </a:pPr>
            <a:r>
              <a:t>Supplement aligned to the uploaded Nexus AI &amp; ML Mastery Program curriculum</a:t>
            </a:r>
          </a:p>
        </p:txBody>
      </p:sp>
      <p:pic>
        <p:nvPicPr>
          <p:cNvPr id="5" name="Picture 4"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868680"/>
          </a:xfrm>
          <a:prstGeom prst="rect">
            <a:avLst/>
          </a:prstGeom>
          <a:solidFill>
            <a:srgbClr val="142F5C"/>
          </a:solidFill>
          <a:ln>
            <a:noFill/>
          </a:ln>
        </p:spPr>
        <p:style>
          <a:lnRef idx="1">
            <a:schemeClr val="accent1"/>
          </a:lnRef>
          <a:fillRef idx="3">
            <a:schemeClr val="accent1"/>
          </a:fillRef>
          <a:effectRef idx="2">
            <a:schemeClr val="accent1"/>
          </a:effectRef>
          <a:fontRef idx="minor">
            <a:schemeClr val="lt1"/>
          </a:fontRef>
        </p:style>
        <p:txBody>
          <a:bodyPr lIns="411480" tIns="109728" rIns="320040" bIns="73152" rtlCol="0" anchor="ctr"/>
          <a:lstStyle/>
          <a:p>
            <a:pPr algn="l">
              <a:defRPr sz="2500" b="1">
                <a:solidFill>
                  <a:srgbClr val="FFFFFF"/>
                </a:solidFill>
                <a:latin typeface="Aptos Display"/>
              </a:defRPr>
            </a:pPr>
            <a:r>
              <a:t>Imbalanced Classification</a:t>
            </a:r>
          </a:p>
        </p:txBody>
      </p:sp>
      <p:sp>
        <p:nvSpPr>
          <p:cNvPr id="3" name="Rounded Rectangle 2"/>
          <p:cNvSpPr/>
          <p:nvPr/>
        </p:nvSpPr>
        <p:spPr>
          <a:xfrm>
            <a:off x="502920" y="1078992"/>
            <a:ext cx="11186160" cy="5440680"/>
          </a:xfrm>
          <a:prstGeom prst="roundRect">
            <a:avLst/>
          </a:prstGeom>
          <a:solidFill>
            <a:srgbClr val="FFFFFF"/>
          </a:solidFill>
          <a:ln w="13970">
            <a:solidFill>
              <a:srgbClr val="D8E0EB"/>
            </a:solidFill>
          </a:ln>
        </p:spPr>
        <p:style>
          <a:lnRef idx="1">
            <a:schemeClr val="accent1"/>
          </a:lnRef>
          <a:fillRef idx="3">
            <a:schemeClr val="accent1"/>
          </a:fillRef>
          <a:effectRef idx="2">
            <a:schemeClr val="accent1"/>
          </a:effectRef>
          <a:fontRef idx="minor">
            <a:schemeClr val="lt1"/>
          </a:fontRef>
        </p:style>
        <p:txBody>
          <a:bodyPr wrap="square" lIns="256032" tIns="164592" rIns="256032" bIns="137160" rtlCol="0" anchor="ctr"/>
          <a:lstStyle/>
          <a:p>
            <a:pPr algn="ctr">
              <a:spcAft>
                <a:spcPts val="1100"/>
              </a:spcAft>
              <a:defRPr sz="1500">
                <a:solidFill>
                  <a:srgbClr val="232F3E"/>
                </a:solidFill>
                <a:latin typeface="Aptos"/>
              </a:defRPr>
            </a:pPr>
            <a:r>
              <a:rPr sz="1500" b="1">
                <a:solidFill>
                  <a:srgbClr val="142F5C"/>
                </a:solidFill>
                <a:latin typeface="Aptos"/>
              </a:rPr>
              <a:t>Problem: </a:t>
            </a:r>
            <a:r>
              <a:rPr sz="1500">
                <a:solidFill>
                  <a:srgbClr val="232F3E"/>
                </a:solidFill>
                <a:latin typeface="Aptos"/>
              </a:rPr>
              <a:t>Class imbalance occurs when one outcome is much rarer than another. A model can achieve high accuracy by mostly predicting the majority class while missing the rare event.</a:t>
            </a:r>
          </a:p>
          <a:p>
            <a:pPr>
              <a:spcAft>
                <a:spcPts val="1100"/>
              </a:spcAft>
              <a:defRPr sz="1500">
                <a:solidFill>
                  <a:srgbClr val="232F3E"/>
                </a:solidFill>
                <a:latin typeface="Aptos"/>
              </a:defRPr>
            </a:pPr>
            <a:r>
              <a:rPr sz="1500" b="1">
                <a:solidFill>
                  <a:srgbClr val="142F5C"/>
                </a:solidFill>
                <a:latin typeface="Aptos"/>
              </a:rPr>
              <a:t>Evaluation: </a:t>
            </a:r>
            <a:r>
              <a:rPr sz="1500">
                <a:solidFill>
                  <a:srgbClr val="232F3E"/>
                </a:solidFill>
                <a:latin typeface="Aptos"/>
              </a:rPr>
              <a:t>Inspect the confusion matrix, precision, recall, F1, PR-AUC and business cost of false positives versus false negatives. Select metrics based on the decision being made.</a:t>
            </a:r>
          </a:p>
          <a:p>
            <a:pPr>
              <a:spcAft>
                <a:spcPts val="1100"/>
              </a:spcAft>
              <a:defRPr sz="1500">
                <a:solidFill>
                  <a:srgbClr val="232F3E"/>
                </a:solidFill>
                <a:latin typeface="Aptos"/>
              </a:defRPr>
            </a:pPr>
            <a:r>
              <a:rPr sz="1500" b="1">
                <a:solidFill>
                  <a:srgbClr val="142F5C"/>
                </a:solidFill>
                <a:latin typeface="Aptos"/>
              </a:rPr>
              <a:t>Mitigation: </a:t>
            </a:r>
            <a:r>
              <a:rPr sz="1500">
                <a:solidFill>
                  <a:srgbClr val="232F3E"/>
                </a:solidFill>
                <a:latin typeface="Aptos"/>
              </a:rPr>
              <a:t>Consider class weights, threshold tuning, careful over/undersampling or synthetic sampling within training folds only.</a:t>
            </a:r>
          </a:p>
          <a:p>
            <a:pPr>
              <a:spcAft>
                <a:spcPts val="1100"/>
              </a:spcAft>
              <a:defRPr sz="1500">
                <a:solidFill>
                  <a:srgbClr val="232F3E"/>
                </a:solidFill>
                <a:latin typeface="Aptos"/>
              </a:defRPr>
            </a:pPr>
            <a:r>
              <a:rPr sz="1500" b="1">
                <a:solidFill>
                  <a:srgbClr val="142F5C"/>
                </a:solidFill>
                <a:latin typeface="Aptos"/>
              </a:rPr>
              <a:t>Pitfalls: </a:t>
            </a:r>
            <a:r>
              <a:rPr sz="1500">
                <a:solidFill>
                  <a:srgbClr val="232F3E"/>
                </a:solidFill>
                <a:latin typeface="Aptos"/>
              </a:rPr>
              <a:t>Never resample before splitting the data. Preserve realistic class prevalence in validation/test data and evaluate probability calibration when probabilities drive decisions.</a:t>
            </a:r>
          </a:p>
        </p:txBody>
      </p:sp>
      <p:sp>
        <p:nvSpPr>
          <p:cNvPr id="4" name="TextBox 3"/>
          <p:cNvSpPr txBox="1"/>
          <p:nvPr/>
        </p:nvSpPr>
        <p:spPr>
          <a:xfrm>
            <a:off x="502920" y="6547104"/>
            <a:ext cx="11186160" cy="182880"/>
          </a:xfrm>
          <a:prstGeom prst="rect">
            <a:avLst/>
          </a:prstGeom>
          <a:noFill/>
        </p:spPr>
        <p:txBody>
          <a:bodyPr wrap="none">
            <a:spAutoFit/>
          </a:bodyPr>
          <a:lstStyle/>
          <a:p>
            <a:pPr algn="r">
              <a:defRPr sz="800">
                <a:solidFill>
                  <a:srgbClr val="647080"/>
                </a:solidFill>
                <a:latin typeface="Aptos"/>
              </a:defRPr>
            </a:pPr>
            <a:r>
              <a:t>Supplement aligned to the uploaded Nexus AI &amp; ML Mastery Program curriculum</a:t>
            </a:r>
          </a:p>
        </p:txBody>
      </p:sp>
      <p:pic>
        <p:nvPicPr>
          <p:cNvPr id="5" name="Picture 4"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868680"/>
          </a:xfrm>
          <a:prstGeom prst="rect">
            <a:avLst/>
          </a:prstGeom>
          <a:solidFill>
            <a:srgbClr val="142F5C"/>
          </a:solidFill>
          <a:ln>
            <a:noFill/>
          </a:ln>
        </p:spPr>
        <p:style>
          <a:lnRef idx="1">
            <a:schemeClr val="accent1"/>
          </a:lnRef>
          <a:fillRef idx="3">
            <a:schemeClr val="accent1"/>
          </a:fillRef>
          <a:effectRef idx="2">
            <a:schemeClr val="accent1"/>
          </a:effectRef>
          <a:fontRef idx="minor">
            <a:schemeClr val="lt1"/>
          </a:fontRef>
        </p:style>
        <p:txBody>
          <a:bodyPr lIns="411480" tIns="109728" rIns="320040" bIns="73152" rtlCol="0" anchor="ctr"/>
          <a:lstStyle/>
          <a:p>
            <a:pPr algn="l">
              <a:defRPr sz="2500" b="1">
                <a:solidFill>
                  <a:srgbClr val="FFFFFF"/>
                </a:solidFill>
                <a:latin typeface="Aptos Display"/>
              </a:defRPr>
            </a:pPr>
            <a:r>
              <a:t>Model Interpretability and Explainability</a:t>
            </a:r>
          </a:p>
        </p:txBody>
      </p:sp>
      <p:sp>
        <p:nvSpPr>
          <p:cNvPr id="3" name="Rounded Rectangle 2"/>
          <p:cNvSpPr/>
          <p:nvPr/>
        </p:nvSpPr>
        <p:spPr>
          <a:xfrm>
            <a:off x="502920" y="1078992"/>
            <a:ext cx="11186160" cy="5440680"/>
          </a:xfrm>
          <a:prstGeom prst="roundRect">
            <a:avLst/>
          </a:prstGeom>
          <a:solidFill>
            <a:srgbClr val="FFFFFF"/>
          </a:solidFill>
          <a:ln w="13970">
            <a:solidFill>
              <a:srgbClr val="D8E0EB"/>
            </a:solidFill>
          </a:ln>
        </p:spPr>
        <p:style>
          <a:lnRef idx="1">
            <a:schemeClr val="accent1"/>
          </a:lnRef>
          <a:fillRef idx="3">
            <a:schemeClr val="accent1"/>
          </a:fillRef>
          <a:effectRef idx="2">
            <a:schemeClr val="accent1"/>
          </a:effectRef>
          <a:fontRef idx="minor">
            <a:schemeClr val="lt1"/>
          </a:fontRef>
        </p:style>
        <p:txBody>
          <a:bodyPr wrap="square" lIns="256032" tIns="164592" rIns="256032" bIns="137160" rtlCol="0" anchor="ctr"/>
          <a:lstStyle/>
          <a:p>
            <a:pPr algn="ctr">
              <a:spcAft>
                <a:spcPts val="1100"/>
              </a:spcAft>
              <a:defRPr sz="1500">
                <a:solidFill>
                  <a:srgbClr val="232F3E"/>
                </a:solidFill>
                <a:latin typeface="Aptos"/>
              </a:defRPr>
            </a:pPr>
            <a:r>
              <a:rPr sz="1500" b="1">
                <a:solidFill>
                  <a:srgbClr val="142F5C"/>
                </a:solidFill>
                <a:latin typeface="Aptos"/>
              </a:rPr>
              <a:t>Global vs local: </a:t>
            </a:r>
            <a:r>
              <a:rPr sz="1500">
                <a:solidFill>
                  <a:srgbClr val="232F3E"/>
                </a:solidFill>
                <a:latin typeface="Aptos"/>
              </a:rPr>
              <a:t>Global explanations describe overall model behavior; local explanations explain a single prediction. Feature importance is useful but does not establish causality.</a:t>
            </a:r>
          </a:p>
          <a:p>
            <a:pPr>
              <a:spcAft>
                <a:spcPts val="1100"/>
              </a:spcAft>
              <a:defRPr sz="1500">
                <a:solidFill>
                  <a:srgbClr val="232F3E"/>
                </a:solidFill>
                <a:latin typeface="Aptos"/>
              </a:defRPr>
            </a:pPr>
            <a:r>
              <a:rPr sz="1500" b="1">
                <a:solidFill>
                  <a:srgbClr val="142F5C"/>
                </a:solidFill>
                <a:latin typeface="Aptos"/>
              </a:rPr>
              <a:t>Methods: </a:t>
            </a:r>
            <a:r>
              <a:rPr sz="1500">
                <a:solidFill>
                  <a:srgbClr val="232F3E"/>
                </a:solidFill>
                <a:latin typeface="Aptos"/>
              </a:rPr>
              <a:t>Use permutation importance, partial-dependence or accumulated-local-effect plots, and model-agnostic local explanation methods where appropriate.</a:t>
            </a:r>
          </a:p>
          <a:p>
            <a:pPr>
              <a:spcAft>
                <a:spcPts val="1100"/>
              </a:spcAft>
              <a:defRPr sz="1500">
                <a:solidFill>
                  <a:srgbClr val="232F3E"/>
                </a:solidFill>
                <a:latin typeface="Aptos"/>
              </a:defRPr>
            </a:pPr>
            <a:r>
              <a:rPr sz="1500" b="1">
                <a:solidFill>
                  <a:srgbClr val="142F5C"/>
                </a:solidFill>
                <a:latin typeface="Aptos"/>
              </a:rPr>
              <a:t>Validation: </a:t>
            </a:r>
            <a:r>
              <a:rPr sz="1500">
                <a:solidFill>
                  <a:srgbClr val="232F3E"/>
                </a:solidFill>
                <a:latin typeface="Aptos"/>
              </a:rPr>
              <a:t>Check whether explanations are stable across samples, time periods and relevant user groups. Compare explanations with domain knowledge and known data-generation processes.</a:t>
            </a:r>
          </a:p>
          <a:p>
            <a:pPr>
              <a:spcAft>
                <a:spcPts val="1100"/>
              </a:spcAft>
              <a:defRPr sz="1500">
                <a:solidFill>
                  <a:srgbClr val="232F3E"/>
                </a:solidFill>
                <a:latin typeface="Aptos"/>
              </a:defRPr>
            </a:pPr>
            <a:r>
              <a:rPr sz="1500" b="1">
                <a:solidFill>
                  <a:srgbClr val="142F5C"/>
                </a:solidFill>
                <a:latin typeface="Aptos"/>
              </a:rPr>
              <a:t>Communication: </a:t>
            </a:r>
            <a:r>
              <a:rPr sz="1500">
                <a:solidFill>
                  <a:srgbClr val="232F3E"/>
                </a:solidFill>
                <a:latin typeface="Aptos"/>
              </a:rPr>
              <a:t>Explain intended use, limitations, uncertainty and the difference between correlation, model reliance and causal effect.</a:t>
            </a:r>
          </a:p>
        </p:txBody>
      </p:sp>
      <p:sp>
        <p:nvSpPr>
          <p:cNvPr id="4" name="TextBox 3"/>
          <p:cNvSpPr txBox="1"/>
          <p:nvPr/>
        </p:nvSpPr>
        <p:spPr>
          <a:xfrm>
            <a:off x="502920" y="6547104"/>
            <a:ext cx="11186160" cy="182880"/>
          </a:xfrm>
          <a:prstGeom prst="rect">
            <a:avLst/>
          </a:prstGeom>
          <a:noFill/>
        </p:spPr>
        <p:txBody>
          <a:bodyPr wrap="none">
            <a:spAutoFit/>
          </a:bodyPr>
          <a:lstStyle/>
          <a:p>
            <a:pPr algn="r">
              <a:defRPr sz="800">
                <a:solidFill>
                  <a:srgbClr val="647080"/>
                </a:solidFill>
                <a:latin typeface="Aptos"/>
              </a:defRPr>
            </a:pPr>
            <a:r>
              <a:t>Supplement aligned to the uploaded Nexus AI &amp; ML Mastery Program curriculum</a:t>
            </a:r>
          </a:p>
        </p:txBody>
      </p:sp>
      <p:pic>
        <p:nvPicPr>
          <p:cNvPr id="5" name="Picture 4"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868680"/>
          </a:xfrm>
          <a:prstGeom prst="rect">
            <a:avLst/>
          </a:prstGeom>
          <a:solidFill>
            <a:srgbClr val="142F5C"/>
          </a:solidFill>
          <a:ln>
            <a:noFill/>
          </a:ln>
        </p:spPr>
        <p:style>
          <a:lnRef idx="1">
            <a:schemeClr val="accent1"/>
          </a:lnRef>
          <a:fillRef idx="3">
            <a:schemeClr val="accent1"/>
          </a:fillRef>
          <a:effectRef idx="2">
            <a:schemeClr val="accent1"/>
          </a:effectRef>
          <a:fontRef idx="minor">
            <a:schemeClr val="lt1"/>
          </a:fontRef>
        </p:style>
        <p:txBody>
          <a:bodyPr lIns="411480" tIns="109728" rIns="320040" bIns="73152" rtlCol="0" anchor="ctr"/>
          <a:lstStyle/>
          <a:p>
            <a:pPr algn="l">
              <a:defRPr sz="2500" b="1">
                <a:solidFill>
                  <a:srgbClr val="FFFFFF"/>
                </a:solidFill>
                <a:latin typeface="Aptos Display"/>
              </a:defRPr>
            </a:pPr>
            <a:r>
              <a:t>Deep Learning: Training Loop and GPU Use</a:t>
            </a:r>
          </a:p>
        </p:txBody>
      </p:sp>
      <p:sp>
        <p:nvSpPr>
          <p:cNvPr id="3" name="Rounded Rectangle 2"/>
          <p:cNvSpPr/>
          <p:nvPr/>
        </p:nvSpPr>
        <p:spPr>
          <a:xfrm>
            <a:off x="502920" y="1078992"/>
            <a:ext cx="11186160" cy="5440680"/>
          </a:xfrm>
          <a:prstGeom prst="roundRect">
            <a:avLst/>
          </a:prstGeom>
          <a:solidFill>
            <a:srgbClr val="FFFFFF"/>
          </a:solidFill>
          <a:ln w="13970">
            <a:solidFill>
              <a:srgbClr val="D8E0EB"/>
            </a:solidFill>
          </a:ln>
        </p:spPr>
        <p:style>
          <a:lnRef idx="1">
            <a:schemeClr val="accent1"/>
          </a:lnRef>
          <a:fillRef idx="3">
            <a:schemeClr val="accent1"/>
          </a:fillRef>
          <a:effectRef idx="2">
            <a:schemeClr val="accent1"/>
          </a:effectRef>
          <a:fontRef idx="minor">
            <a:schemeClr val="lt1"/>
          </a:fontRef>
        </p:style>
        <p:txBody>
          <a:bodyPr wrap="square" lIns="256032" tIns="164592" rIns="256032" bIns="137160" rtlCol="0" anchor="ctr"/>
          <a:lstStyle/>
          <a:p>
            <a:pPr algn="ctr">
              <a:spcAft>
                <a:spcPts val="1100"/>
              </a:spcAft>
              <a:defRPr sz="1500">
                <a:solidFill>
                  <a:srgbClr val="232F3E"/>
                </a:solidFill>
                <a:latin typeface="Aptos"/>
              </a:defRPr>
            </a:pPr>
            <a:r>
              <a:rPr sz="1500" b="1">
                <a:solidFill>
                  <a:srgbClr val="142F5C"/>
                </a:solidFill>
                <a:latin typeface="Aptos"/>
              </a:rPr>
              <a:t>Training loop: </a:t>
            </a:r>
            <a:r>
              <a:rPr sz="1500">
                <a:solidFill>
                  <a:srgbClr val="232F3E"/>
                </a:solidFill>
                <a:latin typeface="Aptos"/>
              </a:rPr>
              <a:t>A typical loop performs a forward pass, calculates a loss, backpropagates gradients, updates parameters with an optimizer and repeats over batches and epochs.</a:t>
            </a:r>
          </a:p>
          <a:p>
            <a:pPr>
              <a:spcAft>
                <a:spcPts val="1100"/>
              </a:spcAft>
              <a:defRPr sz="1500">
                <a:solidFill>
                  <a:srgbClr val="232F3E"/>
                </a:solidFill>
                <a:latin typeface="Aptos"/>
              </a:defRPr>
            </a:pPr>
            <a:r>
              <a:rPr sz="1500" b="1">
                <a:solidFill>
                  <a:srgbClr val="142F5C"/>
                </a:solidFill>
                <a:latin typeface="Aptos"/>
              </a:rPr>
              <a:t>Frameworks: </a:t>
            </a:r>
            <a:r>
              <a:rPr sz="1500">
                <a:solidFill>
                  <a:srgbClr val="232F3E"/>
                </a:solidFill>
                <a:latin typeface="Aptos"/>
              </a:rPr>
              <a:t>PyTorch and TensorFlow provide tensor operations, automatic differentiation, model building and training utilities. Choose one framework for a project rather than mixing APIs unnecessarily.</a:t>
            </a:r>
          </a:p>
          <a:p>
            <a:pPr>
              <a:spcAft>
                <a:spcPts val="1100"/>
              </a:spcAft>
              <a:defRPr sz="1500">
                <a:solidFill>
                  <a:srgbClr val="232F3E"/>
                </a:solidFill>
                <a:latin typeface="Aptos"/>
              </a:defRPr>
            </a:pPr>
            <a:r>
              <a:rPr sz="1500" b="1">
                <a:solidFill>
                  <a:srgbClr val="142F5C"/>
                </a:solidFill>
                <a:latin typeface="Aptos"/>
              </a:rPr>
              <a:t>GPU considerations: </a:t>
            </a:r>
            <a:r>
              <a:rPr sz="1500">
                <a:solidFill>
                  <a:srgbClr val="232F3E"/>
                </a:solidFill>
                <a:latin typeface="Aptos"/>
              </a:rPr>
              <a:t>GPUs accelerate parallel tensor computation when data and model sizes justify it. Data transfer, batch size, memory limits and kernel overhead can affect actual speed.</a:t>
            </a:r>
          </a:p>
          <a:p>
            <a:pPr>
              <a:spcAft>
                <a:spcPts val="1100"/>
              </a:spcAft>
              <a:defRPr sz="1500">
                <a:solidFill>
                  <a:srgbClr val="232F3E"/>
                </a:solidFill>
                <a:latin typeface="Aptos"/>
              </a:defRPr>
            </a:pPr>
            <a:r>
              <a:rPr sz="1500" b="1">
                <a:solidFill>
                  <a:srgbClr val="142F5C"/>
                </a:solidFill>
                <a:latin typeface="Aptos"/>
              </a:rPr>
              <a:t>Debugging: </a:t>
            </a:r>
            <a:r>
              <a:rPr sz="1500">
                <a:solidFill>
                  <a:srgbClr val="232F3E"/>
                </a:solidFill>
                <a:latin typeface="Aptos"/>
              </a:rPr>
              <a:t>Track training and validation loss, check tensor shapes and devices, fix random seeds when feasible, save checkpoints and investigate exploding/vanishing gradients.</a:t>
            </a:r>
          </a:p>
        </p:txBody>
      </p:sp>
      <p:sp>
        <p:nvSpPr>
          <p:cNvPr id="4" name="TextBox 3"/>
          <p:cNvSpPr txBox="1"/>
          <p:nvPr/>
        </p:nvSpPr>
        <p:spPr>
          <a:xfrm>
            <a:off x="502920" y="6547104"/>
            <a:ext cx="11186160" cy="182880"/>
          </a:xfrm>
          <a:prstGeom prst="rect">
            <a:avLst/>
          </a:prstGeom>
          <a:noFill/>
        </p:spPr>
        <p:txBody>
          <a:bodyPr wrap="none">
            <a:spAutoFit/>
          </a:bodyPr>
          <a:lstStyle/>
          <a:p>
            <a:pPr algn="r">
              <a:defRPr sz="800">
                <a:solidFill>
                  <a:srgbClr val="647080"/>
                </a:solidFill>
                <a:latin typeface="Aptos"/>
              </a:defRPr>
            </a:pPr>
            <a:r>
              <a:t>Supplement aligned to the uploaded Nexus AI &amp; ML Mastery Program curriculum</a:t>
            </a:r>
          </a:p>
        </p:txBody>
      </p:sp>
      <p:pic>
        <p:nvPicPr>
          <p:cNvPr id="5" name="Picture 4"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868680"/>
          </a:xfrm>
          <a:prstGeom prst="rect">
            <a:avLst/>
          </a:prstGeom>
          <a:solidFill>
            <a:srgbClr val="142F5C"/>
          </a:solidFill>
          <a:ln>
            <a:noFill/>
          </a:ln>
        </p:spPr>
        <p:style>
          <a:lnRef idx="1">
            <a:schemeClr val="accent1"/>
          </a:lnRef>
          <a:fillRef idx="3">
            <a:schemeClr val="accent1"/>
          </a:fillRef>
          <a:effectRef idx="2">
            <a:schemeClr val="accent1"/>
          </a:effectRef>
          <a:fontRef idx="minor">
            <a:schemeClr val="lt1"/>
          </a:fontRef>
        </p:style>
        <p:txBody>
          <a:bodyPr lIns="411480" tIns="109728" rIns="320040" bIns="73152" rtlCol="0" anchor="ctr"/>
          <a:lstStyle/>
          <a:p>
            <a:pPr algn="l">
              <a:defRPr sz="2500" b="1">
                <a:solidFill>
                  <a:srgbClr val="FFFFFF"/>
                </a:solidFill>
                <a:latin typeface="Aptos Display"/>
              </a:defRPr>
            </a:pPr>
            <a:r>
              <a:t>Computer Vision: CNNs and Transfer Learning</a:t>
            </a:r>
          </a:p>
        </p:txBody>
      </p:sp>
      <p:sp>
        <p:nvSpPr>
          <p:cNvPr id="3" name="Rounded Rectangle 2"/>
          <p:cNvSpPr/>
          <p:nvPr/>
        </p:nvSpPr>
        <p:spPr>
          <a:xfrm>
            <a:off x="502920" y="1078992"/>
            <a:ext cx="11186160" cy="5440680"/>
          </a:xfrm>
          <a:prstGeom prst="roundRect">
            <a:avLst/>
          </a:prstGeom>
          <a:solidFill>
            <a:srgbClr val="FFFFFF"/>
          </a:solidFill>
          <a:ln w="13970">
            <a:solidFill>
              <a:srgbClr val="D8E0EB"/>
            </a:solidFill>
          </a:ln>
        </p:spPr>
        <p:style>
          <a:lnRef idx="1">
            <a:schemeClr val="accent1"/>
          </a:lnRef>
          <a:fillRef idx="3">
            <a:schemeClr val="accent1"/>
          </a:fillRef>
          <a:effectRef idx="2">
            <a:schemeClr val="accent1"/>
          </a:effectRef>
          <a:fontRef idx="minor">
            <a:schemeClr val="lt1"/>
          </a:fontRef>
        </p:style>
        <p:txBody>
          <a:bodyPr wrap="square" lIns="256032" tIns="164592" rIns="256032" bIns="137160" rtlCol="0" anchor="ctr"/>
          <a:lstStyle/>
          <a:p>
            <a:pPr algn="ctr">
              <a:spcAft>
                <a:spcPts val="1100"/>
              </a:spcAft>
              <a:defRPr sz="1500">
                <a:solidFill>
                  <a:srgbClr val="232F3E"/>
                </a:solidFill>
                <a:latin typeface="Aptos"/>
              </a:defRPr>
            </a:pPr>
            <a:r>
              <a:rPr sz="1500" b="1">
                <a:solidFill>
                  <a:srgbClr val="142F5C"/>
                </a:solidFill>
                <a:latin typeface="Aptos"/>
              </a:rPr>
              <a:t>CNNs: </a:t>
            </a:r>
            <a:r>
              <a:rPr sz="1500">
                <a:solidFill>
                  <a:srgbClr val="232F3E"/>
                </a:solidFill>
                <a:latin typeface="Aptos"/>
              </a:rPr>
              <a:t>Convolutional neural networks learn local spatial patterns with filters; pooling or strided operations reduce spatial resolution, and deeper layers learn increasingly abstract features.</a:t>
            </a:r>
          </a:p>
          <a:p>
            <a:pPr>
              <a:spcAft>
                <a:spcPts val="1100"/>
              </a:spcAft>
              <a:defRPr sz="1500">
                <a:solidFill>
                  <a:srgbClr val="232F3E"/>
                </a:solidFill>
                <a:latin typeface="Aptos"/>
              </a:defRPr>
            </a:pPr>
            <a:r>
              <a:rPr sz="1500" b="1">
                <a:solidFill>
                  <a:srgbClr val="142F5C"/>
                </a:solidFill>
                <a:latin typeface="Aptos"/>
              </a:rPr>
              <a:t>Transfer learning: </a:t>
            </a:r>
            <a:r>
              <a:rPr sz="1500">
                <a:solidFill>
                  <a:srgbClr val="232F3E"/>
                </a:solidFill>
                <a:latin typeface="Aptos"/>
              </a:rPr>
              <a:t>Start from a model pretrained on a large dataset, replace or adapt the task-specific head, train it, then optionally unfreeze selected layers for fine-tuning.</a:t>
            </a:r>
          </a:p>
          <a:p>
            <a:pPr>
              <a:spcAft>
                <a:spcPts val="1100"/>
              </a:spcAft>
              <a:defRPr sz="1500">
                <a:solidFill>
                  <a:srgbClr val="232F3E"/>
                </a:solidFill>
                <a:latin typeface="Aptos"/>
              </a:defRPr>
            </a:pPr>
            <a:r>
              <a:rPr sz="1500" b="1">
                <a:solidFill>
                  <a:srgbClr val="142F5C"/>
                </a:solidFill>
                <a:latin typeface="Aptos"/>
              </a:rPr>
              <a:t>Data preparation: </a:t>
            </a:r>
            <a:r>
              <a:rPr sz="1500">
                <a:solidFill>
                  <a:srgbClr val="232F3E"/>
                </a:solidFill>
                <a:latin typeface="Aptos"/>
              </a:rPr>
              <a:t>Use consistent resizing, normalization and label mapping. Augmentation should reflect realistic variation and must not change the image's label.</a:t>
            </a:r>
          </a:p>
          <a:p>
            <a:pPr>
              <a:spcAft>
                <a:spcPts val="1100"/>
              </a:spcAft>
              <a:defRPr sz="1500">
                <a:solidFill>
                  <a:srgbClr val="232F3E"/>
                </a:solidFill>
                <a:latin typeface="Aptos"/>
              </a:defRPr>
            </a:pPr>
            <a:r>
              <a:rPr sz="1500" b="1">
                <a:solidFill>
                  <a:srgbClr val="142F5C"/>
                </a:solidFill>
                <a:latin typeface="Aptos"/>
              </a:rPr>
              <a:t>Evaluation: </a:t>
            </a:r>
            <a:r>
              <a:rPr sz="1500">
                <a:solidFill>
                  <a:srgbClr val="232F3E"/>
                </a:solidFill>
                <a:latin typeface="Aptos"/>
              </a:rPr>
              <a:t>Inspect per-class precision/recall and confusion matrices, review misclassified images, and prevent leakage when multiple images come from the same person, object or source.</a:t>
            </a:r>
          </a:p>
        </p:txBody>
      </p:sp>
      <p:sp>
        <p:nvSpPr>
          <p:cNvPr id="4" name="TextBox 3"/>
          <p:cNvSpPr txBox="1"/>
          <p:nvPr/>
        </p:nvSpPr>
        <p:spPr>
          <a:xfrm>
            <a:off x="502920" y="6547104"/>
            <a:ext cx="11186160" cy="182880"/>
          </a:xfrm>
          <a:prstGeom prst="rect">
            <a:avLst/>
          </a:prstGeom>
          <a:noFill/>
        </p:spPr>
        <p:txBody>
          <a:bodyPr wrap="none">
            <a:spAutoFit/>
          </a:bodyPr>
          <a:lstStyle/>
          <a:p>
            <a:pPr algn="r">
              <a:defRPr sz="800">
                <a:solidFill>
                  <a:srgbClr val="647080"/>
                </a:solidFill>
                <a:latin typeface="Aptos"/>
              </a:defRPr>
            </a:pPr>
            <a:r>
              <a:t>Supplement aligned to the uploaded Nexus AI &amp; ML Mastery Program curriculum</a:t>
            </a:r>
          </a:p>
        </p:txBody>
      </p:sp>
      <p:pic>
        <p:nvPicPr>
          <p:cNvPr id="5" name="Picture 4"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868680"/>
          </a:xfrm>
          <a:prstGeom prst="rect">
            <a:avLst/>
          </a:prstGeom>
          <a:solidFill>
            <a:srgbClr val="142F5C"/>
          </a:solidFill>
          <a:ln>
            <a:noFill/>
          </a:ln>
        </p:spPr>
        <p:style>
          <a:lnRef idx="1">
            <a:schemeClr val="accent1"/>
          </a:lnRef>
          <a:fillRef idx="3">
            <a:schemeClr val="accent1"/>
          </a:fillRef>
          <a:effectRef idx="2">
            <a:schemeClr val="accent1"/>
          </a:effectRef>
          <a:fontRef idx="minor">
            <a:schemeClr val="lt1"/>
          </a:fontRef>
        </p:style>
        <p:txBody>
          <a:bodyPr lIns="411480" tIns="109728" rIns="320040" bIns="73152" rtlCol="0" anchor="ctr"/>
          <a:lstStyle/>
          <a:p>
            <a:pPr algn="l">
              <a:defRPr sz="2100" b="1">
                <a:solidFill>
                  <a:srgbClr val="FFFFFF"/>
                </a:solidFill>
                <a:latin typeface="Aptos Display"/>
              </a:defRPr>
            </a:pPr>
            <a:r>
              <a:t>LLM Fundamentals, Embeddings and Vector Databases</a:t>
            </a:r>
          </a:p>
        </p:txBody>
      </p:sp>
      <p:sp>
        <p:nvSpPr>
          <p:cNvPr id="3" name="Rounded Rectangle 2"/>
          <p:cNvSpPr/>
          <p:nvPr/>
        </p:nvSpPr>
        <p:spPr>
          <a:xfrm>
            <a:off x="502920" y="1078992"/>
            <a:ext cx="11186160" cy="5440680"/>
          </a:xfrm>
          <a:prstGeom prst="roundRect">
            <a:avLst/>
          </a:prstGeom>
          <a:solidFill>
            <a:srgbClr val="FFFFFF"/>
          </a:solidFill>
          <a:ln w="13970">
            <a:solidFill>
              <a:srgbClr val="D8E0EB"/>
            </a:solidFill>
          </a:ln>
        </p:spPr>
        <p:style>
          <a:lnRef idx="1">
            <a:schemeClr val="accent1"/>
          </a:lnRef>
          <a:fillRef idx="3">
            <a:schemeClr val="accent1"/>
          </a:fillRef>
          <a:effectRef idx="2">
            <a:schemeClr val="accent1"/>
          </a:effectRef>
          <a:fontRef idx="minor">
            <a:schemeClr val="lt1"/>
          </a:fontRef>
        </p:style>
        <p:txBody>
          <a:bodyPr wrap="square" lIns="256032" tIns="164592" rIns="256032" bIns="137160" rtlCol="0" anchor="ctr"/>
          <a:lstStyle/>
          <a:p>
            <a:pPr algn="ctr">
              <a:spcAft>
                <a:spcPts val="1100"/>
              </a:spcAft>
              <a:defRPr sz="1500">
                <a:solidFill>
                  <a:srgbClr val="232F3E"/>
                </a:solidFill>
                <a:latin typeface="Aptos"/>
              </a:defRPr>
            </a:pPr>
            <a:r>
              <a:rPr sz="1500" b="1">
                <a:solidFill>
                  <a:srgbClr val="142F5C"/>
                </a:solidFill>
                <a:latin typeface="Aptos"/>
              </a:rPr>
              <a:t>LLMs: </a:t>
            </a:r>
            <a:r>
              <a:rPr sz="1500">
                <a:solidFill>
                  <a:srgbClr val="232F3E"/>
                </a:solidFill>
                <a:latin typeface="Aptos"/>
              </a:rPr>
              <a:t>Large language models predict or generate token sequences from learned parameters and context. Their output is probabilistic and can be fluent while still being incorrect.</a:t>
            </a:r>
          </a:p>
          <a:p>
            <a:pPr>
              <a:spcAft>
                <a:spcPts val="1100"/>
              </a:spcAft>
              <a:defRPr sz="1500">
                <a:solidFill>
                  <a:srgbClr val="232F3E"/>
                </a:solidFill>
                <a:latin typeface="Aptos"/>
              </a:defRPr>
            </a:pPr>
            <a:r>
              <a:rPr sz="1500" b="1">
                <a:solidFill>
                  <a:srgbClr val="142F5C"/>
                </a:solidFill>
                <a:latin typeface="Aptos"/>
              </a:rPr>
              <a:t>Embeddings: </a:t>
            </a:r>
            <a:r>
              <a:rPr sz="1500">
                <a:solidFill>
                  <a:srgbClr val="232F3E"/>
                </a:solidFill>
                <a:latin typeface="Aptos"/>
              </a:rPr>
              <a:t>An embedding maps text or other content into a numeric vector intended to preserve useful semantic relationships. Similarity search often compares vectors using cosine similarity or another distance measure.</a:t>
            </a:r>
          </a:p>
          <a:p>
            <a:pPr>
              <a:spcAft>
                <a:spcPts val="1100"/>
              </a:spcAft>
              <a:defRPr sz="1500">
                <a:solidFill>
                  <a:srgbClr val="232F3E"/>
                </a:solidFill>
                <a:latin typeface="Aptos"/>
              </a:defRPr>
            </a:pPr>
            <a:r>
              <a:rPr sz="1500" b="1">
                <a:solidFill>
                  <a:srgbClr val="142F5C"/>
                </a:solidFill>
                <a:latin typeface="Aptos"/>
              </a:rPr>
              <a:t>Vector database: </a:t>
            </a:r>
            <a:r>
              <a:rPr sz="1500">
                <a:solidFill>
                  <a:srgbClr val="232F3E"/>
                </a:solidFill>
                <a:latin typeface="Aptos"/>
              </a:rPr>
              <a:t>A vector store indexes embeddings and may support metadata filters, approximate nearest-neighbor search and document identifiers for retrieving relevant content.</a:t>
            </a:r>
          </a:p>
          <a:p>
            <a:pPr>
              <a:spcAft>
                <a:spcPts val="1100"/>
              </a:spcAft>
              <a:defRPr sz="1500">
                <a:solidFill>
                  <a:srgbClr val="232F3E"/>
                </a:solidFill>
                <a:latin typeface="Aptos"/>
              </a:defRPr>
            </a:pPr>
            <a:r>
              <a:rPr sz="1500" b="1">
                <a:solidFill>
                  <a:srgbClr val="142F5C"/>
                </a:solidFill>
                <a:latin typeface="Aptos"/>
              </a:rPr>
              <a:t>Practical checks: </a:t>
            </a:r>
            <a:r>
              <a:rPr sz="1500">
                <a:solidFill>
                  <a:srgbClr val="232F3E"/>
                </a:solidFill>
                <a:latin typeface="Aptos"/>
              </a:rPr>
              <a:t>Choose an embedding model compatible with the task, keep document metadata, measure retrieval relevance, and secure stored content and access paths.</a:t>
            </a:r>
          </a:p>
        </p:txBody>
      </p:sp>
      <p:sp>
        <p:nvSpPr>
          <p:cNvPr id="4" name="TextBox 3"/>
          <p:cNvSpPr txBox="1"/>
          <p:nvPr/>
        </p:nvSpPr>
        <p:spPr>
          <a:xfrm>
            <a:off x="502920" y="6547104"/>
            <a:ext cx="11186160" cy="182880"/>
          </a:xfrm>
          <a:prstGeom prst="rect">
            <a:avLst/>
          </a:prstGeom>
          <a:noFill/>
        </p:spPr>
        <p:txBody>
          <a:bodyPr wrap="none">
            <a:spAutoFit/>
          </a:bodyPr>
          <a:lstStyle/>
          <a:p>
            <a:pPr algn="r">
              <a:defRPr sz="800">
                <a:solidFill>
                  <a:srgbClr val="647080"/>
                </a:solidFill>
                <a:latin typeface="Aptos"/>
              </a:defRPr>
            </a:pPr>
            <a:r>
              <a:t>Supplement aligned to the uploaded Nexus AI &amp; ML Mastery Program curriculum</a:t>
            </a:r>
          </a:p>
        </p:txBody>
      </p:sp>
      <p:pic>
        <p:nvPicPr>
          <p:cNvPr id="5" name="Picture 4"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868680"/>
          </a:xfrm>
          <a:prstGeom prst="rect">
            <a:avLst/>
          </a:prstGeom>
          <a:solidFill>
            <a:srgbClr val="142F5C"/>
          </a:solidFill>
          <a:ln>
            <a:noFill/>
          </a:ln>
        </p:spPr>
        <p:style>
          <a:lnRef idx="1">
            <a:schemeClr val="accent1"/>
          </a:lnRef>
          <a:fillRef idx="3">
            <a:schemeClr val="accent1"/>
          </a:fillRef>
          <a:effectRef idx="2">
            <a:schemeClr val="accent1"/>
          </a:effectRef>
          <a:fontRef idx="minor">
            <a:schemeClr val="lt1"/>
          </a:fontRef>
        </p:style>
        <p:txBody>
          <a:bodyPr lIns="411480" tIns="109728" rIns="320040" bIns="73152" rtlCol="0" anchor="ctr"/>
          <a:lstStyle/>
          <a:p>
            <a:pPr algn="l">
              <a:defRPr sz="2500" b="1">
                <a:solidFill>
                  <a:srgbClr val="FFFFFF"/>
                </a:solidFill>
                <a:latin typeface="Aptos Display"/>
              </a:defRPr>
            </a:pPr>
            <a:r>
              <a:t>RAG System: Ingestion to Evaluation</a:t>
            </a:r>
          </a:p>
        </p:txBody>
      </p:sp>
      <p:sp>
        <p:nvSpPr>
          <p:cNvPr id="3" name="Rounded Rectangle 2"/>
          <p:cNvSpPr/>
          <p:nvPr/>
        </p:nvSpPr>
        <p:spPr>
          <a:xfrm>
            <a:off x="502920" y="1078992"/>
            <a:ext cx="11186160" cy="5440680"/>
          </a:xfrm>
          <a:prstGeom prst="roundRect">
            <a:avLst/>
          </a:prstGeom>
          <a:solidFill>
            <a:srgbClr val="FFFFFF"/>
          </a:solidFill>
          <a:ln w="13970">
            <a:solidFill>
              <a:srgbClr val="D8E0EB"/>
            </a:solidFill>
          </a:ln>
        </p:spPr>
        <p:style>
          <a:lnRef idx="1">
            <a:schemeClr val="accent1"/>
          </a:lnRef>
          <a:fillRef idx="3">
            <a:schemeClr val="accent1"/>
          </a:fillRef>
          <a:effectRef idx="2">
            <a:schemeClr val="accent1"/>
          </a:effectRef>
          <a:fontRef idx="minor">
            <a:schemeClr val="lt1"/>
          </a:fontRef>
        </p:style>
        <p:txBody>
          <a:bodyPr wrap="square" lIns="256032" tIns="164592" rIns="256032" bIns="137160" rtlCol="0" anchor="ctr"/>
          <a:lstStyle/>
          <a:p>
            <a:pPr algn="ctr">
              <a:spcAft>
                <a:spcPts val="1100"/>
              </a:spcAft>
              <a:defRPr sz="1500">
                <a:solidFill>
                  <a:srgbClr val="232F3E"/>
                </a:solidFill>
                <a:latin typeface="Aptos"/>
              </a:defRPr>
            </a:pPr>
            <a:r>
              <a:rPr sz="1500" b="1">
                <a:solidFill>
                  <a:srgbClr val="142F5C"/>
                </a:solidFill>
                <a:latin typeface="Aptos"/>
              </a:rPr>
              <a:t>Ingestion: </a:t>
            </a:r>
            <a:r>
              <a:rPr sz="1500">
                <a:solidFill>
                  <a:srgbClr val="232F3E"/>
                </a:solidFill>
                <a:latin typeface="Aptos"/>
              </a:rPr>
              <a:t>Load documents, extract text, clean it, split it into chunks, attach metadata and create embeddings. Keep source identifiers so retrieved evidence can be traced.</a:t>
            </a:r>
          </a:p>
          <a:p>
            <a:pPr>
              <a:spcAft>
                <a:spcPts val="1100"/>
              </a:spcAft>
              <a:defRPr sz="1500">
                <a:solidFill>
                  <a:srgbClr val="232F3E"/>
                </a:solidFill>
                <a:latin typeface="Aptos"/>
              </a:defRPr>
            </a:pPr>
            <a:r>
              <a:rPr sz="1500" b="1">
                <a:solidFill>
                  <a:srgbClr val="142F5C"/>
                </a:solidFill>
                <a:latin typeface="Aptos"/>
              </a:rPr>
              <a:t>Retrieval and generation: </a:t>
            </a:r>
            <a:r>
              <a:rPr sz="1500">
                <a:solidFill>
                  <a:srgbClr val="232F3E"/>
                </a:solidFill>
                <a:latin typeface="Aptos"/>
              </a:rPr>
              <a:t>Embed the user query, retrieve candidate chunks, optionally rerank them, then provide the selected evidence and question to the language model.</a:t>
            </a:r>
          </a:p>
          <a:p>
            <a:pPr>
              <a:spcAft>
                <a:spcPts val="1100"/>
              </a:spcAft>
              <a:defRPr sz="1500">
                <a:solidFill>
                  <a:srgbClr val="232F3E"/>
                </a:solidFill>
                <a:latin typeface="Aptos"/>
              </a:defRPr>
            </a:pPr>
            <a:r>
              <a:rPr sz="1500" b="1">
                <a:solidFill>
                  <a:srgbClr val="142F5C"/>
                </a:solidFill>
                <a:latin typeface="Aptos"/>
              </a:rPr>
              <a:t>Evaluation: </a:t>
            </a:r>
            <a:r>
              <a:rPr sz="1500">
                <a:solidFill>
                  <a:srgbClr val="232F3E"/>
                </a:solidFill>
                <a:latin typeface="Aptos"/>
              </a:rPr>
              <a:t>Measure retrieval relevance/recall, answer correctness, groundedness, citation quality, latency and cost using representative test questions.</a:t>
            </a:r>
          </a:p>
          <a:p>
            <a:pPr>
              <a:spcAft>
                <a:spcPts val="1100"/>
              </a:spcAft>
              <a:defRPr sz="1500">
                <a:solidFill>
                  <a:srgbClr val="232F3E"/>
                </a:solidFill>
                <a:latin typeface="Aptos"/>
              </a:defRPr>
            </a:pPr>
            <a:r>
              <a:rPr sz="1500" b="1">
                <a:solidFill>
                  <a:srgbClr val="142F5C"/>
                </a:solidFill>
                <a:latin typeface="Aptos"/>
              </a:rPr>
              <a:t>Failure handling: </a:t>
            </a:r>
            <a:r>
              <a:rPr sz="1500">
                <a:solidFill>
                  <a:srgbClr val="232F3E"/>
                </a:solidFill>
                <a:latin typeface="Aptos"/>
              </a:rPr>
              <a:t>Poor chunking, stale sources, missing access controls and weak retrieval can produce unsupported answers. Include abstention behavior when evidence is insufficient.</a:t>
            </a:r>
          </a:p>
        </p:txBody>
      </p:sp>
      <p:sp>
        <p:nvSpPr>
          <p:cNvPr id="4" name="TextBox 3"/>
          <p:cNvSpPr txBox="1"/>
          <p:nvPr/>
        </p:nvSpPr>
        <p:spPr>
          <a:xfrm>
            <a:off x="502920" y="6547104"/>
            <a:ext cx="11186160" cy="182880"/>
          </a:xfrm>
          <a:prstGeom prst="rect">
            <a:avLst/>
          </a:prstGeom>
          <a:noFill/>
        </p:spPr>
        <p:txBody>
          <a:bodyPr wrap="none">
            <a:spAutoFit/>
          </a:bodyPr>
          <a:lstStyle/>
          <a:p>
            <a:pPr algn="r">
              <a:defRPr sz="800">
                <a:solidFill>
                  <a:srgbClr val="647080"/>
                </a:solidFill>
                <a:latin typeface="Aptos"/>
              </a:defRPr>
            </a:pPr>
            <a:r>
              <a:t>Supplement aligned to the uploaded Nexus AI &amp; ML Mastery Program curriculum</a:t>
            </a:r>
          </a:p>
        </p:txBody>
      </p:sp>
      <p:pic>
        <p:nvPicPr>
          <p:cNvPr id="5" name="Picture 4"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868680"/>
          </a:xfrm>
          <a:prstGeom prst="rect">
            <a:avLst/>
          </a:prstGeom>
          <a:solidFill>
            <a:srgbClr val="142F5C"/>
          </a:solidFill>
          <a:ln>
            <a:noFill/>
          </a:ln>
        </p:spPr>
        <p:style>
          <a:lnRef idx="1">
            <a:schemeClr val="accent1"/>
          </a:lnRef>
          <a:fillRef idx="3">
            <a:schemeClr val="accent1"/>
          </a:fillRef>
          <a:effectRef idx="2">
            <a:schemeClr val="accent1"/>
          </a:effectRef>
          <a:fontRef idx="minor">
            <a:schemeClr val="lt1"/>
          </a:fontRef>
        </p:style>
        <p:txBody>
          <a:bodyPr lIns="411480" tIns="109728" rIns="320040" bIns="73152" rtlCol="0" anchor="ctr"/>
          <a:lstStyle/>
          <a:p>
            <a:pPr algn="l">
              <a:defRPr sz="2500" b="1">
                <a:solidFill>
                  <a:srgbClr val="FFFFFF"/>
                </a:solidFill>
                <a:latin typeface="Aptos Display"/>
              </a:defRPr>
            </a:pPr>
            <a:r>
              <a:t>Fine-Tuning: SFT, PEFT, LoRA and QLoRA</a:t>
            </a:r>
          </a:p>
        </p:txBody>
      </p:sp>
      <p:sp>
        <p:nvSpPr>
          <p:cNvPr id="3" name="Rounded Rectangle 2"/>
          <p:cNvSpPr/>
          <p:nvPr/>
        </p:nvSpPr>
        <p:spPr>
          <a:xfrm>
            <a:off x="502920" y="1078992"/>
            <a:ext cx="11186160" cy="5440680"/>
          </a:xfrm>
          <a:prstGeom prst="roundRect">
            <a:avLst/>
          </a:prstGeom>
          <a:solidFill>
            <a:srgbClr val="FFFFFF"/>
          </a:solidFill>
          <a:ln w="13970">
            <a:solidFill>
              <a:srgbClr val="D8E0EB"/>
            </a:solidFill>
          </a:ln>
        </p:spPr>
        <p:style>
          <a:lnRef idx="1">
            <a:schemeClr val="accent1"/>
          </a:lnRef>
          <a:fillRef idx="3">
            <a:schemeClr val="accent1"/>
          </a:fillRef>
          <a:effectRef idx="2">
            <a:schemeClr val="accent1"/>
          </a:effectRef>
          <a:fontRef idx="minor">
            <a:schemeClr val="lt1"/>
          </a:fontRef>
        </p:style>
        <p:txBody>
          <a:bodyPr wrap="square" lIns="256032" tIns="164592" rIns="256032" bIns="137160" rtlCol="0" anchor="ctr"/>
          <a:lstStyle/>
          <a:p>
            <a:pPr algn="ctr">
              <a:spcAft>
                <a:spcPts val="1100"/>
              </a:spcAft>
              <a:defRPr sz="1500">
                <a:solidFill>
                  <a:srgbClr val="232F3E"/>
                </a:solidFill>
                <a:latin typeface="Aptos"/>
              </a:defRPr>
            </a:pPr>
            <a:r>
              <a:rPr sz="1500" b="1">
                <a:solidFill>
                  <a:srgbClr val="142F5C"/>
                </a:solidFill>
                <a:latin typeface="Aptos"/>
              </a:rPr>
              <a:t>When to fine-tune: </a:t>
            </a:r>
            <a:r>
              <a:rPr sz="1500">
                <a:solidFill>
                  <a:srgbClr val="232F3E"/>
                </a:solidFill>
                <a:latin typeface="Aptos"/>
              </a:rPr>
              <a:t>Fine-tuning adapts model behavior using examples. Consider it when prompting or RAG cannot reliably achieve the desired behavior, format or task performance.</a:t>
            </a:r>
          </a:p>
          <a:p>
            <a:pPr>
              <a:spcAft>
                <a:spcPts val="1100"/>
              </a:spcAft>
              <a:defRPr sz="1500">
                <a:solidFill>
                  <a:srgbClr val="232F3E"/>
                </a:solidFill>
                <a:latin typeface="Aptos"/>
              </a:defRPr>
            </a:pPr>
            <a:r>
              <a:rPr sz="1500" b="1">
                <a:solidFill>
                  <a:srgbClr val="142F5C"/>
                </a:solidFill>
                <a:latin typeface="Aptos"/>
              </a:rPr>
              <a:t>Supervised fine-tuning: </a:t>
            </a:r>
            <a:r>
              <a:rPr sz="1500">
                <a:solidFill>
                  <a:srgbClr val="232F3E"/>
                </a:solidFill>
                <a:latin typeface="Aptos"/>
              </a:rPr>
              <a:t>SFT trains on curated input/output examples. Dataset quality, diversity, correctness and separation of train/validation/test data are essential.</a:t>
            </a:r>
          </a:p>
          <a:p>
            <a:pPr>
              <a:spcAft>
                <a:spcPts val="1100"/>
              </a:spcAft>
              <a:defRPr sz="1500">
                <a:solidFill>
                  <a:srgbClr val="232F3E"/>
                </a:solidFill>
                <a:latin typeface="Aptos"/>
              </a:defRPr>
            </a:pPr>
            <a:r>
              <a:rPr sz="1500" b="1">
                <a:solidFill>
                  <a:srgbClr val="142F5C"/>
                </a:solidFill>
                <a:latin typeface="Aptos"/>
              </a:rPr>
              <a:t>PEFT and LoRA: </a:t>
            </a:r>
            <a:r>
              <a:rPr sz="1500">
                <a:solidFill>
                  <a:srgbClr val="232F3E"/>
                </a:solidFill>
                <a:latin typeface="Aptos"/>
              </a:rPr>
              <a:t>Parameter-efficient fine-tuning updates a small set of added or selected parameters. LoRA learns low-rank updates to model weights, reducing the number of trainable parameters.</a:t>
            </a:r>
          </a:p>
          <a:p>
            <a:pPr>
              <a:spcAft>
                <a:spcPts val="1100"/>
              </a:spcAft>
              <a:defRPr sz="1500">
                <a:solidFill>
                  <a:srgbClr val="232F3E"/>
                </a:solidFill>
                <a:latin typeface="Aptos"/>
              </a:defRPr>
            </a:pPr>
            <a:r>
              <a:rPr sz="1500" b="1">
                <a:solidFill>
                  <a:srgbClr val="142F5C"/>
                </a:solidFill>
                <a:latin typeface="Aptos"/>
              </a:rPr>
              <a:t>QLoRA and evaluation: </a:t>
            </a:r>
            <a:r>
              <a:rPr sz="1500">
                <a:solidFill>
                  <a:srgbClr val="232F3E"/>
                </a:solidFill>
                <a:latin typeface="Aptos"/>
              </a:rPr>
              <a:t>QLoRA combines quantized base weights with trainable low-rank adapters to reduce memory requirements. Evaluate task quality, regressions, safety and deployment constraints before release.</a:t>
            </a:r>
          </a:p>
        </p:txBody>
      </p:sp>
      <p:sp>
        <p:nvSpPr>
          <p:cNvPr id="4" name="TextBox 3"/>
          <p:cNvSpPr txBox="1"/>
          <p:nvPr/>
        </p:nvSpPr>
        <p:spPr>
          <a:xfrm>
            <a:off x="502920" y="6547104"/>
            <a:ext cx="11186160" cy="182880"/>
          </a:xfrm>
          <a:prstGeom prst="rect">
            <a:avLst/>
          </a:prstGeom>
          <a:noFill/>
        </p:spPr>
        <p:txBody>
          <a:bodyPr wrap="none">
            <a:spAutoFit/>
          </a:bodyPr>
          <a:lstStyle/>
          <a:p>
            <a:pPr algn="r">
              <a:defRPr sz="800">
                <a:solidFill>
                  <a:srgbClr val="647080"/>
                </a:solidFill>
                <a:latin typeface="Aptos"/>
              </a:defRPr>
            </a:pPr>
            <a:r>
              <a:t>Supplement aligned to the uploaded Nexus AI &amp; ML Mastery Program curriculum</a:t>
            </a:r>
          </a:p>
        </p:txBody>
      </p:sp>
      <p:pic>
        <p:nvPicPr>
          <p:cNvPr id="5" name="Picture 4"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868680"/>
          </a:xfrm>
          <a:prstGeom prst="rect">
            <a:avLst/>
          </a:prstGeom>
          <a:solidFill>
            <a:srgbClr val="142F5C"/>
          </a:solidFill>
          <a:ln>
            <a:noFill/>
          </a:ln>
        </p:spPr>
        <p:style>
          <a:lnRef idx="1">
            <a:schemeClr val="accent1"/>
          </a:lnRef>
          <a:fillRef idx="3">
            <a:schemeClr val="accent1"/>
          </a:fillRef>
          <a:effectRef idx="2">
            <a:schemeClr val="accent1"/>
          </a:effectRef>
          <a:fontRef idx="minor">
            <a:schemeClr val="lt1"/>
          </a:fontRef>
        </p:style>
        <p:txBody>
          <a:bodyPr lIns="411480" tIns="109728" rIns="320040" bIns="73152" rtlCol="0" anchor="ctr"/>
          <a:lstStyle/>
          <a:p>
            <a:pPr algn="l">
              <a:defRPr sz="2500" b="1">
                <a:solidFill>
                  <a:srgbClr val="FFFFFF"/>
                </a:solidFill>
                <a:latin typeface="Aptos Display"/>
              </a:defRPr>
            </a:pPr>
            <a:r>
              <a:t>FastAPI: Serving an ML Model</a:t>
            </a:r>
          </a:p>
        </p:txBody>
      </p:sp>
      <p:sp>
        <p:nvSpPr>
          <p:cNvPr id="3" name="Rounded Rectangle 2"/>
          <p:cNvSpPr/>
          <p:nvPr/>
        </p:nvSpPr>
        <p:spPr>
          <a:xfrm>
            <a:off x="502920" y="1078992"/>
            <a:ext cx="11186160" cy="5440680"/>
          </a:xfrm>
          <a:prstGeom prst="roundRect">
            <a:avLst/>
          </a:prstGeom>
          <a:solidFill>
            <a:srgbClr val="FFFFFF"/>
          </a:solidFill>
          <a:ln w="13970">
            <a:solidFill>
              <a:srgbClr val="D8E0EB"/>
            </a:solidFill>
          </a:ln>
        </p:spPr>
        <p:style>
          <a:lnRef idx="1">
            <a:schemeClr val="accent1"/>
          </a:lnRef>
          <a:fillRef idx="3">
            <a:schemeClr val="accent1"/>
          </a:fillRef>
          <a:effectRef idx="2">
            <a:schemeClr val="accent1"/>
          </a:effectRef>
          <a:fontRef idx="minor">
            <a:schemeClr val="lt1"/>
          </a:fontRef>
        </p:style>
        <p:txBody>
          <a:bodyPr wrap="square" lIns="256032" tIns="164592" rIns="256032" bIns="137160" rtlCol="0" anchor="ctr"/>
          <a:lstStyle/>
          <a:p>
            <a:pPr algn="ctr">
              <a:spcAft>
                <a:spcPts val="1100"/>
              </a:spcAft>
              <a:defRPr sz="1500">
                <a:solidFill>
                  <a:srgbClr val="232F3E"/>
                </a:solidFill>
                <a:latin typeface="Aptos"/>
              </a:defRPr>
            </a:pPr>
            <a:r>
              <a:rPr sz="1500" b="1">
                <a:solidFill>
                  <a:srgbClr val="142F5C"/>
                </a:solidFill>
                <a:latin typeface="Aptos"/>
              </a:rPr>
              <a:t>API role: </a:t>
            </a:r>
            <a:r>
              <a:rPr sz="1500">
                <a:solidFill>
                  <a:srgbClr val="232F3E"/>
                </a:solidFill>
                <a:latin typeface="Aptos"/>
              </a:rPr>
              <a:t>FastAPI exposes a trained model through HTTP endpoints so other systems can submit validated inputs and receive predictions.</a:t>
            </a:r>
          </a:p>
          <a:p>
            <a:pPr>
              <a:spcAft>
                <a:spcPts val="1100"/>
              </a:spcAft>
              <a:defRPr sz="1500">
                <a:solidFill>
                  <a:srgbClr val="232F3E"/>
                </a:solidFill>
                <a:latin typeface="Aptos"/>
              </a:defRPr>
            </a:pPr>
            <a:r>
              <a:rPr sz="1500" b="1">
                <a:solidFill>
                  <a:srgbClr val="142F5C"/>
                </a:solidFill>
                <a:latin typeface="Aptos"/>
              </a:rPr>
              <a:t>Request lifecycle: </a:t>
            </a:r>
            <a:r>
              <a:rPr sz="1500">
                <a:solidFill>
                  <a:srgbClr val="232F3E"/>
                </a:solidFill>
                <a:latin typeface="Aptos"/>
              </a:rPr>
              <a:t>Validate the request schema, load model artifacts efficiently, apply the exact training-time preprocessing, predict, validate the response and return a clear status.</a:t>
            </a:r>
          </a:p>
          <a:p>
            <a:pPr>
              <a:spcAft>
                <a:spcPts val="1100"/>
              </a:spcAft>
              <a:defRPr sz="1500">
                <a:solidFill>
                  <a:srgbClr val="232F3E"/>
                </a:solidFill>
                <a:latin typeface="Aptos"/>
              </a:defRPr>
            </a:pPr>
            <a:r>
              <a:rPr sz="1500" b="1">
                <a:solidFill>
                  <a:srgbClr val="142F5C"/>
                </a:solidFill>
                <a:latin typeface="Aptos"/>
              </a:rPr>
              <a:t>Engineering: </a:t>
            </a:r>
            <a:r>
              <a:rPr sz="1500">
                <a:solidFill>
                  <a:srgbClr val="232F3E"/>
                </a:solidFill>
                <a:latin typeface="Aptos"/>
              </a:rPr>
              <a:t>Define typed request/response models, health checks, useful error messages, timeouts, structured logging and versioned API contracts.</a:t>
            </a:r>
          </a:p>
          <a:p>
            <a:pPr>
              <a:spcAft>
                <a:spcPts val="1100"/>
              </a:spcAft>
              <a:defRPr sz="1500">
                <a:solidFill>
                  <a:srgbClr val="232F3E"/>
                </a:solidFill>
                <a:latin typeface="Aptos"/>
              </a:defRPr>
            </a:pPr>
            <a:r>
              <a:rPr sz="1500" b="1">
                <a:solidFill>
                  <a:srgbClr val="142F5C"/>
                </a:solidFill>
                <a:latin typeface="Aptos"/>
              </a:rPr>
              <a:t>Testing and security: </a:t>
            </a:r>
            <a:r>
              <a:rPr sz="1500">
                <a:solidFill>
                  <a:srgbClr val="232F3E"/>
                </a:solidFill>
                <a:latin typeface="Aptos"/>
              </a:rPr>
              <a:t>Test valid and invalid inputs, model loading, preprocessing parity and failure cases. Apply authentication, authorization, rate limits and safe handling of sensitive data.</a:t>
            </a:r>
          </a:p>
        </p:txBody>
      </p:sp>
      <p:sp>
        <p:nvSpPr>
          <p:cNvPr id="4" name="TextBox 3"/>
          <p:cNvSpPr txBox="1"/>
          <p:nvPr/>
        </p:nvSpPr>
        <p:spPr>
          <a:xfrm>
            <a:off x="502920" y="6547104"/>
            <a:ext cx="11186160" cy="182880"/>
          </a:xfrm>
          <a:prstGeom prst="rect">
            <a:avLst/>
          </a:prstGeom>
          <a:noFill/>
        </p:spPr>
        <p:txBody>
          <a:bodyPr wrap="none">
            <a:spAutoFit/>
          </a:bodyPr>
          <a:lstStyle/>
          <a:p>
            <a:pPr algn="r">
              <a:defRPr sz="800">
                <a:solidFill>
                  <a:srgbClr val="647080"/>
                </a:solidFill>
                <a:latin typeface="Aptos"/>
              </a:defRPr>
            </a:pPr>
            <a:r>
              <a:t>Supplement aligned to the uploaded Nexus AI &amp; ML Mastery Program curriculum</a:t>
            </a:r>
          </a:p>
        </p:txBody>
      </p:sp>
      <p:pic>
        <p:nvPicPr>
          <p:cNvPr id="5" name="Picture 4"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868680"/>
          </a:xfrm>
          <a:prstGeom prst="rect">
            <a:avLst/>
          </a:prstGeom>
          <a:solidFill>
            <a:srgbClr val="142F5C"/>
          </a:solidFill>
          <a:ln>
            <a:noFill/>
          </a:ln>
        </p:spPr>
        <p:style>
          <a:lnRef idx="1">
            <a:schemeClr val="accent1"/>
          </a:lnRef>
          <a:fillRef idx="3">
            <a:schemeClr val="accent1"/>
          </a:fillRef>
          <a:effectRef idx="2">
            <a:schemeClr val="accent1"/>
          </a:effectRef>
          <a:fontRef idx="minor">
            <a:schemeClr val="lt1"/>
          </a:fontRef>
        </p:style>
        <p:txBody>
          <a:bodyPr lIns="411480" tIns="109728" rIns="320040" bIns="73152" rtlCol="0" anchor="ctr"/>
          <a:lstStyle/>
          <a:p>
            <a:pPr algn="l">
              <a:defRPr sz="2500" b="1">
                <a:solidFill>
                  <a:srgbClr val="FFFFFF"/>
                </a:solidFill>
                <a:latin typeface="Aptos Display"/>
              </a:defRPr>
            </a:pPr>
            <a:r>
              <a:t>Databases and Data Pipelines</a:t>
            </a:r>
          </a:p>
        </p:txBody>
      </p:sp>
      <p:sp>
        <p:nvSpPr>
          <p:cNvPr id="3" name="Rounded Rectangle 2"/>
          <p:cNvSpPr/>
          <p:nvPr/>
        </p:nvSpPr>
        <p:spPr>
          <a:xfrm>
            <a:off x="502920" y="1078992"/>
            <a:ext cx="11186160" cy="5440680"/>
          </a:xfrm>
          <a:prstGeom prst="roundRect">
            <a:avLst/>
          </a:prstGeom>
          <a:solidFill>
            <a:srgbClr val="FFFFFF"/>
          </a:solidFill>
          <a:ln w="13970">
            <a:solidFill>
              <a:srgbClr val="D8E0EB"/>
            </a:solidFill>
          </a:ln>
        </p:spPr>
        <p:style>
          <a:lnRef idx="1">
            <a:schemeClr val="accent1"/>
          </a:lnRef>
          <a:fillRef idx="3">
            <a:schemeClr val="accent1"/>
          </a:fillRef>
          <a:effectRef idx="2">
            <a:schemeClr val="accent1"/>
          </a:effectRef>
          <a:fontRef idx="minor">
            <a:schemeClr val="lt1"/>
          </a:fontRef>
        </p:style>
        <p:txBody>
          <a:bodyPr wrap="square" lIns="256032" tIns="164592" rIns="256032" bIns="137160" rtlCol="0" anchor="ctr"/>
          <a:lstStyle/>
          <a:p>
            <a:pPr algn="ctr">
              <a:spcAft>
                <a:spcPts val="1100"/>
              </a:spcAft>
              <a:defRPr sz="1500">
                <a:solidFill>
                  <a:srgbClr val="232F3E"/>
                </a:solidFill>
                <a:latin typeface="Aptos"/>
              </a:defRPr>
            </a:pPr>
            <a:r>
              <a:rPr sz="1500" b="1">
                <a:solidFill>
                  <a:srgbClr val="142F5C"/>
                </a:solidFill>
                <a:latin typeface="Aptos"/>
              </a:rPr>
              <a:t>Data role: </a:t>
            </a:r>
            <a:r>
              <a:rPr sz="1500">
                <a:solidFill>
                  <a:srgbClr val="232F3E"/>
                </a:solidFill>
                <a:latin typeface="Aptos"/>
              </a:rPr>
              <a:t>Production AI applications may use relational databases for structured records, object storage for files/artifacts, and vector databases for semantic retrieval.</a:t>
            </a:r>
          </a:p>
          <a:p>
            <a:pPr>
              <a:spcAft>
                <a:spcPts val="1100"/>
              </a:spcAft>
              <a:defRPr sz="1500">
                <a:solidFill>
                  <a:srgbClr val="232F3E"/>
                </a:solidFill>
                <a:latin typeface="Aptos"/>
              </a:defRPr>
            </a:pPr>
            <a:r>
              <a:rPr sz="1500" b="1">
                <a:solidFill>
                  <a:srgbClr val="142F5C"/>
                </a:solidFill>
                <a:latin typeface="Aptos"/>
              </a:rPr>
              <a:t>Data pipeline: </a:t>
            </a:r>
            <a:r>
              <a:rPr sz="1500">
                <a:solidFill>
                  <a:srgbClr val="232F3E"/>
                </a:solidFill>
                <a:latin typeface="Aptos"/>
              </a:rPr>
              <a:t>A pipeline ingests data, validates schema and quality, transforms features, persists outputs and records lineage so results can be reproduced.</a:t>
            </a:r>
          </a:p>
          <a:p>
            <a:pPr>
              <a:spcAft>
                <a:spcPts val="1100"/>
              </a:spcAft>
              <a:defRPr sz="1500">
                <a:solidFill>
                  <a:srgbClr val="232F3E"/>
                </a:solidFill>
                <a:latin typeface="Aptos"/>
              </a:defRPr>
            </a:pPr>
            <a:r>
              <a:rPr sz="1500" b="1">
                <a:solidFill>
                  <a:srgbClr val="142F5C"/>
                </a:solidFill>
                <a:latin typeface="Aptos"/>
              </a:rPr>
              <a:t>Reliability: </a:t>
            </a:r>
            <a:r>
              <a:rPr sz="1500">
                <a:solidFill>
                  <a:srgbClr val="232F3E"/>
                </a:solidFill>
                <a:latin typeface="Aptos"/>
              </a:rPr>
              <a:t>Make pipeline stages idempotent where possible, handle retries and partial failures, track data freshness and alert on schema or volume changes.</a:t>
            </a:r>
          </a:p>
          <a:p>
            <a:pPr>
              <a:spcAft>
                <a:spcPts val="1100"/>
              </a:spcAft>
              <a:defRPr sz="1500">
                <a:solidFill>
                  <a:srgbClr val="232F3E"/>
                </a:solidFill>
                <a:latin typeface="Aptos"/>
              </a:defRPr>
            </a:pPr>
            <a:r>
              <a:rPr sz="1500" b="1">
                <a:solidFill>
                  <a:srgbClr val="142F5C"/>
                </a:solidFill>
                <a:latin typeface="Aptos"/>
              </a:rPr>
              <a:t>Governance: </a:t>
            </a:r>
            <a:r>
              <a:rPr sz="1500">
                <a:solidFill>
                  <a:srgbClr val="232F3E"/>
                </a:solidFill>
                <a:latin typeface="Aptos"/>
              </a:rPr>
              <a:t>Apply least-privilege access, encryption, retention rules and appropriate masking for personal or confidential information.</a:t>
            </a:r>
          </a:p>
        </p:txBody>
      </p:sp>
      <p:sp>
        <p:nvSpPr>
          <p:cNvPr id="4" name="TextBox 3"/>
          <p:cNvSpPr txBox="1"/>
          <p:nvPr/>
        </p:nvSpPr>
        <p:spPr>
          <a:xfrm>
            <a:off x="502920" y="6547104"/>
            <a:ext cx="11186160" cy="182880"/>
          </a:xfrm>
          <a:prstGeom prst="rect">
            <a:avLst/>
          </a:prstGeom>
          <a:noFill/>
        </p:spPr>
        <p:txBody>
          <a:bodyPr wrap="none">
            <a:spAutoFit/>
          </a:bodyPr>
          <a:lstStyle/>
          <a:p>
            <a:pPr algn="r">
              <a:defRPr sz="800">
                <a:solidFill>
                  <a:srgbClr val="647080"/>
                </a:solidFill>
                <a:latin typeface="Aptos"/>
              </a:defRPr>
            </a:pPr>
            <a:r>
              <a:t>Supplement aligned to the uploaded Nexus AI &amp; ML Mastery Program curriculum</a:t>
            </a:r>
          </a:p>
        </p:txBody>
      </p:sp>
      <p:pic>
        <p:nvPicPr>
          <p:cNvPr id="5" name="Picture 4"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868680"/>
          </a:xfrm>
          <a:prstGeom prst="rect">
            <a:avLst/>
          </a:prstGeom>
          <a:solidFill>
            <a:srgbClr val="142F5C"/>
          </a:solidFill>
          <a:ln>
            <a:noFill/>
          </a:ln>
        </p:spPr>
        <p:style>
          <a:lnRef idx="1">
            <a:schemeClr val="accent1"/>
          </a:lnRef>
          <a:fillRef idx="3">
            <a:schemeClr val="accent1"/>
          </a:fillRef>
          <a:effectRef idx="2">
            <a:schemeClr val="accent1"/>
          </a:effectRef>
          <a:fontRef idx="minor">
            <a:schemeClr val="lt1"/>
          </a:fontRef>
        </p:style>
        <p:txBody>
          <a:bodyPr lIns="411480" tIns="109728" rIns="320040" bIns="73152" rtlCol="0" anchor="ctr"/>
          <a:lstStyle/>
          <a:p>
            <a:pPr algn="l">
              <a:defRPr sz="2500" b="1">
                <a:solidFill>
                  <a:srgbClr val="FFFFFF"/>
                </a:solidFill>
                <a:latin typeface="Aptos Display"/>
              </a:defRPr>
            </a:pPr>
            <a:r>
              <a:t>Cloud Deployment and CI/CD</a:t>
            </a:r>
          </a:p>
        </p:txBody>
      </p:sp>
      <p:sp>
        <p:nvSpPr>
          <p:cNvPr id="3" name="Rounded Rectangle 2"/>
          <p:cNvSpPr/>
          <p:nvPr/>
        </p:nvSpPr>
        <p:spPr>
          <a:xfrm>
            <a:off x="502920" y="1078992"/>
            <a:ext cx="11186160" cy="5440680"/>
          </a:xfrm>
          <a:prstGeom prst="roundRect">
            <a:avLst/>
          </a:prstGeom>
          <a:solidFill>
            <a:srgbClr val="FFFFFF"/>
          </a:solidFill>
          <a:ln w="13970">
            <a:solidFill>
              <a:srgbClr val="D8E0EB"/>
            </a:solidFill>
          </a:ln>
        </p:spPr>
        <p:style>
          <a:lnRef idx="1">
            <a:schemeClr val="accent1"/>
          </a:lnRef>
          <a:fillRef idx="3">
            <a:schemeClr val="accent1"/>
          </a:fillRef>
          <a:effectRef idx="2">
            <a:schemeClr val="accent1"/>
          </a:effectRef>
          <a:fontRef idx="minor">
            <a:schemeClr val="lt1"/>
          </a:fontRef>
        </p:style>
        <p:txBody>
          <a:bodyPr wrap="square" lIns="256032" tIns="164592" rIns="256032" bIns="137160" rtlCol="0" anchor="ctr"/>
          <a:lstStyle/>
          <a:p>
            <a:pPr algn="ctr">
              <a:spcAft>
                <a:spcPts val="1100"/>
              </a:spcAft>
              <a:defRPr sz="1500">
                <a:solidFill>
                  <a:srgbClr val="232F3E"/>
                </a:solidFill>
                <a:latin typeface="Aptos"/>
              </a:defRPr>
            </a:pPr>
            <a:r>
              <a:rPr sz="1500" b="1">
                <a:solidFill>
                  <a:srgbClr val="142F5C"/>
                </a:solidFill>
                <a:latin typeface="Aptos"/>
              </a:rPr>
              <a:t>Cloud: </a:t>
            </a:r>
            <a:r>
              <a:rPr sz="1500">
                <a:solidFill>
                  <a:srgbClr val="232F3E"/>
                </a:solidFill>
                <a:latin typeface="Aptos"/>
              </a:rPr>
              <a:t>Cloud platforms provide compute, storage, networking, identity and managed services. Select services based on workload, security, reliability, latency and budget.</a:t>
            </a:r>
          </a:p>
          <a:p>
            <a:pPr>
              <a:spcAft>
                <a:spcPts val="1100"/>
              </a:spcAft>
              <a:defRPr sz="1500">
                <a:solidFill>
                  <a:srgbClr val="232F3E"/>
                </a:solidFill>
                <a:latin typeface="Aptos"/>
              </a:defRPr>
            </a:pPr>
            <a:r>
              <a:rPr sz="1500" b="1">
                <a:solidFill>
                  <a:srgbClr val="142F5C"/>
                </a:solidFill>
                <a:latin typeface="Aptos"/>
              </a:rPr>
              <a:t>Containerization: </a:t>
            </a:r>
            <a:r>
              <a:rPr sz="1500">
                <a:solidFill>
                  <a:srgbClr val="232F3E"/>
                </a:solidFill>
                <a:latin typeface="Aptos"/>
              </a:rPr>
              <a:t>Docker packages the application and dependencies into an image, reducing environment drift between development, test and production.</a:t>
            </a:r>
          </a:p>
          <a:p>
            <a:pPr>
              <a:spcAft>
                <a:spcPts val="1100"/>
              </a:spcAft>
              <a:defRPr sz="1500">
                <a:solidFill>
                  <a:srgbClr val="232F3E"/>
                </a:solidFill>
                <a:latin typeface="Aptos"/>
              </a:defRPr>
            </a:pPr>
            <a:r>
              <a:rPr sz="1500" b="1">
                <a:solidFill>
                  <a:srgbClr val="142F5C"/>
                </a:solidFill>
                <a:latin typeface="Aptos"/>
              </a:rPr>
              <a:t>CI/CD: </a:t>
            </a:r>
            <a:r>
              <a:rPr sz="1500">
                <a:solidFill>
                  <a:srgbClr val="232F3E"/>
                </a:solidFill>
                <a:latin typeface="Aptos"/>
              </a:rPr>
              <a:t>Automated pipelines run linting, unit/integration tests, security checks, build and deploy steps. Promote only validated artifacts and keep rollback options.</a:t>
            </a:r>
          </a:p>
          <a:p>
            <a:pPr>
              <a:spcAft>
                <a:spcPts val="1100"/>
              </a:spcAft>
              <a:defRPr sz="1500">
                <a:solidFill>
                  <a:srgbClr val="232F3E"/>
                </a:solidFill>
                <a:latin typeface="Aptos"/>
              </a:defRPr>
            </a:pPr>
            <a:r>
              <a:rPr sz="1500" b="1">
                <a:solidFill>
                  <a:srgbClr val="142F5C"/>
                </a:solidFill>
                <a:latin typeface="Aptos"/>
              </a:rPr>
              <a:t>Deployment strategy: </a:t>
            </a:r>
            <a:r>
              <a:rPr sz="1500">
                <a:solidFill>
                  <a:srgbClr val="232F3E"/>
                </a:solidFill>
                <a:latin typeface="Aptos"/>
              </a:rPr>
              <a:t>Choose batch or online inference according to freshness and latency needs. Use staged releases, health checks, canary or shadow evaluation where suitable.</a:t>
            </a:r>
          </a:p>
        </p:txBody>
      </p:sp>
      <p:sp>
        <p:nvSpPr>
          <p:cNvPr id="4" name="TextBox 3"/>
          <p:cNvSpPr txBox="1"/>
          <p:nvPr/>
        </p:nvSpPr>
        <p:spPr>
          <a:xfrm>
            <a:off x="502920" y="6547104"/>
            <a:ext cx="11186160" cy="182880"/>
          </a:xfrm>
          <a:prstGeom prst="rect">
            <a:avLst/>
          </a:prstGeom>
          <a:noFill/>
        </p:spPr>
        <p:txBody>
          <a:bodyPr wrap="none">
            <a:spAutoFit/>
          </a:bodyPr>
          <a:lstStyle/>
          <a:p>
            <a:pPr algn="r">
              <a:defRPr sz="800">
                <a:solidFill>
                  <a:srgbClr val="647080"/>
                </a:solidFill>
                <a:latin typeface="Aptos"/>
              </a:defRPr>
            </a:pPr>
            <a:r>
              <a:t>Supplement aligned to the uploaded Nexus AI &amp; ML Mastery Program curriculum</a:t>
            </a:r>
          </a:p>
        </p:txBody>
      </p:sp>
      <p:pic>
        <p:nvPicPr>
          <p:cNvPr id="5" name="Picture 4"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868680"/>
          </a:xfrm>
          <a:prstGeom prst="rect">
            <a:avLst/>
          </a:prstGeom>
          <a:solidFill>
            <a:srgbClr val="142F5C"/>
          </a:solidFill>
          <a:ln>
            <a:noFill/>
          </a:ln>
        </p:spPr>
        <p:style>
          <a:lnRef idx="1">
            <a:schemeClr val="accent1"/>
          </a:lnRef>
          <a:fillRef idx="3">
            <a:schemeClr val="accent1"/>
          </a:fillRef>
          <a:effectRef idx="2">
            <a:schemeClr val="accent1"/>
          </a:effectRef>
          <a:fontRef idx="minor">
            <a:schemeClr val="lt1"/>
          </a:fontRef>
        </p:style>
        <p:txBody>
          <a:bodyPr lIns="411480" tIns="109728" rIns="320040" bIns="73152" rtlCol="0" anchor="ctr"/>
          <a:lstStyle/>
          <a:p>
            <a:pPr algn="l">
              <a:defRPr sz="2100" b="1">
                <a:solidFill>
                  <a:srgbClr val="FFFFFF"/>
                </a:solidFill>
                <a:latin typeface="Aptos Display"/>
              </a:defRPr>
            </a:pPr>
            <a:r>
              <a:t>Production Monitoring: Latency, Drift and Alerts</a:t>
            </a:r>
          </a:p>
        </p:txBody>
      </p:sp>
      <p:sp>
        <p:nvSpPr>
          <p:cNvPr id="3" name="Rounded Rectangle 2"/>
          <p:cNvSpPr/>
          <p:nvPr/>
        </p:nvSpPr>
        <p:spPr>
          <a:xfrm>
            <a:off x="502920" y="1078992"/>
            <a:ext cx="11186160" cy="5440680"/>
          </a:xfrm>
          <a:prstGeom prst="roundRect">
            <a:avLst/>
          </a:prstGeom>
          <a:solidFill>
            <a:srgbClr val="FFFFFF"/>
          </a:solidFill>
          <a:ln w="13970">
            <a:solidFill>
              <a:srgbClr val="D8E0EB"/>
            </a:solidFill>
          </a:ln>
        </p:spPr>
        <p:style>
          <a:lnRef idx="1">
            <a:schemeClr val="accent1"/>
          </a:lnRef>
          <a:fillRef idx="3">
            <a:schemeClr val="accent1"/>
          </a:fillRef>
          <a:effectRef idx="2">
            <a:schemeClr val="accent1"/>
          </a:effectRef>
          <a:fontRef idx="minor">
            <a:schemeClr val="lt1"/>
          </a:fontRef>
        </p:style>
        <p:txBody>
          <a:bodyPr wrap="square" lIns="256032" tIns="164592" rIns="256032" bIns="137160" rtlCol="0" anchor="ctr"/>
          <a:lstStyle/>
          <a:p>
            <a:pPr algn="ctr">
              <a:spcAft>
                <a:spcPts val="1100"/>
              </a:spcAft>
              <a:defRPr sz="1500">
                <a:solidFill>
                  <a:srgbClr val="232F3E"/>
                </a:solidFill>
                <a:latin typeface="Aptos"/>
              </a:defRPr>
            </a:pPr>
            <a:r>
              <a:rPr sz="1500" b="1">
                <a:solidFill>
                  <a:srgbClr val="142F5C"/>
                </a:solidFill>
                <a:latin typeface="Aptos"/>
              </a:rPr>
              <a:t>Service monitoring: </a:t>
            </a:r>
            <a:r>
              <a:rPr sz="1500">
                <a:solidFill>
                  <a:srgbClr val="232F3E"/>
                </a:solidFill>
                <a:latin typeface="Aptos"/>
              </a:rPr>
              <a:t>Track request volume, error rate, p50/p95/p99 latency, resource utilization, availability and dependency failures.</a:t>
            </a:r>
          </a:p>
          <a:p>
            <a:pPr>
              <a:spcAft>
                <a:spcPts val="1100"/>
              </a:spcAft>
              <a:defRPr sz="1500">
                <a:solidFill>
                  <a:srgbClr val="232F3E"/>
                </a:solidFill>
                <a:latin typeface="Aptos"/>
              </a:defRPr>
            </a:pPr>
            <a:r>
              <a:rPr sz="1500" b="1">
                <a:solidFill>
                  <a:srgbClr val="142F5C"/>
                </a:solidFill>
                <a:latin typeface="Aptos"/>
              </a:rPr>
              <a:t>Data and model drift: </a:t>
            </a:r>
            <a:r>
              <a:rPr sz="1500">
                <a:solidFill>
                  <a:srgbClr val="232F3E"/>
                </a:solidFill>
                <a:latin typeface="Aptos"/>
              </a:rPr>
              <a:t>Data drift means input distributions change; concept drift means the relationship between inputs and outcomes changes. Drift signals investigation, not automatic proof that a model is failing.</a:t>
            </a:r>
          </a:p>
          <a:p>
            <a:pPr>
              <a:spcAft>
                <a:spcPts val="1100"/>
              </a:spcAft>
              <a:defRPr sz="1500">
                <a:solidFill>
                  <a:srgbClr val="232F3E"/>
                </a:solidFill>
                <a:latin typeface="Aptos"/>
              </a:defRPr>
            </a:pPr>
            <a:r>
              <a:rPr sz="1500" b="1">
                <a:solidFill>
                  <a:srgbClr val="142F5C"/>
                </a:solidFill>
                <a:latin typeface="Aptos"/>
              </a:rPr>
              <a:t>Quality monitoring: </a:t>
            </a:r>
            <a:r>
              <a:rPr sz="1500">
                <a:solidFill>
                  <a:srgbClr val="232F3E"/>
                </a:solidFill>
                <a:latin typeface="Aptos"/>
              </a:rPr>
              <a:t>Where labels arrive later, compare predictions with outcomes, monitor model metrics and review representative errors. For LLM/RAG, monitor retrieval quality, groundedness and user feedback.</a:t>
            </a:r>
          </a:p>
          <a:p>
            <a:pPr>
              <a:spcAft>
                <a:spcPts val="1100"/>
              </a:spcAft>
              <a:defRPr sz="1500">
                <a:solidFill>
                  <a:srgbClr val="232F3E"/>
                </a:solidFill>
                <a:latin typeface="Aptos"/>
              </a:defRPr>
            </a:pPr>
            <a:r>
              <a:rPr sz="1500" b="1">
                <a:solidFill>
                  <a:srgbClr val="142F5C"/>
                </a:solidFill>
                <a:latin typeface="Aptos"/>
              </a:rPr>
              <a:t>Alerts and response: </a:t>
            </a:r>
            <a:r>
              <a:rPr sz="1500">
                <a:solidFill>
                  <a:srgbClr val="232F3E"/>
                </a:solidFill>
                <a:latin typeface="Aptos"/>
              </a:rPr>
              <a:t>Define thresholds, ownership, runbooks and escalation paths. Record model/data versions and support rollback or retraining only after evidence-based review.</a:t>
            </a:r>
          </a:p>
        </p:txBody>
      </p:sp>
      <p:sp>
        <p:nvSpPr>
          <p:cNvPr id="4" name="TextBox 3"/>
          <p:cNvSpPr txBox="1"/>
          <p:nvPr/>
        </p:nvSpPr>
        <p:spPr>
          <a:xfrm>
            <a:off x="502920" y="6547104"/>
            <a:ext cx="11186160" cy="182880"/>
          </a:xfrm>
          <a:prstGeom prst="rect">
            <a:avLst/>
          </a:prstGeom>
          <a:noFill/>
        </p:spPr>
        <p:txBody>
          <a:bodyPr wrap="none">
            <a:spAutoFit/>
          </a:bodyPr>
          <a:lstStyle/>
          <a:p>
            <a:pPr algn="r">
              <a:defRPr sz="800">
                <a:solidFill>
                  <a:srgbClr val="647080"/>
                </a:solidFill>
                <a:latin typeface="Aptos"/>
              </a:defRPr>
            </a:pPr>
            <a:r>
              <a:t>Supplement aligned to the uploaded Nexus AI &amp; ML Mastery Program curriculum</a:t>
            </a:r>
          </a:p>
        </p:txBody>
      </p:sp>
      <p:pic>
        <p:nvPicPr>
          <p:cNvPr id="5" name="Picture 4"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868680"/>
          </a:xfrm>
          <a:prstGeom prst="rect">
            <a:avLst/>
          </a:prstGeom>
          <a:solidFill>
            <a:srgbClr val="142F5C"/>
          </a:solidFill>
          <a:ln>
            <a:noFill/>
          </a:ln>
        </p:spPr>
        <p:style>
          <a:lnRef idx="1">
            <a:schemeClr val="accent1"/>
          </a:lnRef>
          <a:fillRef idx="3">
            <a:schemeClr val="accent1"/>
          </a:fillRef>
          <a:effectRef idx="2">
            <a:schemeClr val="accent1"/>
          </a:effectRef>
          <a:fontRef idx="minor">
            <a:schemeClr val="lt1"/>
          </a:fontRef>
        </p:style>
        <p:txBody>
          <a:bodyPr lIns="411480" tIns="109728" rIns="320040" bIns="73152" rtlCol="0" anchor="ctr"/>
          <a:lstStyle/>
          <a:p>
            <a:pPr algn="l">
              <a:defRPr sz="2500" b="1">
                <a:solidFill>
                  <a:srgbClr val="FFFFFF"/>
                </a:solidFill>
                <a:latin typeface="Aptos Display"/>
              </a:defRPr>
            </a:pPr>
            <a:r>
              <a:t>AI Security, Privacy and Guardrails</a:t>
            </a:r>
          </a:p>
        </p:txBody>
      </p:sp>
      <p:sp>
        <p:nvSpPr>
          <p:cNvPr id="3" name="Rounded Rectangle 2"/>
          <p:cNvSpPr/>
          <p:nvPr/>
        </p:nvSpPr>
        <p:spPr>
          <a:xfrm>
            <a:off x="502920" y="1078992"/>
            <a:ext cx="11186160" cy="5440680"/>
          </a:xfrm>
          <a:prstGeom prst="roundRect">
            <a:avLst/>
          </a:prstGeom>
          <a:solidFill>
            <a:srgbClr val="FFFFFF"/>
          </a:solidFill>
          <a:ln w="13970">
            <a:solidFill>
              <a:srgbClr val="D8E0EB"/>
            </a:solidFill>
          </a:ln>
        </p:spPr>
        <p:style>
          <a:lnRef idx="1">
            <a:schemeClr val="accent1"/>
          </a:lnRef>
          <a:fillRef idx="3">
            <a:schemeClr val="accent1"/>
          </a:fillRef>
          <a:effectRef idx="2">
            <a:schemeClr val="accent1"/>
          </a:effectRef>
          <a:fontRef idx="minor">
            <a:schemeClr val="lt1"/>
          </a:fontRef>
        </p:style>
        <p:txBody>
          <a:bodyPr wrap="square" lIns="256032" tIns="164592" rIns="256032" bIns="137160" rtlCol="0" anchor="ctr"/>
          <a:lstStyle/>
          <a:p>
            <a:pPr algn="ctr">
              <a:spcAft>
                <a:spcPts val="1100"/>
              </a:spcAft>
              <a:defRPr sz="1500">
                <a:solidFill>
                  <a:srgbClr val="232F3E"/>
                </a:solidFill>
                <a:latin typeface="Aptos"/>
              </a:defRPr>
            </a:pPr>
            <a:r>
              <a:rPr sz="1500" b="1">
                <a:solidFill>
                  <a:srgbClr val="142F5C"/>
                </a:solidFill>
                <a:latin typeface="Aptos"/>
              </a:rPr>
              <a:t>Secrets and access: </a:t>
            </a:r>
            <a:r>
              <a:rPr sz="1500">
                <a:solidFill>
                  <a:srgbClr val="232F3E"/>
                </a:solidFill>
                <a:latin typeface="Aptos"/>
              </a:rPr>
              <a:t>Store credentials in a secret manager or protected environment configuration, never in source code or container images. Apply least privilege and rotate credentials.</a:t>
            </a:r>
          </a:p>
          <a:p>
            <a:pPr>
              <a:spcAft>
                <a:spcPts val="1100"/>
              </a:spcAft>
              <a:defRPr sz="1500">
                <a:solidFill>
                  <a:srgbClr val="232F3E"/>
                </a:solidFill>
                <a:latin typeface="Aptos"/>
              </a:defRPr>
            </a:pPr>
            <a:r>
              <a:rPr sz="1500" b="1">
                <a:solidFill>
                  <a:srgbClr val="142F5C"/>
                </a:solidFill>
                <a:latin typeface="Aptos"/>
              </a:rPr>
              <a:t>Privacy: </a:t>
            </a:r>
            <a:r>
              <a:rPr sz="1500">
                <a:solidFill>
                  <a:srgbClr val="232F3E"/>
                </a:solidFill>
                <a:latin typeface="Aptos"/>
              </a:rPr>
              <a:t>Minimize personal data, restrict access, set retention rules and redact sensitive information from logs where appropriate.</a:t>
            </a:r>
          </a:p>
          <a:p>
            <a:pPr>
              <a:spcAft>
                <a:spcPts val="1100"/>
              </a:spcAft>
              <a:defRPr sz="1500">
                <a:solidFill>
                  <a:srgbClr val="232F3E"/>
                </a:solidFill>
                <a:latin typeface="Aptos"/>
              </a:defRPr>
            </a:pPr>
            <a:r>
              <a:rPr sz="1500" b="1">
                <a:solidFill>
                  <a:srgbClr val="142F5C"/>
                </a:solidFill>
                <a:latin typeface="Aptos"/>
              </a:rPr>
              <a:t>AI safety: </a:t>
            </a:r>
            <a:r>
              <a:rPr sz="1500">
                <a:solidFill>
                  <a:srgbClr val="232F3E"/>
                </a:solidFill>
                <a:latin typeface="Aptos"/>
              </a:rPr>
              <a:t>Use input/output validation, policy checks, grounding, safe tool permissions and human approval for consequential actions. Treat retrieved documents and user inputs as untrusted data.</a:t>
            </a:r>
          </a:p>
          <a:p>
            <a:pPr>
              <a:spcAft>
                <a:spcPts val="1100"/>
              </a:spcAft>
              <a:defRPr sz="1500">
                <a:solidFill>
                  <a:srgbClr val="232F3E"/>
                </a:solidFill>
                <a:latin typeface="Aptos"/>
              </a:defRPr>
            </a:pPr>
            <a:r>
              <a:rPr sz="1500" b="1">
                <a:solidFill>
                  <a:srgbClr val="142F5C"/>
                </a:solidFill>
                <a:latin typeface="Aptos"/>
              </a:rPr>
              <a:t>Fairness and governance: </a:t>
            </a:r>
            <a:r>
              <a:rPr sz="1500">
                <a:solidFill>
                  <a:srgbClr val="232F3E"/>
                </a:solidFill>
                <a:latin typeface="Aptos"/>
              </a:rPr>
              <a:t>Evaluate errors across relevant groups, document limitations and intended use, maintain audit trails and provide a process for reporting and correcting failures.</a:t>
            </a:r>
          </a:p>
        </p:txBody>
      </p:sp>
      <p:sp>
        <p:nvSpPr>
          <p:cNvPr id="4" name="TextBox 3"/>
          <p:cNvSpPr txBox="1"/>
          <p:nvPr/>
        </p:nvSpPr>
        <p:spPr>
          <a:xfrm>
            <a:off x="502920" y="6547104"/>
            <a:ext cx="11186160" cy="182880"/>
          </a:xfrm>
          <a:prstGeom prst="rect">
            <a:avLst/>
          </a:prstGeom>
          <a:noFill/>
        </p:spPr>
        <p:txBody>
          <a:bodyPr wrap="none">
            <a:spAutoFit/>
          </a:bodyPr>
          <a:lstStyle/>
          <a:p>
            <a:pPr algn="r">
              <a:defRPr sz="800">
                <a:solidFill>
                  <a:srgbClr val="647080"/>
                </a:solidFill>
                <a:latin typeface="Aptos"/>
              </a:defRPr>
            </a:pPr>
            <a:r>
              <a:t>Supplement aligned to the uploaded Nexus AI &amp; ML Mastery Program curriculum</a:t>
            </a:r>
          </a:p>
        </p:txBody>
      </p:sp>
      <p:pic>
        <p:nvPicPr>
          <p:cNvPr id="5" name="Picture 4"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868680"/>
          </a:xfrm>
          <a:prstGeom prst="rect">
            <a:avLst/>
          </a:prstGeom>
          <a:solidFill>
            <a:srgbClr val="142F5C"/>
          </a:solidFill>
          <a:ln>
            <a:noFill/>
          </a:ln>
        </p:spPr>
        <p:style>
          <a:lnRef idx="1">
            <a:schemeClr val="accent1"/>
          </a:lnRef>
          <a:fillRef idx="3">
            <a:schemeClr val="accent1"/>
          </a:fillRef>
          <a:effectRef idx="2">
            <a:schemeClr val="accent1"/>
          </a:effectRef>
          <a:fontRef idx="minor">
            <a:schemeClr val="lt1"/>
          </a:fontRef>
        </p:style>
        <p:txBody>
          <a:bodyPr lIns="411480" tIns="109728" rIns="320040" bIns="73152" rtlCol="0" anchor="ctr"/>
          <a:lstStyle/>
          <a:p>
            <a:pPr algn="l">
              <a:defRPr sz="2500" b="1">
                <a:solidFill>
                  <a:srgbClr val="FFFFFF"/>
                </a:solidFill>
                <a:latin typeface="Aptos Display"/>
              </a:defRPr>
            </a:pPr>
            <a:r>
              <a:t>Project 1: EDA and Data Quality</a:t>
            </a:r>
          </a:p>
        </p:txBody>
      </p:sp>
      <p:sp>
        <p:nvSpPr>
          <p:cNvPr id="3" name="Rounded Rectangle 2"/>
          <p:cNvSpPr/>
          <p:nvPr/>
        </p:nvSpPr>
        <p:spPr>
          <a:xfrm>
            <a:off x="502920" y="1078992"/>
            <a:ext cx="11186160" cy="5440680"/>
          </a:xfrm>
          <a:prstGeom prst="roundRect">
            <a:avLst/>
          </a:prstGeom>
          <a:solidFill>
            <a:srgbClr val="FFFFFF"/>
          </a:solidFill>
          <a:ln w="13970">
            <a:solidFill>
              <a:srgbClr val="D8E0EB"/>
            </a:solidFill>
          </a:ln>
        </p:spPr>
        <p:style>
          <a:lnRef idx="1">
            <a:schemeClr val="accent1"/>
          </a:lnRef>
          <a:fillRef idx="3">
            <a:schemeClr val="accent1"/>
          </a:fillRef>
          <a:effectRef idx="2">
            <a:schemeClr val="accent1"/>
          </a:effectRef>
          <a:fontRef idx="minor">
            <a:schemeClr val="lt1"/>
          </a:fontRef>
        </p:style>
        <p:txBody>
          <a:bodyPr wrap="square" lIns="256032" tIns="164592" rIns="256032" bIns="137160" rtlCol="0" anchor="ctr"/>
          <a:lstStyle/>
          <a:p>
            <a:pPr algn="ctr">
              <a:spcAft>
                <a:spcPts val="1100"/>
              </a:spcAft>
              <a:defRPr sz="1500">
                <a:solidFill>
                  <a:srgbClr val="232F3E"/>
                </a:solidFill>
                <a:latin typeface="Aptos"/>
              </a:defRPr>
            </a:pPr>
            <a:r>
              <a:rPr sz="1500" b="1">
                <a:solidFill>
                  <a:srgbClr val="142F5C"/>
                </a:solidFill>
                <a:latin typeface="Aptos"/>
              </a:rPr>
              <a:t>Objective: </a:t>
            </a:r>
            <a:r>
              <a:rPr sz="1500">
                <a:solidFill>
                  <a:srgbClr val="232F3E"/>
                </a:solidFill>
                <a:latin typeface="Aptos"/>
              </a:rPr>
              <a:t>Deliver a reusable notebook that explains the dataset, identifies quality issues and communicates patterns relevant to a business question.</a:t>
            </a:r>
          </a:p>
          <a:p>
            <a:pPr>
              <a:spcAft>
                <a:spcPts val="1100"/>
              </a:spcAft>
              <a:defRPr sz="1500">
                <a:solidFill>
                  <a:srgbClr val="232F3E"/>
                </a:solidFill>
                <a:latin typeface="Aptos"/>
              </a:defRPr>
            </a:pPr>
            <a:r>
              <a:rPr sz="1500" b="1">
                <a:solidFill>
                  <a:srgbClr val="142F5C"/>
                </a:solidFill>
                <a:latin typeface="Aptos"/>
              </a:rPr>
              <a:t>Steps: </a:t>
            </a:r>
            <a:r>
              <a:rPr sz="1500">
                <a:solidFill>
                  <a:srgbClr val="232F3E"/>
                </a:solidFill>
                <a:latin typeface="Aptos"/>
              </a:rPr>
              <a:t>Define the question; inspect schema and types; profile missingness and duplicates; check outliers and inconsistent categories; clean data; visualize distributions and relationships.</a:t>
            </a:r>
          </a:p>
          <a:p>
            <a:pPr>
              <a:spcAft>
                <a:spcPts val="1100"/>
              </a:spcAft>
              <a:defRPr sz="1500">
                <a:solidFill>
                  <a:srgbClr val="232F3E"/>
                </a:solidFill>
                <a:latin typeface="Aptos"/>
              </a:defRPr>
            </a:pPr>
            <a:r>
              <a:rPr sz="1500" b="1">
                <a:solidFill>
                  <a:srgbClr val="142F5C"/>
                </a:solidFill>
                <a:latin typeface="Aptos"/>
              </a:rPr>
              <a:t>Deliverables: </a:t>
            </a:r>
            <a:r>
              <a:rPr sz="1500">
                <a:solidFill>
                  <a:srgbClr val="232F3E"/>
                </a:solidFill>
                <a:latin typeface="Aptos"/>
              </a:rPr>
              <a:t>Notebook, data dictionary, documented cleaning decisions, key charts, findings and limitations.</a:t>
            </a:r>
          </a:p>
          <a:p>
            <a:pPr>
              <a:spcAft>
                <a:spcPts val="1100"/>
              </a:spcAft>
              <a:defRPr sz="1500">
                <a:solidFill>
                  <a:srgbClr val="232F3E"/>
                </a:solidFill>
                <a:latin typeface="Aptos"/>
              </a:defRPr>
            </a:pPr>
            <a:r>
              <a:rPr sz="1500" b="1">
                <a:solidFill>
                  <a:srgbClr val="142F5C"/>
                </a:solidFill>
                <a:latin typeface="Aptos"/>
              </a:rPr>
              <a:t>Quality gate: </a:t>
            </a:r>
            <a:r>
              <a:rPr sz="1500">
                <a:solidFill>
                  <a:srgbClr val="232F3E"/>
                </a:solidFill>
                <a:latin typeface="Aptos"/>
              </a:rPr>
              <a:t>Keep raw data unchanged, make transformations reproducible, and check that conclusions are not caused by leakage or biased sampling.</a:t>
            </a:r>
          </a:p>
        </p:txBody>
      </p:sp>
      <p:sp>
        <p:nvSpPr>
          <p:cNvPr id="4" name="TextBox 3"/>
          <p:cNvSpPr txBox="1"/>
          <p:nvPr/>
        </p:nvSpPr>
        <p:spPr>
          <a:xfrm>
            <a:off x="502920" y="6547104"/>
            <a:ext cx="11186160" cy="182880"/>
          </a:xfrm>
          <a:prstGeom prst="rect">
            <a:avLst/>
          </a:prstGeom>
          <a:noFill/>
        </p:spPr>
        <p:txBody>
          <a:bodyPr wrap="none">
            <a:spAutoFit/>
          </a:bodyPr>
          <a:lstStyle/>
          <a:p>
            <a:pPr algn="r">
              <a:defRPr sz="800">
                <a:solidFill>
                  <a:srgbClr val="647080"/>
                </a:solidFill>
                <a:latin typeface="Aptos"/>
              </a:defRPr>
            </a:pPr>
            <a:r>
              <a:t>Supplement aligned to the uploaded Nexus AI &amp; ML Mastery Program curriculum</a:t>
            </a:r>
          </a:p>
        </p:txBody>
      </p:sp>
      <p:pic>
        <p:nvPicPr>
          <p:cNvPr id="5" name="Picture 4"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868680"/>
          </a:xfrm>
          <a:prstGeom prst="rect">
            <a:avLst/>
          </a:prstGeom>
          <a:solidFill>
            <a:srgbClr val="142F5C"/>
          </a:solidFill>
          <a:ln>
            <a:noFill/>
          </a:ln>
        </p:spPr>
        <p:style>
          <a:lnRef idx="1">
            <a:schemeClr val="accent1"/>
          </a:lnRef>
          <a:fillRef idx="3">
            <a:schemeClr val="accent1"/>
          </a:fillRef>
          <a:effectRef idx="2">
            <a:schemeClr val="accent1"/>
          </a:effectRef>
          <a:fontRef idx="minor">
            <a:schemeClr val="lt1"/>
          </a:fontRef>
        </p:style>
        <p:txBody>
          <a:bodyPr lIns="411480" tIns="109728" rIns="320040" bIns="73152" rtlCol="0" anchor="ctr"/>
          <a:lstStyle/>
          <a:p>
            <a:pPr algn="l">
              <a:defRPr sz="2500" b="1">
                <a:solidFill>
                  <a:srgbClr val="FFFFFF"/>
                </a:solidFill>
                <a:latin typeface="Aptos Display"/>
              </a:defRPr>
            </a:pPr>
            <a:r>
              <a:t>Project 2: End-to-End Predictive ML App</a:t>
            </a:r>
          </a:p>
        </p:txBody>
      </p:sp>
      <p:sp>
        <p:nvSpPr>
          <p:cNvPr id="3" name="Rounded Rectangle 2"/>
          <p:cNvSpPr/>
          <p:nvPr/>
        </p:nvSpPr>
        <p:spPr>
          <a:xfrm>
            <a:off x="502920" y="1078992"/>
            <a:ext cx="11186160" cy="5440680"/>
          </a:xfrm>
          <a:prstGeom prst="roundRect">
            <a:avLst/>
          </a:prstGeom>
          <a:solidFill>
            <a:srgbClr val="FFFFFF"/>
          </a:solidFill>
          <a:ln w="13970">
            <a:solidFill>
              <a:srgbClr val="D8E0EB"/>
            </a:solidFill>
          </a:ln>
        </p:spPr>
        <p:style>
          <a:lnRef idx="1">
            <a:schemeClr val="accent1"/>
          </a:lnRef>
          <a:fillRef idx="3">
            <a:schemeClr val="accent1"/>
          </a:fillRef>
          <a:effectRef idx="2">
            <a:schemeClr val="accent1"/>
          </a:effectRef>
          <a:fontRef idx="minor">
            <a:schemeClr val="lt1"/>
          </a:fontRef>
        </p:style>
        <p:txBody>
          <a:bodyPr wrap="square" lIns="256032" tIns="164592" rIns="256032" bIns="137160" rtlCol="0" anchor="ctr"/>
          <a:lstStyle/>
          <a:p>
            <a:pPr algn="ctr">
              <a:spcAft>
                <a:spcPts val="1100"/>
              </a:spcAft>
              <a:defRPr sz="1500">
                <a:solidFill>
                  <a:srgbClr val="232F3E"/>
                </a:solidFill>
                <a:latin typeface="Aptos"/>
              </a:defRPr>
            </a:pPr>
            <a:r>
              <a:rPr sz="1500" b="1">
                <a:solidFill>
                  <a:srgbClr val="142F5C"/>
                </a:solidFill>
                <a:latin typeface="Aptos"/>
              </a:rPr>
              <a:t>Objective: </a:t>
            </a:r>
            <a:r>
              <a:rPr sz="1500">
                <a:solidFill>
                  <a:srgbClr val="232F3E"/>
                </a:solidFill>
                <a:latin typeface="Aptos"/>
              </a:rPr>
              <a:t>Build a prediction application with a repeatable feature pipeline and a documented inference API.</a:t>
            </a:r>
          </a:p>
          <a:p>
            <a:pPr>
              <a:spcAft>
                <a:spcPts val="1100"/>
              </a:spcAft>
              <a:defRPr sz="1500">
                <a:solidFill>
                  <a:srgbClr val="232F3E"/>
                </a:solidFill>
                <a:latin typeface="Aptos"/>
              </a:defRPr>
            </a:pPr>
            <a:r>
              <a:rPr sz="1500" b="1">
                <a:solidFill>
                  <a:srgbClr val="142F5C"/>
                </a:solidFill>
                <a:latin typeface="Aptos"/>
              </a:rPr>
              <a:t>Steps: </a:t>
            </a:r>
            <a:r>
              <a:rPr sz="1500">
                <a:solidFill>
                  <a:srgbClr val="232F3E"/>
                </a:solidFill>
                <a:latin typeface="Aptos"/>
              </a:rPr>
              <a:t>Define target and metric; split data; establish a baseline; preprocess within a pipeline; compare candidate models; tune on training/validation data; evaluate once on held-out data.</a:t>
            </a:r>
          </a:p>
          <a:p>
            <a:pPr>
              <a:spcAft>
                <a:spcPts val="1100"/>
              </a:spcAft>
              <a:defRPr sz="1500">
                <a:solidFill>
                  <a:srgbClr val="232F3E"/>
                </a:solidFill>
                <a:latin typeface="Aptos"/>
              </a:defRPr>
            </a:pPr>
            <a:r>
              <a:rPr sz="1500" b="1">
                <a:solidFill>
                  <a:srgbClr val="142F5C"/>
                </a:solidFill>
                <a:latin typeface="Aptos"/>
              </a:rPr>
              <a:t>Deliverables: </a:t>
            </a:r>
            <a:r>
              <a:rPr sz="1500">
                <a:solidFill>
                  <a:srgbClr val="232F3E"/>
                </a:solidFill>
                <a:latin typeface="Aptos"/>
              </a:rPr>
              <a:t>Trained model, preprocessing pipeline, API, tests, README and model evaluation report.</a:t>
            </a:r>
          </a:p>
          <a:p>
            <a:pPr>
              <a:spcAft>
                <a:spcPts val="1100"/>
              </a:spcAft>
              <a:defRPr sz="1500">
                <a:solidFill>
                  <a:srgbClr val="232F3E"/>
                </a:solidFill>
                <a:latin typeface="Aptos"/>
              </a:defRPr>
            </a:pPr>
            <a:r>
              <a:rPr sz="1500" b="1">
                <a:solidFill>
                  <a:srgbClr val="142F5C"/>
                </a:solidFill>
                <a:latin typeface="Aptos"/>
              </a:rPr>
              <a:t>Quality gate: </a:t>
            </a:r>
            <a:r>
              <a:rPr sz="1500">
                <a:solidFill>
                  <a:srgbClr val="232F3E"/>
                </a:solidFill>
                <a:latin typeface="Aptos"/>
              </a:rPr>
              <a:t>Check leakage, class balance, error costs, reproducibility and parity between training and inference preprocessing.</a:t>
            </a:r>
          </a:p>
        </p:txBody>
      </p:sp>
      <p:sp>
        <p:nvSpPr>
          <p:cNvPr id="4" name="TextBox 3"/>
          <p:cNvSpPr txBox="1"/>
          <p:nvPr/>
        </p:nvSpPr>
        <p:spPr>
          <a:xfrm>
            <a:off x="502920" y="6547104"/>
            <a:ext cx="11186160" cy="182880"/>
          </a:xfrm>
          <a:prstGeom prst="rect">
            <a:avLst/>
          </a:prstGeom>
          <a:noFill/>
        </p:spPr>
        <p:txBody>
          <a:bodyPr wrap="none">
            <a:spAutoFit/>
          </a:bodyPr>
          <a:lstStyle/>
          <a:p>
            <a:pPr algn="r">
              <a:defRPr sz="800">
                <a:solidFill>
                  <a:srgbClr val="647080"/>
                </a:solidFill>
                <a:latin typeface="Aptos"/>
              </a:defRPr>
            </a:pPr>
            <a:r>
              <a:t>Supplement aligned to the uploaded Nexus AI &amp; ML Mastery Program curriculum</a:t>
            </a:r>
          </a:p>
        </p:txBody>
      </p:sp>
      <p:pic>
        <p:nvPicPr>
          <p:cNvPr id="5" name="Picture 4"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868680"/>
          </a:xfrm>
          <a:prstGeom prst="rect">
            <a:avLst/>
          </a:prstGeom>
          <a:solidFill>
            <a:srgbClr val="142F5C"/>
          </a:solidFill>
          <a:ln>
            <a:noFill/>
          </a:ln>
        </p:spPr>
        <p:style>
          <a:lnRef idx="1">
            <a:schemeClr val="accent1"/>
          </a:lnRef>
          <a:fillRef idx="3">
            <a:schemeClr val="accent1"/>
          </a:fillRef>
          <a:effectRef idx="2">
            <a:schemeClr val="accent1"/>
          </a:effectRef>
          <a:fontRef idx="minor">
            <a:schemeClr val="lt1"/>
          </a:fontRef>
        </p:style>
        <p:txBody>
          <a:bodyPr lIns="411480" tIns="109728" rIns="320040" bIns="73152" rtlCol="0" anchor="ctr"/>
          <a:lstStyle/>
          <a:p>
            <a:pPr algn="l">
              <a:defRPr sz="2500" b="1">
                <a:solidFill>
                  <a:srgbClr val="FFFFFF"/>
                </a:solidFill>
                <a:latin typeface="Aptos Display"/>
              </a:defRPr>
            </a:pPr>
            <a:r>
              <a:t>Project 3: Production-Ready ML Service</a:t>
            </a:r>
          </a:p>
        </p:txBody>
      </p:sp>
      <p:sp>
        <p:nvSpPr>
          <p:cNvPr id="3" name="Rounded Rectangle 2"/>
          <p:cNvSpPr/>
          <p:nvPr/>
        </p:nvSpPr>
        <p:spPr>
          <a:xfrm>
            <a:off x="502920" y="1078992"/>
            <a:ext cx="11186160" cy="5440680"/>
          </a:xfrm>
          <a:prstGeom prst="roundRect">
            <a:avLst/>
          </a:prstGeom>
          <a:solidFill>
            <a:srgbClr val="FFFFFF"/>
          </a:solidFill>
          <a:ln w="13970">
            <a:solidFill>
              <a:srgbClr val="D8E0EB"/>
            </a:solidFill>
          </a:ln>
        </p:spPr>
        <p:style>
          <a:lnRef idx="1">
            <a:schemeClr val="accent1"/>
          </a:lnRef>
          <a:fillRef idx="3">
            <a:schemeClr val="accent1"/>
          </a:fillRef>
          <a:effectRef idx="2">
            <a:schemeClr val="accent1"/>
          </a:effectRef>
          <a:fontRef idx="minor">
            <a:schemeClr val="lt1"/>
          </a:fontRef>
        </p:style>
        <p:txBody>
          <a:bodyPr wrap="square" lIns="256032" tIns="164592" rIns="256032" bIns="137160" rtlCol="0" anchor="ctr"/>
          <a:lstStyle/>
          <a:p>
            <a:pPr algn="ctr">
              <a:spcAft>
                <a:spcPts val="1100"/>
              </a:spcAft>
              <a:defRPr sz="1500">
                <a:solidFill>
                  <a:srgbClr val="232F3E"/>
                </a:solidFill>
                <a:latin typeface="Aptos"/>
              </a:defRPr>
            </a:pPr>
            <a:r>
              <a:rPr sz="1500" b="1">
                <a:solidFill>
                  <a:srgbClr val="142F5C"/>
                </a:solidFill>
                <a:latin typeface="Aptos"/>
              </a:rPr>
              <a:t>Objective: </a:t>
            </a:r>
            <a:r>
              <a:rPr sz="1500">
                <a:solidFill>
                  <a:srgbClr val="232F3E"/>
                </a:solidFill>
                <a:latin typeface="Aptos"/>
              </a:rPr>
              <a:t>Turn a model into a maintainable service that can be built, tested, deployed and monitored.</a:t>
            </a:r>
          </a:p>
          <a:p>
            <a:pPr>
              <a:spcAft>
                <a:spcPts val="1100"/>
              </a:spcAft>
              <a:defRPr sz="1500">
                <a:solidFill>
                  <a:srgbClr val="232F3E"/>
                </a:solidFill>
                <a:latin typeface="Aptos"/>
              </a:defRPr>
            </a:pPr>
            <a:r>
              <a:rPr sz="1500" b="1">
                <a:solidFill>
                  <a:srgbClr val="142F5C"/>
                </a:solidFill>
                <a:latin typeface="Aptos"/>
              </a:rPr>
              <a:t>Components: </a:t>
            </a:r>
            <a:r>
              <a:rPr sz="1500">
                <a:solidFill>
                  <a:srgbClr val="232F3E"/>
                </a:solidFill>
                <a:latin typeface="Aptos"/>
              </a:rPr>
              <a:t>Docker image, API contract, input validation, logs, health endpoint, automated tests, dependency pinning and configuration management.</a:t>
            </a:r>
          </a:p>
          <a:p>
            <a:pPr>
              <a:spcAft>
                <a:spcPts val="1100"/>
              </a:spcAft>
              <a:defRPr sz="1500">
                <a:solidFill>
                  <a:srgbClr val="232F3E"/>
                </a:solidFill>
                <a:latin typeface="Aptos"/>
              </a:defRPr>
            </a:pPr>
            <a:r>
              <a:rPr sz="1500" b="1">
                <a:solidFill>
                  <a:srgbClr val="142F5C"/>
                </a:solidFill>
                <a:latin typeface="Aptos"/>
              </a:rPr>
              <a:t>Operations: </a:t>
            </a:r>
            <a:r>
              <a:rPr sz="1500">
                <a:solidFill>
                  <a:srgbClr val="232F3E"/>
                </a:solidFill>
                <a:latin typeface="Aptos"/>
              </a:rPr>
              <a:t>Document deployment steps, service-level expectations, monitoring metrics, alert thresholds and rollback procedure.</a:t>
            </a:r>
          </a:p>
          <a:p>
            <a:pPr>
              <a:spcAft>
                <a:spcPts val="1100"/>
              </a:spcAft>
              <a:defRPr sz="1500">
                <a:solidFill>
                  <a:srgbClr val="232F3E"/>
                </a:solidFill>
                <a:latin typeface="Aptos"/>
              </a:defRPr>
            </a:pPr>
            <a:r>
              <a:rPr sz="1500" b="1">
                <a:solidFill>
                  <a:srgbClr val="142F5C"/>
                </a:solidFill>
                <a:latin typeface="Aptos"/>
              </a:rPr>
              <a:t>Acceptance: </a:t>
            </a:r>
            <a:r>
              <a:rPr sz="1500">
                <a:solidFill>
                  <a:srgbClr val="232F3E"/>
                </a:solidFill>
                <a:latin typeface="Aptos"/>
              </a:rPr>
              <a:t>A reviewer can reproduce the build, run tests, invoke predictions and understand known limitations.</a:t>
            </a:r>
          </a:p>
        </p:txBody>
      </p:sp>
      <p:sp>
        <p:nvSpPr>
          <p:cNvPr id="4" name="TextBox 3"/>
          <p:cNvSpPr txBox="1"/>
          <p:nvPr/>
        </p:nvSpPr>
        <p:spPr>
          <a:xfrm>
            <a:off x="502920" y="6547104"/>
            <a:ext cx="11186160" cy="182880"/>
          </a:xfrm>
          <a:prstGeom prst="rect">
            <a:avLst/>
          </a:prstGeom>
          <a:noFill/>
        </p:spPr>
        <p:txBody>
          <a:bodyPr wrap="none">
            <a:spAutoFit/>
          </a:bodyPr>
          <a:lstStyle/>
          <a:p>
            <a:pPr algn="r">
              <a:defRPr sz="800">
                <a:solidFill>
                  <a:srgbClr val="647080"/>
                </a:solidFill>
                <a:latin typeface="Aptos"/>
              </a:defRPr>
            </a:pPr>
            <a:r>
              <a:t>Supplement aligned to the uploaded Nexus AI &amp; ML Mastery Program curriculum</a:t>
            </a:r>
          </a:p>
        </p:txBody>
      </p:sp>
      <p:pic>
        <p:nvPicPr>
          <p:cNvPr id="5" name="Picture 4"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868680"/>
          </a:xfrm>
          <a:prstGeom prst="rect">
            <a:avLst/>
          </a:prstGeom>
          <a:solidFill>
            <a:srgbClr val="142F5C"/>
          </a:solidFill>
          <a:ln>
            <a:noFill/>
          </a:ln>
        </p:spPr>
        <p:style>
          <a:lnRef idx="1">
            <a:schemeClr val="accent1"/>
          </a:lnRef>
          <a:fillRef idx="3">
            <a:schemeClr val="accent1"/>
          </a:fillRef>
          <a:effectRef idx="2">
            <a:schemeClr val="accent1"/>
          </a:effectRef>
          <a:fontRef idx="minor">
            <a:schemeClr val="lt1"/>
          </a:fontRef>
        </p:style>
        <p:txBody>
          <a:bodyPr lIns="411480" tIns="109728" rIns="320040" bIns="73152" rtlCol="0" anchor="ctr"/>
          <a:lstStyle/>
          <a:p>
            <a:pPr algn="l">
              <a:defRPr sz="2500" b="1">
                <a:solidFill>
                  <a:srgbClr val="FFFFFF"/>
                </a:solidFill>
                <a:latin typeface="Aptos Display"/>
              </a:defRPr>
            </a:pPr>
            <a:r>
              <a:t>Project 4: Deep Learning Application</a:t>
            </a:r>
          </a:p>
        </p:txBody>
      </p:sp>
      <p:sp>
        <p:nvSpPr>
          <p:cNvPr id="3" name="Rounded Rectangle 2"/>
          <p:cNvSpPr/>
          <p:nvPr/>
        </p:nvSpPr>
        <p:spPr>
          <a:xfrm>
            <a:off x="502920" y="1078992"/>
            <a:ext cx="11186160" cy="5440680"/>
          </a:xfrm>
          <a:prstGeom prst="roundRect">
            <a:avLst/>
          </a:prstGeom>
          <a:solidFill>
            <a:srgbClr val="FFFFFF"/>
          </a:solidFill>
          <a:ln w="13970">
            <a:solidFill>
              <a:srgbClr val="D8E0EB"/>
            </a:solidFill>
          </a:ln>
        </p:spPr>
        <p:style>
          <a:lnRef idx="1">
            <a:schemeClr val="accent1"/>
          </a:lnRef>
          <a:fillRef idx="3">
            <a:schemeClr val="accent1"/>
          </a:fillRef>
          <a:effectRef idx="2">
            <a:schemeClr val="accent1"/>
          </a:effectRef>
          <a:fontRef idx="minor">
            <a:schemeClr val="lt1"/>
          </a:fontRef>
        </p:style>
        <p:txBody>
          <a:bodyPr wrap="square" lIns="256032" tIns="164592" rIns="256032" bIns="137160" rtlCol="0" anchor="ctr"/>
          <a:lstStyle/>
          <a:p>
            <a:pPr algn="ctr">
              <a:spcAft>
                <a:spcPts val="1100"/>
              </a:spcAft>
              <a:defRPr sz="1500">
                <a:solidFill>
                  <a:srgbClr val="232F3E"/>
                </a:solidFill>
                <a:latin typeface="Aptos"/>
              </a:defRPr>
            </a:pPr>
            <a:r>
              <a:rPr sz="1500" b="1">
                <a:solidFill>
                  <a:srgbClr val="142F5C"/>
                </a:solidFill>
                <a:latin typeface="Aptos"/>
              </a:rPr>
              <a:t>Objective: </a:t>
            </a:r>
            <a:r>
              <a:rPr sz="1500">
                <a:solidFill>
                  <a:srgbClr val="232F3E"/>
                </a:solidFill>
                <a:latin typeface="Aptos"/>
              </a:rPr>
              <a:t>Train and serve a neural model for a defined task, documenting the training process and evaluation evidence.</a:t>
            </a:r>
          </a:p>
          <a:p>
            <a:pPr>
              <a:spcAft>
                <a:spcPts val="1100"/>
              </a:spcAft>
              <a:defRPr sz="1500">
                <a:solidFill>
                  <a:srgbClr val="232F3E"/>
                </a:solidFill>
                <a:latin typeface="Aptos"/>
              </a:defRPr>
            </a:pPr>
            <a:r>
              <a:rPr sz="1500" b="1">
                <a:solidFill>
                  <a:srgbClr val="142F5C"/>
                </a:solidFill>
                <a:latin typeface="Aptos"/>
              </a:rPr>
              <a:t>Steps: </a:t>
            </a:r>
            <a:r>
              <a:rPr sz="1500">
                <a:solidFill>
                  <a:srgbClr val="232F3E"/>
                </a:solidFill>
                <a:latin typeface="Aptos"/>
              </a:rPr>
              <a:t>Prepare data; choose a baseline; define architecture and loss; train with optimizer and checkpoints; monitor validation; tune regularization; evaluate errors.</a:t>
            </a:r>
          </a:p>
          <a:p>
            <a:pPr>
              <a:spcAft>
                <a:spcPts val="1100"/>
              </a:spcAft>
              <a:defRPr sz="1500">
                <a:solidFill>
                  <a:srgbClr val="232F3E"/>
                </a:solidFill>
                <a:latin typeface="Aptos"/>
              </a:defRPr>
            </a:pPr>
            <a:r>
              <a:rPr sz="1500" b="1">
                <a:solidFill>
                  <a:srgbClr val="142F5C"/>
                </a:solidFill>
                <a:latin typeface="Aptos"/>
              </a:rPr>
              <a:t>Tools: </a:t>
            </a:r>
            <a:r>
              <a:rPr sz="1500">
                <a:solidFill>
                  <a:srgbClr val="232F3E"/>
                </a:solidFill>
                <a:latin typeface="Aptos"/>
              </a:rPr>
              <a:t>Use PyTorch or TensorFlow, experiment tracking and GPU acceleration where it helps.</a:t>
            </a:r>
          </a:p>
          <a:p>
            <a:pPr>
              <a:spcAft>
                <a:spcPts val="1100"/>
              </a:spcAft>
              <a:defRPr sz="1500">
                <a:solidFill>
                  <a:srgbClr val="232F3E"/>
                </a:solidFill>
                <a:latin typeface="Aptos"/>
              </a:defRPr>
            </a:pPr>
            <a:r>
              <a:rPr sz="1500" b="1">
                <a:solidFill>
                  <a:srgbClr val="142F5C"/>
                </a:solidFill>
                <a:latin typeface="Aptos"/>
              </a:rPr>
              <a:t>Deliverables: </a:t>
            </a:r>
            <a:r>
              <a:rPr sz="1500">
                <a:solidFill>
                  <a:srgbClr val="232F3E"/>
                </a:solidFill>
                <a:latin typeface="Aptos"/>
              </a:rPr>
              <a:t>Training code, versioned configuration, checkpoints, metrics/plots, inference interface and documented limitations.</a:t>
            </a:r>
          </a:p>
        </p:txBody>
      </p:sp>
      <p:sp>
        <p:nvSpPr>
          <p:cNvPr id="4" name="TextBox 3"/>
          <p:cNvSpPr txBox="1"/>
          <p:nvPr/>
        </p:nvSpPr>
        <p:spPr>
          <a:xfrm>
            <a:off x="502920" y="6547104"/>
            <a:ext cx="11186160" cy="182880"/>
          </a:xfrm>
          <a:prstGeom prst="rect">
            <a:avLst/>
          </a:prstGeom>
          <a:noFill/>
        </p:spPr>
        <p:txBody>
          <a:bodyPr wrap="none">
            <a:spAutoFit/>
          </a:bodyPr>
          <a:lstStyle/>
          <a:p>
            <a:pPr algn="r">
              <a:defRPr sz="800">
                <a:solidFill>
                  <a:srgbClr val="647080"/>
                </a:solidFill>
                <a:latin typeface="Aptos"/>
              </a:defRPr>
            </a:pPr>
            <a:r>
              <a:t>Supplement aligned to the uploaded Nexus AI &amp; ML Mastery Program curriculum</a:t>
            </a:r>
          </a:p>
        </p:txBody>
      </p:sp>
      <p:pic>
        <p:nvPicPr>
          <p:cNvPr id="5" name="Picture 4"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868680"/>
          </a:xfrm>
          <a:prstGeom prst="rect">
            <a:avLst/>
          </a:prstGeom>
          <a:solidFill>
            <a:srgbClr val="142F5C"/>
          </a:solidFill>
          <a:ln>
            <a:noFill/>
          </a:ln>
        </p:spPr>
        <p:style>
          <a:lnRef idx="1">
            <a:schemeClr val="accent1"/>
          </a:lnRef>
          <a:fillRef idx="3">
            <a:schemeClr val="accent1"/>
          </a:fillRef>
          <a:effectRef idx="2">
            <a:schemeClr val="accent1"/>
          </a:effectRef>
          <a:fontRef idx="minor">
            <a:schemeClr val="lt1"/>
          </a:fontRef>
        </p:style>
        <p:txBody>
          <a:bodyPr lIns="411480" tIns="109728" rIns="320040" bIns="73152" rtlCol="0" anchor="ctr"/>
          <a:lstStyle/>
          <a:p>
            <a:pPr algn="l">
              <a:defRPr sz="2500" b="1">
                <a:solidFill>
                  <a:srgbClr val="FFFFFF"/>
                </a:solidFill>
                <a:latin typeface="Aptos Display"/>
              </a:defRPr>
            </a:pPr>
            <a:r>
              <a:t>Project 5: RAG Knowledge Assistant</a:t>
            </a:r>
          </a:p>
        </p:txBody>
      </p:sp>
      <p:sp>
        <p:nvSpPr>
          <p:cNvPr id="3" name="Rounded Rectangle 2"/>
          <p:cNvSpPr/>
          <p:nvPr/>
        </p:nvSpPr>
        <p:spPr>
          <a:xfrm>
            <a:off x="502920" y="1078992"/>
            <a:ext cx="11186160" cy="5440680"/>
          </a:xfrm>
          <a:prstGeom prst="roundRect">
            <a:avLst/>
          </a:prstGeom>
          <a:solidFill>
            <a:srgbClr val="FFFFFF"/>
          </a:solidFill>
          <a:ln w="13970">
            <a:solidFill>
              <a:srgbClr val="D8E0EB"/>
            </a:solidFill>
          </a:ln>
        </p:spPr>
        <p:style>
          <a:lnRef idx="1">
            <a:schemeClr val="accent1"/>
          </a:lnRef>
          <a:fillRef idx="3">
            <a:schemeClr val="accent1"/>
          </a:fillRef>
          <a:effectRef idx="2">
            <a:schemeClr val="accent1"/>
          </a:effectRef>
          <a:fontRef idx="minor">
            <a:schemeClr val="lt1"/>
          </a:fontRef>
        </p:style>
        <p:txBody>
          <a:bodyPr wrap="square" lIns="256032" tIns="164592" rIns="256032" bIns="137160" rtlCol="0" anchor="ctr"/>
          <a:lstStyle/>
          <a:p>
            <a:pPr algn="ctr">
              <a:spcAft>
                <a:spcPts val="1100"/>
              </a:spcAft>
              <a:defRPr sz="1500">
                <a:solidFill>
                  <a:srgbClr val="232F3E"/>
                </a:solidFill>
                <a:latin typeface="Aptos"/>
              </a:defRPr>
            </a:pPr>
            <a:r>
              <a:rPr sz="1500" b="1">
                <a:solidFill>
                  <a:srgbClr val="142F5C"/>
                </a:solidFill>
                <a:latin typeface="Aptos"/>
              </a:rPr>
              <a:t>Objective: </a:t>
            </a:r>
            <a:r>
              <a:rPr sz="1500">
                <a:solidFill>
                  <a:srgbClr val="232F3E"/>
                </a:solidFill>
                <a:latin typeface="Aptos"/>
              </a:rPr>
              <a:t>Answer questions over a defined document collection using retrieved evidence rather than relying only on model memory.</a:t>
            </a:r>
          </a:p>
          <a:p>
            <a:pPr>
              <a:spcAft>
                <a:spcPts val="1100"/>
              </a:spcAft>
              <a:defRPr sz="1500">
                <a:solidFill>
                  <a:srgbClr val="232F3E"/>
                </a:solidFill>
                <a:latin typeface="Aptos"/>
              </a:defRPr>
            </a:pPr>
            <a:r>
              <a:rPr sz="1500" b="1">
                <a:solidFill>
                  <a:srgbClr val="142F5C"/>
                </a:solidFill>
                <a:latin typeface="Aptos"/>
              </a:rPr>
              <a:t>Steps: </a:t>
            </a:r>
            <a:r>
              <a:rPr sz="1500">
                <a:solidFill>
                  <a:srgbClr val="232F3E"/>
                </a:solidFill>
                <a:latin typeface="Aptos"/>
              </a:rPr>
              <a:t>Ingest documents; chunk and embed; index in a vector store; retrieve and optionally rerank; generate an answer with source references; evaluate with a question set.</a:t>
            </a:r>
          </a:p>
          <a:p>
            <a:pPr>
              <a:spcAft>
                <a:spcPts val="1100"/>
              </a:spcAft>
              <a:defRPr sz="1500">
                <a:solidFill>
                  <a:srgbClr val="232F3E"/>
                </a:solidFill>
                <a:latin typeface="Aptos"/>
              </a:defRPr>
            </a:pPr>
            <a:r>
              <a:rPr sz="1500" b="1">
                <a:solidFill>
                  <a:srgbClr val="142F5C"/>
                </a:solidFill>
                <a:latin typeface="Aptos"/>
              </a:rPr>
              <a:t>Deliverables: </a:t>
            </a:r>
            <a:r>
              <a:rPr sz="1500">
                <a:solidFill>
                  <a:srgbClr val="232F3E"/>
                </a:solidFill>
                <a:latin typeface="Aptos"/>
              </a:rPr>
              <a:t>Ingestion pipeline, retrieval component, generation API, evaluation report and instructions for updating documents.</a:t>
            </a:r>
          </a:p>
          <a:p>
            <a:pPr>
              <a:spcAft>
                <a:spcPts val="1100"/>
              </a:spcAft>
              <a:defRPr sz="1500">
                <a:solidFill>
                  <a:srgbClr val="232F3E"/>
                </a:solidFill>
                <a:latin typeface="Aptos"/>
              </a:defRPr>
            </a:pPr>
            <a:r>
              <a:rPr sz="1500" b="1">
                <a:solidFill>
                  <a:srgbClr val="142F5C"/>
                </a:solidFill>
                <a:latin typeface="Aptos"/>
              </a:rPr>
              <a:t>Quality gate: </a:t>
            </a:r>
            <a:r>
              <a:rPr sz="1500">
                <a:solidFill>
                  <a:srgbClr val="232F3E"/>
                </a:solidFill>
                <a:latin typeface="Aptos"/>
              </a:rPr>
              <a:t>Test answerability, citation correctness, retrieval relevance, access controls, hallucination rate, latency and cost.</a:t>
            </a:r>
          </a:p>
        </p:txBody>
      </p:sp>
      <p:sp>
        <p:nvSpPr>
          <p:cNvPr id="4" name="TextBox 3"/>
          <p:cNvSpPr txBox="1"/>
          <p:nvPr/>
        </p:nvSpPr>
        <p:spPr>
          <a:xfrm>
            <a:off x="502920" y="6547104"/>
            <a:ext cx="11186160" cy="182880"/>
          </a:xfrm>
          <a:prstGeom prst="rect">
            <a:avLst/>
          </a:prstGeom>
          <a:noFill/>
        </p:spPr>
        <p:txBody>
          <a:bodyPr wrap="none">
            <a:spAutoFit/>
          </a:bodyPr>
          <a:lstStyle/>
          <a:p>
            <a:pPr algn="r">
              <a:defRPr sz="800">
                <a:solidFill>
                  <a:srgbClr val="647080"/>
                </a:solidFill>
                <a:latin typeface="Aptos"/>
              </a:defRPr>
            </a:pPr>
            <a:r>
              <a:t>Supplement aligned to the uploaded Nexus AI &amp; ML Mastery Program curriculum</a:t>
            </a:r>
          </a:p>
        </p:txBody>
      </p:sp>
      <p:pic>
        <p:nvPicPr>
          <p:cNvPr id="5" name="Picture 4"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868680"/>
          </a:xfrm>
          <a:prstGeom prst="rect">
            <a:avLst/>
          </a:prstGeom>
          <a:solidFill>
            <a:srgbClr val="142F5C"/>
          </a:solidFill>
          <a:ln>
            <a:noFill/>
          </a:ln>
        </p:spPr>
        <p:style>
          <a:lnRef idx="1">
            <a:schemeClr val="accent1"/>
          </a:lnRef>
          <a:fillRef idx="3">
            <a:schemeClr val="accent1"/>
          </a:fillRef>
          <a:effectRef idx="2">
            <a:schemeClr val="accent1"/>
          </a:effectRef>
          <a:fontRef idx="minor">
            <a:schemeClr val="lt1"/>
          </a:fontRef>
        </p:style>
        <p:txBody>
          <a:bodyPr lIns="411480" tIns="109728" rIns="320040" bIns="73152" rtlCol="0" anchor="ctr"/>
          <a:lstStyle/>
          <a:p>
            <a:pPr algn="l">
              <a:defRPr sz="2500" b="1">
                <a:solidFill>
                  <a:srgbClr val="FFFFFF"/>
                </a:solidFill>
                <a:latin typeface="Aptos Display"/>
              </a:defRPr>
            </a:pPr>
            <a:r>
              <a:t>Project 6: Industrial AI/GenAI Capstone</a:t>
            </a:r>
          </a:p>
        </p:txBody>
      </p:sp>
      <p:sp>
        <p:nvSpPr>
          <p:cNvPr id="3" name="Rounded Rectangle 2"/>
          <p:cNvSpPr/>
          <p:nvPr/>
        </p:nvSpPr>
        <p:spPr>
          <a:xfrm>
            <a:off x="502920" y="1078992"/>
            <a:ext cx="11186160" cy="5440680"/>
          </a:xfrm>
          <a:prstGeom prst="roundRect">
            <a:avLst/>
          </a:prstGeom>
          <a:solidFill>
            <a:srgbClr val="FFFFFF"/>
          </a:solidFill>
          <a:ln w="13970">
            <a:solidFill>
              <a:srgbClr val="D8E0EB"/>
            </a:solidFill>
          </a:ln>
        </p:spPr>
        <p:style>
          <a:lnRef idx="1">
            <a:schemeClr val="accent1"/>
          </a:lnRef>
          <a:fillRef idx="3">
            <a:schemeClr val="accent1"/>
          </a:fillRef>
          <a:effectRef idx="2">
            <a:schemeClr val="accent1"/>
          </a:effectRef>
          <a:fontRef idx="minor">
            <a:schemeClr val="lt1"/>
          </a:fontRef>
        </p:style>
        <p:txBody>
          <a:bodyPr wrap="square" lIns="256032" tIns="164592" rIns="256032" bIns="137160" rtlCol="0" anchor="ctr"/>
          <a:lstStyle/>
          <a:p>
            <a:pPr algn="ctr">
              <a:spcAft>
                <a:spcPts val="1100"/>
              </a:spcAft>
              <a:defRPr sz="1500">
                <a:solidFill>
                  <a:srgbClr val="232F3E"/>
                </a:solidFill>
                <a:latin typeface="Aptos"/>
              </a:defRPr>
            </a:pPr>
            <a:r>
              <a:rPr sz="1500" b="1">
                <a:solidFill>
                  <a:srgbClr val="142F5C"/>
                </a:solidFill>
                <a:latin typeface="Aptos"/>
              </a:rPr>
              <a:t>Objective: </a:t>
            </a:r>
            <a:r>
              <a:rPr sz="1500">
                <a:solidFill>
                  <a:srgbClr val="232F3E"/>
                </a:solidFill>
                <a:latin typeface="Aptos"/>
              </a:rPr>
              <a:t>Deliver a complete, reproducible AI/GenAI solution from requirements to production-readiness evidence.</a:t>
            </a:r>
          </a:p>
          <a:p>
            <a:pPr>
              <a:spcAft>
                <a:spcPts val="1100"/>
              </a:spcAft>
              <a:defRPr sz="1500">
                <a:solidFill>
                  <a:srgbClr val="232F3E"/>
                </a:solidFill>
                <a:latin typeface="Aptos"/>
              </a:defRPr>
            </a:pPr>
            <a:r>
              <a:rPr sz="1500" b="1">
                <a:solidFill>
                  <a:srgbClr val="142F5C"/>
                </a:solidFill>
                <a:latin typeface="Aptos"/>
              </a:rPr>
              <a:t>Lifecycle: </a:t>
            </a:r>
            <a:r>
              <a:rPr sz="1500">
                <a:solidFill>
                  <a:srgbClr val="232F3E"/>
                </a:solidFill>
                <a:latin typeface="Aptos"/>
              </a:rPr>
              <a:t>Requirements and success metrics → data lifecycle → model/LLM lifecycle → architecture → implementation → tests and evaluation → deployment → monitoring.</a:t>
            </a:r>
          </a:p>
          <a:p>
            <a:pPr>
              <a:spcAft>
                <a:spcPts val="1100"/>
              </a:spcAft>
              <a:defRPr sz="1500">
                <a:solidFill>
                  <a:srgbClr val="232F3E"/>
                </a:solidFill>
                <a:latin typeface="Aptos"/>
              </a:defRPr>
            </a:pPr>
            <a:r>
              <a:rPr sz="1500" b="1">
                <a:solidFill>
                  <a:srgbClr val="142F5C"/>
                </a:solidFill>
                <a:latin typeface="Aptos"/>
              </a:rPr>
              <a:t>Deliverables: </a:t>
            </a:r>
            <a:r>
              <a:rPr sz="1500">
                <a:solidFill>
                  <a:srgbClr val="232F3E"/>
                </a:solidFill>
                <a:latin typeface="Aptos"/>
              </a:rPr>
              <a:t>Architecture diagram, README, API documentation, test report, model/LLM evaluation report, deployment guide and reproducible code.</a:t>
            </a:r>
          </a:p>
          <a:p>
            <a:pPr>
              <a:spcAft>
                <a:spcPts val="1100"/>
              </a:spcAft>
              <a:defRPr sz="1500">
                <a:solidFill>
                  <a:srgbClr val="232F3E"/>
                </a:solidFill>
                <a:latin typeface="Aptos"/>
              </a:defRPr>
            </a:pPr>
            <a:r>
              <a:rPr sz="1500" b="1">
                <a:solidFill>
                  <a:srgbClr val="142F5C"/>
                </a:solidFill>
                <a:latin typeface="Aptos"/>
              </a:rPr>
              <a:t>Review criteria: </a:t>
            </a:r>
            <a:r>
              <a:rPr sz="1500">
                <a:solidFill>
                  <a:srgbClr val="232F3E"/>
                </a:solidFill>
                <a:latin typeface="Aptos"/>
              </a:rPr>
              <a:t>Correctness, security/privacy, reliability, fairness, maintainability, cost, latency, monitoring and clarity of limitations.</a:t>
            </a:r>
          </a:p>
        </p:txBody>
      </p:sp>
      <p:sp>
        <p:nvSpPr>
          <p:cNvPr id="4" name="TextBox 3"/>
          <p:cNvSpPr txBox="1"/>
          <p:nvPr/>
        </p:nvSpPr>
        <p:spPr>
          <a:xfrm>
            <a:off x="502920" y="6547104"/>
            <a:ext cx="11186160" cy="182880"/>
          </a:xfrm>
          <a:prstGeom prst="rect">
            <a:avLst/>
          </a:prstGeom>
          <a:noFill/>
        </p:spPr>
        <p:txBody>
          <a:bodyPr wrap="none">
            <a:spAutoFit/>
          </a:bodyPr>
          <a:lstStyle/>
          <a:p>
            <a:pPr algn="r">
              <a:defRPr sz="800">
                <a:solidFill>
                  <a:srgbClr val="647080"/>
                </a:solidFill>
                <a:latin typeface="Aptos"/>
              </a:defRPr>
            </a:pPr>
            <a:r>
              <a:t>Supplement aligned to the uploaded Nexus AI &amp; ML Mastery Program curriculum</a:t>
            </a:r>
          </a:p>
        </p:txBody>
      </p:sp>
      <p:pic>
        <p:nvPicPr>
          <p:cNvPr id="5" name="Picture 4"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868680"/>
          </a:xfrm>
          <a:prstGeom prst="rect">
            <a:avLst/>
          </a:prstGeom>
          <a:solidFill>
            <a:srgbClr val="142F5C"/>
          </a:solidFill>
          <a:ln>
            <a:noFill/>
          </a:ln>
        </p:spPr>
        <p:style>
          <a:lnRef idx="1">
            <a:schemeClr val="accent1"/>
          </a:lnRef>
          <a:fillRef idx="3">
            <a:schemeClr val="accent1"/>
          </a:fillRef>
          <a:effectRef idx="2">
            <a:schemeClr val="accent1"/>
          </a:effectRef>
          <a:fontRef idx="minor">
            <a:schemeClr val="lt1"/>
          </a:fontRef>
        </p:style>
        <p:txBody>
          <a:bodyPr lIns="411480" tIns="109728" rIns="320040" bIns="73152" rtlCol="0" anchor="ctr"/>
          <a:lstStyle/>
          <a:p>
            <a:pPr algn="l">
              <a:defRPr sz="2100" b="1">
                <a:solidFill>
                  <a:srgbClr val="FFFFFF"/>
                </a:solidFill>
                <a:latin typeface="Aptos Display"/>
              </a:defRPr>
            </a:pPr>
            <a:r>
              <a:t>Industrial Training: Assessment and Engineering Standards</a:t>
            </a:r>
          </a:p>
        </p:txBody>
      </p:sp>
      <p:sp>
        <p:nvSpPr>
          <p:cNvPr id="3" name="Rounded Rectangle 2"/>
          <p:cNvSpPr/>
          <p:nvPr/>
        </p:nvSpPr>
        <p:spPr>
          <a:xfrm>
            <a:off x="502920" y="1078992"/>
            <a:ext cx="11186160" cy="5440680"/>
          </a:xfrm>
          <a:prstGeom prst="roundRect">
            <a:avLst/>
          </a:prstGeom>
          <a:solidFill>
            <a:srgbClr val="FFFFFF"/>
          </a:solidFill>
          <a:ln w="13970">
            <a:solidFill>
              <a:srgbClr val="D8E0EB"/>
            </a:solidFill>
          </a:ln>
        </p:spPr>
        <p:style>
          <a:lnRef idx="1">
            <a:schemeClr val="accent1"/>
          </a:lnRef>
          <a:fillRef idx="3">
            <a:schemeClr val="accent1"/>
          </a:fillRef>
          <a:effectRef idx="2">
            <a:schemeClr val="accent1"/>
          </a:effectRef>
          <a:fontRef idx="minor">
            <a:schemeClr val="lt1"/>
          </a:fontRef>
        </p:style>
        <p:txBody>
          <a:bodyPr wrap="square" lIns="256032" tIns="164592" rIns="256032" bIns="137160" rtlCol="0" anchor="ctr"/>
          <a:lstStyle/>
          <a:p>
            <a:pPr algn="ctr">
              <a:spcAft>
                <a:spcPts val="1100"/>
              </a:spcAft>
              <a:defRPr sz="1500">
                <a:solidFill>
                  <a:srgbClr val="232F3E"/>
                </a:solidFill>
                <a:latin typeface="Aptos"/>
              </a:defRPr>
            </a:pPr>
            <a:r>
              <a:rPr sz="1500" b="1">
                <a:solidFill>
                  <a:srgbClr val="142F5C"/>
                </a:solidFill>
                <a:latin typeface="Aptos"/>
              </a:rPr>
              <a:t>Requirement analysis: </a:t>
            </a:r>
            <a:r>
              <a:rPr sz="1500">
                <a:solidFill>
                  <a:srgbClr val="232F3E"/>
                </a:solidFill>
                <a:latin typeface="Aptos"/>
              </a:rPr>
              <a:t>Document users, problem statement, constraints, data availability, success criteria and acceptance tests before choosing an algorithm.</a:t>
            </a:r>
          </a:p>
          <a:p>
            <a:pPr>
              <a:spcAft>
                <a:spcPts val="1100"/>
              </a:spcAft>
              <a:defRPr sz="1500">
                <a:solidFill>
                  <a:srgbClr val="232F3E"/>
                </a:solidFill>
                <a:latin typeface="Aptos"/>
              </a:defRPr>
            </a:pPr>
            <a:r>
              <a:rPr sz="1500" b="1">
                <a:solidFill>
                  <a:srgbClr val="142F5C"/>
                </a:solidFill>
                <a:latin typeface="Aptos"/>
              </a:rPr>
              <a:t>Lifecycle understanding: </a:t>
            </a:r>
            <a:r>
              <a:rPr sz="1500">
                <a:solidFill>
                  <a:srgbClr val="232F3E"/>
                </a:solidFill>
                <a:latin typeface="Aptos"/>
              </a:rPr>
              <a:t>Explain the data lifecycle, model lifecycle and GenAI lifecycle, including versioning, evaluation, release and ongoing monitoring.</a:t>
            </a:r>
          </a:p>
          <a:p>
            <a:pPr>
              <a:spcAft>
                <a:spcPts val="1100"/>
              </a:spcAft>
              <a:defRPr sz="1500">
                <a:solidFill>
                  <a:srgbClr val="232F3E"/>
                </a:solidFill>
                <a:latin typeface="Aptos"/>
              </a:defRPr>
            </a:pPr>
            <a:r>
              <a:rPr sz="1500" b="1">
                <a:solidFill>
                  <a:srgbClr val="142F5C"/>
                </a:solidFill>
                <a:latin typeface="Aptos"/>
              </a:rPr>
              <a:t>Production-readiness review: </a:t>
            </a:r>
            <a:r>
              <a:rPr sz="1500">
                <a:solidFill>
                  <a:srgbClr val="232F3E"/>
                </a:solidFill>
                <a:latin typeface="Aptos"/>
              </a:rPr>
              <a:t>Check tests, dependency management, reproducibility, security, observability, rollback, documentation and operational ownership.</a:t>
            </a:r>
          </a:p>
          <a:p>
            <a:pPr>
              <a:spcAft>
                <a:spcPts val="1100"/>
              </a:spcAft>
              <a:defRPr sz="1500">
                <a:solidFill>
                  <a:srgbClr val="232F3E"/>
                </a:solidFill>
                <a:latin typeface="Aptos"/>
              </a:defRPr>
            </a:pPr>
            <a:r>
              <a:rPr sz="1500" b="1">
                <a:solidFill>
                  <a:srgbClr val="142F5C"/>
                </a:solidFill>
                <a:latin typeface="Aptos"/>
              </a:rPr>
              <a:t>Professional presentation: </a:t>
            </a:r>
            <a:r>
              <a:rPr sz="1500">
                <a:solidFill>
                  <a:srgbClr val="232F3E"/>
                </a:solidFill>
                <a:latin typeface="Aptos"/>
              </a:rPr>
              <a:t>Present the problem, architecture, design trade-offs, results, known gaps and next steps. Keep evidence and claims traceable to experiments.</a:t>
            </a:r>
          </a:p>
        </p:txBody>
      </p:sp>
      <p:sp>
        <p:nvSpPr>
          <p:cNvPr id="4" name="TextBox 3"/>
          <p:cNvSpPr txBox="1"/>
          <p:nvPr/>
        </p:nvSpPr>
        <p:spPr>
          <a:xfrm>
            <a:off x="502920" y="6547104"/>
            <a:ext cx="11186160" cy="182880"/>
          </a:xfrm>
          <a:prstGeom prst="rect">
            <a:avLst/>
          </a:prstGeom>
          <a:noFill/>
        </p:spPr>
        <p:txBody>
          <a:bodyPr wrap="none">
            <a:spAutoFit/>
          </a:bodyPr>
          <a:lstStyle/>
          <a:p>
            <a:pPr algn="r">
              <a:defRPr sz="800">
                <a:solidFill>
                  <a:srgbClr val="647080"/>
                </a:solidFill>
                <a:latin typeface="Aptos"/>
              </a:defRPr>
            </a:pPr>
            <a:r>
              <a:t>Supplement aligned to the uploaded Nexus AI &amp; ML Mastery Program curriculum</a:t>
            </a:r>
          </a:p>
        </p:txBody>
      </p:sp>
      <p:pic>
        <p:nvPicPr>
          <p:cNvPr id="5" name="Picture 4"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868680"/>
          </a:xfrm>
          <a:prstGeom prst="rect">
            <a:avLst/>
          </a:prstGeom>
          <a:solidFill>
            <a:srgbClr val="142F5C"/>
          </a:solidFill>
          <a:ln>
            <a:noFill/>
          </a:ln>
        </p:spPr>
        <p:style>
          <a:lnRef idx="1">
            <a:schemeClr val="accent1"/>
          </a:lnRef>
          <a:fillRef idx="3">
            <a:schemeClr val="accent1"/>
          </a:fillRef>
          <a:effectRef idx="2">
            <a:schemeClr val="accent1"/>
          </a:effectRef>
          <a:fontRef idx="minor">
            <a:schemeClr val="lt1"/>
          </a:fontRef>
        </p:style>
        <p:txBody>
          <a:bodyPr lIns="411480" tIns="109728" rIns="320040" bIns="73152" rtlCol="0" anchor="ctr"/>
          <a:lstStyle/>
          <a:p>
            <a:pPr algn="l">
              <a:defRPr sz="2500" b="1">
                <a:solidFill>
                  <a:srgbClr val="FFFFFF"/>
                </a:solidFill>
                <a:latin typeface="Aptos Display"/>
              </a:defRPr>
            </a:pPr>
            <a:r>
              <a:t>Technology Stack: What Each Tool Does</a:t>
            </a:r>
          </a:p>
        </p:txBody>
      </p:sp>
      <p:sp>
        <p:nvSpPr>
          <p:cNvPr id="3" name="Rounded Rectangle 2"/>
          <p:cNvSpPr/>
          <p:nvPr/>
        </p:nvSpPr>
        <p:spPr>
          <a:xfrm>
            <a:off x="502920" y="1078992"/>
            <a:ext cx="11186160" cy="5440680"/>
          </a:xfrm>
          <a:prstGeom prst="roundRect">
            <a:avLst/>
          </a:prstGeom>
          <a:solidFill>
            <a:srgbClr val="FFFFFF"/>
          </a:solidFill>
          <a:ln w="13970">
            <a:solidFill>
              <a:srgbClr val="D8E0EB"/>
            </a:solidFill>
          </a:ln>
        </p:spPr>
        <p:style>
          <a:lnRef idx="1">
            <a:schemeClr val="accent1"/>
          </a:lnRef>
          <a:fillRef idx="3">
            <a:schemeClr val="accent1"/>
          </a:fillRef>
          <a:effectRef idx="2">
            <a:schemeClr val="accent1"/>
          </a:effectRef>
          <a:fontRef idx="minor">
            <a:schemeClr val="lt1"/>
          </a:fontRef>
        </p:style>
        <p:txBody>
          <a:bodyPr wrap="square" lIns="256032" tIns="164592" rIns="256032" bIns="137160" rtlCol="0" anchor="ctr"/>
          <a:lstStyle/>
          <a:p>
            <a:pPr algn="ctr">
              <a:spcAft>
                <a:spcPts val="800"/>
              </a:spcAft>
              <a:defRPr sz="1350">
                <a:solidFill>
                  <a:srgbClr val="232F3E"/>
                </a:solidFill>
                <a:latin typeface="Aptos"/>
              </a:defRPr>
            </a:pPr>
            <a:r>
              <a:rPr sz="1350" b="1">
                <a:solidFill>
                  <a:srgbClr val="142F5C"/>
                </a:solidFill>
                <a:latin typeface="Aptos"/>
              </a:rPr>
              <a:t>Core: </a:t>
            </a:r>
            <a:r>
              <a:rPr sz="1350">
                <a:solidFill>
                  <a:srgbClr val="232F3E"/>
                </a:solidFill>
                <a:latin typeface="Aptos"/>
              </a:rPr>
              <a:t>Python is the primary programming language; SQL queries relational data; Git versions code and supports collaboration.</a:t>
            </a:r>
          </a:p>
          <a:p>
            <a:pPr>
              <a:spcAft>
                <a:spcPts val="800"/>
              </a:spcAft>
              <a:defRPr sz="1350">
                <a:solidFill>
                  <a:srgbClr val="232F3E"/>
                </a:solidFill>
                <a:latin typeface="Aptos"/>
              </a:defRPr>
            </a:pPr>
            <a:r>
              <a:rPr sz="1350" b="1">
                <a:solidFill>
                  <a:srgbClr val="142F5C"/>
                </a:solidFill>
                <a:latin typeface="Aptos"/>
              </a:rPr>
              <a:t>Data and visualization: </a:t>
            </a:r>
            <a:r>
              <a:rPr sz="1350">
                <a:solidFill>
                  <a:srgbClr val="232F3E"/>
                </a:solidFill>
                <a:latin typeface="Aptos"/>
              </a:rPr>
              <a:t>NumPy provides numerical arrays; Pandas supports tabular manipulation; Matplotlib and Seaborn visualize data and patterns.</a:t>
            </a:r>
          </a:p>
          <a:p>
            <a:pPr>
              <a:spcAft>
                <a:spcPts val="800"/>
              </a:spcAft>
              <a:defRPr sz="1350">
                <a:solidFill>
                  <a:srgbClr val="232F3E"/>
                </a:solidFill>
                <a:latin typeface="Aptos"/>
              </a:defRPr>
            </a:pPr>
            <a:r>
              <a:rPr sz="1350" b="1">
                <a:solidFill>
                  <a:srgbClr val="142F5C"/>
                </a:solidFill>
                <a:latin typeface="Aptos"/>
              </a:rPr>
              <a:t>ML and DL: </a:t>
            </a:r>
            <a:r>
              <a:rPr sz="1350">
                <a:solidFill>
                  <a:srgbClr val="232F3E"/>
                </a:solidFill>
                <a:latin typeface="Aptos"/>
              </a:rPr>
              <a:t>Scikit-learn supports common ML workflows; XGBoost/LightGBM support gradient-boosted trees; PyTorch/TensorFlow build neural networks; Transformers provides pretrained transformer models and tooling.</a:t>
            </a:r>
          </a:p>
          <a:p>
            <a:pPr>
              <a:spcAft>
                <a:spcPts val="800"/>
              </a:spcAft>
              <a:defRPr sz="1350">
                <a:solidFill>
                  <a:srgbClr val="232F3E"/>
                </a:solidFill>
                <a:latin typeface="Aptos"/>
              </a:defRPr>
            </a:pPr>
            <a:r>
              <a:rPr sz="1350" b="1">
                <a:solidFill>
                  <a:srgbClr val="142F5C"/>
                </a:solidFill>
                <a:latin typeface="Aptos"/>
              </a:rPr>
              <a:t>Production: </a:t>
            </a:r>
            <a:r>
              <a:rPr sz="1350">
                <a:solidFill>
                  <a:srgbClr val="232F3E"/>
                </a:solidFill>
                <a:latin typeface="Aptos"/>
              </a:rPr>
              <a:t>FastAPI serves APIs; Docker packages services; MLflow tracks experiments and model artifacts; PostgreSQL stores structured data; Pytest tests Python code.</a:t>
            </a:r>
          </a:p>
          <a:p>
            <a:pPr>
              <a:spcAft>
                <a:spcPts val="800"/>
              </a:spcAft>
              <a:defRPr sz="1350">
                <a:solidFill>
                  <a:srgbClr val="232F3E"/>
                </a:solidFill>
                <a:latin typeface="Aptos"/>
              </a:defRPr>
            </a:pPr>
            <a:r>
              <a:rPr sz="1350" b="1">
                <a:solidFill>
                  <a:srgbClr val="142F5C"/>
                </a:solidFill>
                <a:latin typeface="Aptos"/>
              </a:rPr>
              <a:t>Cloud: </a:t>
            </a:r>
            <a:r>
              <a:rPr sz="1350">
                <a:solidFill>
                  <a:srgbClr val="232F3E"/>
                </a:solidFill>
                <a:latin typeface="Aptos"/>
              </a:rPr>
              <a:t>AWS, Azure and GCP offer compute, storage, identity, networking and managed AI services. The exact service choice depends on architecture and organizational constraints.</a:t>
            </a:r>
          </a:p>
        </p:txBody>
      </p:sp>
      <p:sp>
        <p:nvSpPr>
          <p:cNvPr id="4" name="TextBox 3"/>
          <p:cNvSpPr txBox="1"/>
          <p:nvPr/>
        </p:nvSpPr>
        <p:spPr>
          <a:xfrm>
            <a:off x="502920" y="6547104"/>
            <a:ext cx="11186160" cy="182880"/>
          </a:xfrm>
          <a:prstGeom prst="rect">
            <a:avLst/>
          </a:prstGeom>
          <a:noFill/>
        </p:spPr>
        <p:txBody>
          <a:bodyPr wrap="none">
            <a:spAutoFit/>
          </a:bodyPr>
          <a:lstStyle/>
          <a:p>
            <a:pPr algn="r">
              <a:defRPr sz="800">
                <a:solidFill>
                  <a:srgbClr val="647080"/>
                </a:solidFill>
                <a:latin typeface="Aptos"/>
              </a:defRPr>
            </a:pPr>
            <a:r>
              <a:t>Supplement aligned to the uploaded Nexus AI &amp; ML Mastery Program curriculum</a:t>
            </a:r>
          </a:p>
        </p:txBody>
      </p:sp>
      <p:pic>
        <p:nvPicPr>
          <p:cNvPr id="5" name="Picture 4" descr="image.png"/>
          <p:cNvPicPr>
            <a:picLocks noChangeAspect="1"/>
          </p:cNvPicPr>
          <p:nvPr/>
        </p:nvPicPr>
        <p:blipFill>
          <a:blip r:embed="rId2"/>
          <a:stretch>
            <a:fillRect/>
          </a:stretch>
        </p:blipFill>
        <p:spPr>
          <a:xfrm>
            <a:off x="10625328" y="6345936"/>
            <a:ext cx="1371600" cy="38404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40</TotalTime>
  <Words>32796</Words>
  <Application>Microsoft Office PowerPoint</Application>
  <PresentationFormat>Widescreen</PresentationFormat>
  <Paragraphs>2747</Paragraphs>
  <Slides>306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306</vt:i4>
      </vt:variant>
    </vt:vector>
  </HeadingPairs>
  <TitlesOfParts>
    <vt:vector size="310"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Akhilesh Shende</cp:lastModifiedBy>
  <cp:revision>4</cp:revision>
  <dcterms:created xsi:type="dcterms:W3CDTF">2013-01-27T09:14:16Z</dcterms:created>
  <dcterms:modified xsi:type="dcterms:W3CDTF">2026-10-18T11:09:33Z</dcterms:modified>
  <cp:category/>
</cp:coreProperties>
</file>
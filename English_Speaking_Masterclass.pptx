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slides/slide366.xml" ContentType="application/vnd.openxmlformats-officedocument.presentationml.slide+xml"/>
  <Override PartName="/ppt/slides/slide367.xml" ContentType="application/vnd.openxmlformats-officedocument.presentationml.slide+xml"/>
  <Override PartName="/ppt/slides/slide368.xml" ContentType="application/vnd.openxmlformats-officedocument.presentationml.slide+xml"/>
  <Override PartName="/ppt/slides/slide369.xml" ContentType="application/vnd.openxmlformats-officedocument.presentationml.slide+xml"/>
  <Override PartName="/ppt/slides/slide37.xml" ContentType="application/vnd.openxmlformats-officedocument.presentationml.slide+xml"/>
  <Override PartName="/ppt/slides/slide370.xml" ContentType="application/vnd.openxmlformats-officedocument.presentationml.slide+xml"/>
  <Override PartName="/ppt/slides/slide371.xml" ContentType="application/vnd.openxmlformats-officedocument.presentationml.slide+xml"/>
  <Override PartName="/ppt/slides/slide372.xml" ContentType="application/vnd.openxmlformats-officedocument.presentationml.slide+xml"/>
  <Override PartName="/ppt/slides/slide373.xml" ContentType="application/vnd.openxmlformats-officedocument.presentationml.slide+xml"/>
  <Override PartName="/ppt/slides/slide374.xml" ContentType="application/vnd.openxmlformats-officedocument.presentationml.slide+xml"/>
  <Override PartName="/ppt/slides/slide375.xml" ContentType="application/vnd.openxmlformats-officedocument.presentationml.slide+xml"/>
  <Override PartName="/ppt/slides/slide376.xml" ContentType="application/vnd.openxmlformats-officedocument.presentationml.slide+xml"/>
  <Override PartName="/ppt/slides/slide377.xml" ContentType="application/vnd.openxmlformats-officedocument.presentationml.slide+xml"/>
  <Override PartName="/ppt/slides/slide378.xml" ContentType="application/vnd.openxmlformats-officedocument.presentationml.slide+xml"/>
  <Override PartName="/ppt/slides/slide379.xml" ContentType="application/vnd.openxmlformats-officedocument.presentationml.slide+xml"/>
  <Override PartName="/ppt/slides/slide38.xml" ContentType="application/vnd.openxmlformats-officedocument.presentationml.slide+xml"/>
  <Override PartName="/ppt/slides/slide380.xml" ContentType="application/vnd.openxmlformats-officedocument.presentationml.slide+xml"/>
  <Override PartName="/ppt/slides/slide381.xml" ContentType="application/vnd.openxmlformats-officedocument.presentationml.slide+xml"/>
  <Override PartName="/ppt/slides/slide382.xml" ContentType="application/vnd.openxmlformats-officedocument.presentationml.slide+xml"/>
  <Override PartName="/ppt/slides/slide383.xml" ContentType="application/vnd.openxmlformats-officedocument.presentationml.slide+xml"/>
  <Override PartName="/ppt/slides/slide384.xml" ContentType="application/vnd.openxmlformats-officedocument.presentationml.slide+xml"/>
  <Override PartName="/ppt/slides/slide385.xml" ContentType="application/vnd.openxmlformats-officedocument.presentationml.slide+xml"/>
  <Override PartName="/ppt/slides/slide386.xml" ContentType="application/vnd.openxmlformats-officedocument.presentationml.slide+xml"/>
  <Override PartName="/ppt/slides/slide387.xml" ContentType="application/vnd.openxmlformats-officedocument.presentationml.slide+xml"/>
  <Override PartName="/ppt/slides/slide388.xml" ContentType="application/vnd.openxmlformats-officedocument.presentationml.slide+xml"/>
  <Override PartName="/ppt/slides/slide389.xml" ContentType="application/vnd.openxmlformats-officedocument.presentationml.slide+xml"/>
  <Override PartName="/ppt/slides/slide39.xml" ContentType="application/vnd.openxmlformats-officedocument.presentationml.slide+xml"/>
  <Override PartName="/ppt/slides/slide390.xml" ContentType="application/vnd.openxmlformats-officedocument.presentationml.slide+xml"/>
  <Override PartName="/ppt/slides/slide391.xml" ContentType="application/vnd.openxmlformats-officedocument.presentationml.slide+xml"/>
  <Override PartName="/ppt/slides/slide392.xml" ContentType="application/vnd.openxmlformats-officedocument.presentationml.slide+xml"/>
  <Override PartName="/ppt/slides/slide393.xml" ContentType="application/vnd.openxmlformats-officedocument.presentationml.slide+xml"/>
  <Override PartName="/ppt/slides/slide394.xml" ContentType="application/vnd.openxmlformats-officedocument.presentationml.slide+xml"/>
  <Override PartName="/ppt/slides/slide395.xml" ContentType="application/vnd.openxmlformats-officedocument.presentationml.slide+xml"/>
  <Override PartName="/ppt/slides/slide396.xml" ContentType="application/vnd.openxmlformats-officedocument.presentationml.slide+xml"/>
  <Override PartName="/ppt/slides/slide397.xml" ContentType="application/vnd.openxmlformats-officedocument.presentationml.slide+xml"/>
  <Override PartName="/ppt/slides/slide398.xml" ContentType="application/vnd.openxmlformats-officedocument.presentationml.slide+xml"/>
  <Override PartName="/ppt/slides/slide39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00.xml" ContentType="application/vnd.openxmlformats-officedocument.presentationml.slide+xml"/>
  <Override PartName="/ppt/slides/slide401.xml" ContentType="application/vnd.openxmlformats-officedocument.presentationml.slide+xml"/>
  <Override PartName="/ppt/slides/slide402.xml" ContentType="application/vnd.openxmlformats-officedocument.presentationml.slide+xml"/>
  <Override PartName="/ppt/slides/slide403.xml" ContentType="application/vnd.openxmlformats-officedocument.presentationml.slide+xml"/>
  <Override PartName="/ppt/slides/slide404.xml" ContentType="application/vnd.openxmlformats-officedocument.presentationml.slide+xml"/>
  <Override PartName="/ppt/slides/slide405.xml" ContentType="application/vnd.openxmlformats-officedocument.presentationml.slide+xml"/>
  <Override PartName="/ppt/slides/slide406.xml" ContentType="application/vnd.openxmlformats-officedocument.presentationml.slide+xml"/>
  <Override PartName="/ppt/slides/slide407.xml" ContentType="application/vnd.openxmlformats-officedocument.presentationml.slide+xml"/>
  <Override PartName="/ppt/slides/slide408.xml" ContentType="application/vnd.openxmlformats-officedocument.presentationml.slide+xml"/>
  <Override PartName="/ppt/slides/slide409.xml" ContentType="application/vnd.openxmlformats-officedocument.presentationml.slide+xml"/>
  <Override PartName="/ppt/slides/slide41.xml" ContentType="application/vnd.openxmlformats-officedocument.presentationml.slide+xml"/>
  <Override PartName="/ppt/slides/slide410.xml" ContentType="application/vnd.openxmlformats-officedocument.presentationml.slide+xml"/>
  <Override PartName="/ppt/slides/slide411.xml" ContentType="application/vnd.openxmlformats-officedocument.presentationml.slide+xml"/>
  <Override PartName="/ppt/slides/slide412.xml" ContentType="application/vnd.openxmlformats-officedocument.presentationml.slide+xml"/>
  <Override PartName="/ppt/slides/slide413.xml" ContentType="application/vnd.openxmlformats-officedocument.presentationml.slide+xml"/>
  <Override PartName="/ppt/slides/slide414.xml" ContentType="application/vnd.openxmlformats-officedocument.presentationml.slide+xml"/>
  <Override PartName="/ppt/slides/slide415.xml" ContentType="application/vnd.openxmlformats-officedocument.presentationml.slide+xml"/>
  <Override PartName="/ppt/slides/slide416.xml" ContentType="application/vnd.openxmlformats-officedocument.presentationml.slide+xml"/>
  <Override PartName="/ppt/slides/slide417.xml" ContentType="application/vnd.openxmlformats-officedocument.presentationml.slide+xml"/>
  <Override PartName="/ppt/slides/slide418.xml" ContentType="application/vnd.openxmlformats-officedocument.presentationml.slide+xml"/>
  <Override PartName="/ppt/slides/slide419.xml" ContentType="application/vnd.openxmlformats-officedocument.presentationml.slide+xml"/>
  <Override PartName="/ppt/slides/slide42.xml" ContentType="application/vnd.openxmlformats-officedocument.presentationml.slide+xml"/>
  <Override PartName="/ppt/slides/slide420.xml" ContentType="application/vnd.openxmlformats-officedocument.presentationml.slide+xml"/>
  <Override PartName="/ppt/slides/slide421.xml" ContentType="application/vnd.openxmlformats-officedocument.presentationml.slide+xml"/>
  <Override PartName="/ppt/slides/slide422.xml" ContentType="application/vnd.openxmlformats-officedocument.presentationml.slide+xml"/>
  <Override PartName="/ppt/slides/slide423.xml" ContentType="application/vnd.openxmlformats-officedocument.presentationml.slide+xml"/>
  <Override PartName="/ppt/slides/slide424.xml" ContentType="application/vnd.openxmlformats-officedocument.presentationml.slide+xml"/>
  <Override PartName="/ppt/slides/slide425.xml" ContentType="application/vnd.openxmlformats-officedocument.presentationml.slide+xml"/>
  <Override PartName="/ppt/slides/slide426.xml" ContentType="application/vnd.openxmlformats-officedocument.presentationml.slide+xml"/>
  <Override PartName="/ppt/slides/slide427.xml" ContentType="application/vnd.openxmlformats-officedocument.presentationml.slide+xml"/>
  <Override PartName="/ppt/slides/slide428.xml" ContentType="application/vnd.openxmlformats-officedocument.presentationml.slide+xml"/>
  <Override PartName="/ppt/slides/slide429.xml" ContentType="application/vnd.openxmlformats-officedocument.presentationml.slide+xml"/>
  <Override PartName="/ppt/slides/slide43.xml" ContentType="application/vnd.openxmlformats-officedocument.presentationml.slide+xml"/>
  <Override PartName="/ppt/slides/slide430.xml" ContentType="application/vnd.openxmlformats-officedocument.presentationml.slide+xml"/>
  <Override PartName="/ppt/slides/slide431.xml" ContentType="application/vnd.openxmlformats-officedocument.presentationml.slide+xml"/>
  <Override PartName="/ppt/slides/slide432.xml" ContentType="application/vnd.openxmlformats-officedocument.presentationml.slide+xml"/>
  <Override PartName="/ppt/slides/slide433.xml" ContentType="application/vnd.openxmlformats-officedocument.presentationml.slide+xml"/>
  <Override PartName="/ppt/slides/slide434.xml" ContentType="application/vnd.openxmlformats-officedocument.presentationml.slide+xml"/>
  <Override PartName="/ppt/slides/slide435.xml" ContentType="application/vnd.openxmlformats-officedocument.presentationml.slide+xml"/>
  <Override PartName="/ppt/slides/slide436.xml" ContentType="application/vnd.openxmlformats-officedocument.presentationml.slide+xml"/>
  <Override PartName="/ppt/slides/slide437.xml" ContentType="application/vnd.openxmlformats-officedocument.presentationml.slide+xml"/>
  <Override PartName="/ppt/slides/slide438.xml" ContentType="application/vnd.openxmlformats-officedocument.presentationml.slide+xml"/>
  <Override PartName="/ppt/slides/slide439.xml" ContentType="application/vnd.openxmlformats-officedocument.presentationml.slide+xml"/>
  <Override PartName="/ppt/slides/slide44.xml" ContentType="application/vnd.openxmlformats-officedocument.presentationml.slide+xml"/>
  <Override PartName="/ppt/slides/slide440.xml" ContentType="application/vnd.openxmlformats-officedocument.presentationml.slide+xml"/>
  <Override PartName="/ppt/slides/slide441.xml" ContentType="application/vnd.openxmlformats-officedocument.presentationml.slide+xml"/>
  <Override PartName="/ppt/slides/slide442.xml" ContentType="application/vnd.openxmlformats-officedocument.presentationml.slide+xml"/>
  <Override PartName="/ppt/slides/slide443.xml" ContentType="application/vnd.openxmlformats-officedocument.presentationml.slide+xml"/>
  <Override PartName="/ppt/slides/slide444.xml" ContentType="application/vnd.openxmlformats-officedocument.presentationml.slide+xml"/>
  <Override PartName="/ppt/slides/slide445.xml" ContentType="application/vnd.openxmlformats-officedocument.presentationml.slide+xml"/>
  <Override PartName="/ppt/slides/slide446.xml" ContentType="application/vnd.openxmlformats-officedocument.presentationml.slide+xml"/>
  <Override PartName="/ppt/slides/slide447.xml" ContentType="application/vnd.openxmlformats-officedocument.presentationml.slide+xml"/>
  <Override PartName="/ppt/slides/slide448.xml" ContentType="application/vnd.openxmlformats-officedocument.presentationml.slide+xml"/>
  <Override PartName="/ppt/slides/slide449.xml" ContentType="application/vnd.openxmlformats-officedocument.presentationml.slide+xml"/>
  <Override PartName="/ppt/slides/slide45.xml" ContentType="application/vnd.openxmlformats-officedocument.presentationml.slide+xml"/>
  <Override PartName="/ppt/slides/slide450.xml" ContentType="application/vnd.openxmlformats-officedocument.presentationml.slide+xml"/>
  <Override PartName="/ppt/slides/slide451.xml" ContentType="application/vnd.openxmlformats-officedocument.presentationml.slide+xml"/>
  <Override PartName="/ppt/slides/slide452.xml" ContentType="application/vnd.openxmlformats-officedocument.presentationml.slide+xml"/>
  <Override PartName="/ppt/slides/slide453.xml" ContentType="application/vnd.openxmlformats-officedocument.presentationml.slide+xml"/>
  <Override PartName="/ppt/slides/slide454.xml" ContentType="application/vnd.openxmlformats-officedocument.presentationml.slide+xml"/>
  <Override PartName="/ppt/slides/slide455.xml" ContentType="application/vnd.openxmlformats-officedocument.presentationml.slide+xml"/>
  <Override PartName="/ppt/slides/slide456.xml" ContentType="application/vnd.openxmlformats-officedocument.presentationml.slide+xml"/>
  <Override PartName="/ppt/slides/slide457.xml" ContentType="application/vnd.openxmlformats-officedocument.presentationml.slide+xml"/>
  <Override PartName="/ppt/slides/slide458.xml" ContentType="application/vnd.openxmlformats-officedocument.presentationml.slide+xml"/>
  <Override PartName="/ppt/slides/slide459.xml" ContentType="application/vnd.openxmlformats-officedocument.presentationml.slide+xml"/>
  <Override PartName="/ppt/slides/slide46.xml" ContentType="application/vnd.openxmlformats-officedocument.presentationml.slide+xml"/>
  <Override PartName="/ppt/slides/slide460.xml" ContentType="application/vnd.openxmlformats-officedocument.presentationml.slide+xml"/>
  <Override PartName="/ppt/slides/slide461.xml" ContentType="application/vnd.openxmlformats-officedocument.presentationml.slide+xml"/>
  <Override PartName="/ppt/slides/slide462.xml" ContentType="application/vnd.openxmlformats-officedocument.presentationml.slide+xml"/>
  <Override PartName="/ppt/slides/slide463.xml" ContentType="application/vnd.openxmlformats-officedocument.presentationml.slide+xml"/>
  <Override PartName="/ppt/slides/slide464.xml" ContentType="application/vnd.openxmlformats-officedocument.presentationml.slide+xml"/>
  <Override PartName="/ppt/slides/slide465.xml" ContentType="application/vnd.openxmlformats-officedocument.presentationml.slide+xml"/>
  <Override PartName="/ppt/slides/slide466.xml" ContentType="application/vnd.openxmlformats-officedocument.presentationml.slide+xml"/>
  <Override PartName="/ppt/slides/slide467.xml" ContentType="application/vnd.openxmlformats-officedocument.presentationml.slide+xml"/>
  <Override PartName="/ppt/slides/slide468.xml" ContentType="application/vnd.openxmlformats-officedocument.presentationml.slide+xml"/>
  <Override PartName="/ppt/slides/slide469.xml" ContentType="application/vnd.openxmlformats-officedocument.presentationml.slide+xml"/>
  <Override PartName="/ppt/slides/slide47.xml" ContentType="application/vnd.openxmlformats-officedocument.presentationml.slide+xml"/>
  <Override PartName="/ppt/slides/slide470.xml" ContentType="application/vnd.openxmlformats-officedocument.presentationml.slide+xml"/>
  <Override PartName="/ppt/slides/slide471.xml" ContentType="application/vnd.openxmlformats-officedocument.presentationml.slide+xml"/>
  <Override PartName="/ppt/slides/slide472.xml" ContentType="application/vnd.openxmlformats-officedocument.presentationml.slide+xml"/>
  <Override PartName="/ppt/slides/slide473.xml" ContentType="application/vnd.openxmlformats-officedocument.presentationml.slide+xml"/>
  <Override PartName="/ppt/slides/slide474.xml" ContentType="application/vnd.openxmlformats-officedocument.presentationml.slide+xml"/>
  <Override PartName="/ppt/slides/slide475.xml" ContentType="application/vnd.openxmlformats-officedocument.presentationml.slide+xml"/>
  <Override PartName="/ppt/slides/slide476.xml" ContentType="application/vnd.openxmlformats-officedocument.presentationml.slide+xml"/>
  <Override PartName="/ppt/slides/slide477.xml" ContentType="application/vnd.openxmlformats-officedocument.presentationml.slide+xml"/>
  <Override PartName="/ppt/slides/slide478.xml" ContentType="application/vnd.openxmlformats-officedocument.presentationml.slide+xml"/>
  <Override PartName="/ppt/slides/slide479.xml" ContentType="application/vnd.openxmlformats-officedocument.presentationml.slide+xml"/>
  <Override PartName="/ppt/slides/slide48.xml" ContentType="application/vnd.openxmlformats-officedocument.presentationml.slide+xml"/>
  <Override PartName="/ppt/slides/slide480.xml" ContentType="application/vnd.openxmlformats-officedocument.presentationml.slide+xml"/>
  <Override PartName="/ppt/slides/slide481.xml" ContentType="application/vnd.openxmlformats-officedocument.presentationml.slide+xml"/>
  <Override PartName="/ppt/slides/slide482.xml" ContentType="application/vnd.openxmlformats-officedocument.presentationml.slide+xml"/>
  <Override PartName="/ppt/slides/slide483.xml" ContentType="application/vnd.openxmlformats-officedocument.presentationml.slide+xml"/>
  <Override PartName="/ppt/slides/slide484.xml" ContentType="application/vnd.openxmlformats-officedocument.presentationml.slide+xml"/>
  <Override PartName="/ppt/slides/slide485.xml" ContentType="application/vnd.openxmlformats-officedocument.presentationml.slide+xml"/>
  <Override PartName="/ppt/slides/slide486.xml" ContentType="application/vnd.openxmlformats-officedocument.presentationml.slide+xml"/>
  <Override PartName="/ppt/slides/slide487.xml" ContentType="application/vnd.openxmlformats-officedocument.presentationml.slide+xml"/>
  <Override PartName="/ppt/slides/slide488.xml" ContentType="application/vnd.openxmlformats-officedocument.presentationml.slide+xml"/>
  <Override PartName="/ppt/slides/slide489.xml" ContentType="application/vnd.openxmlformats-officedocument.presentationml.slide+xml"/>
  <Override PartName="/ppt/slides/slide49.xml" ContentType="application/vnd.openxmlformats-officedocument.presentationml.slide+xml"/>
  <Override PartName="/ppt/slides/slide490.xml" ContentType="application/vnd.openxmlformats-officedocument.presentationml.slide+xml"/>
  <Override PartName="/ppt/slides/slide491.xml" ContentType="application/vnd.openxmlformats-officedocument.presentationml.slide+xml"/>
  <Override PartName="/ppt/slides/slide492.xml" ContentType="application/vnd.openxmlformats-officedocument.presentationml.slide+xml"/>
  <Override PartName="/ppt/slides/slide493.xml" ContentType="application/vnd.openxmlformats-officedocument.presentationml.slide+xml"/>
  <Override PartName="/ppt/slides/slide494.xml" ContentType="application/vnd.openxmlformats-officedocument.presentationml.slide+xml"/>
  <Override PartName="/ppt/slides/slide495.xml" ContentType="application/vnd.openxmlformats-officedocument.presentationml.slide+xml"/>
  <Override PartName="/ppt/slides/slide496.xml" ContentType="application/vnd.openxmlformats-officedocument.presentationml.slide+xml"/>
  <Override PartName="/ppt/slides/slide497.xml" ContentType="application/vnd.openxmlformats-officedocument.presentationml.slide+xml"/>
  <Override PartName="/ppt/slides/slide498.xml" ContentType="application/vnd.openxmlformats-officedocument.presentationml.slide+xml"/>
  <Override PartName="/ppt/slides/slide49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00.xml" ContentType="application/vnd.openxmlformats-officedocument.presentationml.slide+xml"/>
  <Override PartName="/ppt/slides/slide501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4" r:id="rId295"/>
    <p:sldId id="545" r:id="rId296"/>
    <p:sldId id="546" r:id="rId297"/>
    <p:sldId id="547" r:id="rId298"/>
    <p:sldId id="548" r:id="rId299"/>
    <p:sldId id="549" r:id="rId300"/>
    <p:sldId id="550" r:id="rId301"/>
    <p:sldId id="551" r:id="rId302"/>
    <p:sldId id="552" r:id="rId303"/>
    <p:sldId id="553" r:id="rId304"/>
    <p:sldId id="554" r:id="rId305"/>
    <p:sldId id="555" r:id="rId306"/>
    <p:sldId id="556" r:id="rId307"/>
    <p:sldId id="557" r:id="rId308"/>
    <p:sldId id="558" r:id="rId309"/>
    <p:sldId id="559" r:id="rId310"/>
    <p:sldId id="560" r:id="rId311"/>
    <p:sldId id="561" r:id="rId312"/>
    <p:sldId id="562" r:id="rId313"/>
    <p:sldId id="563" r:id="rId314"/>
    <p:sldId id="564" r:id="rId315"/>
    <p:sldId id="565" r:id="rId316"/>
    <p:sldId id="566" r:id="rId317"/>
    <p:sldId id="567" r:id="rId318"/>
    <p:sldId id="568" r:id="rId319"/>
    <p:sldId id="569" r:id="rId320"/>
    <p:sldId id="570" r:id="rId321"/>
    <p:sldId id="571" r:id="rId322"/>
    <p:sldId id="572" r:id="rId323"/>
    <p:sldId id="573" r:id="rId324"/>
    <p:sldId id="574" r:id="rId325"/>
    <p:sldId id="575" r:id="rId326"/>
    <p:sldId id="576" r:id="rId327"/>
    <p:sldId id="577" r:id="rId328"/>
    <p:sldId id="578" r:id="rId329"/>
    <p:sldId id="579" r:id="rId330"/>
    <p:sldId id="580" r:id="rId331"/>
    <p:sldId id="581" r:id="rId332"/>
    <p:sldId id="582" r:id="rId333"/>
    <p:sldId id="583" r:id="rId334"/>
    <p:sldId id="584" r:id="rId335"/>
    <p:sldId id="585" r:id="rId336"/>
    <p:sldId id="586" r:id="rId337"/>
    <p:sldId id="587" r:id="rId338"/>
    <p:sldId id="588" r:id="rId339"/>
    <p:sldId id="589" r:id="rId340"/>
    <p:sldId id="590" r:id="rId341"/>
    <p:sldId id="591" r:id="rId342"/>
    <p:sldId id="592" r:id="rId343"/>
    <p:sldId id="593" r:id="rId344"/>
    <p:sldId id="594" r:id="rId345"/>
    <p:sldId id="595" r:id="rId346"/>
    <p:sldId id="596" r:id="rId347"/>
    <p:sldId id="597" r:id="rId348"/>
    <p:sldId id="598" r:id="rId349"/>
    <p:sldId id="599" r:id="rId350"/>
    <p:sldId id="600" r:id="rId351"/>
    <p:sldId id="601" r:id="rId352"/>
    <p:sldId id="602" r:id="rId353"/>
    <p:sldId id="603" r:id="rId354"/>
    <p:sldId id="604" r:id="rId355"/>
    <p:sldId id="605" r:id="rId356"/>
    <p:sldId id="606" r:id="rId357"/>
    <p:sldId id="607" r:id="rId358"/>
    <p:sldId id="608" r:id="rId359"/>
    <p:sldId id="609" r:id="rId360"/>
    <p:sldId id="610" r:id="rId361"/>
    <p:sldId id="611" r:id="rId362"/>
    <p:sldId id="612" r:id="rId363"/>
    <p:sldId id="613" r:id="rId364"/>
    <p:sldId id="614" r:id="rId365"/>
    <p:sldId id="615" r:id="rId366"/>
    <p:sldId id="616" r:id="rId367"/>
    <p:sldId id="617" r:id="rId368"/>
    <p:sldId id="618" r:id="rId369"/>
    <p:sldId id="619" r:id="rId370"/>
    <p:sldId id="620" r:id="rId371"/>
    <p:sldId id="621" r:id="rId372"/>
    <p:sldId id="622" r:id="rId373"/>
    <p:sldId id="623" r:id="rId374"/>
    <p:sldId id="624" r:id="rId375"/>
    <p:sldId id="625" r:id="rId376"/>
    <p:sldId id="626" r:id="rId377"/>
    <p:sldId id="627" r:id="rId378"/>
    <p:sldId id="628" r:id="rId379"/>
    <p:sldId id="629" r:id="rId380"/>
    <p:sldId id="630" r:id="rId381"/>
    <p:sldId id="631" r:id="rId382"/>
    <p:sldId id="632" r:id="rId383"/>
    <p:sldId id="633" r:id="rId384"/>
    <p:sldId id="634" r:id="rId385"/>
    <p:sldId id="635" r:id="rId386"/>
    <p:sldId id="636" r:id="rId387"/>
    <p:sldId id="637" r:id="rId388"/>
    <p:sldId id="638" r:id="rId389"/>
    <p:sldId id="639" r:id="rId390"/>
    <p:sldId id="640" r:id="rId391"/>
    <p:sldId id="641" r:id="rId392"/>
    <p:sldId id="642" r:id="rId393"/>
    <p:sldId id="643" r:id="rId394"/>
    <p:sldId id="644" r:id="rId395"/>
    <p:sldId id="645" r:id="rId396"/>
    <p:sldId id="646" r:id="rId397"/>
    <p:sldId id="647" r:id="rId398"/>
    <p:sldId id="648" r:id="rId399"/>
    <p:sldId id="649" r:id="rId400"/>
    <p:sldId id="650" r:id="rId401"/>
    <p:sldId id="651" r:id="rId402"/>
    <p:sldId id="652" r:id="rId403"/>
    <p:sldId id="653" r:id="rId404"/>
    <p:sldId id="654" r:id="rId405"/>
    <p:sldId id="655" r:id="rId406"/>
    <p:sldId id="656" r:id="rId407"/>
    <p:sldId id="657" r:id="rId408"/>
    <p:sldId id="658" r:id="rId409"/>
    <p:sldId id="659" r:id="rId410"/>
    <p:sldId id="660" r:id="rId411"/>
    <p:sldId id="661" r:id="rId412"/>
    <p:sldId id="662" r:id="rId413"/>
    <p:sldId id="663" r:id="rId414"/>
    <p:sldId id="664" r:id="rId415"/>
    <p:sldId id="665" r:id="rId416"/>
    <p:sldId id="666" r:id="rId417"/>
    <p:sldId id="667" r:id="rId418"/>
    <p:sldId id="668" r:id="rId419"/>
    <p:sldId id="669" r:id="rId420"/>
    <p:sldId id="670" r:id="rId421"/>
    <p:sldId id="671" r:id="rId422"/>
    <p:sldId id="672" r:id="rId423"/>
    <p:sldId id="673" r:id="rId424"/>
    <p:sldId id="674" r:id="rId425"/>
    <p:sldId id="675" r:id="rId426"/>
    <p:sldId id="676" r:id="rId427"/>
    <p:sldId id="677" r:id="rId428"/>
    <p:sldId id="678" r:id="rId429"/>
    <p:sldId id="679" r:id="rId430"/>
    <p:sldId id="680" r:id="rId431"/>
    <p:sldId id="681" r:id="rId432"/>
    <p:sldId id="682" r:id="rId433"/>
    <p:sldId id="683" r:id="rId434"/>
    <p:sldId id="684" r:id="rId435"/>
    <p:sldId id="685" r:id="rId436"/>
    <p:sldId id="686" r:id="rId437"/>
    <p:sldId id="687" r:id="rId438"/>
    <p:sldId id="688" r:id="rId439"/>
    <p:sldId id="689" r:id="rId440"/>
    <p:sldId id="690" r:id="rId441"/>
    <p:sldId id="691" r:id="rId442"/>
    <p:sldId id="692" r:id="rId443"/>
    <p:sldId id="693" r:id="rId444"/>
    <p:sldId id="694" r:id="rId445"/>
    <p:sldId id="695" r:id="rId446"/>
    <p:sldId id="696" r:id="rId447"/>
    <p:sldId id="697" r:id="rId448"/>
    <p:sldId id="698" r:id="rId449"/>
    <p:sldId id="699" r:id="rId450"/>
    <p:sldId id="700" r:id="rId451"/>
    <p:sldId id="701" r:id="rId452"/>
    <p:sldId id="702" r:id="rId453"/>
    <p:sldId id="703" r:id="rId454"/>
    <p:sldId id="704" r:id="rId455"/>
    <p:sldId id="705" r:id="rId456"/>
    <p:sldId id="706" r:id="rId457"/>
    <p:sldId id="707" r:id="rId458"/>
    <p:sldId id="708" r:id="rId459"/>
    <p:sldId id="709" r:id="rId460"/>
    <p:sldId id="710" r:id="rId461"/>
    <p:sldId id="711" r:id="rId462"/>
    <p:sldId id="712" r:id="rId463"/>
    <p:sldId id="713" r:id="rId464"/>
    <p:sldId id="714" r:id="rId465"/>
    <p:sldId id="715" r:id="rId466"/>
    <p:sldId id="716" r:id="rId467"/>
    <p:sldId id="717" r:id="rId468"/>
    <p:sldId id="718" r:id="rId469"/>
    <p:sldId id="719" r:id="rId470"/>
    <p:sldId id="720" r:id="rId471"/>
    <p:sldId id="721" r:id="rId472"/>
    <p:sldId id="722" r:id="rId473"/>
    <p:sldId id="723" r:id="rId474"/>
    <p:sldId id="724" r:id="rId475"/>
    <p:sldId id="725" r:id="rId476"/>
    <p:sldId id="726" r:id="rId477"/>
    <p:sldId id="727" r:id="rId478"/>
    <p:sldId id="728" r:id="rId479"/>
    <p:sldId id="729" r:id="rId480"/>
    <p:sldId id="730" r:id="rId481"/>
    <p:sldId id="731" r:id="rId482"/>
    <p:sldId id="732" r:id="rId483"/>
    <p:sldId id="733" r:id="rId484"/>
    <p:sldId id="734" r:id="rId485"/>
    <p:sldId id="735" r:id="rId486"/>
    <p:sldId id="736" r:id="rId487"/>
    <p:sldId id="737" r:id="rId488"/>
    <p:sldId id="738" r:id="rId489"/>
    <p:sldId id="739" r:id="rId490"/>
    <p:sldId id="740" r:id="rId491"/>
    <p:sldId id="741" r:id="rId492"/>
    <p:sldId id="742" r:id="rId493"/>
    <p:sldId id="743" r:id="rId494"/>
    <p:sldId id="744" r:id="rId495"/>
    <p:sldId id="745" r:id="rId496"/>
    <p:sldId id="746" r:id="rId497"/>
    <p:sldId id="747" r:id="rId498"/>
    <p:sldId id="748" r:id="rId499"/>
    <p:sldId id="749" r:id="rId500"/>
    <p:sldId id="750" r:id="rId501"/>
    <p:sldId id="751" r:id="rId502"/>
    <p:sldId id="752" r:id="rId503"/>
    <p:sldId id="753" r:id="rId504"/>
    <p:sldId id="754" r:id="rId505"/>
    <p:sldId id="755" r:id="rId506"/>
    <p:sldId id="756" r:id="rId50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Relationship Id="rId290" Type="http://schemas.openxmlformats.org/officeDocument/2006/relationships/slide" Target="slides/slide284.xml"/><Relationship Id="rId291" Type="http://schemas.openxmlformats.org/officeDocument/2006/relationships/slide" Target="slides/slide285.xml"/><Relationship Id="rId292" Type="http://schemas.openxmlformats.org/officeDocument/2006/relationships/slide" Target="slides/slide286.xml"/><Relationship Id="rId293" Type="http://schemas.openxmlformats.org/officeDocument/2006/relationships/slide" Target="slides/slide287.xml"/><Relationship Id="rId294" Type="http://schemas.openxmlformats.org/officeDocument/2006/relationships/slide" Target="slides/slide288.xml"/><Relationship Id="rId295" Type="http://schemas.openxmlformats.org/officeDocument/2006/relationships/slide" Target="slides/slide289.xml"/><Relationship Id="rId296" Type="http://schemas.openxmlformats.org/officeDocument/2006/relationships/slide" Target="slides/slide290.xml"/><Relationship Id="rId297" Type="http://schemas.openxmlformats.org/officeDocument/2006/relationships/slide" Target="slides/slide291.xml"/><Relationship Id="rId298" Type="http://schemas.openxmlformats.org/officeDocument/2006/relationships/slide" Target="slides/slide292.xml"/><Relationship Id="rId299" Type="http://schemas.openxmlformats.org/officeDocument/2006/relationships/slide" Target="slides/slide293.xml"/><Relationship Id="rId300" Type="http://schemas.openxmlformats.org/officeDocument/2006/relationships/slide" Target="slides/slide294.xml"/><Relationship Id="rId301" Type="http://schemas.openxmlformats.org/officeDocument/2006/relationships/slide" Target="slides/slide295.xml"/><Relationship Id="rId302" Type="http://schemas.openxmlformats.org/officeDocument/2006/relationships/slide" Target="slides/slide296.xml"/><Relationship Id="rId303" Type="http://schemas.openxmlformats.org/officeDocument/2006/relationships/slide" Target="slides/slide297.xml"/><Relationship Id="rId304" Type="http://schemas.openxmlformats.org/officeDocument/2006/relationships/slide" Target="slides/slide298.xml"/><Relationship Id="rId305" Type="http://schemas.openxmlformats.org/officeDocument/2006/relationships/slide" Target="slides/slide299.xml"/><Relationship Id="rId306" Type="http://schemas.openxmlformats.org/officeDocument/2006/relationships/slide" Target="slides/slide300.xml"/><Relationship Id="rId307" Type="http://schemas.openxmlformats.org/officeDocument/2006/relationships/slide" Target="slides/slide301.xml"/><Relationship Id="rId308" Type="http://schemas.openxmlformats.org/officeDocument/2006/relationships/slide" Target="slides/slide302.xml"/><Relationship Id="rId309" Type="http://schemas.openxmlformats.org/officeDocument/2006/relationships/slide" Target="slides/slide303.xml"/><Relationship Id="rId310" Type="http://schemas.openxmlformats.org/officeDocument/2006/relationships/slide" Target="slides/slide304.xml"/><Relationship Id="rId311" Type="http://schemas.openxmlformats.org/officeDocument/2006/relationships/slide" Target="slides/slide305.xml"/><Relationship Id="rId312" Type="http://schemas.openxmlformats.org/officeDocument/2006/relationships/slide" Target="slides/slide306.xml"/><Relationship Id="rId313" Type="http://schemas.openxmlformats.org/officeDocument/2006/relationships/slide" Target="slides/slide307.xml"/><Relationship Id="rId314" Type="http://schemas.openxmlformats.org/officeDocument/2006/relationships/slide" Target="slides/slide308.xml"/><Relationship Id="rId315" Type="http://schemas.openxmlformats.org/officeDocument/2006/relationships/slide" Target="slides/slide309.xml"/><Relationship Id="rId316" Type="http://schemas.openxmlformats.org/officeDocument/2006/relationships/slide" Target="slides/slide310.xml"/><Relationship Id="rId317" Type="http://schemas.openxmlformats.org/officeDocument/2006/relationships/slide" Target="slides/slide311.xml"/><Relationship Id="rId318" Type="http://schemas.openxmlformats.org/officeDocument/2006/relationships/slide" Target="slides/slide312.xml"/><Relationship Id="rId319" Type="http://schemas.openxmlformats.org/officeDocument/2006/relationships/slide" Target="slides/slide313.xml"/><Relationship Id="rId320" Type="http://schemas.openxmlformats.org/officeDocument/2006/relationships/slide" Target="slides/slide314.xml"/><Relationship Id="rId321" Type="http://schemas.openxmlformats.org/officeDocument/2006/relationships/slide" Target="slides/slide315.xml"/><Relationship Id="rId322" Type="http://schemas.openxmlformats.org/officeDocument/2006/relationships/slide" Target="slides/slide316.xml"/><Relationship Id="rId323" Type="http://schemas.openxmlformats.org/officeDocument/2006/relationships/slide" Target="slides/slide317.xml"/><Relationship Id="rId324" Type="http://schemas.openxmlformats.org/officeDocument/2006/relationships/slide" Target="slides/slide318.xml"/><Relationship Id="rId325" Type="http://schemas.openxmlformats.org/officeDocument/2006/relationships/slide" Target="slides/slide319.xml"/><Relationship Id="rId326" Type="http://schemas.openxmlformats.org/officeDocument/2006/relationships/slide" Target="slides/slide320.xml"/><Relationship Id="rId327" Type="http://schemas.openxmlformats.org/officeDocument/2006/relationships/slide" Target="slides/slide321.xml"/><Relationship Id="rId328" Type="http://schemas.openxmlformats.org/officeDocument/2006/relationships/slide" Target="slides/slide322.xml"/><Relationship Id="rId329" Type="http://schemas.openxmlformats.org/officeDocument/2006/relationships/slide" Target="slides/slide323.xml"/><Relationship Id="rId330" Type="http://schemas.openxmlformats.org/officeDocument/2006/relationships/slide" Target="slides/slide324.xml"/><Relationship Id="rId331" Type="http://schemas.openxmlformats.org/officeDocument/2006/relationships/slide" Target="slides/slide325.xml"/><Relationship Id="rId332" Type="http://schemas.openxmlformats.org/officeDocument/2006/relationships/slide" Target="slides/slide326.xml"/><Relationship Id="rId333" Type="http://schemas.openxmlformats.org/officeDocument/2006/relationships/slide" Target="slides/slide327.xml"/><Relationship Id="rId334" Type="http://schemas.openxmlformats.org/officeDocument/2006/relationships/slide" Target="slides/slide328.xml"/><Relationship Id="rId335" Type="http://schemas.openxmlformats.org/officeDocument/2006/relationships/slide" Target="slides/slide329.xml"/><Relationship Id="rId336" Type="http://schemas.openxmlformats.org/officeDocument/2006/relationships/slide" Target="slides/slide330.xml"/><Relationship Id="rId337" Type="http://schemas.openxmlformats.org/officeDocument/2006/relationships/slide" Target="slides/slide331.xml"/><Relationship Id="rId338" Type="http://schemas.openxmlformats.org/officeDocument/2006/relationships/slide" Target="slides/slide332.xml"/><Relationship Id="rId339" Type="http://schemas.openxmlformats.org/officeDocument/2006/relationships/slide" Target="slides/slide333.xml"/><Relationship Id="rId340" Type="http://schemas.openxmlformats.org/officeDocument/2006/relationships/slide" Target="slides/slide334.xml"/><Relationship Id="rId341" Type="http://schemas.openxmlformats.org/officeDocument/2006/relationships/slide" Target="slides/slide335.xml"/><Relationship Id="rId342" Type="http://schemas.openxmlformats.org/officeDocument/2006/relationships/slide" Target="slides/slide336.xml"/><Relationship Id="rId343" Type="http://schemas.openxmlformats.org/officeDocument/2006/relationships/slide" Target="slides/slide337.xml"/><Relationship Id="rId344" Type="http://schemas.openxmlformats.org/officeDocument/2006/relationships/slide" Target="slides/slide338.xml"/><Relationship Id="rId345" Type="http://schemas.openxmlformats.org/officeDocument/2006/relationships/slide" Target="slides/slide339.xml"/><Relationship Id="rId346" Type="http://schemas.openxmlformats.org/officeDocument/2006/relationships/slide" Target="slides/slide340.xml"/><Relationship Id="rId347" Type="http://schemas.openxmlformats.org/officeDocument/2006/relationships/slide" Target="slides/slide341.xml"/><Relationship Id="rId348" Type="http://schemas.openxmlformats.org/officeDocument/2006/relationships/slide" Target="slides/slide342.xml"/><Relationship Id="rId349" Type="http://schemas.openxmlformats.org/officeDocument/2006/relationships/slide" Target="slides/slide343.xml"/><Relationship Id="rId350" Type="http://schemas.openxmlformats.org/officeDocument/2006/relationships/slide" Target="slides/slide344.xml"/><Relationship Id="rId351" Type="http://schemas.openxmlformats.org/officeDocument/2006/relationships/slide" Target="slides/slide345.xml"/><Relationship Id="rId352" Type="http://schemas.openxmlformats.org/officeDocument/2006/relationships/slide" Target="slides/slide346.xml"/><Relationship Id="rId353" Type="http://schemas.openxmlformats.org/officeDocument/2006/relationships/slide" Target="slides/slide347.xml"/><Relationship Id="rId354" Type="http://schemas.openxmlformats.org/officeDocument/2006/relationships/slide" Target="slides/slide348.xml"/><Relationship Id="rId355" Type="http://schemas.openxmlformats.org/officeDocument/2006/relationships/slide" Target="slides/slide349.xml"/><Relationship Id="rId356" Type="http://schemas.openxmlformats.org/officeDocument/2006/relationships/slide" Target="slides/slide350.xml"/><Relationship Id="rId357" Type="http://schemas.openxmlformats.org/officeDocument/2006/relationships/slide" Target="slides/slide351.xml"/><Relationship Id="rId358" Type="http://schemas.openxmlformats.org/officeDocument/2006/relationships/slide" Target="slides/slide352.xml"/><Relationship Id="rId359" Type="http://schemas.openxmlformats.org/officeDocument/2006/relationships/slide" Target="slides/slide353.xml"/><Relationship Id="rId360" Type="http://schemas.openxmlformats.org/officeDocument/2006/relationships/slide" Target="slides/slide354.xml"/><Relationship Id="rId361" Type="http://schemas.openxmlformats.org/officeDocument/2006/relationships/slide" Target="slides/slide355.xml"/><Relationship Id="rId362" Type="http://schemas.openxmlformats.org/officeDocument/2006/relationships/slide" Target="slides/slide356.xml"/><Relationship Id="rId363" Type="http://schemas.openxmlformats.org/officeDocument/2006/relationships/slide" Target="slides/slide357.xml"/><Relationship Id="rId364" Type="http://schemas.openxmlformats.org/officeDocument/2006/relationships/slide" Target="slides/slide358.xml"/><Relationship Id="rId365" Type="http://schemas.openxmlformats.org/officeDocument/2006/relationships/slide" Target="slides/slide359.xml"/><Relationship Id="rId366" Type="http://schemas.openxmlformats.org/officeDocument/2006/relationships/slide" Target="slides/slide360.xml"/><Relationship Id="rId367" Type="http://schemas.openxmlformats.org/officeDocument/2006/relationships/slide" Target="slides/slide361.xml"/><Relationship Id="rId368" Type="http://schemas.openxmlformats.org/officeDocument/2006/relationships/slide" Target="slides/slide362.xml"/><Relationship Id="rId369" Type="http://schemas.openxmlformats.org/officeDocument/2006/relationships/slide" Target="slides/slide363.xml"/><Relationship Id="rId370" Type="http://schemas.openxmlformats.org/officeDocument/2006/relationships/slide" Target="slides/slide364.xml"/><Relationship Id="rId371" Type="http://schemas.openxmlformats.org/officeDocument/2006/relationships/slide" Target="slides/slide365.xml"/><Relationship Id="rId372" Type="http://schemas.openxmlformats.org/officeDocument/2006/relationships/slide" Target="slides/slide366.xml"/><Relationship Id="rId373" Type="http://schemas.openxmlformats.org/officeDocument/2006/relationships/slide" Target="slides/slide367.xml"/><Relationship Id="rId374" Type="http://schemas.openxmlformats.org/officeDocument/2006/relationships/slide" Target="slides/slide368.xml"/><Relationship Id="rId375" Type="http://schemas.openxmlformats.org/officeDocument/2006/relationships/slide" Target="slides/slide369.xml"/><Relationship Id="rId376" Type="http://schemas.openxmlformats.org/officeDocument/2006/relationships/slide" Target="slides/slide370.xml"/><Relationship Id="rId377" Type="http://schemas.openxmlformats.org/officeDocument/2006/relationships/slide" Target="slides/slide371.xml"/><Relationship Id="rId378" Type="http://schemas.openxmlformats.org/officeDocument/2006/relationships/slide" Target="slides/slide372.xml"/><Relationship Id="rId379" Type="http://schemas.openxmlformats.org/officeDocument/2006/relationships/slide" Target="slides/slide373.xml"/><Relationship Id="rId380" Type="http://schemas.openxmlformats.org/officeDocument/2006/relationships/slide" Target="slides/slide374.xml"/><Relationship Id="rId381" Type="http://schemas.openxmlformats.org/officeDocument/2006/relationships/slide" Target="slides/slide375.xml"/><Relationship Id="rId382" Type="http://schemas.openxmlformats.org/officeDocument/2006/relationships/slide" Target="slides/slide376.xml"/><Relationship Id="rId383" Type="http://schemas.openxmlformats.org/officeDocument/2006/relationships/slide" Target="slides/slide377.xml"/><Relationship Id="rId384" Type="http://schemas.openxmlformats.org/officeDocument/2006/relationships/slide" Target="slides/slide378.xml"/><Relationship Id="rId385" Type="http://schemas.openxmlformats.org/officeDocument/2006/relationships/slide" Target="slides/slide379.xml"/><Relationship Id="rId386" Type="http://schemas.openxmlformats.org/officeDocument/2006/relationships/slide" Target="slides/slide380.xml"/><Relationship Id="rId387" Type="http://schemas.openxmlformats.org/officeDocument/2006/relationships/slide" Target="slides/slide381.xml"/><Relationship Id="rId388" Type="http://schemas.openxmlformats.org/officeDocument/2006/relationships/slide" Target="slides/slide382.xml"/><Relationship Id="rId389" Type="http://schemas.openxmlformats.org/officeDocument/2006/relationships/slide" Target="slides/slide383.xml"/><Relationship Id="rId390" Type="http://schemas.openxmlformats.org/officeDocument/2006/relationships/slide" Target="slides/slide384.xml"/><Relationship Id="rId391" Type="http://schemas.openxmlformats.org/officeDocument/2006/relationships/slide" Target="slides/slide385.xml"/><Relationship Id="rId392" Type="http://schemas.openxmlformats.org/officeDocument/2006/relationships/slide" Target="slides/slide386.xml"/><Relationship Id="rId393" Type="http://schemas.openxmlformats.org/officeDocument/2006/relationships/slide" Target="slides/slide387.xml"/><Relationship Id="rId394" Type="http://schemas.openxmlformats.org/officeDocument/2006/relationships/slide" Target="slides/slide388.xml"/><Relationship Id="rId395" Type="http://schemas.openxmlformats.org/officeDocument/2006/relationships/slide" Target="slides/slide389.xml"/><Relationship Id="rId396" Type="http://schemas.openxmlformats.org/officeDocument/2006/relationships/slide" Target="slides/slide390.xml"/><Relationship Id="rId397" Type="http://schemas.openxmlformats.org/officeDocument/2006/relationships/slide" Target="slides/slide391.xml"/><Relationship Id="rId398" Type="http://schemas.openxmlformats.org/officeDocument/2006/relationships/slide" Target="slides/slide392.xml"/><Relationship Id="rId399" Type="http://schemas.openxmlformats.org/officeDocument/2006/relationships/slide" Target="slides/slide393.xml"/><Relationship Id="rId400" Type="http://schemas.openxmlformats.org/officeDocument/2006/relationships/slide" Target="slides/slide394.xml"/><Relationship Id="rId401" Type="http://schemas.openxmlformats.org/officeDocument/2006/relationships/slide" Target="slides/slide395.xml"/><Relationship Id="rId402" Type="http://schemas.openxmlformats.org/officeDocument/2006/relationships/slide" Target="slides/slide396.xml"/><Relationship Id="rId403" Type="http://schemas.openxmlformats.org/officeDocument/2006/relationships/slide" Target="slides/slide397.xml"/><Relationship Id="rId404" Type="http://schemas.openxmlformats.org/officeDocument/2006/relationships/slide" Target="slides/slide398.xml"/><Relationship Id="rId405" Type="http://schemas.openxmlformats.org/officeDocument/2006/relationships/slide" Target="slides/slide399.xml"/><Relationship Id="rId406" Type="http://schemas.openxmlformats.org/officeDocument/2006/relationships/slide" Target="slides/slide400.xml"/><Relationship Id="rId407" Type="http://schemas.openxmlformats.org/officeDocument/2006/relationships/slide" Target="slides/slide401.xml"/><Relationship Id="rId408" Type="http://schemas.openxmlformats.org/officeDocument/2006/relationships/slide" Target="slides/slide402.xml"/><Relationship Id="rId409" Type="http://schemas.openxmlformats.org/officeDocument/2006/relationships/slide" Target="slides/slide403.xml"/><Relationship Id="rId410" Type="http://schemas.openxmlformats.org/officeDocument/2006/relationships/slide" Target="slides/slide404.xml"/><Relationship Id="rId411" Type="http://schemas.openxmlformats.org/officeDocument/2006/relationships/slide" Target="slides/slide405.xml"/><Relationship Id="rId412" Type="http://schemas.openxmlformats.org/officeDocument/2006/relationships/slide" Target="slides/slide406.xml"/><Relationship Id="rId413" Type="http://schemas.openxmlformats.org/officeDocument/2006/relationships/slide" Target="slides/slide407.xml"/><Relationship Id="rId414" Type="http://schemas.openxmlformats.org/officeDocument/2006/relationships/slide" Target="slides/slide408.xml"/><Relationship Id="rId415" Type="http://schemas.openxmlformats.org/officeDocument/2006/relationships/slide" Target="slides/slide409.xml"/><Relationship Id="rId416" Type="http://schemas.openxmlformats.org/officeDocument/2006/relationships/slide" Target="slides/slide410.xml"/><Relationship Id="rId417" Type="http://schemas.openxmlformats.org/officeDocument/2006/relationships/slide" Target="slides/slide411.xml"/><Relationship Id="rId418" Type="http://schemas.openxmlformats.org/officeDocument/2006/relationships/slide" Target="slides/slide412.xml"/><Relationship Id="rId419" Type="http://schemas.openxmlformats.org/officeDocument/2006/relationships/slide" Target="slides/slide413.xml"/><Relationship Id="rId420" Type="http://schemas.openxmlformats.org/officeDocument/2006/relationships/slide" Target="slides/slide414.xml"/><Relationship Id="rId421" Type="http://schemas.openxmlformats.org/officeDocument/2006/relationships/slide" Target="slides/slide415.xml"/><Relationship Id="rId422" Type="http://schemas.openxmlformats.org/officeDocument/2006/relationships/slide" Target="slides/slide416.xml"/><Relationship Id="rId423" Type="http://schemas.openxmlformats.org/officeDocument/2006/relationships/slide" Target="slides/slide417.xml"/><Relationship Id="rId424" Type="http://schemas.openxmlformats.org/officeDocument/2006/relationships/slide" Target="slides/slide418.xml"/><Relationship Id="rId425" Type="http://schemas.openxmlformats.org/officeDocument/2006/relationships/slide" Target="slides/slide419.xml"/><Relationship Id="rId426" Type="http://schemas.openxmlformats.org/officeDocument/2006/relationships/slide" Target="slides/slide420.xml"/><Relationship Id="rId427" Type="http://schemas.openxmlformats.org/officeDocument/2006/relationships/slide" Target="slides/slide421.xml"/><Relationship Id="rId428" Type="http://schemas.openxmlformats.org/officeDocument/2006/relationships/slide" Target="slides/slide422.xml"/><Relationship Id="rId429" Type="http://schemas.openxmlformats.org/officeDocument/2006/relationships/slide" Target="slides/slide423.xml"/><Relationship Id="rId430" Type="http://schemas.openxmlformats.org/officeDocument/2006/relationships/slide" Target="slides/slide424.xml"/><Relationship Id="rId431" Type="http://schemas.openxmlformats.org/officeDocument/2006/relationships/slide" Target="slides/slide425.xml"/><Relationship Id="rId432" Type="http://schemas.openxmlformats.org/officeDocument/2006/relationships/slide" Target="slides/slide426.xml"/><Relationship Id="rId433" Type="http://schemas.openxmlformats.org/officeDocument/2006/relationships/slide" Target="slides/slide427.xml"/><Relationship Id="rId434" Type="http://schemas.openxmlformats.org/officeDocument/2006/relationships/slide" Target="slides/slide428.xml"/><Relationship Id="rId435" Type="http://schemas.openxmlformats.org/officeDocument/2006/relationships/slide" Target="slides/slide429.xml"/><Relationship Id="rId436" Type="http://schemas.openxmlformats.org/officeDocument/2006/relationships/slide" Target="slides/slide430.xml"/><Relationship Id="rId437" Type="http://schemas.openxmlformats.org/officeDocument/2006/relationships/slide" Target="slides/slide431.xml"/><Relationship Id="rId438" Type="http://schemas.openxmlformats.org/officeDocument/2006/relationships/slide" Target="slides/slide432.xml"/><Relationship Id="rId439" Type="http://schemas.openxmlformats.org/officeDocument/2006/relationships/slide" Target="slides/slide433.xml"/><Relationship Id="rId440" Type="http://schemas.openxmlformats.org/officeDocument/2006/relationships/slide" Target="slides/slide434.xml"/><Relationship Id="rId441" Type="http://schemas.openxmlformats.org/officeDocument/2006/relationships/slide" Target="slides/slide435.xml"/><Relationship Id="rId442" Type="http://schemas.openxmlformats.org/officeDocument/2006/relationships/slide" Target="slides/slide436.xml"/><Relationship Id="rId443" Type="http://schemas.openxmlformats.org/officeDocument/2006/relationships/slide" Target="slides/slide437.xml"/><Relationship Id="rId444" Type="http://schemas.openxmlformats.org/officeDocument/2006/relationships/slide" Target="slides/slide438.xml"/><Relationship Id="rId445" Type="http://schemas.openxmlformats.org/officeDocument/2006/relationships/slide" Target="slides/slide439.xml"/><Relationship Id="rId446" Type="http://schemas.openxmlformats.org/officeDocument/2006/relationships/slide" Target="slides/slide440.xml"/><Relationship Id="rId447" Type="http://schemas.openxmlformats.org/officeDocument/2006/relationships/slide" Target="slides/slide441.xml"/><Relationship Id="rId448" Type="http://schemas.openxmlformats.org/officeDocument/2006/relationships/slide" Target="slides/slide442.xml"/><Relationship Id="rId449" Type="http://schemas.openxmlformats.org/officeDocument/2006/relationships/slide" Target="slides/slide443.xml"/><Relationship Id="rId450" Type="http://schemas.openxmlformats.org/officeDocument/2006/relationships/slide" Target="slides/slide444.xml"/><Relationship Id="rId451" Type="http://schemas.openxmlformats.org/officeDocument/2006/relationships/slide" Target="slides/slide445.xml"/><Relationship Id="rId452" Type="http://schemas.openxmlformats.org/officeDocument/2006/relationships/slide" Target="slides/slide446.xml"/><Relationship Id="rId453" Type="http://schemas.openxmlformats.org/officeDocument/2006/relationships/slide" Target="slides/slide447.xml"/><Relationship Id="rId454" Type="http://schemas.openxmlformats.org/officeDocument/2006/relationships/slide" Target="slides/slide448.xml"/><Relationship Id="rId455" Type="http://schemas.openxmlformats.org/officeDocument/2006/relationships/slide" Target="slides/slide449.xml"/><Relationship Id="rId456" Type="http://schemas.openxmlformats.org/officeDocument/2006/relationships/slide" Target="slides/slide450.xml"/><Relationship Id="rId457" Type="http://schemas.openxmlformats.org/officeDocument/2006/relationships/slide" Target="slides/slide451.xml"/><Relationship Id="rId458" Type="http://schemas.openxmlformats.org/officeDocument/2006/relationships/slide" Target="slides/slide452.xml"/><Relationship Id="rId459" Type="http://schemas.openxmlformats.org/officeDocument/2006/relationships/slide" Target="slides/slide453.xml"/><Relationship Id="rId460" Type="http://schemas.openxmlformats.org/officeDocument/2006/relationships/slide" Target="slides/slide454.xml"/><Relationship Id="rId461" Type="http://schemas.openxmlformats.org/officeDocument/2006/relationships/slide" Target="slides/slide455.xml"/><Relationship Id="rId462" Type="http://schemas.openxmlformats.org/officeDocument/2006/relationships/slide" Target="slides/slide456.xml"/><Relationship Id="rId463" Type="http://schemas.openxmlformats.org/officeDocument/2006/relationships/slide" Target="slides/slide457.xml"/><Relationship Id="rId464" Type="http://schemas.openxmlformats.org/officeDocument/2006/relationships/slide" Target="slides/slide458.xml"/><Relationship Id="rId465" Type="http://schemas.openxmlformats.org/officeDocument/2006/relationships/slide" Target="slides/slide459.xml"/><Relationship Id="rId466" Type="http://schemas.openxmlformats.org/officeDocument/2006/relationships/slide" Target="slides/slide460.xml"/><Relationship Id="rId467" Type="http://schemas.openxmlformats.org/officeDocument/2006/relationships/slide" Target="slides/slide461.xml"/><Relationship Id="rId468" Type="http://schemas.openxmlformats.org/officeDocument/2006/relationships/slide" Target="slides/slide462.xml"/><Relationship Id="rId469" Type="http://schemas.openxmlformats.org/officeDocument/2006/relationships/slide" Target="slides/slide463.xml"/><Relationship Id="rId470" Type="http://schemas.openxmlformats.org/officeDocument/2006/relationships/slide" Target="slides/slide464.xml"/><Relationship Id="rId471" Type="http://schemas.openxmlformats.org/officeDocument/2006/relationships/slide" Target="slides/slide465.xml"/><Relationship Id="rId472" Type="http://schemas.openxmlformats.org/officeDocument/2006/relationships/slide" Target="slides/slide466.xml"/><Relationship Id="rId473" Type="http://schemas.openxmlformats.org/officeDocument/2006/relationships/slide" Target="slides/slide467.xml"/><Relationship Id="rId474" Type="http://schemas.openxmlformats.org/officeDocument/2006/relationships/slide" Target="slides/slide468.xml"/><Relationship Id="rId475" Type="http://schemas.openxmlformats.org/officeDocument/2006/relationships/slide" Target="slides/slide469.xml"/><Relationship Id="rId476" Type="http://schemas.openxmlformats.org/officeDocument/2006/relationships/slide" Target="slides/slide470.xml"/><Relationship Id="rId477" Type="http://schemas.openxmlformats.org/officeDocument/2006/relationships/slide" Target="slides/slide471.xml"/><Relationship Id="rId478" Type="http://schemas.openxmlformats.org/officeDocument/2006/relationships/slide" Target="slides/slide472.xml"/><Relationship Id="rId479" Type="http://schemas.openxmlformats.org/officeDocument/2006/relationships/slide" Target="slides/slide473.xml"/><Relationship Id="rId480" Type="http://schemas.openxmlformats.org/officeDocument/2006/relationships/slide" Target="slides/slide474.xml"/><Relationship Id="rId481" Type="http://schemas.openxmlformats.org/officeDocument/2006/relationships/slide" Target="slides/slide475.xml"/><Relationship Id="rId482" Type="http://schemas.openxmlformats.org/officeDocument/2006/relationships/slide" Target="slides/slide476.xml"/><Relationship Id="rId483" Type="http://schemas.openxmlformats.org/officeDocument/2006/relationships/slide" Target="slides/slide477.xml"/><Relationship Id="rId484" Type="http://schemas.openxmlformats.org/officeDocument/2006/relationships/slide" Target="slides/slide478.xml"/><Relationship Id="rId485" Type="http://schemas.openxmlformats.org/officeDocument/2006/relationships/slide" Target="slides/slide479.xml"/><Relationship Id="rId486" Type="http://schemas.openxmlformats.org/officeDocument/2006/relationships/slide" Target="slides/slide480.xml"/><Relationship Id="rId487" Type="http://schemas.openxmlformats.org/officeDocument/2006/relationships/slide" Target="slides/slide481.xml"/><Relationship Id="rId488" Type="http://schemas.openxmlformats.org/officeDocument/2006/relationships/slide" Target="slides/slide482.xml"/><Relationship Id="rId489" Type="http://schemas.openxmlformats.org/officeDocument/2006/relationships/slide" Target="slides/slide483.xml"/><Relationship Id="rId490" Type="http://schemas.openxmlformats.org/officeDocument/2006/relationships/slide" Target="slides/slide484.xml"/><Relationship Id="rId491" Type="http://schemas.openxmlformats.org/officeDocument/2006/relationships/slide" Target="slides/slide485.xml"/><Relationship Id="rId492" Type="http://schemas.openxmlformats.org/officeDocument/2006/relationships/slide" Target="slides/slide486.xml"/><Relationship Id="rId493" Type="http://schemas.openxmlformats.org/officeDocument/2006/relationships/slide" Target="slides/slide487.xml"/><Relationship Id="rId494" Type="http://schemas.openxmlformats.org/officeDocument/2006/relationships/slide" Target="slides/slide488.xml"/><Relationship Id="rId495" Type="http://schemas.openxmlformats.org/officeDocument/2006/relationships/slide" Target="slides/slide489.xml"/><Relationship Id="rId496" Type="http://schemas.openxmlformats.org/officeDocument/2006/relationships/slide" Target="slides/slide490.xml"/><Relationship Id="rId497" Type="http://schemas.openxmlformats.org/officeDocument/2006/relationships/slide" Target="slides/slide491.xml"/><Relationship Id="rId498" Type="http://schemas.openxmlformats.org/officeDocument/2006/relationships/slide" Target="slides/slide492.xml"/><Relationship Id="rId499" Type="http://schemas.openxmlformats.org/officeDocument/2006/relationships/slide" Target="slides/slide493.xml"/><Relationship Id="rId500" Type="http://schemas.openxmlformats.org/officeDocument/2006/relationships/slide" Target="slides/slide494.xml"/><Relationship Id="rId501" Type="http://schemas.openxmlformats.org/officeDocument/2006/relationships/slide" Target="slides/slide495.xml"/><Relationship Id="rId502" Type="http://schemas.openxmlformats.org/officeDocument/2006/relationships/slide" Target="slides/slide496.xml"/><Relationship Id="rId503" Type="http://schemas.openxmlformats.org/officeDocument/2006/relationships/slide" Target="slides/slide497.xml"/><Relationship Id="rId504" Type="http://schemas.openxmlformats.org/officeDocument/2006/relationships/slide" Target="slides/slide498.xml"/><Relationship Id="rId505" Type="http://schemas.openxmlformats.org/officeDocument/2006/relationships/slide" Target="slides/slide499.xml"/><Relationship Id="rId506" Type="http://schemas.openxmlformats.org/officeDocument/2006/relationships/slide" Target="slides/slide500.xml"/><Relationship Id="rId507" Type="http://schemas.openxmlformats.org/officeDocument/2006/relationships/slide" Target="slides/slide50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051560"/>
            <a:ext cx="10698480" cy="36576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400" b="1">
                <a:solidFill>
                  <a:srgbClr val="EBAA32"/>
                </a:solidFill>
                <a:latin typeface="Aptos"/>
              </a:defRPr>
            </a:pPr>
            <a:r>
              <a:t>A PRACTICAL, ORIGINAL LEARNING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91640"/>
            <a:ext cx="10607040" cy="132588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English Speaking Masterclass</a:t>
            </a:r>
            <a:br/>
            <a:r>
              <a:t>From Beginner to Confident Speaker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46120"/>
            <a:ext cx="9966960" cy="9144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100" b="0">
                <a:solidFill>
                  <a:srgbClr val="DCE7F3"/>
                </a:solidFill>
                <a:latin typeface="Aptos"/>
              </a:defRPr>
            </a:pPr>
            <a:r>
              <a:t>A 520-slide teaching resource with clear explanations, model sentences, guided speaking tasks and revision.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800600"/>
            <a:ext cx="1280160" cy="73152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074920"/>
            <a:ext cx="10424160" cy="4572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t>Speaking • Listening • Grammar • Vocabulary • Pronunciation • Practice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ENGLISH SPEAKING MASTERCLASS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How to use this presentation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Teach one concept at a time; model it aloud before asking students to practise.</a:t>
            </a:r>
          </a:p>
        </p:txBody>
      </p:sp>
      <p:sp>
        <p:nvSpPr>
          <p:cNvPr id="9" name="Oval 8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the example sentence as a pattern, not as a sentence to memorise forever.</a:t>
            </a:r>
          </a:p>
        </p:txBody>
      </p:sp>
      <p:sp>
        <p:nvSpPr>
          <p:cNvPr id="11" name="Oval 10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Give students time to prepare, speak, receive feedback and try again.</a:t>
            </a:r>
          </a:p>
        </p:txBody>
      </p:sp>
      <p:sp>
        <p:nvSpPr>
          <p:cNvPr id="13" name="Oval 12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Adapt vocabulary and role-plays to students’ age, goals and local context.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Learn → model → practise → receive feedback → repeat.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Ask students to set one personal speaking goal.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ENGLISH SPEAKING MASTERCLASS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Build everyday conversations and ask useful questions.</a:t>
            </a:r>
          </a:p>
        </p:txBody>
      </p:sp>
      <p:sp>
        <p:nvSpPr>
          <p:cNvPr id="9" name="Oval 8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core grammar patterns to express time, possibility, opinions and plans.</a:t>
            </a:r>
          </a:p>
        </p:txBody>
      </p:sp>
      <p:sp>
        <p:nvSpPr>
          <p:cNvPr id="11" name="Oval 10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Improve clarity through pronunciation, stress, rhythm and connected speech.</a:t>
            </a:r>
          </a:p>
        </p:txBody>
      </p:sp>
      <p:sp>
        <p:nvSpPr>
          <p:cNvPr id="13" name="Oval 12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Speak more confidently in social, academic and workplace situations.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can explain my idea clearly and ask questions when I do not understand.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Have each learner name one skill they want to improve.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MODULE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01 • Getting started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Module goal: understand the core idea and use it in a real conversation.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Teacher tip: model the language, check understanding, then let learners practise.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Student habit: say the example aloud and personalise it with true details.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Small steps, repeated consistently, build lasting speaking confidence.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Ask learners what they already know about this topic.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01 • GETTING STARTED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Why communication matters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Communication is sharing meaning, not using difficult words.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Clarity, listening and respect matter as much as grammar.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 small, regular practice habit beats occasional cramming.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want to improve my English because it will help me communicate at work.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In pairs, name one situation where English would help you.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01 • GETTING STARTED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Confidence and mistakes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Mistakes are information: notice them and try again.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Pause briefly instead of filling every silence with ‘um’.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Aim to be understood first; accuracy grows with practice.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Let me try that again in a clearer way.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Say a sentence twice: once quickly, once calmly.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01 • GETTING STARTED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A simple speaking routine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Choose a daily topic and speak for one minute.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Record yourself and note one strength and one improvement.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same task after a week to compare progress.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Today I will describe my routine for sixty seconds.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Create a seven-day speaking target.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01 • GETTING STARTED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Useful classroom phrases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Ask for clarification when instructions are unclear.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polite phrases to join, pause or end a conversation.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key information to check understanding.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Could you explain that one more time, please?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Practise asking a teacher three clarification questions.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MODULE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02 • Sounds and pronunciation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Module goal: understand the core idea and use it in a real conversation.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Teacher tip: model the language, check understanding, then let learners practise.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Student habit: say the example aloud and personalise it with true details.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Small steps, repeated consistently, build lasting speaking confidence.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Ask learners what they already know about this topic.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02 • SOUNDS AND PRONUNCIATION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Vowels and clear word sounds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English spelling does not always predict pronunciation.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Listen for the vowel sound, not only the written letter.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a dictionary audio model and repeat in short groups.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ship / sheep; full / fool; bed / bad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Practise minimal pairs with a partner.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02 • SOUNDS AND PRONUNCIATION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Consonant clarity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Notice sounds at the beginning and end of words.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Do not add an extra vowel after every final consonant.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Slow down on words that listeners often misunderstand.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worked, asked, next, world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Read a short sentence and focus on final sounds.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02 • SOUNDS AND PRONUNCIATION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Word stress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Most longer words have one main stressed syllable.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Stress can change how natural a word sounds.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a reliable dictionary to check unfamiliar words.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PHOtograph, phoTOGraphy, photoGRAPHic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Mark the stressed syllable in five new words.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02 • SOUNDS AND PRONUNCIATION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Sentence stress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Stress content words that carry the message.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Reduce less important words naturally, without losing clarity.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Change stress to highlight a contrast.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wanted the BLUE file, not the green one.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Say the sentence with three different meanings.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02 • SOUNDS AND PRONUNCIATION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Intonation and tone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Rising intonation often signals a yes/no question or uncertainty.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Falling intonation often signals completion or certainty.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Tone should match the intention: curious, polite, firm or friendly.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Would you like some tea? / Where are you going?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Say one sentence as a question, surprise and reassurance.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02 • SOUNDS AND PRONUNCIATION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Connected speech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Words link together in natural speech.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Some sounds become weaker in unstressed words.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Practise short chunks before longer sentences.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Would you like to → Wouldja like to? (informal listening form)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Listen, repeat and then say the phrase at a natural pace.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MODULE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03 • Greetings and introductions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Module goal: understand the core idea and use it in a real conversation.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Teacher tip: model the language, check understanding, then let learners practise.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Student habit: say the example aloud and personalise it with true details.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Small steps, repeated consistently, build lasting speaking confidence.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Ask learners what they already know about this topic.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03 • GREETINGS AND INTRODUCTIONS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Formal and informal greetings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Choose greetings based on relationship and setting.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 friendly greeting usually includes eye contact and an appropriate tone.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In professional settings, use a name or title when suitable.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Good morning. It’s nice to meet you.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Role-play meeting a neighbour and a new manager.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03 • GREETINGS AND INTRODUCTIONS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Introducing yourself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Give your name and one relevant detail.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your role, interest or reason for being there.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Finish with a question to invite the other person in.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Hello, I’m Riya. I work in customer support. What do you do?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Introduce yourself in 20 seconds.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03 • GREETINGS AND INTRODUCTIONS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Introducing other people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both names clearly.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Give a short connection or context.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Allow the people to continue the conversation.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This is Amit, who works with me on the project.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Introduce two classmates to each other.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03 • GREETINGS AND INTRODUCTIONS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Small talk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safe shared topics such as the event, journey or weather.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Ask open questions and listen to the answer.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Avoid overly personal questions when you have just met.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How did you hear about this event?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Continue a small-talk conversation for one minute.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03 • GREETINGS AND INTRODUCTIONS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Ending a conversation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Signal the ending politely.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Mention something positive if genuine.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a clear goodbye or next step.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It was lovely talking with you. I need to get back to work, but see you soon.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End a conversation without abruptly walking away.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MODULE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04 • Everyday vocabulary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Module goal: understand the core idea and use it in a real conversation.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Teacher tip: model the language, check understanding, then let learners practise.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Student habit: say the example aloud and personalise it with true details.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Small steps, repeated consistently, build lasting speaking confidence.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Ask learners what they already know about this topic.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04 • EVERYDAY VOCABULARY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People and relationships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Learn words in phrases rather than isolated lists.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Notice formal, neutral and affectionate forms.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the relationship word that fits the context.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My cousin lives nearby, and we meet on weekends.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Describe three people in your life without sharing private details.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04 • EVERYDAY VOCABULARY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Home and household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Group vocabulary by rooms, objects and actions.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prepositions to explain where things are.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Practise describing a room from memory.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 keys are on the shelf beside the front door.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Describe a room in five sentences.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04 • EVERYDAY VOCABULARY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Food and ordering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‘I’d like…’ for a polite order.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Ask about ingredients or options when needed.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order to confirm it is correct.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Could I have a masala dosa and a glass of water, please?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Role-play a customer and a server.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04 • EVERYDAY VOCABULARY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Shopping and prices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Ask the price and compare options politely.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numbers and currency clearly.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Keep receipts and product details separate from spoken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How much is this? Is there a smaller size?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Role-play buying an item within a budget.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04 • EVERYDAY VOCABULARY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Travel and transport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Learn phrases for tickets, platforms and directions.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Confirm times, destinations and changes.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Ask someone to repeat a number if it is unclear.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Does this train stop at Shivajinagar?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Practise asking for travel information.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04 • EVERYDAY VOCABULARY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Health and appointments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Describe symptoms in simple, specific language.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Explain when something started and how it feels.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Ask the professional to clarify instructions you do not understand.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have had a sore throat since yesterday.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Practise booking an appointment; do not diagnose a partner.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MODULE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05 • Sentence building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Module goal: understand the core idea and use it in a real conversation.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Teacher tip: model the language, check understanding, then let learners practise.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Student habit: say the example aloud and personalise it with true details.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Small steps, repeated consistently, build lasting speaking confidence.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Ask learners what they already know about this topic.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05 • SENTENCE BUILDING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Subject + verb + object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 basic English sentence often follows subject–verb–object order.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The subject tells who or what performs the action.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details only after the core message is clear.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 team reviewed the report.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Build five sentences using different subjects.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05 • SENTENCE BUILDING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Be verbs: am, is, are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‘am’ with I, ‘is’ with he/she/it and singular nouns.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‘are’ with you, we, they and plural nouns.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be + adjective or noun to describe identity and state.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am ready. They are colleagues.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Describe yourself and two objects.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05 • SENTENCE BUILDING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Negatives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Put ‘not’ after the appropriate auxiliary or be verb.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do/does/did + not with many ordinary verbs.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Avoid double negatives in standard English.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She isn’t available. They don’t live here.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Turn five positive sentences into negatives.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05 • SENTENCE BUILDING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Yes/no questions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Move the auxiliary or be verb before the subject.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do/does/did when the main verb needs an auxiliary.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Keep the question mark and question intonation.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Are you free tomorrow? Do you speak Marathi?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Ask a partner six yes/no questions.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05 • SENTENCE BUILDING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Wh- questions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Who asks about people; where asks about place.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When asks about time; why asks for a reason.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How asks about method, condition or degree.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What would you like to learn next?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Interview a partner using five different question words.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05 • SENTENCE BUILDING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There is / there are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‘there is’ for one item and ‘there are’ for plural items.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‘there was/were’ to describe the past.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‘there will be’ for future existence.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There are three chairs in the room.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Describe your classroom or workspace.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MODULE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06 • Nouns, articles and pronouns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Module goal: understand the core idea and use it in a real conversation.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Teacher tip: model the language, check understanding, then let learners practise.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Student habit: say the example aloud and personalise it with true details.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Small steps, repeated consistently, build lasting speaking confidence.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Ask learners what they already know about this topic.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06 • NOUNS, ARTICLES AND PRONOUNS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Singular and plural nouns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Many nouns add -s or -es.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Some plurals are irregular, such as children and people.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plural forms consistently with numbers greater than one.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One child, two children; one box, three boxes.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Sort ten nouns into regular and irregular plurals.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06 • NOUNS, ARTICLES AND PRONOUNS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Countable and uncountable nouns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Countable nouns can take a number: three books.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Uncountable nouns usually use some, much or a unit: some advice, a piece of advice.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Avoid adding plural -s to uncountable nouns in their usual meaning.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Could you give me some information?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Correct five common countability mistakes.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06 • NOUNS, ARTICLES AND PRONOUNS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A, an and the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a/an for a non-specific singular countable noun.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‘the’ when the listener can identify the item.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Do not use an article before many plural or uncountable nouns when speaking generally.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saw a dog. The dog was carrying a ball.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Explain why each article is used in five sentences.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06 • NOUNS, ARTICLES AND PRONOUNS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Personal pronouns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Subject pronouns do the action: I, she, they.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Object pronouns receive the action: me, her, them.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possessive forms to show ownership.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She sent me her notes.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Replace repeated names with suitable pronouns.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06 • NOUNS, ARTICLES AND PRONOUNS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This, that, these, those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this/these for things perceived as near.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that/those for things perceived as farther away.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Match singular and plural forms.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These are my notes; that is your bag.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Point to or imagine objects and describe them.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06 • NOUNS, ARTICLES AND PRONOUNS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Possessives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my, your, his, her, its, our and their before nouns.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’s to show possession with many names and nouns.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Distinguish ‘its’ from ‘it’s’ (it is/it has).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This is Neha’s notebook; its cover is blue.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Describe who owns five objects.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MODULE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07 • Verbs and tense foundations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Module goal: understand the core idea and use it in a real conversation.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Teacher tip: model the language, check understanding, then let learners practise.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Student habit: say the example aloud and personalise it with true details.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Small steps, repeated consistently, build lasting speaking confidence.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Ask learners what they already know about this topic.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07 • VERBS AND TENSE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Present simple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it for habits, routines and general facts.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-s/-es for he, she and it in affirmative statements.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do/does for questions and negatives.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She starts work at nine every day.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Describe your weekly routine.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07 • VERBS AND TENSE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Present continuous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am/is/are + verb-ing for actions happening now or around now.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It can describe temporary situations and arranged changes.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Some state verbs are not usually continuous in common meanings.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I’m preparing for an interview this week.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Describe what people are doing in an imagined scene.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07 • VERBS AND TENSE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Past simple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it for completed past actions.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Regular verbs often end in -ed; irregular verbs need practice.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did + base verb in questions and negatives.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We visited the museum last Sunday.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Tell a short story about yesterday.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07 • VERBS AND TENSE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Past continuous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was/were + verb-ing for an action in progress at a past time.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It often provides background for a shorter past action.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while and when to connect events clearly.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was cooking when the phone rang.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Complete: I was ___ when ___.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07 • VERBS AND TENSE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Future with will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will for predictions, offers and decisions made at the moment.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won’t for a negative future statement.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a time expression when it helps the listener.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I’ll send you the details this afternoon.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Make three predictions and two offers.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07 • VERBS AND TENSE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Going to and plans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be going to for intentions and evidence-based predictions.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present continuous for many fixed arrangements.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Choose the form that best expresses your meaning.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I’m going to practise tonight; I’m meeting my tutor tomorrow.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Describe one intention and one arrangement.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07 • VERBS AND TENSE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Present perfect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have/has + past participle for experience or a past event linked to now.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ever/never for life experience and already/yet for completion.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for/since to describe duration continuing to now.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have worked here for two years.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Ask a partner about experiences, without pressuring personal disclosure.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07 • VERBS AND TENSE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Tense review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Choose tense based on time and meaning, not only time words.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Keep tense consistent unless the timeline changes.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Check the main verb and any auxiliary.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usually walk, but yesterday I took a bus.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Correct a short paragraph with mixed tense errors.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MODULE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08 • Modals and polite language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Module goal: understand the core idea and use it in a real conversation.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Teacher tip: model the language, check understanding, then let learners practise.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Student habit: say the example aloud and personalise it with true details.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Small steps, repeated consistently, build lasting speaking confidence.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Ask learners what they already know about this topic.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08 • MODALS AND POLITE LANGUAGE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Can and could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Can expresses ability or permission in many contexts.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Could can sound more tentative or polite in requests.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the base verb after a modal.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Could you help me with this form?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Turn direct requests into polite requests.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08 • MODALS AND POLITE LANGUAGE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May and might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May and might express possibility.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May is also used for formal permission.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Avoid treating a possibility as a certainty.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It might rain later, so I’ll carry an umbrella.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Give three possible explanations for a situation.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08 • MODALS AND POLITE LANGUAGE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Should and ought to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should for advice or a recommendation.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shouldn’t for advice against an action.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Explain the reason when advice could be misunderstood.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You should save a copy before editing the file.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Give practical advice about study habits.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08 • MODALS AND POLITE LANGUAGE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Must and have to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must/have to for strong obligation or necessity.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mustn’t for prohibition; don’t have to means no obligation.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Context determines how strong the message sounds.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You must wear a helmet; you don’t have to bring lunch.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Explain the difference between mustn’t and don’t have to.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08 • MODALS AND POLITE LANGUAGE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Would like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would like for polite wants and offers.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Follow would like with a noun or to + base verb.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‘Would you like…?’ to make an offer.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I’d like to book a table for two.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Practise offers and polite responses.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08 • MODALS AND POLITE LANGUAGE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Polite disagreement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Acknowledge the other view before giving yours.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phrases such as ‘I see your point, but…’.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Disagree with the idea, not the person.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see your point, but I think we should check the figures first.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Role-play a respectful disagreement.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MODULE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09 • Adjectives, adverbs and comparison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Module goal: understand the core idea and use it in a real conversation.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Teacher tip: model the language, check understanding, then let learners practise.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Student habit: say the example aloud and personalise it with true details.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Small steps, repeated consistently, build lasting speaking confidence.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Ask learners what they already know about this topic.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09 • ADJECTIVES, ADVERBS AND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Describing people and things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Choose specific adjectives instead of repeating ‘good’ or ‘bad’.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examples to support a description.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Avoid making assumptions about people from appearance alone.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 instructions are clear, concise and practical.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Describe an object using five precise adjectives.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09 • ADJECTIVES, ADVERBS AND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Adverbs of frequency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Always, usually, often, sometimes, rarely and never show frequency.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They usually come before a main verb but after be.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Choose a frequency that honestly matches the habit.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usually review my notes after class.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Describe three habits.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09 • ADJECTIVES, ADVERBS AND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Comparatives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-er with many short adjectives and more with many longer adjectives.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than to compare two items.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Learn irregular forms such as better and worse.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This route is shorter than the other one.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Compare two study methods.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09 • ADJECTIVES, ADVERBS AND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Superlatives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the + -est with many short adjectives and the most with many longer ones.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in/of phrases to identify the group.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Check irregular forms such as best and worst.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That was the most useful lesson of the week.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Name your most useful learning tool and explain why.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09 • ADJECTIVES, ADVERBS AND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Too, enough, so and such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Too often means more than is desirable.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Enough means sufficient and follows adjectives but precedes many nouns.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So/such add emphasis; choose the pattern that fits the noun phrase.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 room is too noisy to record; it isn’t quiet enough.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Complete sentences about a classroom.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MODULE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10 • Prepositions and connectors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Module goal: understand the core idea and use it in a real conversation.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Teacher tip: model the language, check understanding, then let learners practise.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Student habit: say the example aloud and personalise it with true details.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Small steps, repeated consistently, build lasting speaking confidence.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Ask learners what they already know about this topic.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10 • PREPOSITIONS AND CONNECTORS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Place prepositions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In describes an enclosed area; on often describes a surface.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At can identify a point or specific location.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Learn common phrases as chunks rather than translating word by word.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 charger is on the desk beside the laptop.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Describe where five objects are.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10 • PREPOSITIONS AND CONNECTORS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Time prepositions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at for clock times, on for days/dates and in for months/years/parts of the day.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‘at night’ but often ‘in the morning’.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Many expressions are fixed and should be learned together.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 meeting is on Monday at 10 a.m.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Describe a weekly schedule.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10 • PREPOSITIONS AND CONNECTORS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Movement and direction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To marks a destination; from marks an origin.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Into and out of describe movement across a boundary.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Across, along, past and through describe different paths.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Walk past the bank and turn left at the signal.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Give directions from your classroom to the entrance.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10 • PREPOSITIONS AND CONNECTORS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And, but, because, so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And adds information; but shows contrast.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Because introduces a reason; so introduces a result.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Avoid joining too many complete ideas in one sentence.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was tired, so I went to bed early.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Join six pairs of short sentences.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10 • PREPOSITIONS AND CONNECTORS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Although, however, therefore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Although introduces contrast within a sentence.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However links contrasting ideas between clauses or sentences.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Therefore signals a logical result; use it only when the result follows.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Although it was raining, we continued the walk.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Explain a decision using one connector.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MODULE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11 • Everyday conversation functions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Module goal: understand the core idea and use it in a real conversation.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Teacher tip: model the language, check understanding, then let learners practise.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Student habit: say the example aloud and personalise it with true details.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Small steps, repeated consistently, build lasting speaking confidence.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Ask learners what they already know about this topic.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11 • EVERYDAY CONVERSATION FUNCTIONS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Asking for help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State the problem briefly.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Ask for a specific action.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Thank the person and confirm the next step.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Could you show me how to print this page?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Role-play asking for help in a library or office.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11 • EVERYDAY CONVERSATION FUNCTIONS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Making and responding to requests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could/would for polite requests.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Respond clearly: accept, decline or offer an alternative.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Do not promise something you cannot deliver.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can help after lunch; would that work for you?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Practise three requests and three responses.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11 • EVERYDAY CONVERSATION FUNCTIONS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Invitations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what the activity is and when it will happen.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Accept warmly or decline politely.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Offer another date when you genuinely want to meet.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Would you like to join us for coffee on Saturday?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Invite a partner to three different activities.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11 • EVERYDAY CONVERSATION FUNCTIONS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Apologies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Acknowledge what happened.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Take responsibility when appropriate.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Explain how you will prevent a repeat, without making excuses.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I’m sorry I sent the wrong file. I’ll send the corrected version now.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Role-play a late arrival and a work mistake.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11 • EVERYDAY CONVERSATION FUNCTIONS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074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Thanking and appreciation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Be specific about what you appreciate.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Choose a level of formality that fits the relationship.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Acknowledge help without exaggeration.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Thank you for explaining the process so patiently.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Thank a partner for a specific contribution.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11 • EVERYDAY CONVERSATION FUNCTIONS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Clarifying and checking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Ask which part needs clarification.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Paraphrase what you heard.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Invite correction before acting on important information.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So the deadline is Thursday, not Tuesday—is that right?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Practise checking a time, name and task.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11 • EVERYDAY CONVERSATION FUNCTIONS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Giving opinions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Signal your view with ‘I think’ or ‘In my view’.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Give one reason or example.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Recognise that others may see the issue differently.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In my view, daily practice is more useful than cramming.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Share an opinion and support it with one example.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MODULE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12 • Listening and conversation skills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Module goal: understand the core idea and use it in a real conversation.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Teacher tip: model the language, check understanding, then let learners practise.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Student habit: say the example aloud and personalise it with true details.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Small steps, repeated consistently, build lasting speaking confidence.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Ask learners what they already know about this topic.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12 • LISTENING AND CONVERSATION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078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Active listening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Give the speaker time to finish.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Show attention with brief verbal responses when appropriate.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Summarise the main point before giving advice.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So you’re saying the main problem is the timing—is that right?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Listen to a partner for one minute, then summarise.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12 • LISTENING AND CONVERSATION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079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Open and closed questions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Closed questions often have short answers.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Open questions invite detail and explanation.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a follow-up question based on what you hear.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What was the most interesting part of your day?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Turn five closed questions into open questions.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12 • LISTENING AND CONVERSATION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Follow-up questions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Ask about an example, reason, feeling or next step.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Keep the question connected to the speaker’s answer.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Avoid asking several questions at once.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What happened next?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Keep a conversation going for six turns.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12 • LISTENING AND CONVERSATION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Paraphrasing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Restate the idea using your own words.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Keep the original meaning; do not add unsupported details.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paraphrasing to confirm understanding.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If I understand correctly, you need the draft by Friday.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Paraphrase three short statements.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12 • LISTENING AND CONVERSATION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Handling fast speech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Ask for a slower pace or repetition politely.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Listen for stressed words and key nouns.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Confirm names, dates and numbers rather than guessing.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Could you speak a little more slowly, please?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Practise with a partner who varies speaking speed.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MODULE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083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13 • Reading aloud and storytelling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Module goal: understand the core idea and use it in a real conversation.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Teacher tip: model the language, check understanding, then let learners practise.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Student habit: say the example aloud and personalise it with true details.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Small steps, repeated consistently, build lasting speaking confidence.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Ask learners what they already know about this topic.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13 • READING ALOUD AND STORYTELLING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Reading aloud naturally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Read for meaning, not one word at a time.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Mark pauses at phrase boundaries.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Emphasise key words while keeping the rest smooth.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After the meeting, / we reviewed the plan / and agreed on the next steps.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Read a short paragraph twice, improving rhythm.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13 • READING ALOUD AND STORYTELLING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085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Story structure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 simple story has a setting, event and outcome.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sequence words to guide the listener.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Finish with a result, feeling or lesson.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At first I was nervous; then I asked a question, and the discussion became easier.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Tell a story in three parts.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13 • READING ALOUD AND STORYTELLING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Past-tense storytelling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past simple for completed events.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past continuous for background actions.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past perfect only when an earlier past event needs to be clear.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was waiting for the bus when I realised I had left my wallet at home.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Tell a short story using when and while.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13 • READING ALOUD AND STORYTELLING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087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Describing an experience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Give enough context for the listener to follow.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Include one or two meaningful details.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Explain what you learned or would do differently.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 most useful part was working with people from different teams.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Speak for one minute about a learning experience.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13 • READING ALOUD AND STORYTELLING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088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Summarising a story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Identify the main character or topic.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Keep only the key events and outcome.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Avoid retelling every small detail.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 story is about a student who practises daily and gradually gains confidence.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Summarise a film or story in four sentences.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MODULE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089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14 • Workplace and business English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Module goal: understand the core idea and use it in a real conversation.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Teacher tip: model the language, check understanding, then let learners practise.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Student habit: say the example aloud and personalise it with true details.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Small steps, repeated consistently, build lasting speaking confidence.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Ask learners what they already know about this topic.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14 • WORKPLACE AND BUSINESS ENGLISH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Professional self-introduction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State your name and role or area of expertise.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Mention one relevant strength or responsibility.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Adapt detail to the audience and time available.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I’m a software architect focused on cloud-native systems and microservices.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Give a 30-second and a 60-second introduction.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14 • WORKPLACE AND BUSINESS ENGLISH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091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Meetings: joining in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a short phrase to enter the discussion politely.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Connect your point to the topic.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Keep the first contribution concise.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Could I add one point about the delivery timeline?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Practise entering a group discussion.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14 • WORKPLACE AND BUSINESS ENGLISH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092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Meetings: clarifying actions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Confirm the task, owner and deadline.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important decisions in plain language.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Ask who will communicate the outcome.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Just to confirm, I’ll share the draft by Thursday afternoon.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Summarise a mock meeting in three bullets.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14 • WORKPLACE AND BUSINESS ENGLISH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093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Explaining a problem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Describe the observed issue before guessing the cause.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Explain impact and what has already been checked.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State the help or decision you need.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 service is responding slowly; we have checked the logs and need support reviewing database latency.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Give a 45-second issue update.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14 • WORKPLACE AND BUSINESS ENGLISH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094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Presenting a recommendation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State the recommendation first.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Support it with evidence, benefits and trade-offs.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End with a clear decision or next step.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recommend a small pilot so we can validate performance before wider rollout.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Present a recommendation in one minute.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14 • WORKPLACE AND BUSINESS ENGLISH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095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Telephone and video calls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Identify yourself and confirm the person you need.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Speak clearly and repeat critical details.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a backup channel if audio quality prevents understanding.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Hello, this is Arun from the delivery team. Is now a good time to talk?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Role-play a call with a poor connection.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14 • WORKPLACE AND BUSINESS ENGLISH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096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Professional email language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a clear subject and direct opening.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Keep one main purpose per paragraph.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Make the requested action and deadline easy to find.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Could you please review the attached draft by Wednesday?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Turn a vague request into a clear spoken request.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14 • WORKPLACE AND BUSINESS ENGLISH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097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Giving status updates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State status: on track, at risk or delayed.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Give evidence, not vague reassurance.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Name the next action and when you will update people.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 task is on track; testing is complete, and I’ll share results tomorrow.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Give a 30-second status update.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MODULE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098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15 • Interviews and career communication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Module goal: understand the core idea and use it in a real conversation.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Teacher tip: model the language, check understanding, then let learners practise.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Student habit: say the example aloud and personalise it with true details.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Small steps, repeated consistently, build lasting speaking confidence.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Ask learners what they already know about this topic.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15 • INTERVIEWS AND CAREER 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099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Tell me about yourself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Present your current professional identity.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Choose two relevant skills or achievements.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Connect your background to the role.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I’m a Java developer with strong experience in Spring Boot and distributed systems.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Practise a 60-second answer.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15 • INTERVIEWS AND CAREER 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Explaining achievements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Describe the situation or challenge briefly.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Explain your action and the result.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accurate numbers only when you can support them.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improved the deployment process by automating repeatable checks.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Answer using Situation–Action–Result.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15 • INTERVIEWS AND CAREER 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Strengths and development areas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Choose a strength relevant to the role.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Support it with a real example.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Describe a development area and the steps you are taking.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I’m strong at debugging complex issues, and I’m improving how I communicate technical trade-offs.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Practise a balanced answer.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15 • INTERVIEWS AND CAREER 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Explaining a career change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State the reason in a positive, honest way.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Connect previous experience to the new direction.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Explain what preparation you have done.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I’m moving toward cloud architecture because it builds on my experience designing distributed systems.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Give a concise career story.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15 • INTERVIEWS AND CAREER 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Questions to ask an interviewer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Ask about responsibilities, team practices or success measures.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Avoid questions already answered clearly during the interview.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Prepare more questions than you expect to use.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What would success look like in the first six months?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Prepare five questions for a target role.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15 • INTERVIEWS AND CAREER 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Handling a difficult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Pause briefly and organise your answer.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Be honest if you do not know something.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Explain how you would find the answer or approach the problem.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haven’t used that tool directly, but I would start by reviewing its documentation and testing a small example.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Practise answering an unfamiliar question calmly.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MODULE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16 • Public speaking and presentations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Module goal: understand the core idea and use it in a real conversation.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Teacher tip: model the language, check understanding, then let learners practise.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Student habit: say the example aloud and personalise it with true details.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Small steps, repeated consistently, build lasting speaking confidence.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Ask learners what they already know about this topic.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16 • PUBLIC SPEAKING AND PRESENTATIONS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Planning a short talk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Choose one audience and one main message.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Organise the talk into opening, key points and conclusion.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examples that support the main message.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Today I’ll explain three ways to make daily English practice easier.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Outline a two-minute talk.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16 • PUBLIC SPEAKING AND PRESENTATIONS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Opening a presentation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Welcome the audience and introduce the topic.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Explain why the topic matters.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Preview the key points without overloading the opening.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Good morning. Today I’ll share three practical ways to improve team communication.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Deliver a 20-second opening.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16 • PUBLIC SPEAKING AND PRESENTATIONS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Transitions and signposting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Tell listeners when you move to a new point.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phrases such as ‘first’, ‘next’ and ‘to summarise’.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Avoid repeating the same transition in every sentence.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Let’s move to the second point: how we can measure progress.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Add transitions to a short talk.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16 • PUBLIC SPEAKING AND PRESENTATIONS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Using slides effectively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slides to support speech, not replace it.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Keep each slide focused on one idea.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Face the audience and explain the visual in your own words.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This chart shows the trend; the key point is that response time fell after the change.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Explain a simple chart without reading every label.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16 • PUBLIC SPEAKING AND PRESENTATIONS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Managing nerves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Breathe slowly and prepare the first sentence.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notes with keywords rather than full paragraphs.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Focus on helping the audience understand one idea at a time.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I’ll take a breath, look at my notes, and begin with the main point.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Deliver a short talk twice and compare confidence.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16 • PUBLIC SPEAKING AND PRESENTATIONS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Handling questions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Listen to the full question before responding.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or clarify the question if needed.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Answer directly; say when you need to verify a detail.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That’s a useful question. I’ll confirm the exact figure and follow up after the session.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Answer three audience questions.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MODULE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17 • Common errors and repair strategies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Module goal: understand the core idea and use it in a real conversation.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Teacher tip: model the language, check understanding, then let learners practise.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Student habit: say the example aloud and personalise it with true details.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Small steps, repeated consistently, build lasting speaking confidence.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Ask learners what they already know about this topic.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17 • COMMON ERRORS AND REPAIR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Subject–verb agreement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Singular third-person subjects take -s/-es in present simple.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Do not let a nearby plural noun distract you from the true subject.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Check long sentences by locating the main subject and verb.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 list of tasks is ready.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Correct five sentences with agreement errors.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17 • COMMON ERRORS AND REPAIR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Word order mistakes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English usually follows subject–verb–object order.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Adverbs and time expressions have common positions.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Questions often require an auxiliary before the subject.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Where do you work? not ‘Where you work?’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Reorder five mixed-up sentences.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17 • COMMON ERRORS AND REPAIR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Articles and prepositions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Learn common combinations in context.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Review errors that recur in your own speech.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a dictionary example when unsure about a phrase.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I’m interested in learning English.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Correct five common learner sentences.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17 • COMMON ERRORS AND REPAIR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False friends and direct translation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 word in one language may not map neatly to another.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Learn a whole phrase with an example sentence.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When uncertain, explain the idea in simpler English.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discussed the issue with my colleague.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Replace a literal translation with a natural phrase.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17 • COMMON ERRORS AND REPAIR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Repairing a sentence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Notice when a listener looks confused or asks a question.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key idea using simpler words.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Correct yourself briefly and continue without apologising repeatedly.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Let me rephrase that: the meeting has moved to Thursday.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Practise repairing three unclear statements.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MODULE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18 • Fluency, vocabulary and idiomatic language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Module goal: understand the core idea and use it in a real conversation.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Teacher tip: model the language, check understanding, then let learners practise.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Student habit: say the example aloud and personalise it with true details.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Small steps, repeated consistently, build lasting speaking confidence.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Ask learners what they already know about this topic.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18 • FLUENCY, VOCABULARY AND IDIOMATIC LANGUAGE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Building useful vocabulary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Learn words by topic and situation.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Record meaning, collocation and an example sentence.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Review words after one day, one week and one month.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make a decision; reach an agreement; meet a deadline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Build a personal vocabulary page with ten phrases.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18 • FLUENCY, VOCABULARY AND IDIOMATIC LANGUAGE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Collocations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Some words naturally occur together.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Learning collocations makes speech sound more natural.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a learner dictionary or trusted corpus examples to check usage.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heavy rain, strong coffee, take a break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Match verbs with common noun partners.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18 • FLUENCY, VOCABULARY AND IDIOMATIC LANGUAGE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Phrasal verbs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 phrasal verb combines a verb with a particle.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Some meanings are literal; others are idiomatic.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Learn one meaning at a time and practise it in context.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Please fill in this form before the appointment.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Use three phrasal verbs in a short dialogue.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18 • FLUENCY, VOCABULARY AND IDIOMATIC LANGUAGE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Common idioms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Idioms are informal or figurative and depend on context.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Avoid using an idiom if you are unsure of its meaning or tone.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Plain language is often best in formal situations.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Let’s get the ball rolling means let’s begin.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Explain an idiom and give a suitable situation.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18 • FLUENCY, VOCABULARY AND IDIOMATIC LANGUAGE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Fillers and pauses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 short pause is often better than many fillers.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phrases such as ‘Let me think’ when you need time.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Plan your next idea while the other person finishes.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That’s an interesting question. Let me think for a moment.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Speak for one minute while limiting filler words.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18 • FLUENCY, VOCABULARY AND IDIOMATIC LANGUAGE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Fluency through chunks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Practise common sentence starters as complete chunks.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Reuse a chunk with different topics and details.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Build speed gradually while keeping pronunciation clear.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One thing I’ve noticed is…; The main reason is…; For example…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Use three sentence starters in one answer.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MODULE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19 • Real-life role-plays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Module goal: understand the core idea and use it in a real conversation.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Teacher tip: model the language, check understanding, then let learners practise.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Student habit: say the example aloud and personalise it with true details.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Small steps, repeated consistently, build lasting speaking confidence.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Ask learners what they already know about this topic.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19 • REAL-LIFE ROLE-PLAYS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At a shop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Greet the shop assistant and explain what you need.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Ask about price, size, colour or return conditions.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Confirm the item and payment before finishing.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I’m looking for a comfortable pair of walking shoes. Do you have these in size eight?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Perform a customer–assistant dialogue.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19 • REAL-LIFE ROLE-PLAYS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At a restaurant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Ask for a table and read the menu.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Ask politely about ingredients or options.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Check the order and ask for the bill when ready.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Could we have the menu, please? I’d like the vegetable pulao.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Role-play guest, server and observer.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19 • REAL-LIFE ROLE-PLAYS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At a railway station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Ask about platform, departure and destination.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Confirm the train number and time.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Ask staff to repeat information if needed.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Could you confirm the platform for the 6:30 train to Mumbai?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Practise with a timetable invented for the exercise.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19 • REAL-LIFE ROLE-PLAYS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At a hotel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State the booking name and reservation details.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Ask about check-in, facilities or a problem.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Describe a problem clearly and request a practical solution.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have a reservation under Rao for two nights.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Role-play check-in and a room issue.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19 • REAL-LIFE ROLE-PLAYS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At a doctor’s office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Explain the reason for the appointment.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Describe symptoms and timing accurately.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Ask for instructions to be repeated if unclear.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 pain started two days ago and gets worse when I swallow.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Practise a neutral appointment dialogue; avoid medical advice.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19 • REAL-LIFE ROLE-PLAYS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Meeting a new colleague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Introduce yourself and explain your role.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Ask about the colleague’s work and current priorities.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Find a natural shared topic and close politely.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What kind of projects are you working on at the moment?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Role-play a first-day workplace conversation.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19 • REAL-LIFE ROLE-PLAYS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Solving a misunderstanding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Describe the mismatch without blaming the other person.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Check what each person understood.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Agree on the next step and repeat 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may have misunderstood the deadline. Can we confirm it together?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Perform the scene twice: first poorly, then constructively.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MODULE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20 • Review, assessment and personal plan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Module goal: understand the core idea and use it in a real conversation.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Teacher tip: model the language, check understanding, then let learners practise.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Student habit: say the example aloud and personalise it with true details.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Small steps, repeated consistently, build lasting speaking confidence.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Ask learners what they already know about this topic.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20 • REVIEW, ASSESSMENT AND PERSONAL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Grammar review challenge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Review sentence structure, articles, pronouns and tense choices.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Explain why an answer is correct, not only which answer is correct.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mistakes to choose the next practice topic.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have lived here since 2022.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Correct a short mixed-grammar paragraph.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20 • REVIEW, ASSESSMENT AND PERSONAL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Vocabulary review challenge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Choose a precise word for the intended meaning.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the word in a complete sentence.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Check whether the word is appropriate for the situation.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appreciate your help with the presentation.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Use ten target words in a short story.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20 • REVIEW, ASSESSMENT AND PERSONAL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Speaking assessment rubric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Clarity: can listeners understand the message?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Organisation: does the answer have a clear beginning, middle and end?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Language: are grammar and vocabulary suitable for the task?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Delivery: are pace, volume and pauses effective?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My strongest area is ___. My next improvement goal is ___.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Give peer feedback using one strength and one next step.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20 • REVIEW, ASSESSMENT AND PERSONAL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One-minute speaking test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Choose a familiar topic and prepare three keywords.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Speak for one minute without reading a paragraph.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Listen to the recording and identify one improvement.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Topic: a skill I want to learn and why.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Record, review and repeat the test.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20 • REVIEW, ASSESSMENT AND PERSONAL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Two-minute speaking test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Open with your main point.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Support it with two details or examples.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Close by summarising what matters most.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Topic: a change that would improve my community.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Deliver a two-minute talk.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20 • REVIEW, ASSESSMENT AND PERSONAL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Personal learning plan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Set a realistic weekly schedule.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Mix speaking, listening, vocabulary and feedback.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Review progress weekly and adjust the plan.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will practise for 15 minutes each day and record one answer every Friday.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Write a four-week plan.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1: Question formation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Turn statements into yes/no questions.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Make one wh-question for each answer.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Check auxiliary placement and word order.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She works in Pune. → Does she work in Pune?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Write six questions about a fictional person.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1: Tense contrast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Choose a tense that matches the timeline.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time markers when they help.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Check whether the action is finished, ongoing or linked to now.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worked there in 2022. I have worked here since 2024.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Explain why the two tenses differ.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1: Articles practice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a/an with a non-specific singular countable noun.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the for an identifiable item.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no article for many general plural or uncountable nouns.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bought a book. The book is about travel.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Fill in the missing articles in ten sentences.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1: Preposition practice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Select a preposition based on meaning and common usage.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Memorise frequent phrase combinations.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Read the whole sentence aloud after correction.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 meeting starts at noon on Friday.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Complete ten sentences with in/on/at/to/from.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1: Polite requests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Start with could, would or may when appropriate.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Make the requested action specific.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Respond with a clear yes, no or alternative.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Would you mind sending me the updated file?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Transform five commands into polite requests.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1: Everyday dialogue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Open with a greeting and context.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Ask and answer at least three connected questions.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Close the conversation naturally.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Hello, are you waiting for the bus to the city centre?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Perform a six-turn dialogue.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1: Pronunciation drill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Choose words with a target sound.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them slowly, then at natural speed.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the words in meaningful sentences.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ship, sheep, sit, seat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Create two sentences using the target words.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1: Word stress drill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Listen to a model pronunciation.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Mark the strongest syllable.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Practise the word inside a sentence.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important, comfortable, information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Practise five words and record yourself.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1: Listening response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Identify the main point before the details.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Ask for clarification if a detail is unclear.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Summarise the message in your own words.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So the appointment is at 4 p.m. on Tuesday.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Partner A gives instructions; Partner B summarises.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1: Storytelling drill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a clear setting and event.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one detail that helps the listener imagine the scene.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End with the result or lesson.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Last week, I missed my bus, so I took another route and arrived just in time.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Tell a story in 45 seconds.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1: Workplace update drill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State progress and any blocker.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Explain impact briefly.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Give a next step and time for the next update.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Testing is complete; we found one issue and will retest after the fix.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Give a concise project update.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1: Interview answer drill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Answer the question directly first.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Give one specific example.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Finish by linking the example to the role.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work well under pressure because I prioritise tasks and communicate risks early.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Answer three common interview questions.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1: Opinion and evidence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State your view clearly.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Support it with a reason and example.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Acknowledge a reasonable alternative.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prefer small practice groups because everyone gets more speaking time.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Give a 45-second opinion.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1: Paraphrase drill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Keep the original meaning.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simpler words or a different sentence structure.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Check that no important detail has been lost.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 meeting has been postponed. → The meeting will happen later than planned.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Paraphrase five short announcements.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1: Error correction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Find the main subject and verb.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Check tense, agreement, article and preposition.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Read the corrected sentence aloud.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She goes to work by bus.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Correct ten teacher-provided sentences.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1: Vocabulary in context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Guess meaning from the sentence context.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Check the meaning before using a new word.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Make a personal example sentence.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 instructions were concise, so the task was easy to understand.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Use five target words in a mini-story.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1: Conversation repair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Ask the speaker to repeat or rephrase.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what you understood so far.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Confirm the corrected meaning.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Sorry, I missed the last part. Could you say it again?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Practise three misunderstandings.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1: Presentation rehearsal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Open with the topic and purpose.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signposting between points.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Close with the main message and next step.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To summarise, the best next step is to test the idea with a small group.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Deliver a one-minute mini-presentation.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1: Telephone practice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State your name and purpose clearly.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Confirm names, numbers and dates.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Summarise agreed actions before ending the call.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I’m calling to confirm our appointment for Thursday at 11.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Role-play a scheduling call.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1: Review and reflection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Identify one improvement since the last practice.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Choose one repeated error to work on.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Set a specific next practice target.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Next week, I will focus on word stress and clear endings.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Complete a learning reflection.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2: Question formation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Turn statements into yes/no questions.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Make one wh-question for each answer.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Check auxiliary placement and word order.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She works in Pune. → Does she work in Pune?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Write six questions about a fictional person.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2: Tense contrast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Choose a tense that matches the timeline.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time markers when they help.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Check whether the action is finished, ongoing or linked to now.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worked there in 2022. I have worked here since 2024.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Explain why the two tenses differ.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2: Articles practice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a/an with a non-specific singular countable noun.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the for an identifiable item.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no article for many general plural or uncountable nouns.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bought a book. The book is about travel.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Fill in the missing articles in ten sentences.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2: Preposition practice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Select a preposition based on meaning and common usage.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Memorise frequent phrase combinations.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Read the whole sentence aloud after correction.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 meeting starts at noon on Friday.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Complete ten sentences with in/on/at/to/from.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2: Polite requests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Start with could, would or may when appropriate.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Make the requested action specific.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Respond with a clear yes, no or alternative.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Would you mind sending me the updated file?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Transform five commands into polite requests.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2: Everyday dialogue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Open with a greeting and context.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Ask and answer at least three connected questions.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Close the conversation naturally.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Hello, are you waiting for the bus to the city centre?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Perform a six-turn dialogue.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2: Pronunciation drill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Choose words with a target sound.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them slowly, then at natural speed.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the words in meaningful sentences.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ship, sheep, sit, seat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Create two sentences using the target words.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2: Word stress drill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Listen to a model pronunciation.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Mark the strongest syllable.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Practise the word inside a sentence.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important, comfortable, information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Practise five words and record yourself.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2: Listening response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Identify the main point before the details.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Ask for clarification if a detail is unclear.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Summarise the message in your own words.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So the appointment is at 4 p.m. on Tuesday.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Partner A gives instructions; Partner B summarises.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2: Storytelling drill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a clear setting and event.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one detail that helps the listener imagine the scene.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End with the result or lesson.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Last week, I missed my bus, so I took another route and arrived just in time.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Tell a story in 45 seconds.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2: Workplace update drill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State progress and any blocker.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Explain impact briefly.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Give a next step and time for the next update.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Testing is complete; we found one issue and will retest after the fix.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Give a concise project update.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2: Interview answer drill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Answer the question directly first.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Give one specific example.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Finish by linking the example to the role.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work well under pressure because I prioritise tasks and communicate risks early.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Answer three common interview questions.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2: Opinion and evidence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State your view clearly.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Support it with a reason and example.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Acknowledge a reasonable alternative.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prefer small practice groups because everyone gets more speaking time.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Give a 45-second opinion.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2: Paraphrase drill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Keep the original meaning.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simpler words or a different sentence structure.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Check that no important detail has been lost.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 meeting has been postponed. → The meeting will happen later than planned.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Paraphrase five short announcements.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174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2: Error correction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Find the main subject and verb.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Check tense, agreement, article and preposition.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Read the corrected sentence aloud.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She goes to work by bus.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Correct ten teacher-provided sentences.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2: Vocabulary in context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Guess meaning from the sentence context.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Check the meaning before using a new word.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Make a personal example sentence.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 instructions were concise, so the task was easy to understand.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Use five target words in a mini-story.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2: Conversation repair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Ask the speaker to repeat or rephrase.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what you understood so far.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Confirm the corrected meaning.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Sorry, I missed the last part. Could you say it again?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Practise three misunderstandings.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2: Presentation rehearsal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Open with the topic and purpose.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signposting between points.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Close with the main message and next step.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To summarise, the best next step is to test the idea with a small group.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Deliver a one-minute mini-presentation.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178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2: Telephone practice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State your name and purpose clearly.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Confirm names, numbers and dates.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Summarise agreed actions before ending the call.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I’m calling to confirm our appointment for Thursday at 11.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Role-play a scheduling call.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179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2: Review and reflection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Identify one improvement since the last practice.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Choose one repeated error to work on.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Set a specific next practice target.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Next week, I will focus on word stress and clear endings.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Complete a learning reflection.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3: Question formation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Turn statements into yes/no questions.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Make one wh-question for each answer.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Check auxiliary placement and word order.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She works in Pune. → Does she work in Pune?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Write six questions about a fictional person.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3: Tense contrast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Choose a tense that matches the timeline.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time markers when they help.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Check whether the action is finished, ongoing or linked to now.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worked there in 2022. I have worked here since 2024.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Explain why the two tenses differ.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3: Articles practice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a/an with a non-specific singular countable noun.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the for an identifiable item.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no article for many general plural or uncountable nouns.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bought a book. The book is about travel.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Fill in the missing articles in ten sentences.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183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3: Preposition practice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Select a preposition based on meaning and common usage.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Memorise frequent phrase combinations.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Read the whole sentence aloud after correction.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 meeting starts at noon on Friday.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Complete ten sentences with in/on/at/to/from.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3: Polite requests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Start with could, would or may when appropriate.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Make the requested action specific.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Respond with a clear yes, no or alternative.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Would you mind sending me the updated file?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Transform five commands into polite requests.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185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3: Everyday dialogue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Open with a greeting and context.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Ask and answer at least three connected questions.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Close the conversation naturally.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Hello, are you waiting for the bus to the city centre?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Perform a six-turn dialogue.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3: Pronunciation drill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Choose words with a target sound.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them slowly, then at natural speed.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the words in meaningful sentences.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ship, sheep, sit, seat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Create two sentences using the target words.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187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3: Word stress drill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Listen to a model pronunciation.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Mark the strongest syllable.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Practise the word inside a sentence.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important, comfortable, information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Practise five words and record yourself.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188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3: Listening response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Identify the main point before the details.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Ask for clarification if a detail is unclear.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Summarise the message in your own words.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So the appointment is at 4 p.m. on Tuesday.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Partner A gives instructions; Partner B summarises.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189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3: Storytelling drill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a clear setting and event.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one detail that helps the listener imagine the scene.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End with the result or lesson.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Last week, I missed my bus, so I took another route and arrived just in time.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Tell a story in 45 seconds.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3: Workplace update drill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State progress and any blocker.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Explain impact briefly.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Give a next step and time for the next update.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Testing is complete; we found one issue and will retest after the fix.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Give a concise project update.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191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3: Interview answer drill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Answer the question directly first.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Give one specific example.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Finish by linking the example to the role.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work well under pressure because I prioritise tasks and communicate risks early.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Answer three common interview questions.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192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3: Opinion and evidence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State your view clearly.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Support it with a reason and example.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Acknowledge a reasonable alternative.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prefer small practice groups because everyone gets more speaking time.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Give a 45-second opinion.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193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3: Paraphrase drill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Keep the original meaning.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simpler words or a different sentence structure.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Check that no important detail has been lost.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 meeting has been postponed. → The meeting will happen later than planned.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Paraphrase five short announcements.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194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3: Error correction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Find the main subject and verb.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Check tense, agreement, article and preposition.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Read the corrected sentence aloud.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She goes to work by bus.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Correct ten teacher-provided sentences.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195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3: Vocabulary in context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Guess meaning from the sentence context.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Check the meaning before using a new word.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Make a personal example sentence.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 instructions were concise, so the task was easy to understand.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Use five target words in a mini-story.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196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3: Conversation repair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Ask the speaker to repeat or rephrase.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what you understood so far.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Confirm the corrected meaning.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Sorry, I missed the last part. Could you say it again?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Practise three misunderstandings.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197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3: Presentation rehearsal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Open with the topic and purpose.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signposting between points.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Close with the main message and next step.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To summarise, the best next step is to test the idea with a small group.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Deliver a one-minute mini-presentation.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198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3: Telephone practice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State your name and purpose clearly.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Confirm names, numbers and dates.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Summarise agreed actions before ending the call.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I’m calling to confirm our appointment for Thursday at 11.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Role-play a scheduling call.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199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3: Review and reflection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Identify one improvement since the last practice.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Choose one repeated error to work on.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Set a specific next practice target.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Next week, I will focus on word stress and clear endings.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Complete a learning reflection.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4: Question formation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Turn statements into yes/no questions.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Make one wh-question for each answer.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Check auxiliary placement and word order.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She works in Pune. → Does she work in Pune?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Write six questions about a fictional person.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4: Tense contrast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Choose a tense that matches the timeline.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time markers when they help.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Check whether the action is finished, ongoing or linked to now.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worked there in 2022. I have worked here since 2024.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Explain why the two tenses differ.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4: Articles practice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a/an with a non-specific singular countable noun.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the for an identifiable item.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no article for many general plural or uncountable nouns.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bought a book. The book is about travel.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Fill in the missing articles in ten sentences.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4: Preposition practice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Select a preposition based on meaning and common usage.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Memorise frequent phrase combinations.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Read the whole sentence aloud after correction.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 meeting starts at noon on Friday.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Complete ten sentences with in/on/at/to/from.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4: Polite requests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Start with could, would or may when appropriate.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Make the requested action specific.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Respond with a clear yes, no or alternative.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Would you mind sending me the updated file?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Transform five commands into polite requests.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4: Everyday dialogue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Open with a greeting and context.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Ask and answer at least three connected questions.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Close the conversation naturally.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Hello, are you waiting for the bus to the city centre?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Perform a six-turn dialogue.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4: Pronunciation drill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Choose words with a target sound.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them slowly, then at natural speed.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the words in meaningful sentences.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ship, sheep, sit, seat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Create two sentences using the target words.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4: Word stress drill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Listen to a model pronunciation.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Mark the strongest syllable.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Practise the word inside a sentence.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important, comfortable, information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Practise five words and record yourself.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4: Listening response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Identify the main point before the details.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Ask for clarification if a detail is unclear.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Summarise the message in your own words.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So the appointment is at 4 p.m. on Tuesday.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Partner A gives instructions; Partner B summarises.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4: Storytelling drill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a clear setting and event.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one detail that helps the listener imagine the scene.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End with the result or lesson.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Last week, I missed my bus, so I took another route and arrived just in time.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Tell a story in 45 seconds.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4: Workplace update drill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State progress and any blocker.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Explain impact briefly.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Give a next step and time for the next update.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Testing is complete; we found one issue and will retest after the fix.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Give a concise project update.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4: Interview answer drill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Answer the question directly first.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Give one specific example.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Finish by linking the example to the role.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work well under pressure because I prioritise tasks and communicate risks early.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Answer three common interview questions.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4: Opinion and evidence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State your view clearly.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Support it with a reason and example.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Acknowledge a reasonable alternative.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prefer small practice groups because everyone gets more speaking time.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Give a 45-second opinion.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4: Paraphrase drill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Keep the original meaning.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simpler words or a different sentence structure.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Check that no important detail has been lost.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 meeting has been postponed. → The meeting will happen later than planned.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Paraphrase five short announcements.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4: Error correction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Find the main subject and verb.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Check tense, agreement, article and preposition.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Read the corrected sentence aloud.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She goes to work by bus.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Correct ten teacher-provided sentences.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4: Vocabulary in context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Guess meaning from the sentence context.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Check the meaning before using a new word.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Make a personal example sentence.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 instructions were concise, so the task was easy to understand.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Use five target words in a mini-story.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4: Conversation repair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Ask the speaker to repeat or rephrase.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what you understood so far.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Confirm the corrected meaning.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Sorry, I missed the last part. Could you say it again?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Practise three misunderstandings.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4: Presentation rehearsal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Open with the topic and purpose.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signposting between points.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Close with the main message and next step.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To summarise, the best next step is to test the idea with a small group.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Deliver a one-minute mini-presentation.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4: Telephone practice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State your name and purpose clearly.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Confirm names, numbers and dates.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Summarise agreed actions before ending the call.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I’m calling to confirm our appointment for Thursday at 11.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Role-play a scheduling call.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4: Review and reflection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Identify one improvement since the last practice.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Choose one repeated error to work on.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Set a specific next practice target.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Next week, I will focus on word stress and clear endings.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Complete a learning reflection.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5: Question formation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Turn statements into yes/no questions.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Make one wh-question for each answer.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Check auxiliary placement and word order.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She works in Pune. → Does she work in Pune?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Write six questions about a fictional person.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5: Tense contrast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Choose a tense that matches the timeline.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time markers when they help.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Check whether the action is finished, ongoing or linked to now.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worked there in 2022. I have worked here since 2024.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Explain why the two tenses differ.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5: Articles practice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a/an with a non-specific singular countable noun.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the for an identifiable item.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no article for many general plural or uncountable nouns.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bought a book. The book is about travel.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Fill in the missing articles in ten sentences.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5: Preposition practice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Select a preposition based on meaning and common usage.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Memorise frequent phrase combinations.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Read the whole sentence aloud after correction.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 meeting starts at noon on Friday.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Complete ten sentences with in/on/at/to/from.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5: Polite requests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Start with could, would or may when appropriate.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Make the requested action specific.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Respond with a clear yes, no or alternative.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Would you mind sending me the updated file?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Transform five commands into polite requests.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5: Everyday dialogue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Open with a greeting and context.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Ask and answer at least three connected questions.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Close the conversation naturally.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Hello, are you waiting for the bus to the city centre?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Perform a six-turn dialogue.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5: Pronunciation drill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Choose words with a target sound.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them slowly, then at natural speed.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the words in meaningful sentences.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ship, sheep, sit, seat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Create two sentences using the target words.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5: Word stress drill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Listen to a model pronunciation.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Mark the strongest syllable.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Practise the word inside a sentence.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important, comfortable, information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Practise five words and record yourself.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5: Listening response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Identify the main point before the details.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Ask for clarification if a detail is unclear.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Summarise the message in your own words.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So the appointment is at 4 p.m. on Tuesday.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Partner A gives instructions; Partner B summarises.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5: Storytelling drill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a clear setting and event.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one detail that helps the listener imagine the scene.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End with the result or lesson.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Last week, I missed my bus, so I took another route and arrived just in time.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Tell a story in 45 seconds.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5: Workplace update drill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State progress and any blocker.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Explain impact briefly.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Give a next step and time for the next update.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Testing is complete; we found one issue and will retest after the fix.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Give a concise project update.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5: Interview answer drill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Answer the question directly first.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Give one specific example.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Finish by linking the example to the role.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work well under pressure because I prioritise tasks and communicate risks early.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Answer three common interview questions.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5: Opinion and evidence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State your view clearly.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Support it with a reason and example.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Acknowledge a reasonable alternative.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prefer small practice groups because everyone gets more speaking time.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Give a 45-second opinion.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5: Paraphrase drill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Keep the original meaning.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simpler words or a different sentence structure.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Check that no important detail has been lost.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 meeting has been postponed. → The meeting will happen later than planned.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Paraphrase five short announcements.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5: Error correction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Find the main subject and verb.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Check tense, agreement, article and preposition.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Read the corrected sentence aloud.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She goes to work by bus.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Correct ten teacher-provided sentences.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5: Vocabulary in context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Guess meaning from the sentence context.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Check the meaning before using a new word.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Make a personal example sentence.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 instructions were concise, so the task was easy to understand.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Use five target words in a mini-story.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5: Conversation repair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Ask the speaker to repeat or rephrase.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what you understood so far.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Confirm the corrected meaning.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Sorry, I missed the last part. Could you say it again?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Practise three misunderstandings.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5: Presentation rehearsal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Open with the topic and purpose.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signposting between points.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Close with the main message and next step.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To summarise, the best next step is to test the idea with a small group.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Deliver a one-minute mini-presentation.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5: Telephone practice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State your name and purpose clearly.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Confirm names, numbers and dates.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Summarise agreed actions before ending the call.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I’m calling to confirm our appointment for Thursday at 11.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Role-play a scheduling call.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GUIDED PRACTICE • ROUND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Practice Lab 5: Review and reflection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Identify one improvement since the last practice.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Choose one repeated error to work on.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Set a specific next practice target.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Next week, I will focus on word stress and clear endings.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Complete a learning reflection.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ROLE-PLAY CARDS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Role-play scenario 1: The late delivery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Situation: A package has not arrived when expected.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Speaker A: explain your need clearly and politely.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Speaker B: ask follow-up questions and suggest a practical next step.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Switch roles and repeat using different wording.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Useful opener: “Could we talk about…?” / “Let me explain the situation.”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Explain the issue, ask for an update and agree on a next step.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ROLE-PLAY CARDS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Role-play scenario 2: The missed meeting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Situation: You misunderstood the meeting time.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Speaker A: explain your need clearly and politely.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Speaker B: ask follow-up questions and suggest a practical next step.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Switch roles and repeat using different wording.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Useful opener: “Could we talk about…?” / “Let me explain the situation.”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Apologise briefly, clarify the key decisions and ask about actions.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ROLE-PLAY CARDS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Role-play scenario 3: The new neighbour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Situation: You meet someone who has recently moved in.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Speaker A: explain your need clearly and politely.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Speaker B: ask follow-up questions and suggest a practical next step.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Switch roles and repeat using different wording.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Useful opener: “Could we talk about…?” / “Let me explain the situation.”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Introduce yourself, offer practical local information and ask a friendly question.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ROLE-PLAY CARDS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Role-play scenario 4: The team disagreement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Situation: Two people prefer different solutions.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Speaker A: explain your need clearly and politely.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Speaker B: ask follow-up questions and suggest a practical next step.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Switch roles and repeat using different wording.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Useful opener: “Could we talk about…?” / “Let me explain the situation.”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Summarise both options fairly and suggest a way to compare them.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ROLE-PLAY CARDS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Role-play scenario 5: The unclear instruction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Situation: A task description is confusing.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Speaker A: explain your need clearly and politely.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Speaker B: ask follow-up questions and suggest a practical next step.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Switch roles and repeat using different wording.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Useful opener: “Could we talk about…?” / “Let me explain the situation.”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Ask focused questions and repeat your understanding.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ROLE-PLAY CARDS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Role-play scenario 6: The successful project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Situation: Your team has completed a difficult task.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Speaker A: explain your need clearly and politely.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Speaker B: ask follow-up questions and suggest a practical next step.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Switch roles and repeat using different wording.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Useful opener: “Could we talk about…?” / “Let me explain the situation.”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Describe the challenge, contribution and outcome.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ROLE-PLAY CARDS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Role-play scenario 7: The course enquiry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Situation: You want information about a training programme.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Speaker A: explain your need clearly and politely.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Speaker B: ask follow-up questions and suggest a practical next step.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Switch roles and repeat using different wording.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Useful opener: “Could we talk about…?” / “Let me explain the situation.”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Ask about duration, schedule, topics and assessment.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ROLE-PLAY CARDS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Role-play scenario 8: The travel change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Situation: Your train platform or departure time has changed.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Speaker A: explain your need clearly and politely.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Speaker B: ask follow-up questions and suggest a practical next step.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Switch roles and repeat using different wording.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Useful opener: “Could we talk about…?” / “Let me explain the situation.”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Ask staff to confirm the details and explain them to a companion.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ROLE-PLAY CARDS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Role-play scenario 9: The service complaint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Situation: A service did not meet expectations.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Speaker A: explain your need clearly and politely.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Speaker B: ask follow-up questions and suggest a practical next step.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Switch roles and repeat using different wording.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Useful opener: “Could we talk about…?” / “Let me explain the situation.”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Describe facts calmly, explain the impact and request a reasonable resolution.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ROLE-PLAY CARDS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Role-play scenario 10: The helpful colleague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Situation: A colleague has supported you.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Speaker A: explain your need clearly and politely.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Speaker B: ask follow-up questions and suggest a practical next step.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Switch roles and repeat using different wording.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Useful opener: “Could we talk about…?” / “Let me explain the situation.”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Thank them specifically and explain how their help made a difference.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ROLE-PLAY CARDS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Role-play scenario 11: The interview introduction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Situation: You have one minute to introduce yourself.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Speaker A: explain your need clearly and politely.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Speaker B: ask follow-up questions and suggest a practical next step.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Switch roles and repeat using different wording.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Useful opener: “Could we talk about…?” / “Let me explain the situation.”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Explain your current role, strengths and interest in the opportunity.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ROLE-PLAY CARDS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Role-play scenario 12: The project proposal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Situation: You want approval for a small pilot.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Speaker A: explain your need clearly and politely.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Speaker B: ask follow-up questions and suggest a practical next step.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Switch roles and repeat using different wording.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Useful opener: “Could we talk about…?” / “Let me explain the situation.”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State the problem, proposed action, benefit, risk and requested decision.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ROLE-PLAY CARDS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Role-play scenario 13: The community idea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Situation: You want to improve a shared space.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Speaker A: explain your need clearly and politely.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Speaker B: ask follow-up questions and suggest a practical next step.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Switch roles and repeat using different wording.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Useful opener: “Could we talk about…?” / “Let me explain the situation.”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Explain the need, suggest a practical action and invite feedback.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ROLE-PLAY CARDS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Role-play scenario 14: The learning setback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Situation: You have not progressed as quickly as expected.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Speaker A: explain your need clearly and politely.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Speaker B: ask follow-up questions and suggest a practical next step.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Switch roles and repeat using different wording.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Useful opener: “Could we talk about…?” / “Let me explain the situation.”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Describe what is difficult, what you have tried and what you will change.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ROLE-PLAY CARDS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Role-play scenario 15: The schedule conflict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Situation: Two important activities overlap.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Speaker A: explain your need clearly and politely.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Speaker B: ask follow-up questions and suggest a practical next step.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Switch roles and repeat using different wording.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Useful opener: “Could we talk about…?” / “Let me explain the situation.”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Explain the conflict, offer options and confirm the final arrangement.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1: Choose the correct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A) Where you live?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B) Where do you live?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C) Where does you live?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Suggested answer: B) Where do you live?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Explain why the answer works, then create a new example.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ANSWER EXPLANATION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1: explanation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The auxiliary ‘do’ comes before the subject in this present-simple question.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the correct sentence aloud at a natural pace.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Make one new sentence using the same pattern.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B) Where do you live?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Use the pattern in a short conversation.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1: Choose the correct article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A) I bought an umbrella.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B) I bought a umbrella.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C) I bought the umbrella (when no umbrella is known).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Suggested answer: A) I bought an umbrella.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Explain why the answer works, then create a new example.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ANSWER EXPLANATION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1: explanation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‘an’ before a vowel sound in a non-specific singular countable noun.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the correct sentence aloud at a natural pace.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Make one new sentence using the same pattern.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A) I bought an umbrella.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Use the pattern in a short conversation.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1: Choose the correct tense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A) Yesterday I go to work.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B) Yesterday I went to work.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C) Yesterday I have go to work.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Suggested answer: B) Yesterday I went to work.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Explain why the answer works, then create a new example.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ANSWER EXPLANATION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1: explanation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 finished event at a past time normally uses the past simple.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the correct sentence aloud at a natural pace.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Make one new sentence using the same pattern.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B) Yesterday I went to work.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Use the pattern in a short conversation.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1: Choose the correct modal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A) Could you help me, please?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B) Could you helped me, please?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C) Could you to help me, please?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Suggested answer: A) Could you help me, please?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Explain why the answer works, then create a new example.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ANSWER EXPLANATION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1: explanation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the base verb after a modal.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the correct sentence aloud at a natural pace.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Make one new sentence using the same pattern.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A) Could you help me, please?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Use the pattern in a short conversation.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1: Choose the correct preposition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A) The meeting is at Monday.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B) The meeting is on Monday.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C) The meeting is in Monday.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Suggested answer: B) The meeting is on Monday.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Explain why the answer works, then create a new example.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ANSWER EXPLANATION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1: explanation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‘on’ with days.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the correct sentence aloud at a natural pace.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Make one new sentence using the same pattern.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B) The meeting is on Monday.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Use the pattern in a short conversation.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1: Choose the natural collocation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A) make a decision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B) do a decision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C) build a decision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Suggested answer: A) make a 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Explain why the answer works, then create a new example.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ANSWER EXPLANATION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1: explanation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‘Make a decision’ is the standard collocation.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the correct sentence aloud at a natural pace.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Make one new sentence using the same pattern.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A) make a 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Use the pattern in a short conversation.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1: Choose the polite request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A) Send me that now.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B) Could you send that when you have a moment?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C) You send that.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Suggested answer: B) Could you send that when you have a moment?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Explain why the answer works, then create a new example.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ANSWER EXPLANATION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1: explanation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The second option is polite and specific.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the correct sentence aloud at a natural pace.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Make one new sentence using the same pattern.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B) Could you send that when you have a moment?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Use the pattern in a short conversation.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1: Choose the correct agreement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A) The list are ready.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B) The list is ready.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C) The list be ready.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Suggested answer: B) The list is ready.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Explain why the answer works, then create a new example.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ANSWER EXPLANATION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1: explanation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The main subject ‘list’ is singular.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the correct sentence aloud at a natural pace.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Make one new sentence using the same pattern.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B) The list is ready.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Use the pattern in a short conversation.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1: Choose the clear update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A) It is sort of maybe nearly done.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B) Testing is complete; I’ll share the results by 3 p.m.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C) Soon maybe.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Suggested answer: B) Testing is complete; I’ll share the results by 3 p.m.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Explain why the answer works, then create a new example.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ANSWER EXPLANATION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1: explanation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 useful update gives status and a clear next step.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the correct sentence aloud at a natural pace.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Make one new sentence using the same pattern.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B) Testing is complete; I’ll share the results by 3 p.m.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Use the pattern in a short conversation.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1: Choose the best clarification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A) What?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B) I didn’t get anything.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C) Could you repeat the last date, please?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Suggested answer: C) Could you repeat the last date, please?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Explain why the answer works, then create a new example.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ANSWER EXPLANATION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274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1: explanation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 specific, polite clarification helps avoid guessing.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the correct sentence aloud at a natural pace.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Make one new sentence using the same pattern.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C) Could you repeat the last date, please?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Use the pattern in a short conversation.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2: Choose the correct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A) Where you live?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B) Where do you live?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C) Where does you live?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Suggested answer: B) Where do you live?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Explain why the answer works, then create a new example.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ANSWER EXPLANATION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2: explanation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The auxiliary ‘do’ comes before the subject in this present-simple question.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the correct sentence aloud at a natural pace.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Make one new sentence using the same pattern.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B) Where do you live?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Use the pattern in a short conversation.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2: Choose the correct article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A) I bought an umbrella.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B) I bought a umbrella.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C) I bought the umbrella (when no umbrella is known).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Suggested answer: A) I bought an umbrella.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Explain why the answer works, then create a new example.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ANSWER EXPLANATION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278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2: explanation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‘an’ before a vowel sound in a non-specific singular countable noun.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the correct sentence aloud at a natural pace.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Make one new sentence using the same pattern.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A) I bought an umbrella.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Use the pattern in a short conversation.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279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2: Choose the correct tense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A) Yesterday I go to work.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B) Yesterday I went to work.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C) Yesterday I have go to work.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Suggested answer: B) Yesterday I went to work.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Explain why the answer works, then create a new example.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ANSWER EXPLANATION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2: explanation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 finished event at a past time normally uses the past simple.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the correct sentence aloud at a natural pace.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Make one new sentence using the same pattern.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B) Yesterday I went to work.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Use the pattern in a short conversation.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2: Choose the correct modal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A) Could you help me, please?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B) Could you helped me, please?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C) Could you to help me, please?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Suggested answer: A) Could you help me, please?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Explain why the answer works, then create a new example.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ANSWER EXPLANATION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2: explanation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the base verb after a modal.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the correct sentence aloud at a natural pace.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Make one new sentence using the same pattern.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A) Could you help me, please?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Use the pattern in a short conversation.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283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2: Choose the correct preposition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A) The meeting is at Monday.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B) The meeting is on Monday.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C) The meeting is in Monday.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Suggested answer: B) The meeting is on Monday.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Explain why the answer works, then create a new example.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ANSWER EXPLANATION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2: explanation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‘on’ with days.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the correct sentence aloud at a natural pace.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Make one new sentence using the same pattern.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B) The meeting is on Monday.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Use the pattern in a short conversation.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285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2: Choose the natural collocation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A) make a decision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B) do a decision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C) build a decision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Suggested answer: A) make a 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Explain why the answer works, then create a new example.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ANSWER EXPLANATION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2: explanation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‘Make a decision’ is the standard collocation.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the correct sentence aloud at a natural pace.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Make one new sentence using the same pattern.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A) make a 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Use the pattern in a short conversation.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287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2: Choose the polite request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A) Send me that now.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B) Could you send that when you have a moment?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C) You send that.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Suggested answer: B) Could you send that when you have a moment?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Explain why the answer works, then create a new example.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ANSWER EXPLANATION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288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2: explanation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The second option is polite and specific.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the correct sentence aloud at a natural pace.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Make one new sentence using the same pattern.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B) Could you send that when you have a moment?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Use the pattern in a short conversation.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289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2: Choose the correct agreement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A) The list are ready.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B) The list is ready.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C) The list be ready.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Suggested answer: B) The list is ready.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Explain why the answer works, then create a new example.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ANSWER EXPLANATION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2: explanation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The main subject ‘list’ is singular.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the correct sentence aloud at a natural pace.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Make one new sentence using the same pattern.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B) The list is ready.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Use the pattern in a short conversation.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291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2: Choose the clear update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A) It is sort of maybe nearly done.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B) Testing is complete; I’ll share the results by 3 p.m.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C) Soon maybe.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Suggested answer: B) Testing is complete; I’ll share the results by 3 p.m.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Explain why the answer works, then create a new example.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ANSWER EXPLANATION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292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2: explanation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 useful update gives status and a clear next step.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the correct sentence aloud at a natural pace.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Make one new sentence using the same pattern.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B) Testing is complete; I’ll share the results by 3 p.m.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Use the pattern in a short conversation.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293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2: Choose the best clarification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A) What?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B) I didn’t get anything.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C) Could you repeat the last date, please?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Suggested answer: C) Could you repeat the last date, please?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Explain why the answer works, then create a new example.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ANSWER EXPLANATION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294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2: explanation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 specific, polite clarification helps avoid guessing.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the correct sentence aloud at a natural pace.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Make one new sentence using the same pattern.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C) Could you repeat the last date, please?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Use the pattern in a short conversation.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295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3: Choose the correct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A) Where you live?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B) Where do you live?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C) Where does you live?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Suggested answer: B) Where do you live?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Explain why the answer works, then create a new example.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ANSWER EXPLANATION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296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3: explanation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The auxiliary ‘do’ comes before the subject in this present-simple question.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the correct sentence aloud at a natural pace.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Make one new sentence using the same pattern.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B) Where do you live?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Use the pattern in a short conversation.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297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3: Choose the correct article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A) I bought an umbrella.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B) I bought a umbrella.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C) I bought the umbrella (when no umbrella is known).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Suggested answer: A) I bought an umbrella.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Explain why the answer works, then create a new example.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ANSWER EXPLANATION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298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3: explanation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‘an’ before a vowel sound in a non-specific singular countable noun.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the correct sentence aloud at a natural pace.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Make one new sentence using the same pattern.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A) I bought an umbrella.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Use the pattern in a short conversation.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299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3: Choose the correct tense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A) Yesterday I go to work.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B) Yesterday I went to work.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C) Yesterday I have go to work.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Suggested answer: B) Yesterday I went to work.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Explain why the answer works, then create a new example.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ANSWER EXPLANATION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3: explanation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 finished event at a past time normally uses the past simple.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the correct sentence aloud at a natural pace.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Make one new sentence using the same pattern.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B) Yesterday I went to work.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Use the pattern in a short conversation.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3: Choose the correct modal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A) Could you help me, please?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B) Could you helped me, please?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C) Could you to help me, please?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Suggested answer: A) Could you help me, please?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Explain why the answer works, then create a new example.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ANSWER EXPLANATION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3: explanation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the base verb after a modal.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the correct sentence aloud at a natural pace.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Make one new sentence using the same pattern.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A) Could you help me, please?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Use the pattern in a short conversation.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3: Choose the correct preposition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A) The meeting is at Monday.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B) The meeting is on Monday.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C) The meeting is in Monday.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Suggested answer: B) The meeting is on Monday.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Explain why the answer works, then create a new example.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ANSWER EXPLANATION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3: explanation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‘on’ with days.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the correct sentence aloud at a natural pace.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Make one new sentence using the same pattern.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B) The meeting is on Monday.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Use the pattern in a short conversation.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3: Choose the natural collocation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A) make a decision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B) do a decision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C) build a decision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Suggested answer: A) make a 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Explain why the answer works, then create a new example.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ANSWER EXPLANATION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3: explanation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‘Make a decision’ is the standard collocation.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the correct sentence aloud at a natural pace.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Make one new sentence using the same pattern.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A) make a 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Use the pattern in a short conversation.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3: Choose the polite request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A) Send me that now.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B) Could you send that when you have a moment?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C) You send that.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Suggested answer: B) Could you send that when you have a moment?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Explain why the answer works, then create a new example.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ANSWER EXPLANATION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3: explanation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The second option is polite and specific.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the correct sentence aloud at a natural pace.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Make one new sentence using the same pattern.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B) Could you send that when you have a moment?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Use the pattern in a short conversation.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3: Choose the correct agreement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A) The list are ready.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B) The list is ready.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C) The list be ready.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Suggested answer: B) The list is ready.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Explain why the answer works, then create a new example.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ANSWER EXPLANATION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3: explanation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The main subject ‘list’ is singular.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the correct sentence aloud at a natural pace.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Make one new sentence using the same pattern.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B) The list is ready.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Use the pattern in a short conversation.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3: Choose the clear update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A) It is sort of maybe nearly done.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B) Testing is complete; I’ll share the results by 3 p.m.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C) Soon maybe.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Suggested answer: B) Testing is complete; I’ll share the results by 3 p.m.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Explain why the answer works, then create a new example.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ANSWER EXPLANATION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3: explanation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 useful update gives status and a clear next step.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the correct sentence aloud at a natural pace.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Make one new sentence using the same pattern.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B) Testing is complete; I’ll share the results by 3 p.m.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Use the pattern in a short conversation.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3: Choose the best clarification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A) What?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B) I didn’t get anything.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C) Could you repeat the last date, please?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Suggested answer: C) Could you repeat the last date, please?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Explain why the answer works, then create a new example.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ANSWER EXPLANATION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Quick check 3: explanation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 specific, polite clarification helps avoid guessing.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the correct sentence aloud at a natural pace.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Make one new sentence using the same pattern.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C) Could you repeat the last date, please?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Use the pattern in a short conversation.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FLUENCY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Fluency prompt 1: your morning routine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Start with a direct answer or clear main idea.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two details, examples or reasons.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one connector such as because, although, so or for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Finish with a short conclusion or personal reflection.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Speaking frame: “I’d like to talk about… The main reason is… For example… Overall…”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Speak for 60 seconds; repeat and improve one thing.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FLUENCY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Fluency prompt 2: a place you enjoy visiting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Start with a direct answer or clear main idea.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two details, examples or reasons.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one connector such as because, although, so or for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Finish with a short conclusion or personal reflection.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Speaking frame: “I’d like to talk about… The main reason is… For example… Overall…”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Speak for 60 seconds; repeat and improve one thing.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FLUENCY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Fluency prompt 3: a skill you want to learn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Start with a direct answer or clear main idea.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two details, examples or reasons.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one connector such as because, although, so or for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Finish with a short conclusion or personal reflection.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Speaking frame: “I’d like to talk about… The main reason is… For example… Overall…”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Speak for 60 seconds; repeat and improve one thing.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FLUENCY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Fluency prompt 4: a person who taught you something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Start with a direct answer or clear main idea.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two details, examples or reasons.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one connector such as because, although, so or for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Finish with a short conclusion or personal reflection.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Speaking frame: “I’d like to talk about… The main reason is… For example… Overall…”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Speak for 60 seconds; repeat and improve one thing.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FLUENCY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Fluency prompt 5: a useful app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Start with a direct answer or clear main idea.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two details, examples or reasons.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one connector such as because, although, so or for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Finish with a short conclusion or personal reflection.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Speaking frame: “I’d like to talk about… The main reason is… For example… Overall…”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Speak for 60 seconds; repeat and improve one thing.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FLUENCY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Fluency prompt 6: a time you solved a problem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Start with a direct answer or clear main idea.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two details, examples or reasons.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one connector such as because, although, so or for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Finish with a short conclusion or personal reflection.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Speaking frame: “I’d like to talk about… The main reason is… For example… Overall…”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Speak for 60 seconds; repeat and improve one thing.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FLUENCY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Fluency prompt 7: your favourite meal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Start with a direct answer or clear main idea.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two details, examples or reasons.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one connector such as because, although, so or for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Finish with a short conclusion or personal reflection.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Speaking frame: “I’d like to talk about… The main reason is… For example… Overall…”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Speak for 60 seconds; repeat and improve one thing.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FLUENCY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Fluency prompt 8: a book or film you recommend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Start with a direct answer or clear main idea.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two details, examples or reasons.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one connector such as because, although, so or for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Finish with a short conclusion or personal reflection.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Speaking frame: “I’d like to talk about… The main reason is… For example… Overall…”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Speak for 60 seconds; repeat and improve one thing.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FLUENCY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Fluency prompt 9: a change at work or school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Start with a direct answer or clear main idea.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two details, examples or reasons.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one connector such as because, although, so or for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Finish with a short conclusion or personal reflection.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Speaking frame: “I’d like to talk about… The main reason is… For example… Overall…”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Speak for 60 seconds; repeat and improve one thing.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FLUENCY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Fluency prompt 10: a good habit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Start with a direct answer or clear main idea.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two details, examples or reasons.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one connector such as because, although, so or for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Finish with a short conclusion or personal reflection.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Speaking frame: “I’d like to talk about… The main reason is… For example… Overall…”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Speak for 60 seconds; repeat and improve one thing.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FLUENCY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Fluency prompt 11: a challenge you overcame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Start with a direct answer or clear main idea.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two details, examples or reasons.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one connector such as because, although, so or for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Finish with a short conclusion or personal reflection.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Speaking frame: “I’d like to talk about… The main reason is… For example… Overall…”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Speak for 60 seconds; repeat and improve one thing.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FLUENCY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Fluency prompt 12: a memorable journey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Start with a direct answer or clear main idea.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two details, examples or reasons.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one connector such as because, although, so or for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Finish with a short conclusion or personal reflection.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Speaking frame: “I’d like to talk about… The main reason is… For example… Overall…”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Speak for 60 seconds; repeat and improve one thing.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FLUENCY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Fluency prompt 13: how to save time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Start with a direct answer or clear main idea.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two details, examples or reasons.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one connector such as because, although, so or for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Finish with a short conclusion or personal reflection.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Speaking frame: “I’d like to talk about… The main reason is… For example… Overall…”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Speak for 60 seconds; repeat and improve one thing.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FLUENCY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Fluency prompt 14: a local place visitors should see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Start with a direct answer or clear main idea.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two details, examples or reasons.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one connector such as because, although, so or for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Finish with a short conclusion or personal reflection.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Speaking frame: “I’d like to talk about… The main reason is… For example… Overall…”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Speak for 60 seconds; repeat and improve one thing.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FLUENCY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Fluency prompt 15: a useful invention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Start with a direct answer or clear main idea.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two details, examples or reasons.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one connector such as because, although, so or for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Finish with a short conclusion or personal reflection.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Speaking frame: “I’d like to talk about… The main reason is… For example… Overall…”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Speak for 60 seconds; repeat and improve one thing.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FLUENCY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Fluency prompt 16: a team achievement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Start with a direct answer or clear main idea.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two details, examples or reasons.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one connector such as because, although, so or for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Finish with a short conclusion or personal reflection.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Speaking frame: “I’d like to talk about… The main reason is… For example… Overall…”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Speak for 60 seconds; repeat and improve one thing.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FLUENCY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Fluency prompt 17: your ideal learning environment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Start with a direct answer or clear main idea.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two details, examples or reasons.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one connector such as because, although, so or for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Finish with a short conclusion or personal reflection.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Speaking frame: “I’d like to talk about… The main reason is… For example… Overall…”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Speak for 60 seconds; repeat and improve one thing.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FLUENCY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Fluency prompt 18: how you prepare for a busy 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Start with a direct answer or clear main idea.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two details, examples or reasons.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one connector such as because, although, so or for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Finish with a short conclusion or personal reflection.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Speaking frame: “I’d like to talk about… The main reason is… For example… Overall…”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Speak for 60 seconds; repeat and improve one thing.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FLUENCY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Fluency prompt 19: a decision you made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Start with a direct answer or clear main idea.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two details, examples or reasons.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one connector such as because, although, so or for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Finish with a short conclusion or personal reflection.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Speaking frame: “I’d like to talk about… The main reason is… For example… Overall…”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Speak for 60 seconds; repeat and improve one thing.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FLUENCY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Fluency prompt 20: a goal for next month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Start with a direct answer or clear main idea.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two details, examples or reasons.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one connector such as because, although, so or for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Finish with a short conclusion or personal reflection.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Speaking frame: “I’d like to talk about… The main reason is… For example… Overall…”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Speak for 60 seconds; repeat and improve one thing.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FLUENCY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Fluency prompt 21: a misunderstanding you cleared up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Start with a direct answer or clear main idea.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two details, examples or reasons.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one connector such as because, although, so or for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Finish with a short conclusion or personal reflection.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Speaking frame: “I’d like to talk about… The main reason is… For example… Overall…”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Speak for 60 seconds; repeat and improve one thing.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FLUENCY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Fluency prompt 22: a service you appreciate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Start with a direct answer or clear main idea.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two details, examples or reasons.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one connector such as because, although, so or for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Finish with a short conclusion or personal reflection.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Speaking frame: “I’d like to talk about… The main reason is… For example… Overall…”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Speak for 60 seconds; repeat and improve one thing.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FLUENCY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Fluency prompt 23: a tradition in your community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Start with a direct answer or clear main idea.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two details, examples or reasons.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one connector such as because, although, so or for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Finish with a short conclusion or personal reflection.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Speaking frame: “I’d like to talk about… The main reason is… For example… Overall…”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Speak for 60 seconds; repeat and improve one thing.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FLUENCY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Fluency prompt 24: a time you helped someone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Start with a direct answer or clear main idea.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two details, examples or reasons.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one connector such as because, although, so or for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Finish with a short conclusion or personal reflection.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Speaking frame: “I’d like to talk about… The main reason is… For example… Overall…”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Speak for 60 seconds; repeat and improve one thing.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FLUENCY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Fluency prompt 25: a topic you would like to understand better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Start with a direct answer or clear main idea.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two details, examples or reasons.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one connector such as because, although, so or for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Finish with a short conclusion or personal reflection.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Speaking frame: “I’d like to talk about… The main reason is… For example… Overall…”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Speak for 60 seconds; repeat and improve one thing.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FLUENCY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Fluency prompt 26: a job you find interesting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Start with a direct answer or clear main idea.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two details, examples or reasons.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one connector such as because, although, so or for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Finish with a short conclusion or personal reflection.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Speaking frame: “I’d like to talk about… The main reason is… For example… Overall…”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Speak for 60 seconds; repeat and improve one thing.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FLUENCY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Fluency prompt 27: a useful lesson from a mistake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Start with a direct answer or clear main idea.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two details, examples or reasons.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one connector such as because, although, so or for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Finish with a short conclusion or personal reflection.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Speaking frame: “I’d like to talk about… The main reason is… For example… Overall…”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Speak for 60 seconds; repeat and improve one thing.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FLUENCY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Fluency prompt 28: how technology changes communication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Start with a direct answer or clear main idea.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two details, examples or reasons.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one connector such as because, although, so or for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Finish with a short conclusion or personal reflection.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Speaking frame: “I’d like to talk about… The main reason is… For example… Overall…”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Speak for 60 seconds; repeat and improve one thing.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FLUENCY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Fluency prompt 29: a plan for a weekend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Start with a direct answer or clear main idea.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two details, examples or reasons.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one connector such as because, although, so or for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Finish with a short conclusion or personal reflection.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Speaking frame: “I’d like to talk about… The main reason is… For example… Overall…”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Speak for 60 seconds; repeat and improve one thing.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FLUENCY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Fluency prompt 30: a way to stay organised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Start with a direct answer or clear main idea.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two details, examples or reasons.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one connector such as because, although, so or for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Finish with a short conclusion or personal reflection.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Speaking frame: “I’d like to talk about… The main reason is… For example… Overall…”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Speak for 60 seconds; repeat and improve one thing.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FLUENCY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Fluency prompt 31: a quality of a good leader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Start with a direct answer or clear main idea.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two details, examples or reasons.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one connector such as because, although, so or for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Finish with a short conclusion or personal reflection.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Speaking frame: “I’d like to talk about… The main reason is… For example… Overall…”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Speak for 60 seconds; repeat and improve one thing.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FLUENCY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Fluency prompt 32: how to welcome a new colleague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Start with a direct answer or clear main idea.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two details, examples or reasons.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one connector such as because, although, so or for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Finish with a short conclusion or personal reflection.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Speaking frame: “I’d like to talk about… The main reason is… For example… Overall…”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Speak for 60 seconds; repeat and improve one thing.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FLUENCY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Fluency prompt 33: a problem in your neighbourhood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Start with a direct answer or clear main idea.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two details, examples or reasons.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one connector such as because, although, so or for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Finish with a short conclusion or personal reflection.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Speaking frame: “I’d like to talk about… The main reason is… For example… Overall…”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Speak for 60 seconds; repeat and improve one thing.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FLUENCY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Fluency prompt 34: a skill you use every 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Start with a direct answer or clear main idea.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two details, examples or reasons.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one connector such as because, although, so or for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Finish with a short conclusion or personal reflection.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Speaking frame: “I’d like to talk about… The main reason is… For example… Overall…”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Speak for 60 seconds; repeat and improve one thing.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FLUENCY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Fluency prompt 35: a time you changed your mind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Start with a direct answer or clear main idea.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two details, examples or reasons.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one connector such as because, although, so or for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Finish with a short conclusion or personal reflection.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Speaking frame: “I’d like to talk about… The main reason is… For example… Overall…”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Speak for 60 seconds; repeat and improve one thing.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FLUENCY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Fluency prompt 36: a useful piece of advice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Start with a direct answer or clear main idea.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two details, examples or reasons.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one connector such as because, although, so or for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Finish with a short conclusion or personal reflection.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Speaking frame: “I’d like to talk about… The main reason is… For example… Overall…”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Speak for 60 seconds; repeat and improve one thing.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FLUENCY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Fluency prompt 37: how to make a good first impression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Start with a direct answer or clear main idea.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two details, examples or reasons.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one connector such as because, although, so or for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Finish with a short conclusion or personal reflection.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Speaking frame: “I’d like to talk about… The main reason is… For example… Overall…”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Speak for 60 seconds; repeat and improve one thing.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FLUENCY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Fluency prompt 38: what makes a meeting productive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Start with a direct answer or clear main idea.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two details, examples or reasons.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one connector such as because, although, so or for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Finish with a short conclusion or personal reflection.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Speaking frame: “I’d like to talk about… The main reason is… For example… Overall…”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Speak for 60 seconds; repeat and improve one thing.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FLUENCY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Fluency prompt 39: how to learn from feedback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Start with a direct answer or clear main idea.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two details, examples or reasons.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one connector such as because, although, so or for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Finish with a short conclusion or personal reflection.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Speaking frame: “I’d like to talk about… The main reason is… For example… Overall…”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Speak for 60 seconds; repeat and improve one thing.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FLUENCY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Fluency prompt 40: a future innovation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Start with a direct answer or clear main idea.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two details, examples or reasons.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one connector such as because, although, so or for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Finish with a short conclusion or personal reflection.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Speaking frame: “I’d like to talk about… The main reason is… For example… Overall…”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Speak for 60 seconds; repeat and improve one thing.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COURSE COMPLETION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2600" b="1">
                <a:solidFill>
                  <a:srgbClr val="182B4B"/>
                </a:solidFill>
                <a:latin typeface="Aptos"/>
              </a:defRPr>
            </a:pPr>
            <a:r>
              <a:t>You have completed the core programme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Keep practising aloud; passive reading alone will not build speaking fluency.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Review recordings weekly and focus on one improvement at a time.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English in real conversations whenever possible and ask for feedback.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Continue with authentic listening, reading and speaking materials at your level.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Fluency is built through repeated, meaningful use—not memorising every sentence.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Set your next 30-day speaking goal.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Describe a picture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Name the people, place and main action.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details about position, colour or mood.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present continuous for actions in progress.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In the foreground, a woman is speaking to a customer.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Describe an imagined picture for 45 seconds.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Talk about weather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common weather expressions naturally.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Connect weather to plans or preferences.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Distinguish ‘It is raining’ from ‘It rains often here’. 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It’s quite humid today, so I’ll carry some water.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Describe today’s weather and its effect on your plans.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Talk about time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Practise saying times clearly.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past/to for clock times if that is familiar to your learners.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Confirm appointments by repeating day and time.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 call is at quarter past three on Wednesday.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Ask and answer five appointment questions.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Numbers and spelling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Speak phone numbers in clear chunks.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Spell names slowly when requested.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important numbers to confirm accuracy.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Could you spell your surname for me, please?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Role-play giving a booking reference.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Describe a route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Start at a recognisable landmark.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sequence words and direction verbs.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Check the listener knows the destination.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Go straight ahead, cross the road, and turn left at the pharmacy.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Give directions to a nearby public place.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Make a plan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Suggest an activity and time.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Ask about availability.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Confirm the agreed details.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Shall we meet at the café at 5 p.m. on Saturday?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Make a plan with a partner.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Change an appointment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Explain the conflict briefly.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Offer one or two alternatives.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Confirm the revised date and time.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I’m sorry, I can’t make Tuesday. Would Thursday morning work?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Role-play rescheduling an appointment.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Talk about preferences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State what you prefer.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Give a reason or example.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‘would rather’ for a specific preference.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I’d rather travel early because the roads are quieter.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Compare two weekend activities.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Talk about abilities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can/can’t for present ability.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could for past general ability.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‘be able to’ when a different tense is needed.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can read English well, but I’m still improving my speaking.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Describe three skills you have and one you are learning.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Make predictions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will for a prediction or belief.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might for a possibility.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Explain the evidence behind your prediction.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think online learning will become more interactive.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Make predictions about education in five years.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Describe a process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Name the purpose of the process.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first, next, then and finally.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Include a warning or quality check.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First, open the form; next, enter the details; finally, review before submitting.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Explain how to complete a familiar task.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Give advice to a learner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Ask what the learner finds difficult.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Offer one practical action at a time.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Encourage consistency rather than perfection.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Try speaking for one minute every day and recording your progress.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Give a partner two useful learning tips.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Ask for permission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may/can/could depending on formality.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State the action you want to take.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Respond respectfully if permission is not granted.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May I leave a little early today?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Practise asking permission in three settings.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Express uncertainty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‘I’m not sure’ when you do not know.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Separate facts from guesses.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how you will verify uncertain information.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I’m not certain about the time; I’ll check the calendar.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Explain an uncertain situation responsibly.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Explain a cause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because to introduce a reason.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due to before a noun phrase in formal contexts.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Avoid presenting a guess as a confirmed cause.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 event was delayed because the speaker’s flight was late.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Give reasons for three everyday situations.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Explain a result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so to connect a cause and result.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as a result for a clear consequence.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Keep the relationship logical.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 road was closed, so we took another route.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Connect five causes with sensible results.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374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Compare places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Choose criteria such as cost, distance or atmosphere.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comparative forms correctly.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Explain which place suits which purpose.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 library is quieter than the café, but the café stays open later.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Compare two places you know.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Describe a memory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Set the time and place.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past simple for main events.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a feeling or lesson at the end.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remember my first presentation because the audience was very supportive.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Speak for one minute about a positive memory.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Describe a future ambition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State the goal clearly.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Explain why it matters.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Name a first step and a time frame.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want to become a more confident speaker, so I’ll practise presentations each week.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Share a realistic goal.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Talk about a routine change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Describe the old routine.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Explain what changed and why.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whether the change helped.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used to study late, but now I practise for twenty minutes in the morning.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Describe a habit you changed or might change.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378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Use used to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used to + base verb for past habits or states.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didn’t use to for the negative.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Do not confuse it with be used to + -ing.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used to be shy about speaking in groups.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Compare your past and present habits.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379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Use present perfect experience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have/has + past participle for life experience.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ever in many questions about experience.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past simple to add a finished-time detail.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Have you ever given a presentation? I gave my first one last year.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Ask three experience questions.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Use since and for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since with a starting point.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for with a duration.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present perfect for a situation continuing to now.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have studied English for six months; I have studied with this group since July.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Make five duration sentences.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Use already, yet and still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Already often means sooner than expected or before now.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Yet commonly appears in questions and negatives.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Still shows that a situation continues.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Have you finished yet? I’m still working on 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Create a short dialogue with all three words.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Use first conditional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if + present simple for a possible future condition.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will + base verb for the likely result.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a comma after an opening if-clause when appropriate.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If I practise every day, I will improve my fluency.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Make five realistic if-sentences.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383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Use second conditional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if + past form for an imagined or unlikely situation.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would + base verb for the result.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The past form here does not necessarily refer to past time.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If I had more free time, I would join a speaking club.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Discuss three imaginary situations.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Report what someone said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reporting verbs such as said, told and asked.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Adjust pronouns and time references when needed.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Keep the original meaning accurate.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Maya said that she was busy.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Report three simple statements from a fictional dialogue.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385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Make indirect questions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a polite opening such as ‘Could you tell me…?’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statement word order after the opening.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Avoid adding do/does inside the embedded question.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Could you tell me where the station is?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Turn five direct questions into indirect questions.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Use relative clauses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who for people and which/that for things in many defining clauses.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relative clauses to add identifying information.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Avoid making a sentence so long that the listener loses the main idea.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 colleague who helped me is joining the call.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Combine five pairs of short sentences.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387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Use passive voice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be + past participle when the action or result matters more than the actor.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Choose the correct tense of be.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active voice when the actor is important and clear.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 report was approved yesterday.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Describe how a product or document is prepared.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388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Use reported questions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asked + if/whether for yes/no questions.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asked + question word for information questions.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statement word order in reported questions.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He asked whether I was available.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Report three questions from a role-play.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389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Describe feelings carefully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Choose a precise feeling word.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Explain what caused the feeling if you want to share it.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Avoid assuming how another person feels.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felt relieved when the task was finished.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Describe a feeling using one example.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Set boundaries politely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State what you can or cannot do clearly.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Keep the explanation brief and respectful.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Offer an alternative only if you genuinely can.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can’t take another task today, but I can review it tomorrow.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Practise a respectful boundary statement.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391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Handle interruptions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a calm phrase to regain the floor.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Acknowledge the other person if needed.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Keep your point brief and connected to the discussion.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Let me finish this point, and then I’d like to hear your view.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Role-play a meeting with interruptions.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392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Ask for feedback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Ask about a specific aspect of your performance.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Listen without immediately defending yourself.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Choose one action based on the feedback.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Could you tell me one thing I could make clearer in my presentation?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Ask a partner for feedback and summarise it.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393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Give constructive feedback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Describe an observable behaviour, not a personal trait.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Explain the impact briefly.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Suggest one actionable improvement.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Your examples were clear; adding a short summary at the end would make the talk stronger.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Give feedback using strength + next step.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394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Explain a technical idea simply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Start with the purpose or problem.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an everyday comparison when helpful.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Define unavoidable technical terms.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An API is like a waiter: it carries a request to a service and brings back a response.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Explain a technical concept to a non-technical listener.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395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Summarise a meeting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State the decision or key outcome.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List action, owner and deadline.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Mention unresolved questions separately.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We agreed to test option B. Ravi owns the test, due Friday; cost is still under review.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Give a 30-second meeting summary.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396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Negotiate a deadline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Explain the current workload or blocker factually.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Suggest a realistic alternative date.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Confirm what can be delivered sooner if useful.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need one more day to test this safely. I can share the draft today and the final version tomorrow.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Role-play a deadline negotiation.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397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Respond to a complaint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Listen without interrupting.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Acknowledge the impact without making unsupported promises.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Explain the next step and expected update.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understand this has caused inconvenience. I’ll check the order status and update you by 2 p.m.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Role-play a customer complaint.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398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Explain a rule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State the rule in plain language.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Explain the reason if it helps understanding.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Give an example of what to do.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Please sign in at reception so the team knows who is in the building.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Explain a classroom or workplace rule.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3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399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Discuss pros and cons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Name the benefits and drawbacks fairly.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on the one hand/on the other hand if useful.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End with a reasoned recommendation.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Online classes save travel time, although in-person sessions may offer more interaction.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Discuss online versus in-person learning.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Talk about technology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Name the technology and its purpose.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Give one benefit and one limitation.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Avoid broad claims that you cannot support.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Translation apps are useful for quick help, but important messages still need checking.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Speak about a tool you use.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Explain a cultural custom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Describe the custom respectfully.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Avoid claiming everyone follows it.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Explain the context or variation.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In many families, sharing a meal is an important way to spend time together.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Explain a custom without stereotyping.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Make a suggestion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could, might or ‘Why don’t we…?’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Give a brief reason for the suggestion.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Invite the other person’s response.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Why don’t we practise in pairs before presenting to the class?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Suggest three ways to improve a group task.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Accept or reject a suggestion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Acknowledge the idea.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whether it works for you and why.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Offer a workable alternative when declining.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That could work, but the timing is difficult. Could we try Friday instead?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Respond to three suggestions.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Discuss a problem in a group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Define the problem before debating solutions.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Invite each person to share evidence or ideas.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Agree on a small next action.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Let’s list the options first and compare cost, time and risk.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Lead a two-minute group discussion.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Use transition phrases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‘first’ and ‘next’ to order ideas.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‘for example’ to introduce evidence.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‘in conclusion’ only when you are actually concluding.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First, we’ll review the problem; next, we’ll compare the options.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Give a one-minute talk with four transitions.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Improve clarity by chunking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Group words into meaningful phrases.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Pause at idea boundaries, not after every word.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Keep phrases short enough to say comfortably.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After the call, / I’ll send the summary / to everyone on the team.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Read three sentences using slash-marked pauses.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Speak with appropriate pace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Slow down for key details and numbers.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Avoid rushing the opening sentence.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pauses to separate ideas.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 deadline is Friday, 24 October, at 4 p.m.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Deliver a 30-second update at a steady pace.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Use emphasis for contrast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Stress the word that carries the contrast.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Keep the sentence wording the same to hear the change.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emphasis naturally, not by shouting.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asked for the FINAL version, not the draft.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Say one sentence with three different contrast words.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Practise a difficult sound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Identify the sound that is difficult for the learner.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Compare it with a similar sound in familiar words.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Practise in words, phrases and full sentences.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Think / sink; three / tree (depending on the learner’s accent).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Choose a sound and create a short drill.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Review a recording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Listen once for overall meaning.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Listen again for one target feature.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Choose one correction and record again.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My message was clear, but I need to slow down on longer words.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Use a self-review checklist.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Build a vocabulary notebook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Record the phrase, meaning and a personal example.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Note common word partners or collocations.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Review older phrases before adding many new ones.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follow up on a request; follow up with a person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Create five entries from today’s lesson.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Speak without memorising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Prepare keywords rather than full sentences.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Explain the same idea in different words.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Allow small pauses while thinking.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Keywords: challenge, action, result.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Speak about a familiar topic using only three keywords.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Prepare a short introduction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who you are and what you do.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Include one relevant interest or strength.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Ask a question to continue the conversation.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I’m Dev, and I work in software development. What kind of work do you do?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Give three versions for social, classroom and professional settings.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Describe a goal with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State the goal and a realistic deadline.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Name the first step and how you will measure it.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Mention one obstacle and how you will handle 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I’ll practise four days a week and record one two-minute talk each Sunday.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Explain a personal learning goal.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Talk about a news story responsibly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Separate what is known from opinion.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Summarise the main event without exaggeration.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cautious language when facts are uncertain.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 report says the project was delayed; the reason has not yet been confirmed.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Summarise a teacher-provided short article.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Debate a simple topic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State your position in one sentence.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Support it with two reasons.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Respond to the other side respectfully.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think school clubs are valuable because students practise teamwork and discover interests.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Debate whether homework should be shorter.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Explain a chart verbally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State what the chart measures.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Describe the main trend or comparison.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Avoid claiming causation from a trend alone.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 number rose steadily over three months, then levelled off.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Describe a simple chart supplied by the teacher.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Describe a personal object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Name the object and its use.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Describe one distinctive feature.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Explain why it is useful or meaningful.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This notebook is small enough to carry, and I use it to track ideas.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Speak for 45 seconds about an object.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Talk about a place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Locate the place and describe its atmosphere.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Mention two features or activities.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Recommend it to a particular kind of visitor.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 park is peaceful in the morning and is ideal for a short walk.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Describe a place you would recommend.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Talk about a meal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Name the dish and main ingredients.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Describe taste, texture or smell.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Explain when or with whom people might eat 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 dish is mildly spicy, with a tangy flavour from the lemon.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Describe a favourite meal.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Explain a hobby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what the hobby involves.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Explain how you started or what you enjoy.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Mention what a beginner needs to try 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enjoy gardening because it helps me relax and learn about plants.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Introduce a hobby to a beginner.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Describe a challenge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State the challenge clearly.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Explain the action you took.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Share the result and lesson.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struggled with a new tool, so I practised with a small example before using it on a project.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Use Situation–Action–Result.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Give a short instruction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imperative verbs for steps.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Put steps in a sensible order.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Check whether the listener needs a warning or extra detail.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Save the file, check the name, and then upload 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Teach a partner how to do a simple task.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Talk about a plan that changed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Explain the original plan.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what changed and why, if known.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Describe the new plan.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We planned to meet outside, but it started raining, so we moved indoors.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Tell the story using past tense.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Describe an achievement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Name the achievement without exaggeration.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Explain the effort or teamwork involved.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Share what you learned.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completed the course by studying a little each evening.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Give a one-minute achievement story.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Respond when you do not know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Be honest about the gap in your knowledge.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Share what you do know, if relevant.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Offer a way to check or follow up.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I’m not sure of the exact answer, but I can verify it and get back to you.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Practise responding to five unfamiliar questions.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Ask a thoughtful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Show you listened to the previous answer.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Ask one focused question at a time.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why/how/what if to explore ideas.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You mentioned that practice helped most. What kind of practice worked best?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Create three follow-up questions from a short answer.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Close a presentation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Restate the main message briefly.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Give a clear next step or call to action.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Thank the audience and invite questions if appropriate.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 key message is to practise consistently. Thank you for listening—what questions do you have?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Deliver a 15-second closing.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Final confidence challenge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Choose a topic you have practised before.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Speak for two minutes with a clear structure.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Review progress and name one next goal.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can explain my ideas more clearly when I organise them before speaking.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Record a final talk and compare it with an earlier recording.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Describe a picture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Name the people, place and main action.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details about position, colour or mood.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present continuous for actions in progress.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In the foreground, a woman is speaking to a customer.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Talk about weather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common weather expressions naturally.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Connect weather to plans or preferences.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Distinguish ‘It is raining’ from ‘It rains often here’. 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It’s quite humid today, so I’ll carry some water.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Talk about time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Practise saying times clearly.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past/to for clock times if that is familiar to your learners.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Confirm appointments by repeating day and time.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 call is at quarter past three on Wednesday.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Numbers and spelling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Speak phone numbers in clear chunks.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Spell names slowly when requested.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important numbers to confirm accuracy.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Could you spell your surname for me, please?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Describe a route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Start at a recognisable landmark.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sequence words and direction verbs.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Check the listener knows the destination.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Go straight ahead, cross the road, and turn left at the pharmacy.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Make a plan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Suggest an activity and time.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Ask about availability.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Confirm the agreed details.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Shall we meet at the café at 5 p.m. on Saturday?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Change an appointment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Explain the conflict briefly.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Offer one or two alternatives.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Confirm the revised date and time.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I’m sorry, I can’t make Tuesday. Would Thursday morning work?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Talk about preferences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State what you prefer.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Give a reason or example.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‘would rather’ for a specific preference.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I’d rather travel early because the roads are quieter.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Talk about abilities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can/can’t for present ability.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could for past general ability.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‘be able to’ when a different tense is needed.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can read English well, but I’m still improving my speaking.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Make predictions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will for a prediction or belief.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might for a possibility.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Explain the evidence behind your prediction.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think online learning will become more interactive.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Describe a process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Name the purpose of the process.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first, next, then and finally.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Include a warning or quality check.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First, open the form; next, enter the details; finally, review before submitting.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Give advice to a learner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Ask what the learner finds difficult.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Offer one practical action at a time.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Encourage consistency rather than perfection.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Try speaking for one minute every day and recording your progress.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Ask for permission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may/can/could depending on formality.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State the action you want to take.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Respond respectfully if permission is not granted.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May I leave a little early today?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Express uncertainty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‘I’m not sure’ when you do not know.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Separate facts from guesses.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how you will verify uncertain information.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I’m not certain about the time; I’ll check the calendar.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Explain a cause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because to introduce a reason.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due to before a noun phrase in formal contexts.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Avoid presenting a guess as a confirmed cause.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 event was delayed because the speaker’s flight was late.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Explain a result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so to connect a cause and result.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as a result for a clear consequence.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Keep the relationship logical.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 road was closed, so we took another route.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Compare places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Choose criteria such as cost, distance or atmosphere.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comparative forms correctly.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Explain which place suits which purpose.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 library is quieter than the café, but the café stays open later.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Describe a memory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Set the time and place.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past simple for main events.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Add a feeling or lesson at the end.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remember my first presentation because the audience was very supportive.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Describe a future ambition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State the goal clearly.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Explain why it matters.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Name a first step and a time frame.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want to become a more confident speaker, so I’ll practise presentations each week.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Talk about a routine change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Describe the old routine.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Explain what changed and why.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whether the change helped.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used to study late, but now I practise for twenty minutes in the morning.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Use used to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used to + base verb for past habits or states.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didn’t use to for the negative.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Do not confuse it with be used to + -ing.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used to be shy about speaking in groups.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Use present perfect experience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have/has + past participle for life experience.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ever in many questions about experience.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past simple to add a finished-time detail.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Have you ever given a presentation? I gave my first one last year.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Use since and for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since with a starting point.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for with a duration.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present perfect for a situation continuing to now.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have studied English for six months; I have studied with this group since July.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Use already, yet and still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Already often means sooner than expected or before now.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Yet commonly appears in questions and negatives.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Still shows that a situation continues.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Have you finished yet? I’m still working on 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Use first conditional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if + present simple for a possible future condition.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will + base verb for the likely result.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a comma after an opening if-clause when appropriate.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If I practise every day, I will improve my fluency.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Use second conditional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if + past form for an imagined or unlikely situation.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would + base verb for the result.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The past form here does not necessarily refer to past time.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If I had more free time, I would join a speaking club.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Report what someone said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reporting verbs such as said, told and asked.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Adjust pronouns and time references when needed.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Keep the original meaning accurate.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Maya said that she was busy.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Make indirect questions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a polite opening such as ‘Could you tell me…?’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statement word order after the opening.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Avoid adding do/does inside the embedded question.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Could you tell me where the station is?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Use relative clauses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who for people and which/that for things in many defining clauses.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relative clauses to add identifying information.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Avoid making a sentence so long that the listener loses the main idea.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 colleague who helped me is joining the call.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Use passive voice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be + past participle when the action or result matters more than the actor.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Choose the correct tense of be.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active voice when the actor is important and clear.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 report was approved yesterday.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Use reported questions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asked + if/whether for yes/no questions.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asked + question word for information questions.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statement word order in reported questions.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He asked whether I was available.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Describe feelings carefully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Choose a precise feeling word.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Explain what caused the feeling if you want to share it.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Avoid assuming how another person feels.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felt relieved when the task was finished.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Set boundaries politely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State what you can or cannot do clearly.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Keep the explanation brief and respectful.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Offer an alternative only if you genuinely can.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can’t take another task today, but I can review it tomorrow.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Handle interruptions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a calm phrase to regain the floor.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Acknowledge the other person if needed.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Keep your point brief and connected to the discussion.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Let me finish this point, and then I’d like to hear your 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Ask for feedback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Ask about a specific aspect of your performance.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Listen without immediately defending yourself.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Choose one action based on the feedback.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Could you tell me one thing I could make clearer in my presentation?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Give constructive feedback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Describe an observable behaviour, not a personal trait.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Explain the impact briefly.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Suggest one actionable improvement.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Your examples were clear; adding a short summary at the end would make the talk stronger.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Explain a technical idea simply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Start with the purpose or problem.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an everyday comparison when helpful.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Define unavoidable technical terms.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An API is like a waiter: it carries a request to a service and brings back a response.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Summarise a meeting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State the decision or key outcome.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List action, owner and deadline.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Mention unresolved questions separately.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We agreed to test option B. Ravi owns the test, due Friday; cost is still under review.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Negotiate a deadline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Explain the current workload or blocker factually.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Suggest a realistic alternative date.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Confirm what can be delivered sooner if useful.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need one more day to test this safely. I can share the draft today and the final version tomorrow.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Respond to a complaint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Listen without interrupting.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Acknowledge the impact without making unsupported promises.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Explain the next step and expected update.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understand this has caused inconvenience. I’ll check the order status and update you by 2 p.m.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Explain a rule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State the rule in plain language.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Explain the reason if it helps understanding.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Give an example of what to do.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Please sign in at reception so the team knows who is in the building.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Discuss pros and cons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Name the benefits and drawbacks fairly.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on the one hand/on the other hand if useful.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End with a reasoned recommendation.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Online classes save travel time, although in-person sessions may offer more interaction.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Talk about technology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Name the technology and its purpose.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Give one benefit and one limitation.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Avoid broad claims that you cannot support.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Translation apps are useful for quick help, but important messages still need checking.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Explain a cultural custom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Describe the custom respectfully.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Avoid claiming everyone follows it.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Explain the context or variation.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In many families, sharing a meal is an important way to spend time together.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474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Make a suggestion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could, might or ‘Why don’t we…?’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Give a brief reason for the suggestion.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Invite the other person’s response.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Why don’t we practise in pairs before presenting to the class?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Accept or reject a suggestion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Acknowledge the idea.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whether it works for you and why.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Offer a workable alternative when declining.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That could work, but the timing is difficult. Could we try Friday instead?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Discuss a problem in a group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Define the problem before debating solutions.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Invite each person to share evidence or ideas.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Agree on a small next action.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Let’s list the options first and compare cost, time and risk.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Use transition phrases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‘first’ and ‘next’ to order ideas.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‘for example’ to introduce evidence.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‘in conclusion’ only when you are actually concluding.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First, we’ll review the problem; next, we’ll compare the options.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478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Improve clarity by chunking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Group words into meaningful phrases.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Pause at idea boundaries, not after every word.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Keep phrases short enough to say comfortably.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After the call, / I’ll send the summary / to everyone on the team.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479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Speak with appropriate pace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Slow down for key details and numbers.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Avoid rushing the opening sentence.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pauses to separate ideas.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 deadline is Friday, 24 October, at 4 p.m.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Use emphasis for contrast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Stress the word that carries the contrast.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Keep the sentence wording the same to hear the change.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emphasis naturally, not by shouting.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asked for the FINAL version, not the draft.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Practise a difficult sound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Identify the sound that is difficult for the learner.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Compare it with a similar sound in familiar words.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Practise in words, phrases and full sentences.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Think / sink; three / tree (depending on the learner’s accent).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Review a recording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Listen once for overall meaning.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Listen again for one target feature.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Choose one correction and record again.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My message was clear, but I need to slow down on longer words.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483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Build a vocabulary notebook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Record the phrase, meaning and a personal example.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Note common word partners or collocations.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Review older phrases before adding many new ones.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follow up on a request; follow up with a person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Speak without memorising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Prepare keywords rather than full sentences.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Explain the same idea in different words.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Allow small pauses while thinking.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Keywords: challenge, action, result.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485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Prepare a short introduction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who you are and what you do.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Include one relevant interest or strength.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Ask a question to continue the conversation.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I’m Dev, and I work in software development. What kind of work do you do?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Describe a goal with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State the goal and a realistic deadline.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Name the first step and how you will measure it.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Mention one obstacle and how you will handle it.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I’ll practise four days a week and record one two-minute talk each Sunday.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487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Talk about a news story responsibly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Separate what is known from opinion.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Summarise the main event without exaggeration.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cautious language when facts are uncertain.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 report says the project was delayed; the reason has not yet been confirmed.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488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Debate a simple topic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State your position in one sentence.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Support it with two reasons.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Respond to the other side respectfully.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think school clubs are valuable because students practise teamwork and discover interests.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489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Explain a chart verbally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State what the chart measures.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Describe the main trend or comparison.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Avoid claiming causation from a trend alone.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 number rose steadily over three months, then levelled off.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Describe a personal object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Name the object and its use.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Describe one distinctive feature.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Explain why it is useful or meaningful.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This notebook is small enough to carry, and I use it to track ideas.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491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Talk about a place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Locate the place and describe its atmosphere.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Mention two features or activities.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Recommend it to a particular kind of visitor.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 park is peaceful in the morning and is ideal for a short walk.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492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Talk about a meal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Name the dish and main ingredients.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Describe taste, texture or smell.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Explain when or with whom people might eat it.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 dish is mildly spicy, with a tangy flavour from the lemon.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493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Explain a hobby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what the hobby involves.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Explain how you started or what you enjoy.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Mention what a beginner needs to try it.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enjoy gardening because it helps me relax and learn about plants.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494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Describe a challenge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State the challenge clearly.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Explain the action you took.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Share the result and lesson.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struggled with a new tool, so I practised with a small example before using it on a project.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495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Give a short instruction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imperative verbs for steps.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Put steps in a sensible order.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Check whether the listener needs a warning or extra detail.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Save the file, check the name, and then upload 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496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Talk about a plan that changed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Explain the original plan.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Say what changed and why, if known.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Describe the new plan.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We planned to meet outside, but it started raining, so we moved indoors.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497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Describe an achievement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Name the achievement without exaggeration.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Explain the effort or teamwork involved.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Share what you learned.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completed the course by studying a little each evening.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498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Respond when you do not know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Be honest about the gap in your knowledge.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Share what you do know, if relevant.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Offer a way to check or follow up.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I’m not sure of the exact answer, but I can verify it and get back to you.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4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499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Ask a thoughtful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Show you listened to the previous answer.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Ask one focused question at a time.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Use why/how/what if to explore ideas.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You mentioned that practice helped most. What kind of practice worked best?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500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Close a presentation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Restate the main message briefly.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Give a clear next step or call to action.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Thank the audience and invite questions if appropriate.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The key message is to practise consistently. Thank you for listening—what questions do you have?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slides/slide5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EXTENDED SPEAKING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56032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06C7A"/>
                </a:solidFill>
                <a:latin typeface="Aptos"/>
              </a:defRPr>
            </a:pPr>
            <a:r>
              <a:t>501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82B4B"/>
                </a:solidFill>
                <a:latin typeface="Aptos"/>
              </a:defRPr>
            </a:pPr>
            <a:r>
              <a:t>Practice again: Final confidence challenge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89888"/>
            <a:ext cx="960120" cy="50292"/>
          </a:xfrm>
          <a:prstGeom prst="rect">
            <a:avLst/>
          </a:prstGeom>
          <a:solidFill>
            <a:srgbClr val="EB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Choose a topic you have practised before.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Speak for two minutes with a clear structure.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9232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Review progress and name one next goal.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21024"/>
            <a:ext cx="100584" cy="100584"/>
          </a:xfrm>
          <a:prstGeom prst="ellipse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9584"/>
            <a:ext cx="104241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6303D"/>
                </a:solidFill>
                <a:latin typeface="Aptos"/>
              </a:defRPr>
            </a:pPr>
            <a:r>
              <a:t>Repeat the task with a different example and more natural phrasing.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3484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00878B"/>
                </a:solidFill>
                <a:latin typeface="Aptos"/>
              </a:defRPr>
            </a:pPr>
            <a:r>
              <a:t>MODEL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102870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182B4B"/>
                </a:solidFill>
                <a:latin typeface="Aptos"/>
              </a:defRPr>
            </a:pPr>
            <a:r>
              <a:t>I can explain my ideas more clearly when I organise them before speaking.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Aptos"/>
              </a:defRPr>
            </a:pPr>
            <a:r>
              <a:t>TRY IT: Repeat with a new situation; focus on clarity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06C7A"/>
                </a:solidFill>
                <a:latin typeface="Aptos"/>
              </a:defRPr>
            </a:pPr>
            <a:r>
              <a:t>Original teaching material • Adapt examples to your 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195" y="6168896"/>
            <a:ext cx="1581912" cy="6113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C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6200900"/>
            <a:ext cx="1481328" cy="5473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
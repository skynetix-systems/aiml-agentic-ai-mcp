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7772400" cy="914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JAVA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148840"/>
            <a:ext cx="7772400" cy="5943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AFDCF5"/>
                </a:solidFill>
                <a:latin typeface="Aptos"/>
              </a:defRPr>
            </a:pPr>
            <a:r>
              <a:t>Complete Concepts Explained Simply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7406640" cy="1325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 training presentation using everyday analogies, clear explanations, small code examples, practical labs, and real-world advice. Designed so beginners can understand the ideas before learning the terminology.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0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D2DCEB"/>
                </a:solidFill>
                <a:latin typeface="Aptos"/>
              </a:defRPr>
            </a:pPr>
            <a:r>
              <a:t>Java 25 LTS • Beginner to advanced • Trainer-friendly</a:t>
            </a:r>
          </a:p>
        </p:txBody>
      </p:sp>
      <p:pic>
        <p:nvPicPr>
          <p:cNvPr id="6" name="Picture 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How to learn Java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Learn in three passes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First understand the plain-English explanation. Next read the code. Finally change the example and predict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Do not memorize blindly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You understand a concept when you can explain why it exists, when to use it, and what can go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Java 25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Java 25 is an LTS release. Some language features are permanent; primitive types in patterns is a preview feature in Java 25. Always check official documentation.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The goal is understanding, not memorizing syntax.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</a:t>
            </a:r>
          </a:p>
        </p:txBody>
      </p:sp>
      <p:pic>
        <p:nvPicPr>
          <p:cNvPr id="13" name="Picture 12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What is Java?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Simple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Java is a language for giving a computer instructions. You write source code; a compiler checks and converts it into bytecode; the Java Virtual Machine (JVM) runs that bytecode.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Everyday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Source code is a recipe. The compiler checks and converts it into a standard instruction card. The JVM is the kitchen equipment that can follow the 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businesses use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Java has mature libraries, reliable tools, broad industry support, and a long history of powering business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System.out.println("Hello, Java 25!");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Java is a language and part of a runtime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JDK, JRE, and JVM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JVM — the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 JVM executes Java bytecode and manages runtime tasks such as memory allocation and garbage collection.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JRE — the running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 JRE is the conceptual set of runtime pieces needed to run Java programs. Modern distributions package these pieces differently.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JDK — the developer toolbox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 JDK includes the runtime plus tools such as javac, the compiler. If you write Java, install a JDK.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JVM = engine; runtime libraries = supporting parts; JDK = the full workshop with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java -version</a:t>
            </a:r>
            <a:br/>
            <a:r>
              <a:t>javac -version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a JDK to build and run Java applications.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How Java code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Create Hello.java. This is the human-readable instruction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Compile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Run javac Hello.java. The compiler checks syntax and types and creates Hello.class bytecode.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Run java Hello. The JVM loads and checks the bytecode, then executes it. Frequently used code may be optimized as the program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bytecode helps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compatible JVM on another operating system can run the same bytecode, unless the application depends on platform-specific pieces.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javac Hello.java</a:t>
            </a:r>
            <a:br/>
            <a:r>
              <a:t>java Hello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Compile errors happen before the program starts; runtime errors happen while it runs.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5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Variables and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variable is a named place to store or refer to a value. customerAge might hold 35; customerName might hold “Asha”.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type tells Java what kind of value is allowed. int is for whole numbers, boolean for true/false, and String for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Good naming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balanceAfterPayment communicates more than x. Clear names reduce the amount of explanation needed in comments.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int customerAge = 35;</a:t>
            </a:r>
            <a:br/>
            <a:r>
              <a:t>String customerName = "Asha";</a:t>
            </a:r>
            <a:br/>
            <a:r>
              <a:t>boolean active = true;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Choose a type that matches the meaning of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6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Primitive vs reference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Primitive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Java has eight primitive types, including int, long, double, boolean, and char. They represent simple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Reference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String, arrays, and objects are reference types. A variable typically holds a reference to an object rather than the object's complete contents.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primitive is like writing a number on a card. A reference is like holding a ticket pointing to a larger object.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Null 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reference may be null, meaning it points to no object. Calling a method through null can cause NullPointerException.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int quantity = 3;</a:t>
            </a:r>
            <a:br/>
            <a:r>
              <a:t>double price = 99.50;</a:t>
            </a:r>
            <a:br/>
            <a:r>
              <a:t>String product = "Keyboard";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Know whether a variable holds a simple value or a reference.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7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Operators and equality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Operators perform actions: + adds, &lt; compares, &amp;&amp; means logical AND, and || means logical 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An expression combines values and operators to produce a result. Parentheses make complex expressions easier to understand.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Equality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For primitive values, == compares values. For most objects, == compares whether references point to the same object; equals() usually checks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int total = 10 + 5;</a:t>
            </a:r>
            <a:br/>
            <a:r>
              <a:t>boolean eligible = total &gt;= 15;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equals() for String content comparisons.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8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Conditions: if and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conditions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shop may offer free shipping when an order reaches a threshold. An if statement lets the program choose a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if / else if / else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if checks a condition; else if checks another when earlier conditions fail; else handles the remaining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Readable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If a condition becomes long, name parts of the condition or move the rule into a small method.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if (orderTotal &gt;= 1000) {</a:t>
            </a:r>
            <a:br/>
            <a:r>
              <a:t>    System.out.println("Free shipping");</a:t>
            </a:r>
            <a:br/>
            <a:r>
              <a:t>} else {</a:t>
            </a:r>
            <a:br/>
            <a:r>
              <a:t>    System.out.println("Shipping fee applies");}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Conditions turn business rules into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9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Loops: repeat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loops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loop repeats instructions, such as processing every order in a list. Without loops, code would be copied again and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for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Useful when counting or iterating through a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while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Repeats while a condition is true. Ensure the condition can eventually become false or the loop may never stop.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Enhanced for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concise way to visit each item when you do not need its numeric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for (String item : items) {</a:t>
            </a:r>
            <a:br/>
            <a:r>
              <a:t>    System.out.println(item);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Always check loop boundaries and the stopping condition.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10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Methods: reusable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named block of code that performs a task. Methods divide large problems into smaller pieces.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Parameters and return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Parameters are inputs. A return value is the result sent back to the caller. void means no value is returned.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reuse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single calculateTax method can be called from many places, reducing duplicate logic and inconsistent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static double addTax(double price, double rate) {</a:t>
            </a:r>
            <a:br/>
            <a:r>
              <a:t>    return price * (1 + rate);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 method should have one clear responsibility where practical.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11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Classes and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OBJECT-ORIENTED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Class =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class describes the data and behavior that objects of that type can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Object = one instance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Customer is a blueprint; a particular customer named Asha is an object created from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Fields and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Fields represent state; methods represent behavior. Encapsulation controls how state can be read or 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class Customer {</a:t>
            </a:r>
            <a:br/>
            <a:r>
              <a:t>    private String name;</a:t>
            </a:r>
            <a:br/>
            <a:r>
              <a:t>    Customer(String name) { this.name = name; }</a:t>
            </a:r>
            <a:br/>
            <a:r>
              <a:t>    public String getName() { return name; }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Classes group related data and behavior.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12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Constructors and object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OBJECT-ORIENTED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Constructor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constructor runs when an object is created and prepares it. It can require essential information such as a customer's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Validate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If a price cannot be negative, reject invalid input during creation instead of allowing a broken object to circulate.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this keyword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this refers to the current object and often distinguishes a field from a constructor parameter with the same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Product p = new Product("Mouse", 799.00);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Create objects in a valid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13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Encapsulation: protect the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OBJECT-ORIENTED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Encapsulation keeps internal details private and exposes selected operations. Like a vending machine, users press buttons rather than reaching into its wiring.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If callers can directly change a balance, invalid changes become easy. A deposit method can reject zero or negative amounts.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Practical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Make fields private by default and expose meaningful actions instead of unrestricted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public void deposit(BigDecimal amount) {</a:t>
            </a:r>
            <a:br/>
            <a:r>
              <a:t>    if (amount.signum() &lt;= 0) throw new IllegalArgumentException();</a:t>
            </a:r>
            <a:br/>
            <a:r>
              <a:t>    balance = balance.add(amount);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Protect business rules at the object boundary.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14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Inheritance, interfaces,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OBJECT-ORIENTED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class extends another to reuse or specialize behavior. Use it when there is a genuine “is-a” relationship.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An interface is a contract. PaymentService might have card, bank transfer, and wallet implementations.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One object uses another object to get work done. This is often easier to change than a deep inheritance tree.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Rule of thumb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Prefer interfaces and composition for flexible implementations; use inheritance for clear, stable hierarchies.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interface PaymentService {</a:t>
            </a:r>
            <a:br/>
            <a:r>
              <a:t>    PaymentResult pay(Money amount);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Program to a contract rather than a specific implementation.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15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Exceptions: handle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RELIABLE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An exception signals that normal execution cannot continue as expected, such as when a file is missing or input is invalid.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Checked and unchecked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Checked exceptions must be caught or declared. Runtime exceptions are unchecked and often indicate invalid input or programming mistakes.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Do not hide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Avoid empty catch blocks. Recover, log useful context, or let the failure reach a layer that can respond.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try {</a:t>
            </a:r>
            <a:br/>
            <a:r>
              <a:t>    processOrder(order);</a:t>
            </a:r>
            <a:br/>
            <a:r>
              <a:t>} catch (PaymentException ex) {</a:t>
            </a:r>
            <a:br/>
            <a:r>
              <a:t>    log.warn("Payment failed for order {}", order.id(), ex);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An exception is a signal: recover, translate, or propagate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16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Collections: List, Set,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CORE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An ordered collection that may contain duplicates, useful for a sequence of order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collection designed to hold unique elements, useful for unique tags or IDs.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Stores key-value pairs, such as customer ID → customer record. Each key is unique.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Choosing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Choose based on ordered access, uniqueness, or lookup by key.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List&lt;String&gt; names = new ArrayList&lt;&gt;();</a:t>
            </a:r>
            <a:br/>
            <a:r>
              <a:t>Set&lt;String&gt; ids = new HashSet&lt;&gt;();</a:t>
            </a:r>
            <a:br/>
            <a:r>
              <a:t>Map&lt;String, Integer&gt; stock = new HashMap&lt;&gt;();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The right collection makes intent clear.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17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Generics: type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CORE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they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Generics let a class or collection specify which type it holds. List&lt;String&gt; means a list of strings.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 compiler catches many type mistakes before the program runs, reducing unsafe casts and runtime surprises.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Type 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 in Box&lt;T&gt; is a placeholder for a type selected by the code using the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List&lt;String&gt; cities = List.of("Pune", "Mumbai");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Generics move many errors from runtime to compile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18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Lambda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MODERN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Plain-language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lambda is a compact way to provide a small piece of behavior, often where a method expects an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Instead of giving a worker a long manual, give the short instruction “sort these names alphabetically.”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Functional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An interface with one abstract method can be implemented using a lambda.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names.sort((a, b) -&gt; a.compareToIgnoreCase(b));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lambdas when they make behavior clearer.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19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Streams: process data 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MODERN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a stream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stream describes a pipeline: select items, transform them, and collect or summarize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Intermediate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filter and map describe steps. They usually do not process data until a terminal operation asks for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Terminal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collect, count, reduce, and forEach trigger 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Streams are not automatically faster than loops. Avoid side effects inside stream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List&lt;String&gt; adults = people.stream()</a:t>
            </a:r>
            <a:br/>
            <a:r>
              <a:t>    .filter(p -&gt; p.age() &gt;= 18)</a:t>
            </a:r>
            <a:br/>
            <a:r>
              <a:t>    .map(Person::name)</a:t>
            </a:r>
            <a:br/>
            <a:r>
              <a:t>    .toList();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 stream is a processing pipeline, not a storage container.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20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Optional: a value may be absent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MODERN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Problem with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search may not find a customer. Returning null means every caller must remember to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Optional&lt;Customer&gt; makes absence explicit and provides map, orElse, and ifPresent.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Good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Often useful as a return type when a search may find nothing. It is not needed for every field or parameter.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Optional&lt;Customer&gt; customer = repository.findById(id);</a:t>
            </a:r>
            <a:br/>
            <a:r>
              <a:t>String name = customer.map(Customer::getName).orElse("Unknown");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Optional makes absence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21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Records: concise data carriers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MODERN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a record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record is a concise class mainly for carrying data. Java generates accessors, equals, hashCode, and toString.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It reduces repetitive code for request objects, responses, and simple data structures.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Important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record is shallowly immutable: component references cannot be reassigned, but referenced mutable objects can still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record CustomerDto(String id, String name) {}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records for data-focused types.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22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Sealed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MODERN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sealed class or interface specifies which classes may extend or implement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When a model has a known set of alternatives, the compiler can help you handle them more completely.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It is like a form with a controlled list of categories rather than allowing anyone to invent a category.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sealed interface Result permits Success, Failure {}</a:t>
            </a:r>
            <a:br/>
            <a:r>
              <a:t>record Success(String value) implements Result {}</a:t>
            </a:r>
            <a:br/>
            <a:r>
              <a:t>record Failure(String reason) implements Result {}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sealed types when alternatives should be controlled.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23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Pattern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MODERN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Traditional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Older code checks an object's type and then casts it to access a more specific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Pattern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It can combine the type test and creation of a correctly typed variable, reducing repeated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Less boilerplate makes logic easier to scan. Verify the release status of the exact pattern feature you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if (value instanceof String text) {</a:t>
            </a:r>
            <a:br/>
            <a:r>
              <a:t>    System.out.println(text.length());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Pattern matching reduces repeated type-checking and casting.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24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Switch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MODERN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Traditional 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switch statement performs actions and can accidentally fall through when break is omitted.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Switch expression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switch expression produces a value. Arrow labels avoid traditional fall-through; yield can return a value from a block.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Good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 it when one input maps to one result, such as turning a status code into a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String label = switch (status) {</a:t>
            </a:r>
            <a:br/>
            <a:r>
              <a:t>    case 200 -&gt; "OK";</a:t>
            </a:r>
            <a:br/>
            <a:r>
              <a:t>    case 404 -&gt; "Not found";</a:t>
            </a:r>
            <a:br/>
            <a:r>
              <a:t>    default -&gt; "Other";</a:t>
            </a:r>
            <a:br/>
            <a:r>
              <a:t>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Switch expressions make value selection easier to read.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25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Text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MODERN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Long JSON, SQL, or HTML strings are awkward when every line needs quotes and newline escapes.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Text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Triple-quoted text blocks preserve readable multi-line layout.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Security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Text blocks do not make SQL safe. Use prepared statements and parameter binding for user-provided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String json = """</a:t>
            </a:r>
            <a:br/>
            <a:r>
              <a:t>    {</a:t>
            </a:r>
            <a:br/>
            <a:r>
              <a:t>      "status": "ready",</a:t>
            </a:r>
            <a:br/>
            <a:r>
              <a:t>      "version": 25</a:t>
            </a:r>
            <a:br/>
            <a:r>
              <a:t>    }</a:t>
            </a:r>
            <a:br/>
            <a:r>
              <a:t>    """;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Readable strings are not a substitute for safe parameterization.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26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Java 25: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JAVA 25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LTS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Java 25 is a long-term-support release. Support windows depend on the JDK vendor and distribution.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stays the 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Most everyday Java skills remain useful. Java 25 adds language and platform improvements while supporting many applications built for earlier versions.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Permanent vs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Permanent features are finalized. Preview features are available for evaluation and may change before becoming permanent.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java --version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Check your vendor's support policy and build configuration.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27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Module Import Declarations — JEP 511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JAVA 25 LANGUAGE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Modular Java can require many imports. A module import declaration can make public packages from a module available with less repetitive import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Instead of requesting each public tool individually, you say you want the public tools from a toolbox.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This does not make every class available. The module must be readable and its packages exported.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import module java.base;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This is a permanent Java 25 feature; understand its scope before using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28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Compact source files and instance main — JEP 512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JAVA 25 LANGUAGE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Beginner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first program traditionally needs a class declaration and public static void main, which can distract from the first line of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Compact source files and instance main methods allow suitable small programs to start with less ceremony.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useful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Teachers can introduce variables and problem-solving before explaining every class and static keyword.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Professional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Conventional class-based structure remains important for larger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void main() {</a:t>
            </a:r>
            <a:br/>
            <a:r>
              <a:t>    System.out.println("Hello, Java 25!");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simplified forms for learning, but understand conventional Java too.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29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Flexible Constructor Bodies — JEP 513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JAVA 25 LANGUAGE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constructor initializes a new object. Historically, Java restricted statements before an explicit call to another constructor or superclass constructor.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Java 25 allows certain statements before this(...) or super(...) while retaining rules that protect safe initialization.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useful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constructor can validate or prepare values before passing them to a parent constructor.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Do not access the not-yet-initialized object in unsafe ways; follow compiler restrictions.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// Validate constructor arguments before delegation where permitted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this feature to improve initialization, not add complexity.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30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Primitive types in patterns — JEP 507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JAVA 25 LANGUAGE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Primitive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int, double, and boolean represent simple values rather than object 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Preview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 preview broadens how primitive values participate in pattern matching and related constructs.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Preview means not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preview feature may change or be removed. It generally requires explicit preview flags at compile and run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Practical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Avoid production dependence on preview features unless the organization accepts that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javac --release 25 --enable-preview Example.java</a:t>
            </a:r>
            <a:br/>
            <a:r>
              <a:t>java --enable-preview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Verify exact syntax and status in official Java 25 documentation.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31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Maven and Gradle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DEVELOPER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build tools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They download dependencies, compile code, run tests, package applications, and can publish artifacts.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Uses pom.xml and a conventional lifecycle; it is straightforward for many standard Java projects.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Gradle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Uses build scripts and a flexible task graph; it is common in Android and many JVM 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Review and control library versions because upgrades can introduce security fixes or incompatibilities.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mvn test</a:t>
            </a:r>
            <a:br/>
            <a:r>
              <a:t># or</a:t>
            </a:r>
            <a:br/>
            <a:r>
              <a:t>./gradlew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 reproducible build should work on another machine.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32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Unit testing with JUnit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is a test?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test is executable documentation checking whether code behaves as expected for chosen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Arrange, Act, Assert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Arrange prepares data; Act calls the code; Assert checks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to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Cover normal cases, boundary values, invalid inputs, and failure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Avoid brittle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Verify behavior rather than private implementation details that may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@Test</a:t>
            </a:r>
            <a:br/>
            <a:r>
              <a:t>void addsTwoNumbers() {</a:t>
            </a:r>
            <a:br/>
            <a:r>
              <a:t>    assertEquals(5, calculator.add(2, 3));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 clear failing test is easier to fix.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33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Dependency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SPRING AND ENTERPRISE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If a class creates every dependency itself, replacing a database client or fake service during testing can be difficult.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caller or framework supplies the collaborators a class needs from outside the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It separates object creation from business logic and makes components easier to test and replace.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Practical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Constructor injection makes required dependencies obvious.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class OrderService {</a:t>
            </a:r>
            <a:br/>
            <a:r>
              <a:t>    private final PaymentService payments;</a:t>
            </a:r>
            <a:br/>
            <a:r>
              <a:t>    OrderService(PaymentService payments) { this.payments = payments; }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injection where it improves testability.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34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REST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BACKEND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is an API?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An API is a defined way for one program to request data or work from another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HTTP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GET usually reads; POST usually creates or triggers work; PUT replaces; PATCH partially updates; DELETE removes.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Status codes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200 usually means success; 201 created; 400 invalid request; 401/403 authentication or authorization issue; 404 not found; 500 server-side failure.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Design basics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Validate input, return consistent errors, document the contract, and do not expose internal stack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GET /orders/123</a:t>
            </a:r>
            <a:br/>
            <a:r>
              <a:t>POST /orders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An API contract is an agreement between client and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35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JVM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Concurrency vs parallelism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Concurrency means tasks make progress during overlapping periods. Parallelism means tasks execute at the same time on different CPU 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tricky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Tasks may read and update shared data. Without coordination, results can depend on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Thread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component is thread-safe when it behaves correctly under the concurrent access it promises to support.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Prefer immutable data and high-level concurrency utilities; avoid unnecessary shared mutable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ExecutorService executor = Executors.newFixedThreadPool(4);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Concurrency bugs often depend on timing.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36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JVM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they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Virtual threads are lightweight threads managed by the Java runtime. They make many waiting tasks practical without dedicating one OS thread to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Best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Useful for applications with many blocking I/O tasks, such as waiting for network responses.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What they do not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They do not magically speed up CPU-heavy calculations; CPU work is limited by processing capacity.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Migration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Test libraries, connection pools, and synchronization behavior before changing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try (var executor = Executors.newVirtualThreadPerTaskExecutor()) {</a:t>
            </a:r>
            <a:br/>
            <a:r>
              <a:t>    executor.submit(() -&gt; callRemoteService());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Virtual threads help high-concurrency blocking I/O.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37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JVM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JVM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Heap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Stores objects and arrays. Garbage collection reclaims memory when objects are no longer reachable.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Each thread has a stack for method calls and local execution state. Deep recursion can cause StackOverflowError.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Metaspace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Stores class metadata; class-loading behavior and frameworks affect its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Memory leak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leak can happen when code accidentally keeps references to objects it no longer needs. The garbage collector cannot reclaim objects that remain reachable.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java -Xms512m -Xmx2g -jar app.jar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Garbage collection cannot reclaim objects your code still references.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38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Garbage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JVM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Analogy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Imagine a storeroom. Items no longer needed can be removed so space can be reused. Garbage collection finds objects the program can no longer 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Collectors balance throughput, pause time, memory use, and CPU overhead. No collector is best for every workload.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Measure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Observe allocation rates, heap usage, pause times, and latency before tuning flags.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Not every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Garbage collection manages memory, not files, sockets, or database connections. Close those explicitly.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java -Xlog:gc*:file=gc.log -jar app.jar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Measure before tuning.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39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Performance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JVM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Define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Is the service slow, using too much CPU, pausing too long, or growing in memory? Use logs, metrics, profilers, and load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Find the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If a database query dominates response time, changing a Java loop may have almost no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Repeatable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Record a baseline, change one thing, run the same workload, compare results, and keep only changes that improve the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2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Observe → Measure → Hypothesize → Change → Test →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Performance tuning is an experiment, not guesswork.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40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Security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Validate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Treat data from users and other systems as untrusted. Validate length, format, range, and allowed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Protect 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Do not hard-code passwords, API keys, or private keys in source code. Use a secret manager or secure deployment configuration.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Safe database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 parameterized queries to reduce SQL injection risk. Do not concatenate user input into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Update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Libraries can have vulnerabilities even when your own code looks correct. Track versions and scan dependencies.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PreparedStatement separates SQL structure from user-provided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Security is part of design and maintenance.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41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Logging and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Record events and context to help answer what happened and when.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Summarize behavior over time, such as request rate, error rate, CPU use, and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Traces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Follow a request across services and help locate where time is spent.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Do not log passwords, access tokens, full payment details, or sensitive personal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Monitor latency, traffic, errors, and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Good observability makes production problems diagnosable.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42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Containers and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Packages an application with the filesystem and configuration it needs while sharing the host OS kernel.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The same image can move across development, testing, and production, reducing environment differences.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Memory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container may have less memory than the host. Size the JVM with container limits in mind.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Operational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 trusted base images, run as non-root where possible, and scan images for vulnerabilities.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docker build -t order-api:1.0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Containerized does not automatically mean secure.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43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Continuous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Automatically builds and tests changes so problems are found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Continuous delivery/deployment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Automates preparing or releasing a tested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Typical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Check formatting, compile, test, scan dependencies, package an artifact/image, deploy, and verify.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Repeatable automation reduces manual mistakes and creates an audit trail.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Commit → Build → Test → Scan → Package → Deploy →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Automate repeatable checks before risky production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44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Capstone: Order Processing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HANDS-ON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Business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customer places an order. The system validates it, calculates the total, attempts payment, and records the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OrderController receives HTTP requests; OrderService applies business rules; PaymentService abstracts payment; OrderRepository persists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Concepts practiced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Classes, records, validation, collections, exceptions, dependency injection, tests, logging, and REST API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Safe training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 a fake payment implementation. Never connect a beginner exercise to real payment credentials or customer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POST /orders → validate → calculate → simulate payment → save → respond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Keep business rules separate from HTTP details.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45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Capstone: model orders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HANDS-ON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An order has an ID, customer ID, line items, status, and creation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Order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Each line has a product ID, quantity, and unit price. Validate quantity and price before calculating totals.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For monetary values, prefer BigDecimal or a well-designed Money type rather than binary floating-point double.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 controlled states such as PENDING, PAID, FAILED, and CANCELLED; define allowed transitions.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record OrderLine(String productId, int quantity, BigDecimal unitPrice) {}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Model business rules before building endpoints.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46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Capstone: 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HANDS-ON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Unit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Test calculations and validation without starting a server or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Service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 a fake or mock PaymentService to check success and failure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API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Check request validation, status codes, and response formats.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Edge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Test empty orders, negative quantities, missing IDs, payment failure, and duplicate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Test normal path + boundary values + failure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A reliable system shows what happens when things go wrong.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47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Migration from Java 17/21 to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Inventory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List runtime versions, build-tool versions, frameworks, dependencies, and production launch flags.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Build and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Run the test suite on Java 25 in a separate branch or CI job. Resolve compatibility issues before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Preview caution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Do not enable preview features simply because the JDK supports them. They require deliberate compiler and runtime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Roll out safely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Deploy to a test environment, compare logs and performance, and prepare a rollback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Inventory → Upgrade build → Test → Stage → Observe → Roll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Treat a JDK upgrade as a controlled engineering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48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Common beginner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Compile vs runtime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missing semicolon is a compile-time error; dereferencing null is typically a runtime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String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Use equals() or Objects.equals() when comparing textual content, not ==.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Ignoring 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hidden failure is harder to diagnose than a clear failure with useful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Optimizing too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First make the program correct and measurable; optimize when evidence identifies a bottleneck.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Read error → reproduce → isolate → fix →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Change one thing at a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49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Practice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Lab 1: bill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Calculate a bill from quantity and unit price, apply a discount threshold, and reject negative quantities.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Lab 2: order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Filter paid orders, calculate totals, and collect IDs using loops and streams. Compare readability.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Lab 3: failure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Simulate a payment service that succeeds or fails. Test both paths and log safe diagnostic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Lab 4: Java 25 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Install JDK 25, read release notes, and create tiny examples for permanent features. Identify preview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731520"/>
          </a:xfrm>
          <a:prstGeom prst="roundRect">
            <a:avLst/>
          </a:prstGeom>
          <a:solidFill>
            <a:srgbClr val="E5EEF8"/>
          </a:solidFill>
          <a:ln>
            <a:solidFill>
              <a:srgbClr val="C3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>
                <a:solidFill>
                  <a:srgbClr val="14233F"/>
                </a:solidFill>
                <a:latin typeface="Consolas"/>
              </a:defRPr>
            </a:pPr>
            <a:r>
              <a:t>Try each lab before reading a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Small hands-on tasks make concepts stick.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50</a:t>
            </a:r>
          </a:p>
        </p:txBody>
      </p:sp>
      <p:pic>
        <p:nvPicPr>
          <p:cNvPr id="16" name="Picture 1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Glossary: everyday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Tool that checks source code and translates it into bytecode.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Bytecode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Intermediate instructions executed by a JVM.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Environment where an application executes.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Defined contract that lets software components communicate.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1480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98264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Reusable code an application can call.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the words in your own sentences.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51</a:t>
            </a:r>
          </a:p>
        </p:txBody>
      </p:sp>
      <p:pic>
        <p:nvPicPr>
          <p:cNvPr id="17" name="Picture 1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Glossary: object-oriented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Blueprint for creating objects.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particular instance of a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Data held by an object or class.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 named operation that can be called.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1480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98264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Contract describing operations an implementation provides.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6460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Encapsulation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14807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Protecting internal state and exposing controlled operations.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Explain each term with a real-world analogy.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52</a:t>
            </a:r>
          </a:p>
        </p:txBody>
      </p:sp>
      <p:pic>
        <p:nvPicPr>
          <p:cNvPr id="19" name="Picture 18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Glossary: production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How long a request takes to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How much work a system completes per unit of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Garbage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Reclamation of memory occupied by unreachable objects.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Using logs, metrics, and traces to understand system behavior.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1480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98264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Automated processes for building, testing, and delivering software.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Use the glossary during review and interview preparation.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53</a:t>
            </a:r>
          </a:p>
        </p:txBody>
      </p:sp>
      <p:pic>
        <p:nvPicPr>
          <p:cNvPr id="17" name="Picture 1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Official references and accuracy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95528"/>
            <a:ext cx="10972800" cy="201168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008791"/>
                </a:solidFill>
                <a:latin typeface="Aptos"/>
              </a:defRPr>
            </a:pPr>
            <a:r>
              <a:t>FURTHER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Java 25 release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Oracle's Java 25 release notes describe release changes and known issues. Check the JDK vendor documentation for the exact build you install.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Language changes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Oracle's Java Language Changes Summary helps distinguish features by release and permanent features from preview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Preview warning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Preview syntax and flags are version-sensitive. Consult official documentation before teaching or deploying.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Practice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48456"/>
            <a:ext cx="10835640" cy="393192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6303C"/>
                </a:solidFill>
                <a:latin typeface="Aptos"/>
              </a:defRPr>
            </a:pPr>
            <a:r>
              <a:t>Run examples on the exact JDK used in class. Some snippets are illustrative and may need surrounding class, import, or build setup.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99632"/>
            <a:ext cx="10881360" cy="219456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8791"/>
                </a:solidFill>
                <a:latin typeface="Aptos"/>
              </a:defRPr>
            </a:pPr>
            <a:r>
              <a:t>Remember: Official documentation is the source of truth for version-specific details.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65392"/>
            <a:ext cx="10972800" cy="137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JAVA 25 • Plain-English training guide • 54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6224551"/>
            <a:ext cx="1417320" cy="5237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
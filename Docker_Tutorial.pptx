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5800" b="1">
                <a:solidFill>
                  <a:srgbClr val="FFFFFF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96C8FF"/>
                </a:solidFill>
                <a:latin typeface="Aptos"/>
              </a:defRPr>
            </a:pPr>
            <a:r>
              <a:t>A Practical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Containers • Images • Dockerfiles • Compose • Networking • Volumes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703320"/>
            <a:ext cx="1143000" cy="73152"/>
          </a:xfrm>
          <a:prstGeom prst="rect">
            <a:avLst/>
          </a:prstGeom>
          <a:solidFill>
            <a:srgbClr val="18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069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CDD8E6"/>
                </a:solidFill>
                <a:latin typeface="Aptos"/>
              </a:defRPr>
            </a:pPr>
            <a:r>
              <a:t>Beginner-friendly, hands-on, and focused on developer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CDD8E6"/>
                </a:solidFill>
                <a:latin typeface="Aptos"/>
              </a:defRPr>
            </a:pPr>
            <a:r>
              <a:t>Includes command examples, Docker Compose, security, troubleshooting, and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EC8D7"/>
                </a:solidFill>
                <a:latin typeface="Aptos"/>
              </a:defRPr>
            </a:pPr>
            <a:r>
              <a:t>DOCKER TUTORIAL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Understand containers, images, registries, and Docker Engine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Run containers and inspect logs, ports, and environment variables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Build custom images using Dockerfiles and optimize image layers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Persist data with volumes and connect services with networks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Run multi-container apps with Docker Compose; secure and troubleshoot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What is Docker?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Docker is a platform for packaging and running applications in containers.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container bundles an application and its user-space dependencies.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Containers share the host kernel; they are generally lighter than full virtual machines.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Docker improves consistency across development, testing, and deployment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Containers vs. virtual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virtual machine includes a guest operating system and virtualized hardware.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container isolates processes while sharing the host kernel.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Containers usually start quickly and use fewer resources, but isolation models differ.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Containers do not remove the need for security controls or resource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Docker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Docker CLI: the command-line client used by developers.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Docker daemon/Engine: manages images, containers, networks, and volumes.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Image registry: stores and distributes images (for example, Docker Hub or a private registry).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The CLI communicates with the Engine API; Docker Desktop packages components for desktop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version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Install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Install Docker Desktop on supported Windows/macOS setups, or Docker Engine on supported Linux distributions.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Follow the official installation guide for your operating system and architecture.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Start Docker and verify the client can communicate with the Engine.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For Windows, Docker Desktop commonly uses WSL 2 or Hyper-V depending on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--version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hello-world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978"/>
                </a:solidFill>
                <a:latin typeface="Aptos"/>
              </a:defRPr>
            </a:pPr>
            <a:r>
              <a:t>Official docs: https://docs.docker.com/get-started/get-docker/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Your first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RUN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docker run creates and starts a container from an image.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If the image is missing locally, Docker normally tries to pull it from a registry.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hello-world prints a test message and exits; exited containers can still be inspected.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hello-world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ps 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Run an interactive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RUN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-it for an interactive terminal and --rm to remove the container when it exits.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container's filesystem changes are generally tied to that container unless data is persisted.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a known, trusted image and avoid running privileged containers unnecessarily.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--rm -it ubuntu:24.04 bash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Container lifecycle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RUN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List running containers, then list all containers including stopped ones.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Stop a container gracefully; start it again if it still exists.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Remove a stopped container when it is no longer needed.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Prefer explicit container names for examples and repeatable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ps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ps -a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stop &lt;container&gt;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rm &lt;container&gt;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Run a web server and publish a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Containers have their own network namespace; a service port is not automatically public on the host.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-p hostPort:containerPort to publish a port.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Bind to 127.0.0.1 when you only need local access; broader bindings can expose the service to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-d --name web -p 127.0.0.1:8080:80 nginx:alpine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# Open http://localhost:8080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Inspect logs and container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logs to read application output written to standard output/error.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inspect for detailed metadata such as configuration, mounts, and network settings.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exec to run a command inside a running container for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logs web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inspect web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exec -it web 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Environment variables and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Pass runtime configuration through environment variables when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 not bake credentials into Dockerfiles or images.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For production secrets, use your platform's secret-management capability.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Environment variables can appear in container metadata; treat sensitive values carefully.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--rm -e APP_MODE=dev my-image:latest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Images, tags, and registries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An image is a read-only template used to create containers.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tag is a human-readable reference; tags can move, so use immutable digests when strict reproducibility matters.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Pull images from trusted registries and review image provenance.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Avoid relying on latest for reproducible production deployments.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pull nginx:alpine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image ls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image inspect nginx:alpine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Build an image with a Dockerfile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DOCKERFILES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Dockerfile declares how to build an image.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FROM selects a base image; WORKDIR sets the working directory.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COPY adds files; RUN executes build-time commands; CMD defines the default command.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Keep the build context small and exclude unnecessary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FROM python:3.12-slim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WORKDIR /app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COPY app.py .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CMD ["python", "app.py"]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Build and run your custom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DOCKERFILES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Build from the directory containing the Dockerfile.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a descriptive name and version tag.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Run the image as a container and verify expected behavior.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Rebuild after source or dependency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build -t hello-app:1.0 .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--rm hello-app:1.0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Dockerfile instructions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DOCKERFILES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FROM: base image; use a suitable, maintained base.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WORKDIR, COPY, ADD: organize files and build context; prefer COPY for ordinary file copying.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RUN: build-time command; combine carefully to reduce unnecessary layers.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CMD and ENTRYPOINT: define the default command and executable behavior.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EXPOSE documents a port; it does not publish the port by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Image layers and build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IMAGE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Many Dockerfile instructions create reusable image layers.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Place stable dependency steps before frequently changing application files to improve cache reuse.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.dockerignore to keep build context small and prevent copying local secrets or artifacts.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Smaller images can improve transfer time and reduce the attack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.dockerignore example: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.git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node_modules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.env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build/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Multi-stage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IMAGE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Build stages can contain compilers and tooling without shipping them in the final image.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Copy only the required artifacts from a builder stage into a smaller runtime stage.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This can reduce image size and keep unnecessary tools out of production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FROM maven:3.9-eclipse-temurin-21 AS build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# build the application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FROM eclipse-temurin:21-jre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COPY --from=build /app/target/app.jar /app/app.jar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ENTRYPOINT ["java", "-jar", "/app/app.jar"]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978"/>
                </a:solidFill>
                <a:latin typeface="Aptos"/>
              </a:defRPr>
            </a:pPr>
            <a:r>
              <a:t>Illustrative Java example: adapt paths and build steps to your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Persist data with volumes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container's writable layer is not a durable database-storage strategy.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Named volumes are managed by Docker and can outlive individual containers.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Bind mounts connect a host path to a container path; they are useful in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Back up important data and understand ownership and permission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volume create app-data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-d --name db -v app-data:/var/lib/postgresql/data postgres:16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Bind mounts for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Bind mounts let a container read or write files in a chosen host directory.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They are useful for source-code hot reload and local configuration.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Be careful with host-path permissions and avoid mounting sensitive host directories unnecessarily.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--rm -it -v "$PWD":/workspace -w /workspace ubuntu:24.04 bash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978"/>
                </a:solidFill>
                <a:latin typeface="Aptos"/>
              </a:defRPr>
            </a:pPr>
            <a:r>
              <a:t>Shell syntax varies; Windows PowerShell users may need a different current-directory expression.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Docker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Bridge networks are commonly used for communication between containers on one Docker host.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Containers on a user-defined bridge network can usually resolve each other by container name.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Publish ports only when access from outside the container network is required.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Network segmentation helps limit unnecessary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network create app-net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-d --name web --network app-net nginx:alpine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Docker Compose: multi-container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Compose describes services, networks, and volumes in a YAML file.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It is convenient for local stacks such as an API, database, and cache.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Service-to-service traffic uses service names on the Compose network.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Compose helps reproduce a development environment with one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up -d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ps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logs -f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Example Compose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Define services and their configuration in compose.yaml.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a named volume for database data and a health check where useful.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 not commit real passwords or production secrets in the Compose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services: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  web: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    image: nginx:alpine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    ports: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      - "127.0.0.1:8080:80"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  redis: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    image: redis:7-alpine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Compose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Start services in the background and view their status.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Follow logs to diagnose startup failures.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Rebuild images when application code or Dockerfile changes.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Down removes Compose containers and networks; named volumes are preserved unless you explicitly request volume removal.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up -d --build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logs -f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Docker for Java /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DEVELOPER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Package the Spring Boot application as an executable JAR.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a maintained JRE runtime image and run as a non-root user where possible.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Externalize configuration and secrets; set memory limits appropriate to the environment.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Add health checks and graceful shutdown behavior suitable for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FROM eclipse-temurin:21-jre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WORKDIR /app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COPY target/app.jar app.jar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USER 10001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ENTRYPOINT ["java", "-jar", "app.jar"]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978"/>
                </a:solidFill>
                <a:latin typeface="Aptos"/>
              </a:defRPr>
            </a:pPr>
            <a:r>
              <a:t>Example only: confirm Java version, artifact path, and runtime-user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Docker for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DEVELOPER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Package each service independently with explicit configuration.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Compose locally to run dependent services such as Kafka, Redis, or PostgreSQL.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Use service discovery, observability, and health/readiness checks appropriate to the deployment platform.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Docker packages applications; orchestration platforms handle scheduling and cluster-level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Security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Use trusted, maintained base images and rebuild regularly for security updates.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Run as non-root when feasible; avoid --privileged unless truly necessary.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Do not store secrets in image layers, source control, or build arguments.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Scan images, minimize packages, pin dependencies where appropriate, and limit container capabilities.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Use resource limits and keep the Docker Engine and host patched.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Resource limits and health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Set CPU and memory limits appropriate to the application and host.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 health check can report whether an application is responding as expected.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Health checks are not a substitute for monitoring, alerting, or application-level readiness.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Test behavior under resource pressure before production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-d --memory=512m --cpus=1 nginx:alpine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Troubleshooting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Container exits: inspect status, exit code, and logs.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Port is unavailable: check host-port conflicts and published bindings.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Cannot connect to another service: verify network membership, DNS/service name, and listening port.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File permissions fail: inspect UID/GID, mount options, and ownership.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Build is slow or huge: inspect layers, build context, dependencies, and .dockerignore.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43484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ps -a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logs &lt;container&gt;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inspect &lt;container&gt;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system 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Cleanup and disk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List images, containers, volumes, and networks before deleting anything.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Remove unused objects carefully; volumes may contain important persistent data.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Prune commands can remove more than expected—read the prompt and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system df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container prune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image prune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Lab 1: run and inspect a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HANDS-ON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Run nginx on host port 8080 bound to localhost.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Confirm the page loads, then inspect logs and container metadata.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Stop and remove the container.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Try changing the host port and observe the difference.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-d --name web-lab -p 127.0.0.1:8080:80 nginx:alpine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Lab 2: build a custom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HANDS-ON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Create a small application and a Dockerfile.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Build an image with a versioned tag.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Run it, inspect logs, then change the application and rebuild.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Add a .dockerignore file and compare the build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build -t demo-app:1.0 .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run --rm demo-app:1.0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Lab 3: Compose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HANDS-ON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Create a compose.yaml with a web service and a second service such as Redis.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Bring the stack up and inspect service status and logs.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Confirm services communicate by service name on the Compose network.</a:t>
            </a:r>
          </a:p>
          <a:p>
            <a:pPr>
              <a:spcAft>
                <a:spcPts val="12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 Bring the stack down and verify what happens to containers, networks, and volumes.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10698480" cy="1298448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/>
          <a:lstStyle/>
          <a:p>
            <a:pPr algn="ctr"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up -d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ps</a:t>
            </a:r>
          </a:p>
          <a:p>
            <a:pPr>
              <a:spcAft>
                <a:spcPts val="300"/>
              </a:spcAft>
              <a:defRPr sz="1300">
                <a:solidFill>
                  <a:srgbClr val="DCEBFA"/>
                </a:solidFill>
                <a:latin typeface="Consolas"/>
              </a:defRPr>
            </a:pPr>
            <a:r>
              <a:t>docker compose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Quick command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Run / inspect: docker run, docker ps, docker logs, docker inspect, docker exec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Images: docker pull, docker build, docker image ls, docker image rm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Storage / network: docker volume ls, docker network ls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Compose: docker compose up, ps, logs, down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Diagnostics: docker system df, docker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Before production: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Use trusted and updated images; scan for vulnerabilities.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Run as non-root where possible and avoid unnecessary privileges.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Keep secrets outside images and source control.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Persist important data and test backup/restore procedures.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Set resource limits, logging, monitoring, health checks, and a rollback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Images package application files; containers are running instances of images.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Dockerfiles build images; Compose runs related services together.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Volumes preserve data; networks connect services; published ports expose services.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Security, observability, resource limits, and data protection are essential.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Practice commands in a disposable environment before production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Official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FURTHER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Docker Get Started: https://docs.docker.com/get-started/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Docker documentation: https://docs.docker.com/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Dockerfile reference: https://docs.docker.com/reference/dockerfile/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Compose documentation: https://docs.docker.com/compose/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Try the labs with a local development project and consult current docs for platform-specific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51052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DOCKER TUTORIAL  • 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